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Poppins"/>
      <p:regular r:id="rId46"/>
      <p:bold r:id="rId47"/>
      <p:italic r:id="rId48"/>
      <p:boldItalic r:id="rId49"/>
    </p:embeddedFont>
    <p:embeddedFont>
      <p:font typeface="Roboto Condensed"/>
      <p:regular r:id="rId50"/>
      <p:bold r:id="rId51"/>
      <p:italic r:id="rId52"/>
      <p:boldItalic r:id="rId53"/>
    </p:embeddedFont>
    <p:embeddedFont>
      <p:font typeface="Libre Franklin Medium"/>
      <p:regular r:id="rId54"/>
      <p:bold r:id="rId55"/>
      <p:italic r:id="rId56"/>
      <p:boldItalic r:id="rId57"/>
    </p:embeddedFont>
    <p:embeddedFont>
      <p:font typeface="Roboto Mono"/>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Poppins-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italic.fntdata"/><Relationship Id="rId47" Type="http://schemas.openxmlformats.org/officeDocument/2006/relationships/font" Target="fonts/Poppins-bold.fntdata"/><Relationship Id="rId49"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RobotoMono-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bold.fntdata"/><Relationship Id="rId50" Type="http://schemas.openxmlformats.org/officeDocument/2006/relationships/font" Target="fonts/RobotoCondensed-regular.fntdata"/><Relationship Id="rId53" Type="http://schemas.openxmlformats.org/officeDocument/2006/relationships/font" Target="fonts/RobotoCondensed-boldItalic.fntdata"/><Relationship Id="rId52" Type="http://schemas.openxmlformats.org/officeDocument/2006/relationships/font" Target="fonts/RobotoCondensed-italic.fntdata"/><Relationship Id="rId11" Type="http://schemas.openxmlformats.org/officeDocument/2006/relationships/slide" Target="slides/slide6.xml"/><Relationship Id="rId55" Type="http://schemas.openxmlformats.org/officeDocument/2006/relationships/font" Target="fonts/LibreFranklinMedium-bold.fntdata"/><Relationship Id="rId10" Type="http://schemas.openxmlformats.org/officeDocument/2006/relationships/slide" Target="slides/slide5.xml"/><Relationship Id="rId54" Type="http://schemas.openxmlformats.org/officeDocument/2006/relationships/font" Target="fonts/LibreFranklinMedium-regular.fntdata"/><Relationship Id="rId13" Type="http://schemas.openxmlformats.org/officeDocument/2006/relationships/slide" Target="slides/slide8.xml"/><Relationship Id="rId57" Type="http://schemas.openxmlformats.org/officeDocument/2006/relationships/font" Target="fonts/LibreFranklinMedium-boldItalic.fntdata"/><Relationship Id="rId12" Type="http://schemas.openxmlformats.org/officeDocument/2006/relationships/slide" Target="slides/slide7.xml"/><Relationship Id="rId56" Type="http://schemas.openxmlformats.org/officeDocument/2006/relationships/font" Target="fonts/LibreFranklinMedium-italic.fntdata"/><Relationship Id="rId15" Type="http://schemas.openxmlformats.org/officeDocument/2006/relationships/slide" Target="slides/slide10.xml"/><Relationship Id="rId59" Type="http://schemas.openxmlformats.org/officeDocument/2006/relationships/font" Target="fonts/RobotoMono-bold.fntdata"/><Relationship Id="rId14" Type="http://schemas.openxmlformats.org/officeDocument/2006/relationships/slide" Target="slides/slide9.xml"/><Relationship Id="rId58" Type="http://schemas.openxmlformats.org/officeDocument/2006/relationships/font" Target="fonts/RobotoMon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br>
              <a:rPr lang="en"/>
            </a:br>
            <a:br>
              <a:rPr lang="en"/>
            </a:br>
            <a:r>
              <a:rPr lang="en"/>
              <a:t>Communities and network effects take years to build and need to be nurtured.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Pick one task your users rely on. Keep it in mind as we go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imagine your team disappears. Can people keep working, and can others run the services? Then imagine control becomes hostile. Someone takes the admin keys or changes the rules. What can users still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single points of failure and control. The test boxes turn each layer into a small exercise you can try on your own app. Use test accounts and copies, not production outages.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saved page is only useful if people can run the client behind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left, the HTML lives on IPFS, but it still loads JavaScript from the team's server. When that server disappears, the client cannot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the release contains its code, styles, assets and configuration. Someone can retain and serve that complete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blocking your team's host in a test environment, clear the browser cache and reload. Does the client start? We will check its data and network dependencies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source, locked dependencies and build instructions too, so another developer can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tests the client release, not all external services. Bundle or independently retain essential scripts, lazy-loaded code, assets and configuration. Runtime RPCs, indexes and authorization paths are assessed in their own layers. Build source and dependency inputs must remain obtainable; a lockfile alone is insufficient. Diagram is illustrative.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previous test showed that the client starts. Now can the user actually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company’s login service can disappear even while the app and data survive. A user-controlled account gives another compatible service an identity it can recognize. Sign-In with Ethereum, or SIWE, standardizes proving control of an Ethereum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Whether you use SIWE or OAuth, try the complete authorized task through an independent route with the company offline. Recovery should work too, including recovery of the keys needed to decrypt private files.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examine the team’s administrative keys in the Rules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contrasts company-mediated login with independently usable account authority. A wallet signature alone does not make a company API replaceable. The alternative requires compatible software, independently reachable services, and permission rules that recognize the same account. Safe is an optional recovery example: a configured two-of-three account can replace one lost signer using the remaining authorized signers, provided those signers and the execution path do not depend on the company. Account recovery does not reconstruct file-decryption keys. Standard encryption needs compatible formats and user-controlled key recovery. Keep sensitive data private and preserve authorization across clients. Team admin-key loss/compromise belongs in Rules and the explicit powers checklist.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SIWE authenticates an Ethereum account to an offchain service. It does not make that service independent or replaceable. OAuth/OIDC is not inherently incompatible with portability. The illustrated alternative must preserve authorization through a compatible, independently usable service or contract path.</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https://eips.ethereum.org/EIPS/eip-4361</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example has a stable identifier, an author, some text and an attachment. Publish the field meanings and the rules for reading and changing the record.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another developer an export and its format documentation. Can they read it without asking you what you meant?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same work in two different tools. On the left, a person edits a note. On the right, their community reads it in a feed. The author, note and attachment retain their meaning.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illustrative interfaces, not a requirement to use these particular apps. Your users should be able to choose another tool without losing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goes beyond whether a file imports. Can the user open the attachment and continue the task? Shared formats make that possible. Agreed permissions and synchronization matter when both apps also write to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0xDEADBEEF…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main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could be an IPFS host, a copy on Arweave, or a backup the user controls. Keep attachments and the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still needs a route to those nodes and any history it uses.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an owner. Block the primary provider in a test setup, recover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verifying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web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provides metadata. Any</a:t>
            </a:r>
            <a:r>
              <a:rPr lang="en"/>
              <a:t>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can survive while your app loses its way to read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Reading a wallet balance is a chain-state query. An RPC connects the app to a node. Make that provider replaceable, with a route to your own node. A light client such as Helios can verify supported chain reads.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useful transaction-history view often comes from an index. The Graph is one Ethereum example. Another operator needs the recipe and retained history to recreate that view.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two jobs separately. Switch the RPC, then try another index or rebuild it. Can users still find known records and their latest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wallet balance and transfer amounts are invented UI examples, not live account data. Test RPC replacement and index replacement separately. A known-record check and sync height are bounded evidence, not proof that every result is complete.</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to move important business processes forward.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Users should be able to choose app upgrades. Shared systems need clear agreements about how their rules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who can change those rules, and what users can keep using if that power is abused.</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Check what happens if the team loses its keys, and inspect any remaining powers that can change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On Ethereum, preserve a usable node connection and the history your app needs. Understand when a transaction is included and final.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who orders transactions, where the data lives and how it settles on L1. Choose one concrete failure to rehearse. For a sequencer outage, OP Stack documentation describes submitting through L1. Withdrawal and a hostile upgrade are different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your chain’s documented path and your app’s actual account. Can the user complete the recovery steps? Record the delay, cost and anything they must prepare beforehand.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network test starts with one named failure and its chain-specific documented response. Sequencer outage, withdrawal and hostile upgrade are distinct. Do not perform production disruption or wallet transactions during the presentation.</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code may be public, but can someone actually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an outsider the published software, license, inputs, configuration and instructions. Then stop helping. They use their own accounts and hosting to start a replacement and help a test user complete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every missing instruction, permission or secret. Include the running costs and how an operator can cover them. This dry run finds knowledge that otherwise lives only in your team’s heads.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result we want is a service users can choose, without asking the original team for permission.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dry run is proposed audience practice, not a completed EFS operator handoff. An outsider must complete the actual user task using their own accounts and accessible inputs, not merely install the software.</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Interface: can someone open a saved release and recover access? Data: can they restore usable records, choose another provider and keep required background work running? Rules: who can change them, what can users refuse, and what happens during a chain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Remove one team dependency in a test setup. Repeat the task, fix what stops it, and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export/import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one small test you could run: import a saved export into another client, then open a note and its attachment with the original app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attempt imports the note, but the attachment is missing. The user cannot finish. That is a useful failure.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the original system is still available, improve the export to include the attachment. Retain the complete copy, repeat the outage, and import again. Now the note and its attachment open.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an illustrative example. The method is what matters: choose a task, expose one dependency, improve it, and repeat the same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export, notes, attachment and application states are illustrative. No live import, runtime verification or measured recovery is claimed. The complete export must be prepared and retained while the source data is still accessible, before repeating the outage. An import is a migration/recovery path; ongoing shared edits need agreed authorization and synchronization. Use test accounts and copies.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envision future where people can trust software with the important parts of their lives. Where their work remains theirs, they choose their own tools,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 Stack Walk 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br>
              <a:rPr b="1" lang="en" sz="2400">
                <a:solidFill>
                  <a:srgbClr val="212121"/>
                </a:solidFill>
              </a:rPr>
            </a:b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br>
              <a:rPr b="1" lang="en" sz="2400">
                <a:solidFill>
                  <a:srgbClr val="212121"/>
                </a:solidFill>
              </a:rPr>
            </a:b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3100" y="1473200"/>
            <a:ext cx="3746400" cy="2616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The team disappears</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Can users keep working?</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Can others run the services?</a:t>
            </a:r>
            <a:endParaRPr sz="2200">
              <a:solidFill>
                <a:srgbClr val="212121"/>
              </a:solidFill>
            </a:endParaRPr>
          </a:p>
        </p:txBody>
      </p:sp>
      <p:sp>
        <p:nvSpPr>
          <p:cNvPr id="130" name="Google Shape;130;p24"/>
          <p:cNvSpPr txBox="1"/>
          <p:nvPr>
            <p:ph idx="2" type="body"/>
          </p:nvPr>
        </p:nvSpPr>
        <p:spPr>
          <a:xfrm>
            <a:off x="4610100" y="1473200"/>
            <a:ext cx="3975000" cy="2616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Control becomes hostile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Can users keep their work?</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Can they keep the rules they chose?</a:t>
            </a:r>
            <a:endParaRPr sz="2200">
              <a:solidFill>
                <a:srgbClr val="212121"/>
              </a:solidFill>
            </a:endParaRPr>
          </a:p>
        </p:txBody>
      </p:sp>
      <p:sp>
        <p:nvSpPr>
          <p:cNvPr id="131" name="Google Shape;131;p24"/>
          <p:cNvSpPr txBox="1"/>
          <p:nvPr>
            <p:ph type="title"/>
          </p:nvPr>
        </p:nvSpPr>
        <p:spPr>
          <a:xfrm>
            <a:off x="876300" y="355600"/>
            <a:ext cx="7391400" cy="5970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a:t>
            </a:r>
            <a:r>
              <a:rPr b="1" lang="en" sz="3200">
                <a:solidFill>
                  <a:srgbClr val="06038D"/>
                </a:solidFill>
                <a:latin typeface="Poppins"/>
                <a:ea typeface="Poppins"/>
                <a:cs typeface="Poppins"/>
                <a:sym typeface="Poppins"/>
              </a:rPr>
              <a:t>walk away</a:t>
            </a:r>
            <a:r>
              <a:rPr b="1" lang="en" sz="3200">
                <a:solidFill>
                  <a:srgbClr val="06038D"/>
                </a:solidFill>
                <a:latin typeface="Poppins"/>
                <a:ea typeface="Poppins"/>
                <a:cs typeface="Poppins"/>
                <a:sym typeface="Poppins"/>
              </a:rPr>
              <a:t>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977900"/>
            <a:ext cx="80010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Single points of failure and control</a:t>
            </a:r>
            <a:endParaRPr sz="1800">
              <a:solidFill>
                <a:srgbClr val="06038D"/>
              </a:solidFill>
              <a:latin typeface="Poppins"/>
              <a:ea typeface="Poppins"/>
              <a:cs typeface="Poppins"/>
              <a:sym typeface="Poppins"/>
            </a:endParaRPr>
          </a:p>
        </p:txBody>
      </p:sp>
      <p:sp>
        <p:nvSpPr>
          <p:cNvPr id="133" name="Google Shape;133;p24"/>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4" name="Google Shape;134;p24"/>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135" name="Google Shape;135;p24"/>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Choose one important user task.</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Try it without your team’s services or help.</a:t>
            </a:r>
            <a:endParaRPr sz="160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4826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41" name="Google Shape;141;p25"/>
          <p:cNvSpPr txBox="1"/>
          <p:nvPr>
            <p:ph idx="4294967295" type="body"/>
          </p:nvPr>
        </p:nvSpPr>
        <p:spPr>
          <a:xfrm>
            <a:off x="6096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42" name="Google Shape;142;p25"/>
          <p:cNvSpPr/>
          <p:nvPr/>
        </p:nvSpPr>
        <p:spPr>
          <a:xfrm>
            <a:off x="0" y="2220475"/>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5"/>
          <p:cNvSpPr txBox="1"/>
          <p:nvPr>
            <p:ph type="title"/>
          </p:nvPr>
        </p:nvSpPr>
        <p:spPr>
          <a:xfrm>
            <a:off x="33274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4" name="Google Shape;144;p25"/>
          <p:cNvSpPr txBox="1"/>
          <p:nvPr>
            <p:ph idx="4294967295" type="body"/>
          </p:nvPr>
        </p:nvSpPr>
        <p:spPr>
          <a:xfrm>
            <a:off x="34544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5" name="Google Shape;145;p25"/>
          <p:cNvSpPr txBox="1"/>
          <p:nvPr>
            <p:ph type="title"/>
          </p:nvPr>
        </p:nvSpPr>
        <p:spPr>
          <a:xfrm>
            <a:off x="6312900" y="151862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6" name="Google Shape;146;p25"/>
          <p:cNvSpPr txBox="1"/>
          <p:nvPr>
            <p:ph idx="4294967295" type="body"/>
          </p:nvPr>
        </p:nvSpPr>
        <p:spPr>
          <a:xfrm>
            <a:off x="6299200" y="2520975"/>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7" name="Google Shape;147;p25"/>
          <p:cNvSpPr/>
          <p:nvPr/>
        </p:nvSpPr>
        <p:spPr>
          <a:xfrm>
            <a:off x="7474950" y="2147125"/>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1644650" y="21515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p:nvPr/>
        </p:nvSpPr>
        <p:spPr>
          <a:xfrm>
            <a:off x="4489500" y="2151538"/>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6" name="Google Shape;156;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62" name="Google Shape;162;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8" name="Google Shape;168;p28"/>
          <p:cNvSpPr txBox="1"/>
          <p:nvPr/>
        </p:nvSpPr>
        <p:spPr>
          <a:xfrm>
            <a:off x="444500" y="990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9" name="Google Shape;169;p28"/>
          <p:cNvSpPr/>
          <p:nvPr/>
        </p:nvSpPr>
        <p:spPr>
          <a:xfrm>
            <a:off x="444500" y="1384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70" name="Google Shape;170;p28"/>
          <p:cNvCxnSpPr/>
          <p:nvPr/>
        </p:nvCxnSpPr>
        <p:spPr>
          <a:xfrm>
            <a:off x="2628900" y="1778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71" name="Google Shape;171;p28"/>
          <p:cNvSpPr/>
          <p:nvPr/>
        </p:nvSpPr>
        <p:spPr>
          <a:xfrm>
            <a:off x="3136900" y="1384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72" name="Google Shape;172;p28"/>
          <p:cNvCxnSpPr/>
          <p:nvPr/>
        </p:nvCxnSpPr>
        <p:spPr>
          <a:xfrm>
            <a:off x="6273800" y="1778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6756400" y="1384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4" name="Google Shape;174;p28"/>
          <p:cNvSpPr txBox="1"/>
          <p:nvPr/>
        </p:nvSpPr>
        <p:spPr>
          <a:xfrm>
            <a:off x="444500" y="2324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5" name="Google Shape;175;p28"/>
          <p:cNvSpPr/>
          <p:nvPr/>
        </p:nvSpPr>
        <p:spPr>
          <a:xfrm>
            <a:off x="444500" y="27813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6" name="Google Shape;176;p28"/>
          <p:cNvCxnSpPr/>
          <p:nvPr/>
        </p:nvCxnSpPr>
        <p:spPr>
          <a:xfrm>
            <a:off x="2273300" y="31623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2603500" y="27813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8" name="Google Shape;178;p28"/>
          <p:cNvCxnSpPr/>
          <p:nvPr/>
        </p:nvCxnSpPr>
        <p:spPr>
          <a:xfrm>
            <a:off x="5232400" y="31623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9" name="Google Shape;179;p28"/>
          <p:cNvCxnSpPr/>
          <p:nvPr/>
        </p:nvCxnSpPr>
        <p:spPr>
          <a:xfrm>
            <a:off x="5499100" y="2628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80" name="Google Shape;180;p28"/>
          <p:cNvCxnSpPr/>
          <p:nvPr/>
        </p:nvCxnSpPr>
        <p:spPr>
          <a:xfrm>
            <a:off x="5499100" y="2628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2413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82" name="Google Shape;182;p28"/>
          <p:cNvCxnSpPr/>
          <p:nvPr/>
        </p:nvCxnSpPr>
        <p:spPr>
          <a:xfrm>
            <a:off x="5499100" y="3162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3" name="Google Shape;183;p28"/>
          <p:cNvSpPr/>
          <p:nvPr/>
        </p:nvSpPr>
        <p:spPr>
          <a:xfrm>
            <a:off x="5803900" y="2946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4" name="Google Shape;184;p28"/>
          <p:cNvCxnSpPr/>
          <p:nvPr/>
        </p:nvCxnSpPr>
        <p:spPr>
          <a:xfrm>
            <a:off x="5499100" y="3695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5" name="Google Shape;185;p28"/>
          <p:cNvSpPr/>
          <p:nvPr/>
        </p:nvSpPr>
        <p:spPr>
          <a:xfrm>
            <a:off x="5803900" y="3479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6" name="Google Shape;186;p28"/>
          <p:cNvSpPr txBox="1"/>
          <p:nvPr/>
        </p:nvSpPr>
        <p:spPr>
          <a:xfrm>
            <a:off x="508000" y="3962400"/>
            <a:ext cx="8127900" cy="2793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212121"/>
                </a:solidFill>
                <a:latin typeface="Poppins"/>
                <a:ea typeface="Poppins"/>
                <a:cs typeface="Poppins"/>
                <a:sym typeface="Poppins"/>
              </a:rPr>
              <a:t>IPFS gateways: efs.eth.limo (or .link) or your own IPFS node</a:t>
            </a:r>
            <a:endParaRPr>
              <a:solidFill>
                <a:srgbClr val="212121"/>
              </a:solidFill>
              <a:latin typeface="Poppins"/>
              <a:ea typeface="Poppins"/>
              <a:cs typeface="Poppins"/>
              <a:sym typeface="Poppins"/>
            </a:endParaRPr>
          </a:p>
        </p:txBody>
      </p:sp>
      <p:sp>
        <p:nvSpPr>
          <p:cNvPr id="187" name="Google Shape;187;p28"/>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8" name="Google Shape;188;p28"/>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189" name="Google Shape;189;p28"/>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the usual website. Can you open</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 trusted release through another route?</a:t>
            </a:r>
            <a:endParaRPr sz="1600">
              <a:solidFill>
                <a:srgbClr val="FFFFFF"/>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complete runnable release</a:t>
            </a:r>
            <a:endParaRPr b="1" sz="3000">
              <a:solidFill>
                <a:srgbClr val="06038D"/>
              </a:solidFill>
              <a:latin typeface="Poppins"/>
              <a:ea typeface="Poppins"/>
              <a:cs typeface="Poppins"/>
              <a:sym typeface="Poppins"/>
            </a:endParaRPr>
          </a:p>
        </p:txBody>
      </p:sp>
      <p:sp>
        <p:nvSpPr>
          <p:cNvPr id="195" name="Google Shape;195;p29"/>
          <p:cNvSpPr txBox="1"/>
          <p:nvPr/>
        </p:nvSpPr>
        <p:spPr>
          <a:xfrm>
            <a:off x="571500" y="1018875"/>
            <a:ext cx="80370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Keep every file the client needs to start</a:t>
            </a:r>
            <a:endParaRPr sz="2000">
              <a:solidFill>
                <a:srgbClr val="212121"/>
              </a:solidFill>
              <a:latin typeface="Poppins"/>
              <a:ea typeface="Poppins"/>
              <a:cs typeface="Poppins"/>
              <a:sym typeface="Poppins"/>
            </a:endParaRPr>
          </a:p>
        </p:txBody>
      </p:sp>
      <p:sp>
        <p:nvSpPr>
          <p:cNvPr id="196" name="Google Shape;196;p29"/>
          <p:cNvSpPr/>
          <p:nvPr/>
        </p:nvSpPr>
        <p:spPr>
          <a:xfrm>
            <a:off x="571500" y="1905000"/>
            <a:ext cx="3683100" cy="6351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index.html on IPFS</a:t>
            </a:r>
            <a:endParaRPr sz="2100">
              <a:solidFill>
                <a:srgbClr val="212121"/>
              </a:solidFill>
              <a:latin typeface="Poppins"/>
              <a:ea typeface="Poppins"/>
              <a:cs typeface="Poppins"/>
              <a:sym typeface="Poppins"/>
            </a:endParaRPr>
          </a:p>
        </p:txBody>
      </p:sp>
      <p:sp>
        <p:nvSpPr>
          <p:cNvPr id="197" name="Google Shape;197;p29"/>
          <p:cNvSpPr/>
          <p:nvPr/>
        </p:nvSpPr>
        <p:spPr>
          <a:xfrm>
            <a:off x="4889500" y="1905000"/>
            <a:ext cx="3683100" cy="15876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IPFS bundle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index.html</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app.js + styles + assets</a:t>
            </a:r>
            <a:endParaRPr sz="2000">
              <a:solidFill>
                <a:srgbClr val="212121"/>
              </a:solidFill>
              <a:latin typeface="Poppins"/>
              <a:ea typeface="Poppins"/>
              <a:cs typeface="Poppins"/>
              <a:sym typeface="Poppins"/>
            </a:endParaRPr>
          </a:p>
        </p:txBody>
      </p:sp>
      <p:cxnSp>
        <p:nvCxnSpPr>
          <p:cNvPr id="198" name="Google Shape;198;p29"/>
          <p:cNvCxnSpPr/>
          <p:nvPr/>
        </p:nvCxnSpPr>
        <p:spPr>
          <a:xfrm>
            <a:off x="2413000" y="25654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199" name="Google Shape;199;p29"/>
          <p:cNvCxnSpPr/>
          <p:nvPr/>
        </p:nvCxnSpPr>
        <p:spPr>
          <a:xfrm>
            <a:off x="6731000" y="3530600"/>
            <a:ext cx="0" cy="152400"/>
          </a:xfrm>
          <a:prstGeom prst="straightConnector1">
            <a:avLst/>
          </a:prstGeom>
          <a:noFill/>
          <a:ln cap="flat" cmpd="sng" w="16500">
            <a:solidFill>
              <a:srgbClr val="06038D"/>
            </a:solidFill>
            <a:prstDash val="solid"/>
            <a:round/>
            <a:headEnd len="med" w="med" type="none"/>
            <a:tailEnd len="med" w="med" type="triangle"/>
          </a:ln>
        </p:spPr>
      </p:cxnSp>
      <p:sp>
        <p:nvSpPr>
          <p:cNvPr id="200" name="Google Shape;200;p29"/>
          <p:cNvSpPr/>
          <p:nvPr/>
        </p:nvSpPr>
        <p:spPr>
          <a:xfrm>
            <a:off x="571500" y="2921000"/>
            <a:ext cx="3683100" cy="7239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Team server: app.js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201" name="Google Shape;201;p29"/>
          <p:cNvSpPr/>
          <p:nvPr/>
        </p:nvSpPr>
        <p:spPr>
          <a:xfrm>
            <a:off x="4889500" y="3746500"/>
            <a:ext cx="36831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starts</a:t>
            </a:r>
            <a:endParaRPr sz="2000">
              <a:solidFill>
                <a:srgbClr val="FFFFFF"/>
              </a:solidFill>
              <a:latin typeface="Poppins"/>
              <a:ea typeface="Poppins"/>
              <a:cs typeface="Poppins"/>
              <a:sym typeface="Poppins"/>
            </a:endParaRPr>
          </a:p>
        </p:txBody>
      </p:sp>
      <p:sp>
        <p:nvSpPr>
          <p:cNvPr id="202" name="Google Shape;202;p29"/>
          <p:cNvSpPr txBox="1"/>
          <p:nvPr/>
        </p:nvSpPr>
        <p:spPr>
          <a:xfrm>
            <a:off x="571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Incomplete release</a:t>
            </a:r>
            <a:endParaRPr b="1" sz="1800">
              <a:solidFill>
                <a:srgbClr val="06038D"/>
              </a:solidFill>
              <a:latin typeface="Poppins"/>
              <a:ea typeface="Poppins"/>
              <a:cs typeface="Poppins"/>
              <a:sym typeface="Poppins"/>
            </a:endParaRPr>
          </a:p>
        </p:txBody>
      </p:sp>
      <p:sp>
        <p:nvSpPr>
          <p:cNvPr id="203" name="Google Shape;203;p29"/>
          <p:cNvSpPr txBox="1"/>
          <p:nvPr/>
        </p:nvSpPr>
        <p:spPr>
          <a:xfrm>
            <a:off x="4889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Complete release</a:t>
            </a:r>
            <a:endParaRPr b="1" sz="1800">
              <a:solidFill>
                <a:srgbClr val="06038D"/>
              </a:solidFill>
              <a:latin typeface="Poppins"/>
              <a:ea typeface="Poppins"/>
              <a:cs typeface="Poppins"/>
              <a:sym typeface="Poppins"/>
            </a:endParaRPr>
          </a:p>
        </p:txBody>
      </p:sp>
      <p:sp>
        <p:nvSpPr>
          <p:cNvPr id="204" name="Google Shape;204;p29"/>
          <p:cNvSpPr txBox="1"/>
          <p:nvPr/>
        </p:nvSpPr>
        <p:spPr>
          <a:xfrm>
            <a:off x="571500" y="3721100"/>
            <a:ext cx="3683100" cy="406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Client cannot start</a:t>
            </a:r>
            <a:endParaRPr sz="1800">
              <a:solidFill>
                <a:srgbClr val="06038D"/>
              </a:solidFill>
              <a:latin typeface="Poppins"/>
              <a:ea typeface="Poppins"/>
              <a:cs typeface="Poppins"/>
              <a:sym typeface="Poppins"/>
            </a:endParaRPr>
          </a:p>
        </p:txBody>
      </p:sp>
      <p:sp>
        <p:nvSpPr>
          <p:cNvPr id="205" name="Google Shape;205;p29"/>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6" name="Google Shape;206;p29"/>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07" name="Google Shape;207;p29"/>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your team’s server, then reload the client.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Does it start?</a:t>
            </a:r>
            <a:endParaRPr sz="1600">
              <a:solidFill>
                <a:srgbClr val="FFFFF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without the company</a:t>
            </a:r>
            <a:endParaRPr b="1" sz="3000">
              <a:solidFill>
                <a:srgbClr val="06038D"/>
              </a:solidFill>
              <a:latin typeface="Poppins"/>
              <a:ea typeface="Poppins"/>
              <a:cs typeface="Poppins"/>
              <a:sym typeface="Poppins"/>
            </a:endParaRPr>
          </a:p>
        </p:txBody>
      </p:sp>
      <p:sp>
        <p:nvSpPr>
          <p:cNvPr id="213" name="Google Shape;213;p30"/>
          <p:cNvSpPr txBox="1"/>
          <p:nvPr/>
        </p:nvSpPr>
        <p:spPr>
          <a:xfrm>
            <a:off x="571350" y="1021525"/>
            <a:ext cx="8001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The client starts. Can the user actually get in?</a:t>
            </a:r>
            <a:endParaRPr sz="2000">
              <a:solidFill>
                <a:srgbClr val="212121"/>
              </a:solidFill>
              <a:latin typeface="Poppins"/>
              <a:ea typeface="Poppins"/>
              <a:cs typeface="Poppins"/>
              <a:sym typeface="Poppins"/>
            </a:endParaRPr>
          </a:p>
        </p:txBody>
      </p:sp>
      <p:sp>
        <p:nvSpPr>
          <p:cNvPr id="214" name="Google Shape;214;p30"/>
          <p:cNvSpPr/>
          <p:nvPr/>
        </p:nvSpPr>
        <p:spPr>
          <a:xfrm>
            <a:off x="507900" y="1786775"/>
            <a:ext cx="15390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App</a:t>
            </a:r>
            <a:endParaRPr sz="2100">
              <a:solidFill>
                <a:srgbClr val="212121"/>
              </a:solidFill>
              <a:latin typeface="Poppins"/>
              <a:ea typeface="Poppins"/>
              <a:cs typeface="Poppins"/>
              <a:sym typeface="Poppins"/>
            </a:endParaRPr>
          </a:p>
        </p:txBody>
      </p:sp>
      <p:sp>
        <p:nvSpPr>
          <p:cNvPr id="215" name="Google Shape;215;p30"/>
          <p:cNvSpPr/>
          <p:nvPr/>
        </p:nvSpPr>
        <p:spPr>
          <a:xfrm>
            <a:off x="6857900" y="1786775"/>
            <a:ext cx="1778100" cy="787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Locked out</a:t>
            </a:r>
            <a:endParaRPr sz="2000">
              <a:solidFill>
                <a:srgbClr val="212121"/>
              </a:solidFill>
              <a:latin typeface="Poppins"/>
              <a:ea typeface="Poppins"/>
              <a:cs typeface="Poppins"/>
              <a:sym typeface="Poppins"/>
            </a:endParaRPr>
          </a:p>
        </p:txBody>
      </p:sp>
      <p:cxnSp>
        <p:nvCxnSpPr>
          <p:cNvPr id="216" name="Google Shape;216;p30"/>
          <p:cNvCxnSpPr/>
          <p:nvPr/>
        </p:nvCxnSpPr>
        <p:spPr>
          <a:xfrm>
            <a:off x="2046900" y="2175150"/>
            <a:ext cx="787500" cy="0"/>
          </a:xfrm>
          <a:prstGeom prst="straightConnector1">
            <a:avLst/>
          </a:prstGeom>
          <a:noFill/>
          <a:ln cap="flat" cmpd="sng" w="16500">
            <a:solidFill>
              <a:srgbClr val="FF3D94"/>
            </a:solidFill>
            <a:prstDash val="solid"/>
            <a:round/>
            <a:headEnd len="med" w="med" type="none"/>
            <a:tailEnd len="med" w="med" type="triangle"/>
          </a:ln>
        </p:spPr>
      </p:cxnSp>
      <p:cxnSp>
        <p:nvCxnSpPr>
          <p:cNvPr id="217" name="Google Shape;217;p30"/>
          <p:cNvCxnSpPr/>
          <p:nvPr/>
        </p:nvCxnSpPr>
        <p:spPr>
          <a:xfrm>
            <a:off x="6451450" y="2180100"/>
            <a:ext cx="317700" cy="300"/>
          </a:xfrm>
          <a:prstGeom prst="straightConnector1">
            <a:avLst/>
          </a:prstGeom>
          <a:noFill/>
          <a:ln cap="flat" cmpd="sng" w="16500">
            <a:solidFill>
              <a:srgbClr val="FF3D94"/>
            </a:solidFill>
            <a:prstDash val="dash"/>
            <a:round/>
            <a:headEnd len="med" w="med" type="none"/>
            <a:tailEnd len="med" w="med" type="triangle"/>
          </a:ln>
        </p:spPr>
      </p:cxnSp>
      <p:cxnSp>
        <p:nvCxnSpPr>
          <p:cNvPr id="218" name="Google Shape;218;p30"/>
          <p:cNvCxnSpPr>
            <a:stCxn id="219" idx="3"/>
          </p:cNvCxnSpPr>
          <p:nvPr/>
        </p:nvCxnSpPr>
        <p:spPr>
          <a:xfrm>
            <a:off x="2046900" y="3640975"/>
            <a:ext cx="1280400" cy="0"/>
          </a:xfrm>
          <a:prstGeom prst="straightConnector1">
            <a:avLst/>
          </a:prstGeom>
          <a:noFill/>
          <a:ln cap="flat" cmpd="sng" w="16500">
            <a:solidFill>
              <a:srgbClr val="06038D"/>
            </a:solidFill>
            <a:prstDash val="solid"/>
            <a:round/>
            <a:headEnd len="med" w="med" type="none"/>
            <a:tailEnd len="med" w="med" type="triangle"/>
          </a:ln>
        </p:spPr>
      </p:cxnSp>
      <p:cxnSp>
        <p:nvCxnSpPr>
          <p:cNvPr id="220" name="Google Shape;220;p30"/>
          <p:cNvCxnSpPr/>
          <p:nvPr/>
        </p:nvCxnSpPr>
        <p:spPr>
          <a:xfrm flipH="1" rot="10800000">
            <a:off x="5911975" y="3641125"/>
            <a:ext cx="603000" cy="9600"/>
          </a:xfrm>
          <a:prstGeom prst="straightConnector1">
            <a:avLst/>
          </a:prstGeom>
          <a:noFill/>
          <a:ln cap="flat" cmpd="sng" w="16500">
            <a:solidFill>
              <a:srgbClr val="06038D"/>
            </a:solidFill>
            <a:prstDash val="solid"/>
            <a:round/>
            <a:headEnd len="med" w="med" type="none"/>
            <a:tailEnd len="med" w="med" type="triangle"/>
          </a:ln>
        </p:spPr>
      </p:cxnSp>
      <p:sp>
        <p:nvSpPr>
          <p:cNvPr id="219" name="Google Shape;219;p30"/>
          <p:cNvSpPr txBox="1"/>
          <p:nvPr/>
        </p:nvSpPr>
        <p:spPr>
          <a:xfrm>
            <a:off x="507900" y="3247225"/>
            <a:ext cx="15390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User’s wallet</a:t>
            </a:r>
            <a:endParaRPr sz="1700">
              <a:solidFill>
                <a:srgbClr val="212121"/>
              </a:solidFill>
              <a:latin typeface="Poppins"/>
              <a:ea typeface="Poppins"/>
              <a:cs typeface="Poppins"/>
              <a:sym typeface="Poppins"/>
            </a:endParaRPr>
          </a:p>
        </p:txBody>
      </p:sp>
      <p:sp>
        <p:nvSpPr>
          <p:cNvPr id="221" name="Google Shape;221;p30"/>
          <p:cNvSpPr/>
          <p:nvPr/>
        </p:nvSpPr>
        <p:spPr>
          <a:xfrm>
            <a:off x="6603900" y="3247275"/>
            <a:ext cx="20319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Same account</a:t>
            </a:r>
            <a:endParaRPr sz="17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and permissions</a:t>
            </a:r>
            <a:endParaRPr sz="1700">
              <a:solidFill>
                <a:srgbClr val="FFFFFF"/>
              </a:solidFill>
              <a:latin typeface="Poppins"/>
              <a:ea typeface="Poppins"/>
              <a:cs typeface="Poppins"/>
              <a:sym typeface="Poppins"/>
            </a:endParaRPr>
          </a:p>
        </p:txBody>
      </p:sp>
      <p:sp>
        <p:nvSpPr>
          <p:cNvPr id="222" name="Google Shape;222;p30"/>
          <p:cNvSpPr txBox="1"/>
          <p:nvPr/>
        </p:nvSpPr>
        <p:spPr>
          <a:xfrm>
            <a:off x="507900" y="2790075"/>
            <a:ext cx="8127900" cy="3429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800">
                <a:solidFill>
                  <a:srgbClr val="06038D"/>
                </a:solidFill>
                <a:latin typeface="Poppins"/>
                <a:ea typeface="Poppins"/>
                <a:cs typeface="Poppins"/>
                <a:sym typeface="Poppins"/>
              </a:rPr>
              <a:t>An account another service can recognize</a:t>
            </a:r>
            <a:endParaRPr b="1" sz="1800">
              <a:solidFill>
                <a:srgbClr val="06038D"/>
              </a:solidFill>
              <a:latin typeface="Poppins"/>
              <a:ea typeface="Poppins"/>
              <a:cs typeface="Poppins"/>
              <a:sym typeface="Poppins"/>
            </a:endParaRPr>
          </a:p>
        </p:txBody>
      </p:sp>
      <p:sp>
        <p:nvSpPr>
          <p:cNvPr id="223" name="Google Shape;223;p30"/>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4" name="Google Shape;224;p30"/>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25" name="Google Shape;225;p30"/>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Disable company login. Can the user complete</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the same action through another client?</a:t>
            </a:r>
            <a:endParaRPr sz="1600">
              <a:solidFill>
                <a:srgbClr val="FFFFFF"/>
              </a:solidFill>
              <a:latin typeface="Poppins"/>
              <a:ea typeface="Poppins"/>
              <a:cs typeface="Poppins"/>
              <a:sym typeface="Poppins"/>
            </a:endParaRPr>
          </a:p>
        </p:txBody>
      </p:sp>
      <p:pic>
        <p:nvPicPr>
          <p:cNvPr id="226" name="Google Shape;226;p30"/>
          <p:cNvPicPr preferRelativeResize="0"/>
          <p:nvPr/>
        </p:nvPicPr>
        <p:blipFill rotWithShape="1">
          <a:blip r:embed="rId3">
            <a:alphaModFix/>
          </a:blip>
          <a:srcRect b="1200" l="0" r="0" t="1210"/>
          <a:stretch/>
        </p:blipFill>
        <p:spPr>
          <a:xfrm>
            <a:off x="3701868" y="3247231"/>
            <a:ext cx="1902182" cy="787500"/>
          </a:xfrm>
          <a:prstGeom prst="rect">
            <a:avLst/>
          </a:prstGeom>
          <a:noFill/>
          <a:ln>
            <a:noFill/>
          </a:ln>
        </p:spPr>
      </p:pic>
      <p:pic>
        <p:nvPicPr>
          <p:cNvPr id="227" name="Google Shape;227;p30"/>
          <p:cNvPicPr preferRelativeResize="0"/>
          <p:nvPr/>
        </p:nvPicPr>
        <p:blipFill>
          <a:blip r:embed="rId4">
            <a:alphaModFix/>
          </a:blip>
          <a:stretch>
            <a:fillRect/>
          </a:stretch>
        </p:blipFill>
        <p:spPr>
          <a:xfrm>
            <a:off x="4394088" y="1652320"/>
            <a:ext cx="1968600" cy="1023499"/>
          </a:xfrm>
          <a:prstGeom prst="rect">
            <a:avLst/>
          </a:prstGeom>
          <a:noFill/>
          <a:ln>
            <a:noFill/>
          </a:ln>
        </p:spPr>
      </p:pic>
      <p:pic>
        <p:nvPicPr>
          <p:cNvPr id="228" name="Google Shape;228;p30"/>
          <p:cNvPicPr preferRelativeResize="0"/>
          <p:nvPr/>
        </p:nvPicPr>
        <p:blipFill>
          <a:blip r:embed="rId5">
            <a:alphaModFix/>
          </a:blip>
          <a:stretch>
            <a:fillRect/>
          </a:stretch>
        </p:blipFill>
        <p:spPr>
          <a:xfrm>
            <a:off x="2901187" y="1715488"/>
            <a:ext cx="1426115" cy="930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34" name="Google Shape;234;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40" name="Google Shape;240;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508050" y="447025"/>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46" name="Google Shape;246;p33"/>
          <p:cNvSpPr/>
          <p:nvPr/>
        </p:nvSpPr>
        <p:spPr>
          <a:xfrm>
            <a:off x="507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47" name="Google Shape;247;p33"/>
          <p:cNvSpPr/>
          <p:nvPr/>
        </p:nvSpPr>
        <p:spPr>
          <a:xfrm>
            <a:off x="507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id: note-17</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author: 0xDEADBEEF…</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text: Meeting at 10</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body: Review proposals.</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file: agenda.md</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vers</a:t>
            </a:r>
            <a:r>
              <a:rPr lang="en">
                <a:solidFill>
                  <a:srgbClr val="212121"/>
                </a:solidFill>
                <a:latin typeface="Roboto Mono"/>
                <a:ea typeface="Roboto Mono"/>
                <a:cs typeface="Roboto Mono"/>
                <a:sym typeface="Roboto Mono"/>
              </a:rPr>
              <a:t>: 2</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a:t>
            </a:r>
            <a:endParaRPr>
              <a:solidFill>
                <a:srgbClr val="212121"/>
              </a:solidFill>
              <a:latin typeface="Roboto Mono"/>
              <a:ea typeface="Roboto Mono"/>
              <a:cs typeface="Roboto Mono"/>
              <a:sym typeface="Roboto Mono"/>
            </a:endParaRPr>
          </a:p>
        </p:txBody>
      </p:sp>
      <p:sp>
        <p:nvSpPr>
          <p:cNvPr id="248" name="Google Shape;248;p33"/>
          <p:cNvSpPr/>
          <p:nvPr/>
        </p:nvSpPr>
        <p:spPr>
          <a:xfrm>
            <a:off x="4825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49" name="Google Shape;249;p33"/>
          <p:cNvSpPr/>
          <p:nvPr/>
        </p:nvSpPr>
        <p:spPr>
          <a:xfrm>
            <a:off x="4825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What each field means</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change it</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How versions fit together</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read and decrypt it</a:t>
            </a:r>
            <a:endParaRPr sz="1600">
              <a:solidFill>
                <a:srgbClr val="212121"/>
              </a:solidFill>
              <a:latin typeface="Poppins"/>
              <a:ea typeface="Poppins"/>
              <a:cs typeface="Poppins"/>
              <a:sym typeface="Poppins"/>
            </a:endParaRPr>
          </a:p>
        </p:txBody>
      </p:sp>
      <p:sp>
        <p:nvSpPr>
          <p:cNvPr id="250" name="Google Shape;250;p33"/>
          <p:cNvSpPr txBox="1"/>
          <p:nvPr/>
        </p:nvSpPr>
        <p:spPr>
          <a:xfrm>
            <a:off x="919725" y="3976038"/>
            <a:ext cx="76707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06038D"/>
                </a:solidFill>
                <a:latin typeface="Poppins"/>
                <a:ea typeface="Poppins"/>
                <a:cs typeface="Poppins"/>
                <a:sym typeface="Poppins"/>
              </a:rPr>
              <a:t>S</a:t>
            </a:r>
            <a:r>
              <a:rPr lang="en">
                <a:solidFill>
                  <a:srgbClr val="06038D"/>
                </a:solidFill>
                <a:latin typeface="Poppins"/>
                <a:ea typeface="Poppins"/>
                <a:cs typeface="Poppins"/>
                <a:sym typeface="Poppins"/>
              </a:rPr>
              <a:t>hared schemas</a:t>
            </a:r>
            <a:r>
              <a:rPr lang="en">
                <a:solidFill>
                  <a:srgbClr val="06038D"/>
                </a:solidFill>
                <a:latin typeface="Poppins"/>
                <a:ea typeface="Poppins"/>
                <a:cs typeface="Poppins"/>
                <a:sym typeface="Poppins"/>
              </a:rPr>
              <a:t> with EAS    </a:t>
            </a:r>
            <a:r>
              <a:rPr lang="en">
                <a:solidFill>
                  <a:srgbClr val="06038D"/>
                </a:solidFill>
                <a:latin typeface="Poppins"/>
                <a:ea typeface="Poppins"/>
                <a:cs typeface="Poppins"/>
                <a:sym typeface="Poppins"/>
              </a:rPr>
              <a:t>     Documented exports from your database.</a:t>
            </a:r>
            <a:endParaRPr>
              <a:solidFill>
                <a:srgbClr val="06038D"/>
              </a:solidFill>
              <a:latin typeface="Poppins"/>
              <a:ea typeface="Poppins"/>
              <a:cs typeface="Poppins"/>
              <a:sym typeface="Poppins"/>
            </a:endParaRPr>
          </a:p>
        </p:txBody>
      </p:sp>
      <p:pic>
        <p:nvPicPr>
          <p:cNvPr id="251" name="Google Shape;251;p33"/>
          <p:cNvPicPr preferRelativeResize="0"/>
          <p:nvPr/>
        </p:nvPicPr>
        <p:blipFill>
          <a:blip r:embed="rId3">
            <a:alphaModFix/>
          </a:blip>
          <a:stretch>
            <a:fillRect/>
          </a:stretch>
        </p:blipFill>
        <p:spPr>
          <a:xfrm>
            <a:off x="3816925" y="4020425"/>
            <a:ext cx="228600" cy="228600"/>
          </a:xfrm>
          <a:prstGeom prst="rect">
            <a:avLst/>
          </a:prstGeom>
          <a:noFill/>
          <a:ln>
            <a:noFill/>
          </a:ln>
        </p:spPr>
      </p:pic>
      <p:sp>
        <p:nvSpPr>
          <p:cNvPr id="252" name="Google Shape;252;p33"/>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3" name="Google Shape;253;p33"/>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54" name="Google Shape;254;p33"/>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Hand over an export and its format.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another developer read it without asking you?</a:t>
            </a:r>
            <a:endParaRPr sz="1600">
              <a:solidFill>
                <a:srgbClr val="FFFFFF"/>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Different tools. The same work.</a:t>
            </a:r>
            <a:endParaRPr b="1" sz="3000">
              <a:solidFill>
                <a:srgbClr val="06038D"/>
              </a:solidFill>
              <a:latin typeface="Poppins"/>
              <a:ea typeface="Poppins"/>
              <a:cs typeface="Poppins"/>
              <a:sym typeface="Poppins"/>
            </a:endParaRPr>
          </a:p>
        </p:txBody>
      </p:sp>
      <p:sp>
        <p:nvSpPr>
          <p:cNvPr id="260" name="Google Shape;260;p34"/>
          <p:cNvSpPr/>
          <p:nvPr/>
        </p:nvSpPr>
        <p:spPr>
          <a:xfrm>
            <a:off x="889000" y="4038600"/>
            <a:ext cx="7365900" cy="2412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300">
                <a:solidFill>
                  <a:srgbClr val="06038D"/>
                </a:solidFill>
                <a:latin typeface="Poppins"/>
                <a:ea typeface="Poppins"/>
                <a:cs typeface="Poppins"/>
                <a:sym typeface="Poppins"/>
              </a:rPr>
              <a:t>Same record: note-17 and agenda.md (revision 2)</a:t>
            </a:r>
            <a:endParaRPr sz="1300">
              <a:solidFill>
                <a:srgbClr val="06038D"/>
              </a:solidFill>
              <a:latin typeface="Poppins"/>
              <a:ea typeface="Poppins"/>
              <a:cs typeface="Poppins"/>
              <a:sym typeface="Poppins"/>
            </a:endParaRPr>
          </a:p>
        </p:txBody>
      </p:sp>
      <p:sp>
        <p:nvSpPr>
          <p:cNvPr id="261" name="Google Shape;261;p34"/>
          <p:cNvSpPr/>
          <p:nvPr/>
        </p:nvSpPr>
        <p:spPr>
          <a:xfrm>
            <a:off x="508000" y="1219200"/>
            <a:ext cx="4445100" cy="27939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2" name="Google Shape;262;p34"/>
          <p:cNvSpPr/>
          <p:nvPr/>
        </p:nvSpPr>
        <p:spPr>
          <a:xfrm>
            <a:off x="5207000" y="1219200"/>
            <a:ext cx="3429000" cy="27939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3" name="Google Shape;263;p34"/>
          <p:cNvSpPr/>
          <p:nvPr/>
        </p:nvSpPr>
        <p:spPr>
          <a:xfrm>
            <a:off x="520700" y="1587500"/>
            <a:ext cx="990600" cy="2412900"/>
          </a:xfrm>
          <a:prstGeom prst="rect">
            <a:avLst/>
          </a:prstGeom>
          <a:solidFill>
            <a:srgbClr val="F5F5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4" name="Google Shape;264;p34"/>
          <p:cNvSpPr txBox="1"/>
          <p:nvPr/>
        </p:nvSpPr>
        <p:spPr>
          <a:xfrm>
            <a:off x="609600" y="1689100"/>
            <a:ext cx="825600" cy="304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100">
                <a:solidFill>
                  <a:srgbClr val="6C6B79"/>
                </a:solidFill>
                <a:latin typeface="Poppins"/>
                <a:ea typeface="Poppins"/>
                <a:cs typeface="Poppins"/>
                <a:sym typeface="Poppins"/>
              </a:rPr>
              <a:t>MY NOTES</a:t>
            </a:r>
            <a:endParaRPr b="1" sz="1100">
              <a:solidFill>
                <a:srgbClr val="6C6B79"/>
              </a:solidFill>
              <a:latin typeface="Poppins"/>
              <a:ea typeface="Poppins"/>
              <a:cs typeface="Poppins"/>
              <a:sym typeface="Poppins"/>
            </a:endParaRPr>
          </a:p>
        </p:txBody>
      </p:sp>
      <p:sp>
        <p:nvSpPr>
          <p:cNvPr id="265" name="Google Shape;265;p34"/>
          <p:cNvSpPr/>
          <p:nvPr/>
        </p:nvSpPr>
        <p:spPr>
          <a:xfrm>
            <a:off x="584200" y="2108200"/>
            <a:ext cx="863700" cy="3684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200">
                <a:solidFill>
                  <a:srgbClr val="06038D"/>
                </a:solidFill>
                <a:latin typeface="Poppins"/>
                <a:ea typeface="Poppins"/>
                <a:cs typeface="Poppins"/>
                <a:sym typeface="Poppins"/>
              </a:rPr>
              <a:t>Meeting</a:t>
            </a:r>
            <a:endParaRPr b="1" sz="1200">
              <a:solidFill>
                <a:srgbClr val="06038D"/>
              </a:solidFill>
              <a:latin typeface="Poppins"/>
              <a:ea typeface="Poppins"/>
              <a:cs typeface="Poppins"/>
              <a:sym typeface="Poppins"/>
            </a:endParaRPr>
          </a:p>
        </p:txBody>
      </p:sp>
      <p:sp>
        <p:nvSpPr>
          <p:cNvPr id="266" name="Google Shape;266;p34"/>
          <p:cNvSpPr txBox="1"/>
          <p:nvPr/>
        </p:nvSpPr>
        <p:spPr>
          <a:xfrm>
            <a:off x="609600" y="2578100"/>
            <a:ext cx="825600" cy="1117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6C6B79"/>
                </a:solidFill>
                <a:latin typeface="Poppins"/>
                <a:ea typeface="Poppins"/>
                <a:cs typeface="Poppins"/>
                <a:sym typeface="Poppins"/>
              </a:rPr>
              <a:t>Ideas</a:t>
            </a:r>
            <a:endParaRPr sz="1200">
              <a:solidFill>
                <a:srgbClr val="6C6B79"/>
              </a:solidFill>
              <a:latin typeface="Poppins"/>
              <a:ea typeface="Poppins"/>
              <a:cs typeface="Poppins"/>
              <a:sym typeface="Poppins"/>
            </a:endParaRPr>
          </a:p>
          <a:p>
            <a:pPr indent="0" lvl="0" marL="0" marR="0" rtl="0" algn="l">
              <a:lnSpc>
                <a:spcPct val="110000"/>
              </a:lnSpc>
              <a:spcBef>
                <a:spcPts val="1200"/>
              </a:spcBef>
              <a:spcAft>
                <a:spcPts val="0"/>
              </a:spcAft>
              <a:buNone/>
            </a:pPr>
            <a:r>
              <a:rPr lang="en" sz="1200">
                <a:solidFill>
                  <a:srgbClr val="6C6B79"/>
                </a:solidFill>
                <a:latin typeface="Poppins"/>
                <a:ea typeface="Poppins"/>
                <a:cs typeface="Poppins"/>
                <a:sym typeface="Poppins"/>
              </a:rPr>
              <a:t>Projects</a:t>
            </a:r>
            <a:endParaRPr sz="1200">
              <a:solidFill>
                <a:srgbClr val="6C6B79"/>
              </a:solidFill>
              <a:latin typeface="Poppins"/>
              <a:ea typeface="Poppins"/>
              <a:cs typeface="Poppins"/>
              <a:sym typeface="Poppins"/>
            </a:endParaRPr>
          </a:p>
          <a:p>
            <a:pPr indent="0" lvl="0" marL="0" marR="0" rtl="0" algn="l">
              <a:lnSpc>
                <a:spcPct val="110000"/>
              </a:lnSpc>
              <a:spcBef>
                <a:spcPts val="1200"/>
              </a:spcBef>
              <a:spcAft>
                <a:spcPts val="1200"/>
              </a:spcAft>
              <a:buNone/>
            </a:pPr>
            <a:r>
              <a:rPr lang="en" sz="1200">
                <a:solidFill>
                  <a:srgbClr val="6C6B79"/>
                </a:solidFill>
                <a:latin typeface="Poppins"/>
                <a:ea typeface="Poppins"/>
                <a:cs typeface="Poppins"/>
                <a:sym typeface="Poppins"/>
              </a:rPr>
              <a:t>Archive</a:t>
            </a:r>
            <a:endParaRPr sz="1200">
              <a:solidFill>
                <a:srgbClr val="6C6B79"/>
              </a:solidFill>
              <a:latin typeface="Poppins"/>
              <a:ea typeface="Poppins"/>
              <a:cs typeface="Poppins"/>
              <a:sym typeface="Poppins"/>
            </a:endParaRPr>
          </a:p>
        </p:txBody>
      </p:sp>
      <p:sp>
        <p:nvSpPr>
          <p:cNvPr id="267" name="Google Shape;267;p34"/>
          <p:cNvSpPr txBox="1"/>
          <p:nvPr/>
        </p:nvSpPr>
        <p:spPr>
          <a:xfrm>
            <a:off x="1651000" y="1625600"/>
            <a:ext cx="3149700" cy="292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6C6B79"/>
                </a:solidFill>
                <a:latin typeface="Poppins"/>
                <a:ea typeface="Poppins"/>
                <a:cs typeface="Poppins"/>
                <a:sym typeface="Poppins"/>
              </a:rPr>
              <a:t>Edit     Format     Attach</a:t>
            </a:r>
            <a:endParaRPr sz="1200">
              <a:solidFill>
                <a:srgbClr val="6C6B79"/>
              </a:solidFill>
              <a:latin typeface="Poppins"/>
              <a:ea typeface="Poppins"/>
              <a:cs typeface="Poppins"/>
              <a:sym typeface="Poppins"/>
            </a:endParaRPr>
          </a:p>
        </p:txBody>
      </p:sp>
      <p:cxnSp>
        <p:nvCxnSpPr>
          <p:cNvPr id="268" name="Google Shape;268;p34"/>
          <p:cNvCxnSpPr/>
          <p:nvPr/>
        </p:nvCxnSpPr>
        <p:spPr>
          <a:xfrm>
            <a:off x="1524000" y="1968500"/>
            <a:ext cx="3416400" cy="0"/>
          </a:xfrm>
          <a:prstGeom prst="straightConnector1">
            <a:avLst/>
          </a:prstGeom>
          <a:noFill/>
          <a:ln cap="flat" cmpd="sng" w="12700">
            <a:solidFill>
              <a:srgbClr val="D9D8E5"/>
            </a:solidFill>
            <a:prstDash val="solid"/>
            <a:round/>
            <a:headEnd len="med" w="med" type="none"/>
            <a:tailEnd len="med" w="med" type="none"/>
          </a:ln>
        </p:spPr>
      </p:cxnSp>
      <p:sp>
        <p:nvSpPr>
          <p:cNvPr id="269" name="Google Shape;269;p34"/>
          <p:cNvSpPr txBox="1"/>
          <p:nvPr/>
        </p:nvSpPr>
        <p:spPr>
          <a:xfrm>
            <a:off x="1689100" y="2095500"/>
            <a:ext cx="31242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latin typeface="Poppins"/>
                <a:ea typeface="Poppins"/>
                <a:cs typeface="Poppins"/>
                <a:sym typeface="Poppins"/>
              </a:rPr>
              <a:t>Meeting at 10</a:t>
            </a:r>
            <a:endParaRPr b="1" sz="2200">
              <a:solidFill>
                <a:srgbClr val="212121"/>
              </a:solidFill>
              <a:latin typeface="Poppins"/>
              <a:ea typeface="Poppins"/>
              <a:cs typeface="Poppins"/>
              <a:sym typeface="Poppins"/>
            </a:endParaRPr>
          </a:p>
        </p:txBody>
      </p:sp>
      <p:sp>
        <p:nvSpPr>
          <p:cNvPr id="270" name="Google Shape;270;p34"/>
          <p:cNvSpPr txBox="1"/>
          <p:nvPr/>
        </p:nvSpPr>
        <p:spPr>
          <a:xfrm>
            <a:off x="1689100" y="2540000"/>
            <a:ext cx="31242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6C6B79"/>
                </a:solidFill>
                <a:latin typeface="Poppins"/>
                <a:ea typeface="Poppins"/>
                <a:cs typeface="Poppins"/>
                <a:sym typeface="Poppins"/>
              </a:rPr>
              <a:t>0xDEADBEEF…</a:t>
            </a:r>
            <a:endParaRPr sz="1200">
              <a:solidFill>
                <a:srgbClr val="6C6B79"/>
              </a:solidFill>
              <a:latin typeface="Poppins"/>
              <a:ea typeface="Poppins"/>
              <a:cs typeface="Poppins"/>
              <a:sym typeface="Poppins"/>
            </a:endParaRPr>
          </a:p>
        </p:txBody>
      </p:sp>
      <p:sp>
        <p:nvSpPr>
          <p:cNvPr id="271" name="Google Shape;271;p34"/>
          <p:cNvSpPr txBox="1"/>
          <p:nvPr/>
        </p:nvSpPr>
        <p:spPr>
          <a:xfrm>
            <a:off x="1689100" y="2933700"/>
            <a:ext cx="31242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700">
                <a:solidFill>
                  <a:srgbClr val="212121"/>
                </a:solidFill>
                <a:latin typeface="Poppins"/>
                <a:ea typeface="Poppins"/>
                <a:cs typeface="Poppins"/>
                <a:sym typeface="Poppins"/>
              </a:rPr>
              <a:t>Review proposals.</a:t>
            </a:r>
            <a:endParaRPr sz="1700">
              <a:solidFill>
                <a:srgbClr val="212121"/>
              </a:solidFill>
              <a:latin typeface="Poppins"/>
              <a:ea typeface="Poppins"/>
              <a:cs typeface="Poppins"/>
              <a:sym typeface="Poppins"/>
            </a:endParaRPr>
          </a:p>
        </p:txBody>
      </p:sp>
      <p:sp>
        <p:nvSpPr>
          <p:cNvPr id="272" name="Google Shape;272;p34"/>
          <p:cNvSpPr/>
          <p:nvPr/>
        </p:nvSpPr>
        <p:spPr>
          <a:xfrm>
            <a:off x="1676400" y="3403600"/>
            <a:ext cx="3098700" cy="3936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06038D"/>
                </a:solidFill>
                <a:latin typeface="Poppins"/>
                <a:ea typeface="Poppins"/>
                <a:cs typeface="Poppins"/>
                <a:sym typeface="Poppins"/>
              </a:rPr>
              <a:t>agenda.md     revision 2</a:t>
            </a:r>
            <a:endParaRPr>
              <a:solidFill>
                <a:srgbClr val="06038D"/>
              </a:solidFill>
              <a:latin typeface="Poppins"/>
              <a:ea typeface="Poppins"/>
              <a:cs typeface="Poppins"/>
              <a:sym typeface="Poppins"/>
            </a:endParaRPr>
          </a:p>
        </p:txBody>
      </p:sp>
      <p:sp>
        <p:nvSpPr>
          <p:cNvPr id="273" name="Google Shape;273;p34"/>
          <p:cNvSpPr txBox="1"/>
          <p:nvPr/>
        </p:nvSpPr>
        <p:spPr>
          <a:xfrm>
            <a:off x="1689100" y="3797300"/>
            <a:ext cx="30987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000">
                <a:solidFill>
                  <a:srgbClr val="6C6B79"/>
                </a:solidFill>
                <a:latin typeface="Poppins"/>
                <a:ea typeface="Poppins"/>
                <a:cs typeface="Poppins"/>
                <a:sym typeface="Poppins"/>
              </a:rPr>
              <a:t>Saved as note-17</a:t>
            </a:r>
            <a:endParaRPr sz="1000">
              <a:solidFill>
                <a:srgbClr val="6C6B79"/>
              </a:solidFill>
              <a:latin typeface="Poppins"/>
              <a:ea typeface="Poppins"/>
              <a:cs typeface="Poppins"/>
              <a:sym typeface="Poppins"/>
            </a:endParaRPr>
          </a:p>
        </p:txBody>
      </p:sp>
      <p:sp>
        <p:nvSpPr>
          <p:cNvPr id="274" name="Google Shape;274;p34"/>
          <p:cNvSpPr txBox="1"/>
          <p:nvPr/>
        </p:nvSpPr>
        <p:spPr>
          <a:xfrm>
            <a:off x="5372100" y="1625600"/>
            <a:ext cx="3060600" cy="304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200">
                <a:solidFill>
                  <a:srgbClr val="06038D"/>
                </a:solidFill>
                <a:latin typeface="Poppins"/>
                <a:ea typeface="Poppins"/>
                <a:cs typeface="Poppins"/>
                <a:sym typeface="Poppins"/>
              </a:rPr>
              <a:t>Following      Community</a:t>
            </a:r>
            <a:endParaRPr b="1" sz="1200">
              <a:solidFill>
                <a:srgbClr val="06038D"/>
              </a:solidFill>
              <a:latin typeface="Poppins"/>
              <a:ea typeface="Poppins"/>
              <a:cs typeface="Poppins"/>
              <a:sym typeface="Poppins"/>
            </a:endParaRPr>
          </a:p>
        </p:txBody>
      </p:sp>
      <p:cxnSp>
        <p:nvCxnSpPr>
          <p:cNvPr id="275" name="Google Shape;275;p34"/>
          <p:cNvCxnSpPr/>
          <p:nvPr/>
        </p:nvCxnSpPr>
        <p:spPr>
          <a:xfrm>
            <a:off x="5219700" y="1968500"/>
            <a:ext cx="3403500" cy="0"/>
          </a:xfrm>
          <a:prstGeom prst="straightConnector1">
            <a:avLst/>
          </a:prstGeom>
          <a:noFill/>
          <a:ln cap="flat" cmpd="sng" w="12700">
            <a:solidFill>
              <a:srgbClr val="D9D8E5"/>
            </a:solidFill>
            <a:prstDash val="solid"/>
            <a:round/>
            <a:headEnd len="med" w="med" type="none"/>
            <a:tailEnd len="med" w="med" type="none"/>
          </a:ln>
        </p:spPr>
      </p:cxnSp>
      <p:sp>
        <p:nvSpPr>
          <p:cNvPr id="276" name="Google Shape;276;p34"/>
          <p:cNvSpPr/>
          <p:nvPr/>
        </p:nvSpPr>
        <p:spPr>
          <a:xfrm>
            <a:off x="5384800" y="2095500"/>
            <a:ext cx="317400" cy="317400"/>
          </a:xfrm>
          <a:prstGeom prst="ellipse">
            <a:avLst/>
          </a:prstGeom>
          <a:solidFill>
            <a:srgbClr val="FFAB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7" name="Google Shape;277;p34"/>
          <p:cNvSpPr txBox="1"/>
          <p:nvPr/>
        </p:nvSpPr>
        <p:spPr>
          <a:xfrm>
            <a:off x="5791200" y="2082800"/>
            <a:ext cx="26796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200">
                <a:solidFill>
                  <a:srgbClr val="212121"/>
                </a:solidFill>
                <a:latin typeface="Poppins"/>
                <a:ea typeface="Poppins"/>
                <a:cs typeface="Poppins"/>
                <a:sym typeface="Poppins"/>
              </a:rPr>
              <a:t>0xDEADBEEF…</a:t>
            </a:r>
            <a:endParaRPr b="1" sz="1200">
              <a:solidFill>
                <a:srgbClr val="212121"/>
              </a:solidFill>
              <a:latin typeface="Poppins"/>
              <a:ea typeface="Poppins"/>
              <a:cs typeface="Poppins"/>
              <a:sym typeface="Poppins"/>
            </a:endParaRPr>
          </a:p>
        </p:txBody>
      </p:sp>
      <p:sp>
        <p:nvSpPr>
          <p:cNvPr id="278" name="Google Shape;278;p34"/>
          <p:cNvSpPr txBox="1"/>
          <p:nvPr/>
        </p:nvSpPr>
        <p:spPr>
          <a:xfrm>
            <a:off x="5791200" y="2324100"/>
            <a:ext cx="2679600" cy="216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000">
                <a:solidFill>
                  <a:srgbClr val="6C6B79"/>
                </a:solidFill>
                <a:latin typeface="Poppins"/>
                <a:ea typeface="Poppins"/>
                <a:cs typeface="Poppins"/>
                <a:sym typeface="Poppins"/>
              </a:rPr>
              <a:t>Shared note   /   note-17</a:t>
            </a:r>
            <a:endParaRPr sz="1000">
              <a:solidFill>
                <a:srgbClr val="6C6B79"/>
              </a:solidFill>
              <a:latin typeface="Poppins"/>
              <a:ea typeface="Poppins"/>
              <a:cs typeface="Poppins"/>
              <a:sym typeface="Poppins"/>
            </a:endParaRPr>
          </a:p>
        </p:txBody>
      </p:sp>
      <p:sp>
        <p:nvSpPr>
          <p:cNvPr id="279" name="Google Shape;279;p34"/>
          <p:cNvSpPr txBox="1"/>
          <p:nvPr/>
        </p:nvSpPr>
        <p:spPr>
          <a:xfrm>
            <a:off x="5384800" y="2603500"/>
            <a:ext cx="30735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Meeting at 10</a:t>
            </a:r>
            <a:endParaRPr b="1" sz="2100">
              <a:solidFill>
                <a:srgbClr val="212121"/>
              </a:solidFill>
              <a:latin typeface="Poppins"/>
              <a:ea typeface="Poppins"/>
              <a:cs typeface="Poppins"/>
              <a:sym typeface="Poppins"/>
            </a:endParaRPr>
          </a:p>
        </p:txBody>
      </p:sp>
      <p:sp>
        <p:nvSpPr>
          <p:cNvPr id="280" name="Google Shape;280;p34"/>
          <p:cNvSpPr txBox="1"/>
          <p:nvPr/>
        </p:nvSpPr>
        <p:spPr>
          <a:xfrm>
            <a:off x="5384800" y="2984500"/>
            <a:ext cx="3073500" cy="330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212121"/>
                </a:solidFill>
                <a:latin typeface="Poppins"/>
                <a:ea typeface="Poppins"/>
                <a:cs typeface="Poppins"/>
                <a:sym typeface="Poppins"/>
              </a:rPr>
              <a:t>Review proposals.</a:t>
            </a:r>
            <a:endParaRPr sz="1600">
              <a:solidFill>
                <a:srgbClr val="212121"/>
              </a:solidFill>
              <a:latin typeface="Poppins"/>
              <a:ea typeface="Poppins"/>
              <a:cs typeface="Poppins"/>
              <a:sym typeface="Poppins"/>
            </a:endParaRPr>
          </a:p>
        </p:txBody>
      </p:sp>
      <p:sp>
        <p:nvSpPr>
          <p:cNvPr id="281" name="Google Shape;281;p34"/>
          <p:cNvSpPr/>
          <p:nvPr/>
        </p:nvSpPr>
        <p:spPr>
          <a:xfrm>
            <a:off x="5372100" y="3365500"/>
            <a:ext cx="3098700" cy="3936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06038D"/>
                </a:solidFill>
                <a:latin typeface="Poppins"/>
                <a:ea typeface="Poppins"/>
                <a:cs typeface="Poppins"/>
                <a:sym typeface="Poppins"/>
              </a:rPr>
              <a:t>Open agenda.md   (rev 2)</a:t>
            </a:r>
            <a:endParaRPr>
              <a:solidFill>
                <a:srgbClr val="06038D"/>
              </a:solidFill>
              <a:latin typeface="Poppins"/>
              <a:ea typeface="Poppins"/>
              <a:cs typeface="Poppins"/>
              <a:sym typeface="Poppins"/>
            </a:endParaRPr>
          </a:p>
        </p:txBody>
      </p:sp>
      <p:sp>
        <p:nvSpPr>
          <p:cNvPr id="282" name="Google Shape;282;p34"/>
          <p:cNvSpPr txBox="1"/>
          <p:nvPr/>
        </p:nvSpPr>
        <p:spPr>
          <a:xfrm>
            <a:off x="5384800" y="3784600"/>
            <a:ext cx="3073500" cy="216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a:solidFill>
                  <a:srgbClr val="6C6B79"/>
                </a:solidFill>
                <a:latin typeface="Poppins"/>
                <a:ea typeface="Poppins"/>
                <a:cs typeface="Poppins"/>
                <a:sym typeface="Poppins"/>
              </a:rPr>
              <a:t>Reply       Share       Save</a:t>
            </a:r>
            <a:endParaRPr sz="1100">
              <a:solidFill>
                <a:srgbClr val="6C6B79"/>
              </a:solidFill>
              <a:latin typeface="Poppins"/>
              <a:ea typeface="Poppins"/>
              <a:cs typeface="Poppins"/>
              <a:sym typeface="Poppins"/>
            </a:endParaRPr>
          </a:p>
        </p:txBody>
      </p:sp>
      <p:sp>
        <p:nvSpPr>
          <p:cNvPr id="283" name="Google Shape;283;p34"/>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84" name="Google Shape;284;p34"/>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85" name="Google Shape;285;p34"/>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Open the same record in another app.</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the user continue their work?</a:t>
            </a:r>
            <a:endParaRPr sz="1600">
              <a:solidFill>
                <a:srgbClr val="FFFFFF"/>
              </a:solidFill>
              <a:latin typeface="Poppins"/>
              <a:ea typeface="Poppins"/>
              <a:cs typeface="Poppins"/>
              <a:sym typeface="Poppins"/>
            </a:endParaRPr>
          </a:p>
        </p:txBody>
      </p:sp>
      <p:sp>
        <p:nvSpPr>
          <p:cNvPr id="286" name="Google Shape;286;p34"/>
          <p:cNvSpPr/>
          <p:nvPr/>
        </p:nvSpPr>
        <p:spPr>
          <a:xfrm>
            <a:off x="508000" y="1219200"/>
            <a:ext cx="4445100" cy="355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500">
                <a:solidFill>
                  <a:srgbClr val="FFFFFF"/>
                </a:solidFill>
                <a:latin typeface="Poppins"/>
                <a:ea typeface="Poppins"/>
                <a:cs typeface="Poppins"/>
                <a:sym typeface="Poppins"/>
              </a:rPr>
              <a:t>Notes</a:t>
            </a:r>
            <a:endParaRPr b="1" sz="1500">
              <a:solidFill>
                <a:srgbClr val="FFFFFF"/>
              </a:solidFill>
              <a:latin typeface="Poppins"/>
              <a:ea typeface="Poppins"/>
              <a:cs typeface="Poppins"/>
              <a:sym typeface="Poppins"/>
            </a:endParaRPr>
          </a:p>
        </p:txBody>
      </p:sp>
      <p:sp>
        <p:nvSpPr>
          <p:cNvPr id="287" name="Google Shape;287;p34"/>
          <p:cNvSpPr/>
          <p:nvPr/>
        </p:nvSpPr>
        <p:spPr>
          <a:xfrm>
            <a:off x="5207000" y="1219200"/>
            <a:ext cx="3429000" cy="355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500">
                <a:solidFill>
                  <a:srgbClr val="FFFFFF"/>
                </a:solidFill>
                <a:latin typeface="Poppins"/>
                <a:ea typeface="Poppins"/>
                <a:cs typeface="Poppins"/>
                <a:sym typeface="Poppins"/>
              </a:rPr>
              <a:t>Community</a:t>
            </a:r>
            <a:endParaRPr b="1" sz="1500">
              <a:solidFill>
                <a:srgbClr val="FFFF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93" name="Google Shape;293;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94" name="Google Shape;294;p35"/>
          <p:cNvSpPr/>
          <p:nvPr/>
        </p:nvSpPr>
        <p:spPr>
          <a:xfrm>
            <a:off x="508000" y="19367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95" name="Google Shape;295;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IPFS host</a:t>
            </a:r>
            <a:endParaRPr sz="2000">
              <a:solidFill>
                <a:srgbClr val="212121"/>
              </a:solidFill>
              <a:latin typeface="Poppins"/>
              <a:ea typeface="Poppins"/>
              <a:cs typeface="Poppins"/>
              <a:sym typeface="Poppins"/>
            </a:endParaRPr>
          </a:p>
        </p:txBody>
      </p:sp>
      <p:sp>
        <p:nvSpPr>
          <p:cNvPr id="296" name="Google Shape;296;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Independent Arweave copy</a:t>
            </a:r>
            <a:endParaRPr sz="1800">
              <a:solidFill>
                <a:srgbClr val="212121"/>
              </a:solidFill>
              <a:latin typeface="Poppins"/>
              <a:ea typeface="Poppins"/>
              <a:cs typeface="Poppins"/>
              <a:sym typeface="Poppins"/>
            </a:endParaRPr>
          </a:p>
        </p:txBody>
      </p:sp>
      <p:sp>
        <p:nvSpPr>
          <p:cNvPr id="297" name="Google Shape;297;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User saved backup</a:t>
            </a:r>
            <a:endParaRPr sz="2000">
              <a:solidFill>
                <a:srgbClr val="212121"/>
              </a:solidFill>
              <a:latin typeface="Poppins"/>
              <a:ea typeface="Poppins"/>
              <a:cs typeface="Poppins"/>
              <a:sym typeface="Poppins"/>
            </a:endParaRPr>
          </a:p>
        </p:txBody>
      </p:sp>
      <p:cxnSp>
        <p:nvCxnSpPr>
          <p:cNvPr id="298" name="Google Shape;298;p35"/>
          <p:cNvCxnSpPr/>
          <p:nvPr/>
        </p:nvCxnSpPr>
        <p:spPr>
          <a:xfrm>
            <a:off x="3644900" y="23558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99" name="Google Shape;299;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300" name="Google Shape;300;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301" name="Google Shape;301;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302" name="Google Shape;302;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303" name="Google Shape;303;p35"/>
          <p:cNvSpPr txBox="1"/>
          <p:nvPr/>
        </p:nvSpPr>
        <p:spPr>
          <a:xfrm>
            <a:off x="508000" y="31877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304" name="Google Shape;304;p35"/>
          <p:cNvSpPr/>
          <p:nvPr/>
        </p:nvSpPr>
        <p:spPr>
          <a:xfrm>
            <a:off x="508000" y="36068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305" name="Google Shape;305;p35"/>
          <p:cNvCxnSpPr/>
          <p:nvPr/>
        </p:nvCxnSpPr>
        <p:spPr>
          <a:xfrm>
            <a:off x="3644900" y="38735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306" name="Google Shape;306;p35"/>
          <p:cNvSpPr/>
          <p:nvPr/>
        </p:nvSpPr>
        <p:spPr>
          <a:xfrm>
            <a:off x="4635500" y="36068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
        <p:nvSpPr>
          <p:cNvPr id="307" name="Google Shape;307;p35"/>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08" name="Google Shape;308;p35"/>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09" name="Google Shape;309;p35"/>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the primary storage provider.</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you recover the record and attachments elsewhere?</a:t>
            </a:r>
            <a:endParaRPr sz="1600">
              <a:solidFill>
                <a:srgbClr val="FFFFFF"/>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1587650" y="462275"/>
            <a:ext cx="70356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600">
                <a:solidFill>
                  <a:srgbClr val="06038D"/>
                </a:solidFill>
                <a:latin typeface="Poppins"/>
                <a:ea typeface="Poppins"/>
                <a:cs typeface="Poppins"/>
                <a:sym typeface="Poppins"/>
              </a:rPr>
              <a:t>Shared paths, data verifiability</a:t>
            </a:r>
            <a:endParaRPr sz="2600">
              <a:solidFill>
                <a:srgbClr val="06038D"/>
              </a:solidFill>
              <a:latin typeface="Poppins"/>
              <a:ea typeface="Poppins"/>
              <a:cs typeface="Poppins"/>
              <a:sym typeface="Poppins"/>
            </a:endParaRPr>
          </a:p>
        </p:txBody>
      </p:sp>
      <p:sp>
        <p:nvSpPr>
          <p:cNvPr id="315" name="Google Shape;315;p36"/>
          <p:cNvSpPr txBox="1"/>
          <p:nvPr/>
        </p:nvSpPr>
        <p:spPr>
          <a:xfrm>
            <a:off x="571500" y="1094413"/>
            <a:ext cx="6312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Example path: /notes/meeting.md</a:t>
            </a:r>
            <a:endParaRPr sz="1900">
              <a:solidFill>
                <a:srgbClr val="212121"/>
              </a:solidFill>
              <a:latin typeface="Poppins"/>
              <a:ea typeface="Poppins"/>
              <a:cs typeface="Poppins"/>
              <a:sym typeface="Poppins"/>
            </a:endParaRPr>
          </a:p>
        </p:txBody>
      </p:sp>
      <p:cxnSp>
        <p:nvCxnSpPr>
          <p:cNvPr id="316" name="Google Shape;316;p36"/>
          <p:cNvCxnSpPr/>
          <p:nvPr/>
        </p:nvCxnSpPr>
        <p:spPr>
          <a:xfrm>
            <a:off x="2699800" y="15263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317" name="Google Shape;317;p36"/>
          <p:cNvSpPr/>
          <p:nvPr/>
        </p:nvSpPr>
        <p:spPr>
          <a:xfrm>
            <a:off x="571450" y="1835275"/>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318" name="Google Shape;318;p36"/>
          <p:cNvCxnSpPr/>
          <p:nvPr/>
        </p:nvCxnSpPr>
        <p:spPr>
          <a:xfrm>
            <a:off x="4787850" y="2432175"/>
            <a:ext cx="635100" cy="0"/>
          </a:xfrm>
          <a:prstGeom prst="straightConnector1">
            <a:avLst/>
          </a:prstGeom>
          <a:noFill/>
          <a:ln cap="flat" cmpd="sng" w="17775">
            <a:solidFill>
              <a:srgbClr val="06038D"/>
            </a:solidFill>
            <a:prstDash val="solid"/>
            <a:round/>
            <a:headEnd len="med" w="med" type="none"/>
            <a:tailEnd len="med" w="med" type="triangle"/>
          </a:ln>
        </p:spPr>
      </p:cxnSp>
      <p:sp>
        <p:nvSpPr>
          <p:cNvPr id="319" name="Google Shape;319;p36"/>
          <p:cNvSpPr/>
          <p:nvPr/>
        </p:nvSpPr>
        <p:spPr>
          <a:xfrm>
            <a:off x="5460950" y="2000375"/>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sp>
        <p:nvSpPr>
          <p:cNvPr id="320" name="Google Shape;320;p36"/>
          <p:cNvSpPr/>
          <p:nvPr/>
        </p:nvSpPr>
        <p:spPr>
          <a:xfrm>
            <a:off x="571450" y="3295775"/>
            <a:ext cx="4191000" cy="774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Web client retrieves a copy</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and checks its fingerprint</a:t>
            </a:r>
            <a:endParaRPr sz="1800">
              <a:solidFill>
                <a:srgbClr val="FFFFFF"/>
              </a:solidFill>
              <a:latin typeface="Poppins"/>
              <a:ea typeface="Poppins"/>
              <a:cs typeface="Poppins"/>
              <a:sym typeface="Poppins"/>
            </a:endParaRPr>
          </a:p>
        </p:txBody>
      </p:sp>
      <p:sp>
        <p:nvSpPr>
          <p:cNvPr id="321" name="Google Shape;321;p36"/>
          <p:cNvSpPr/>
          <p:nvPr/>
        </p:nvSpPr>
        <p:spPr>
          <a:xfrm>
            <a:off x="5460950" y="3143325"/>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322" name="Google Shape;322;p36"/>
          <p:cNvSpPr/>
          <p:nvPr/>
        </p:nvSpPr>
        <p:spPr>
          <a:xfrm>
            <a:off x="5460950" y="3714825"/>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cxnSp>
        <p:nvCxnSpPr>
          <p:cNvPr id="323" name="Google Shape;323;p36"/>
          <p:cNvCxnSpPr/>
          <p:nvPr/>
        </p:nvCxnSpPr>
        <p:spPr>
          <a:xfrm>
            <a:off x="2666950" y="3067175"/>
            <a:ext cx="0" cy="190500"/>
          </a:xfrm>
          <a:prstGeom prst="straightConnector1">
            <a:avLst/>
          </a:prstGeom>
          <a:noFill/>
          <a:ln cap="flat" cmpd="sng" w="12700">
            <a:solidFill>
              <a:srgbClr val="06038D"/>
            </a:solidFill>
            <a:prstDash val="solid"/>
            <a:round/>
            <a:headEnd len="med" w="med" type="none"/>
            <a:tailEnd len="med" w="med" type="triangle"/>
          </a:ln>
        </p:spPr>
      </p:cxnSp>
      <p:cxnSp>
        <p:nvCxnSpPr>
          <p:cNvPr id="324" name="Google Shape;324;p36"/>
          <p:cNvCxnSpPr/>
          <p:nvPr/>
        </p:nvCxnSpPr>
        <p:spPr>
          <a:xfrm rot="10800000">
            <a:off x="5130750" y="3359225"/>
            <a:ext cx="304800" cy="0"/>
          </a:xfrm>
          <a:prstGeom prst="straightConnector1">
            <a:avLst/>
          </a:prstGeom>
          <a:noFill/>
          <a:ln cap="flat" cmpd="sng" w="12700">
            <a:solidFill>
              <a:srgbClr val="06038D"/>
            </a:solidFill>
            <a:prstDash val="solid"/>
            <a:round/>
            <a:headEnd len="med" w="med" type="none"/>
            <a:tailEnd len="med" w="med" type="none"/>
          </a:ln>
        </p:spPr>
      </p:cxnSp>
      <p:cxnSp>
        <p:nvCxnSpPr>
          <p:cNvPr id="325" name="Google Shape;325;p36"/>
          <p:cNvCxnSpPr/>
          <p:nvPr/>
        </p:nvCxnSpPr>
        <p:spPr>
          <a:xfrm rot="10800000">
            <a:off x="5130750" y="3930725"/>
            <a:ext cx="304800" cy="0"/>
          </a:xfrm>
          <a:prstGeom prst="straightConnector1">
            <a:avLst/>
          </a:prstGeom>
          <a:noFill/>
          <a:ln cap="flat" cmpd="sng" w="12700">
            <a:solidFill>
              <a:srgbClr val="06038D"/>
            </a:solidFill>
            <a:prstDash val="solid"/>
            <a:round/>
            <a:headEnd len="med" w="med" type="none"/>
            <a:tailEnd len="med" w="med" type="none"/>
          </a:ln>
        </p:spPr>
      </p:cxnSp>
      <p:cxnSp>
        <p:nvCxnSpPr>
          <p:cNvPr id="326" name="Google Shape;326;p36"/>
          <p:cNvCxnSpPr/>
          <p:nvPr/>
        </p:nvCxnSpPr>
        <p:spPr>
          <a:xfrm>
            <a:off x="5130750" y="3359225"/>
            <a:ext cx="0" cy="571500"/>
          </a:xfrm>
          <a:prstGeom prst="straightConnector1">
            <a:avLst/>
          </a:prstGeom>
          <a:noFill/>
          <a:ln cap="flat" cmpd="sng" w="12700">
            <a:solidFill>
              <a:srgbClr val="06038D"/>
            </a:solidFill>
            <a:prstDash val="solid"/>
            <a:round/>
            <a:headEnd len="med" w="med" type="none"/>
            <a:tailEnd len="med" w="med" type="none"/>
          </a:ln>
        </p:spPr>
      </p:cxnSp>
      <p:cxnSp>
        <p:nvCxnSpPr>
          <p:cNvPr id="327" name="Google Shape;327;p36"/>
          <p:cNvCxnSpPr/>
          <p:nvPr/>
        </p:nvCxnSpPr>
        <p:spPr>
          <a:xfrm rot="10800000">
            <a:off x="4800450" y="3651375"/>
            <a:ext cx="330300" cy="0"/>
          </a:xfrm>
          <a:prstGeom prst="straightConnector1">
            <a:avLst/>
          </a:prstGeom>
          <a:noFill/>
          <a:ln cap="flat" cmpd="sng" w="12700">
            <a:solidFill>
              <a:srgbClr val="06038D"/>
            </a:solidFill>
            <a:prstDash val="solid"/>
            <a:round/>
            <a:headEnd len="med" w="med" type="none"/>
            <a:tailEnd len="med" w="med" type="triangle"/>
          </a:ln>
        </p:spPr>
      </p:cxnSp>
      <p:sp>
        <p:nvSpPr>
          <p:cNvPr id="328" name="Google Shape;328;p36"/>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29" name="Google Shape;329;p36"/>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30" name="Google Shape;330;p36"/>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Fetch from another source. Does its fingerprint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match the accepted file record?</a:t>
            </a:r>
            <a:endParaRPr sz="1600">
              <a:solidFill>
                <a:srgbClr val="FFFFFF"/>
              </a:solidFill>
              <a:latin typeface="Poppins"/>
              <a:ea typeface="Poppins"/>
              <a:cs typeface="Poppins"/>
              <a:sym typeface="Poppins"/>
            </a:endParaRPr>
          </a:p>
        </p:txBody>
      </p:sp>
      <p:pic>
        <p:nvPicPr>
          <p:cNvPr id="331" name="Google Shape;331;p36"/>
          <p:cNvPicPr preferRelativeResize="0"/>
          <p:nvPr/>
        </p:nvPicPr>
        <p:blipFill>
          <a:blip r:embed="rId3">
            <a:alphaModFix/>
          </a:blip>
          <a:stretch>
            <a:fillRect/>
          </a:stretch>
        </p:blipFill>
        <p:spPr>
          <a:xfrm>
            <a:off x="1184900" y="564525"/>
            <a:ext cx="1155700" cy="4938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The data survives. Can your app read it?</a:t>
            </a:r>
            <a:endParaRPr b="1">
              <a:solidFill>
                <a:srgbClr val="06038D"/>
              </a:solidFill>
              <a:latin typeface="Poppins"/>
              <a:ea typeface="Poppins"/>
              <a:cs typeface="Poppins"/>
              <a:sym typeface="Poppins"/>
            </a:endParaRPr>
          </a:p>
        </p:txBody>
      </p:sp>
      <p:sp>
        <p:nvSpPr>
          <p:cNvPr id="337" name="Google Shape;337;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06038D"/>
                </a:solidFill>
                <a:latin typeface="Poppins"/>
                <a:ea typeface="Poppins"/>
                <a:cs typeface="Poppins"/>
                <a:sym typeface="Poppins"/>
              </a:rPr>
              <a:t>Read a wallet balance</a:t>
            </a:r>
            <a:endParaRPr b="1" sz="2000">
              <a:solidFill>
                <a:srgbClr val="06038D"/>
              </a:solidFill>
              <a:latin typeface="Poppins"/>
              <a:ea typeface="Poppins"/>
              <a:cs typeface="Poppins"/>
              <a:sym typeface="Poppins"/>
            </a:endParaRPr>
          </a:p>
        </p:txBody>
      </p:sp>
      <p:sp>
        <p:nvSpPr>
          <p:cNvPr id="338" name="Google Shape;338;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339" name="Google Shape;339;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RPC provider</a:t>
            </a:r>
            <a:endParaRPr sz="18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or your own node</a:t>
            </a:r>
            <a:endParaRPr sz="1800">
              <a:solidFill>
                <a:srgbClr val="212121"/>
              </a:solidFill>
              <a:latin typeface="Poppins"/>
              <a:ea typeface="Poppins"/>
              <a:cs typeface="Poppins"/>
              <a:sym typeface="Poppins"/>
            </a:endParaRPr>
          </a:p>
        </p:txBody>
      </p:sp>
      <p:sp>
        <p:nvSpPr>
          <p:cNvPr id="340" name="Google Shape;340;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FFFFFF"/>
                </a:solidFill>
                <a:latin typeface="Poppins"/>
                <a:ea typeface="Poppins"/>
                <a:cs typeface="Poppins"/>
                <a:sym typeface="Poppins"/>
              </a:rPr>
              <a:t>Balance</a:t>
            </a:r>
            <a:endParaRPr sz="19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900">
                <a:solidFill>
                  <a:srgbClr val="FFFFFF"/>
                </a:solidFill>
                <a:latin typeface="Poppins"/>
                <a:ea typeface="Poppins"/>
                <a:cs typeface="Poppins"/>
                <a:sym typeface="Poppins"/>
              </a:rPr>
              <a:t>2.40 ETH</a:t>
            </a:r>
            <a:endParaRPr sz="1900">
              <a:solidFill>
                <a:srgbClr val="FFFFFF"/>
              </a:solidFill>
              <a:latin typeface="Poppins"/>
              <a:ea typeface="Poppins"/>
              <a:cs typeface="Poppins"/>
              <a:sym typeface="Poppins"/>
            </a:endParaRPr>
          </a:p>
        </p:txBody>
      </p:sp>
      <p:sp>
        <p:nvSpPr>
          <p:cNvPr id="341" name="Google Shape;341;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06038D"/>
                </a:solidFill>
                <a:latin typeface="Poppins"/>
                <a:ea typeface="Poppins"/>
                <a:cs typeface="Poppins"/>
                <a:sym typeface="Poppins"/>
              </a:rPr>
              <a:t>Show a transaction history</a:t>
            </a:r>
            <a:endParaRPr b="1" sz="2000">
              <a:solidFill>
                <a:srgbClr val="06038D"/>
              </a:solidFill>
              <a:latin typeface="Poppins"/>
              <a:ea typeface="Poppins"/>
              <a:cs typeface="Poppins"/>
              <a:sym typeface="Poppins"/>
            </a:endParaRPr>
          </a:p>
        </p:txBody>
      </p:sp>
      <p:cxnSp>
        <p:nvCxnSpPr>
          <p:cNvPr id="342" name="Google Shape;342;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43" name="Google Shape;343;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44" name="Google Shape;344;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45" name="Google Shape;345;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46" name="Google Shape;346;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500">
                <a:solidFill>
                  <a:srgbClr val="FFFFFF"/>
                </a:solidFill>
                <a:latin typeface="Poppins"/>
                <a:ea typeface="Poppins"/>
                <a:cs typeface="Poppins"/>
                <a:sym typeface="Poppins"/>
              </a:rPr>
              <a:t>Recent transfers</a:t>
            </a:r>
            <a:endParaRPr sz="15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500">
                <a:solidFill>
                  <a:srgbClr val="FFFFFF"/>
                </a:solidFill>
                <a:latin typeface="Poppins"/>
                <a:ea typeface="Poppins"/>
                <a:cs typeface="Poppins"/>
                <a:sym typeface="Poppins"/>
              </a:rPr>
              <a:t>0.20 ETH received</a:t>
            </a:r>
            <a:endParaRPr sz="1500">
              <a:solidFill>
                <a:srgbClr val="FFFFFF"/>
              </a:solidFill>
              <a:latin typeface="Poppins"/>
              <a:ea typeface="Poppins"/>
              <a:cs typeface="Poppins"/>
              <a:sym typeface="Poppins"/>
            </a:endParaRPr>
          </a:p>
        </p:txBody>
      </p:sp>
      <p:cxnSp>
        <p:nvCxnSpPr>
          <p:cNvPr id="347" name="Google Shape;347;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48" name="Google Shape;348;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49" name="Google Shape;349;p37"/>
          <p:cNvSpPr txBox="1"/>
          <p:nvPr/>
        </p:nvSpPr>
        <p:spPr>
          <a:xfrm>
            <a:off x="508000" y="2489200"/>
            <a:ext cx="8127900" cy="266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300">
                <a:solidFill>
                  <a:srgbClr val="06038D"/>
                </a:solidFill>
                <a:latin typeface="Poppins"/>
                <a:ea typeface="Poppins"/>
                <a:cs typeface="Poppins"/>
                <a:sym typeface="Poppins"/>
              </a:rPr>
              <a:t>Light clients such as Helios can verify supported chain reads.</a:t>
            </a:r>
            <a:endParaRPr sz="1300">
              <a:solidFill>
                <a:srgbClr val="06038D"/>
              </a:solidFill>
              <a:latin typeface="Poppins"/>
              <a:ea typeface="Poppins"/>
              <a:cs typeface="Poppins"/>
              <a:sym typeface="Poppins"/>
            </a:endParaRPr>
          </a:p>
        </p:txBody>
      </p:sp>
      <p:sp>
        <p:nvSpPr>
          <p:cNvPr id="350" name="Google Shape;350;p37"/>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1" name="Google Shape;351;p37"/>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52" name="Google Shape;352;p37"/>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Switch data providers. Can users still find</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their records and latest changes?</a:t>
            </a:r>
            <a:endParaRPr sz="1600">
              <a:solidFill>
                <a:srgbClr val="FFFFFF"/>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58" name="Google Shape;358;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59" name="Google Shape;359;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60" name="Google Shape;360;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61" name="Google Shape;361;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62" name="Google Shape;362;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cxnSp>
        <p:nvCxnSpPr>
          <p:cNvPr id="363" name="Google Shape;363;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64" name="Google Shape;364;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65" name="Google Shape;365;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66" name="Google Shape;366;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67" name="Google Shape;367;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
        <p:nvSpPr>
          <p:cNvPr id="368" name="Google Shape;368;p38"/>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69" name="Google Shape;369;p38"/>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70" name="Google Shape;370;p38"/>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Stop your transaction service. Can another</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operator complete the user’s request?</a:t>
            </a:r>
            <a:endParaRPr sz="1600">
              <a:solidFill>
                <a:srgbClr val="FFFFFF"/>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76" name="Google Shape;376;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0"/>
          <p:cNvSpPr txBox="1"/>
          <p:nvPr>
            <p:ph type="title"/>
          </p:nvPr>
        </p:nvSpPr>
        <p:spPr>
          <a:xfrm>
            <a:off x="4838700" y="762000"/>
            <a:ext cx="3733800" cy="31749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82" name="Google Shape;382;p40"/>
          <p:cNvSpPr txBox="1"/>
          <p:nvPr>
            <p:ph idx="1" type="body"/>
          </p:nvPr>
        </p:nvSpPr>
        <p:spPr>
          <a:xfrm>
            <a:off x="647700" y="889000"/>
            <a:ext cx="3733800" cy="3174900"/>
          </a:xfrm>
          <a:prstGeom prst="rect">
            <a:avLst/>
          </a:prstGeom>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200">
                <a:solidFill>
                  <a:srgbClr val="212121"/>
                </a:solidFill>
              </a:rPr>
              <a:t>Stable core contracts</a:t>
            </a:r>
            <a:endParaRPr sz="2200">
              <a:solidFill>
                <a:srgbClr val="212121"/>
              </a:solidFill>
            </a:endParaRPr>
          </a:p>
          <a:p>
            <a:pPr indent="0" lvl="0" marL="0" marR="0" rtl="0" algn="l">
              <a:lnSpc>
                <a:spcPct val="105000"/>
              </a:lnSpc>
              <a:spcBef>
                <a:spcPts val="0"/>
              </a:spcBef>
              <a:spcAft>
                <a:spcPts val="0"/>
              </a:spcAft>
              <a:buNone/>
            </a:pPr>
            <a:r>
              <a:t/>
            </a:r>
            <a:endParaRPr sz="2200">
              <a:solidFill>
                <a:srgbClr val="212121"/>
              </a:solidFill>
            </a:endParaRPr>
          </a:p>
          <a:p>
            <a:pPr indent="0" lvl="0" marL="0" marR="0" rtl="0" algn="l">
              <a:lnSpc>
                <a:spcPct val="105000"/>
              </a:lnSpc>
              <a:spcBef>
                <a:spcPts val="0"/>
              </a:spcBef>
              <a:spcAft>
                <a:spcPts val="0"/>
              </a:spcAft>
              <a:buNone/>
            </a:pPr>
            <a:r>
              <a:rPr lang="en" sz="2200">
                <a:solidFill>
                  <a:srgbClr val="212121"/>
                </a:solidFill>
              </a:rPr>
              <a:t>User-controlled app upgrades</a:t>
            </a:r>
            <a:endParaRPr sz="2200">
              <a:solidFill>
                <a:srgbClr val="212121"/>
              </a:solidFill>
            </a:endParaRPr>
          </a:p>
          <a:p>
            <a:pPr indent="0" lvl="0" marL="0" marR="0" rtl="0" algn="l">
              <a:lnSpc>
                <a:spcPct val="105000"/>
              </a:lnSpc>
              <a:spcBef>
                <a:spcPts val="0"/>
              </a:spcBef>
              <a:spcAft>
                <a:spcPts val="0"/>
              </a:spcAft>
              <a:buNone/>
            </a:pPr>
            <a:r>
              <a:t/>
            </a:r>
            <a:endParaRPr sz="2200">
              <a:solidFill>
                <a:srgbClr val="212121"/>
              </a:solidFill>
            </a:endParaRPr>
          </a:p>
          <a:p>
            <a:pPr indent="0" lvl="0" marL="0" marR="0" rtl="0" algn="l">
              <a:lnSpc>
                <a:spcPct val="105000"/>
              </a:lnSpc>
              <a:spcBef>
                <a:spcPts val="0"/>
              </a:spcBef>
              <a:spcAft>
                <a:spcPts val="0"/>
              </a:spcAft>
              <a:buNone/>
            </a:pPr>
            <a:r>
              <a:rPr lang="en" sz="2200">
                <a:solidFill>
                  <a:srgbClr val="212121"/>
                </a:solidFill>
              </a:rPr>
              <a:t>Clear rules for shared governance</a:t>
            </a:r>
            <a:endParaRPr sz="2200">
              <a:solidFill>
                <a:srgbClr val="21212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1"/>
          <p:cNvSpPr txBox="1"/>
          <p:nvPr>
            <p:ph idx="1" type="body"/>
          </p:nvPr>
        </p:nvSpPr>
        <p:spPr>
          <a:xfrm>
            <a:off x="698500" y="1485900"/>
            <a:ext cx="3746400" cy="2324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A stable core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Keep contract code fixed</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Let other apps build on it</a:t>
            </a:r>
            <a:endParaRPr sz="2200">
              <a:solidFill>
                <a:srgbClr val="212121"/>
              </a:solidFill>
            </a:endParaRPr>
          </a:p>
        </p:txBody>
      </p:sp>
      <p:sp>
        <p:nvSpPr>
          <p:cNvPr id="388" name="Google Shape;388;p41"/>
          <p:cNvSpPr txBox="1"/>
          <p:nvPr>
            <p:ph idx="2" type="body"/>
          </p:nvPr>
        </p:nvSpPr>
        <p:spPr>
          <a:xfrm>
            <a:off x="4660900" y="1485900"/>
            <a:ext cx="3784500" cy="2324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Room to improve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Deploy a new version</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Let users choose to migrate</a:t>
            </a:r>
            <a:endParaRPr sz="2200">
              <a:solidFill>
                <a:srgbClr val="212121"/>
              </a:solidFill>
            </a:endParaRPr>
          </a:p>
        </p:txBody>
      </p:sp>
      <p:sp>
        <p:nvSpPr>
          <p:cNvPr id="389" name="Google Shape;389;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90" name="Google Shape;390;p41"/>
          <p:cNvSpPr txBox="1"/>
          <p:nvPr/>
        </p:nvSpPr>
        <p:spPr>
          <a:xfrm>
            <a:off x="698500" y="3730050"/>
            <a:ext cx="77469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600">
                <a:solidFill>
                  <a:srgbClr val="06038D"/>
                </a:solidFill>
                <a:latin typeface="Poppins"/>
                <a:ea typeface="Poppins"/>
                <a:cs typeface="Poppins"/>
                <a:sym typeface="Poppins"/>
              </a:rPr>
              <a:t>Uniswap: fixed code, shared exchange logic</a:t>
            </a:r>
            <a:endParaRPr sz="1600">
              <a:solidFill>
                <a:srgbClr val="06038D"/>
              </a:solidFill>
              <a:latin typeface="Poppins"/>
              <a:ea typeface="Poppins"/>
              <a:cs typeface="Poppins"/>
              <a:sym typeface="Poppins"/>
            </a:endParaRPr>
          </a:p>
        </p:txBody>
      </p:sp>
      <p:sp>
        <p:nvSpPr>
          <p:cNvPr id="391" name="Google Shape;391;p41"/>
          <p:cNvSpPr txBox="1"/>
          <p:nvPr/>
        </p:nvSpPr>
        <p:spPr>
          <a:xfrm>
            <a:off x="1540800" y="1058050"/>
            <a:ext cx="6062400" cy="366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200">
                <a:solidFill>
                  <a:srgbClr val="06038D"/>
                </a:solidFill>
                <a:latin typeface="Poppins"/>
                <a:ea typeface="Poppins"/>
                <a:cs typeface="Poppins"/>
                <a:sym typeface="Poppins"/>
              </a:rPr>
              <a:t>UNIX mindset: Do one thing and do it well</a:t>
            </a:r>
            <a:endParaRPr sz="1200">
              <a:solidFill>
                <a:srgbClr val="06038D"/>
              </a:solidFill>
              <a:latin typeface="Poppins"/>
              <a:ea typeface="Poppins"/>
              <a:cs typeface="Poppins"/>
              <a:sym typeface="Poppins"/>
            </a:endParaRPr>
          </a:p>
        </p:txBody>
      </p:sp>
      <p:sp>
        <p:nvSpPr>
          <p:cNvPr id="392" name="Google Shape;392;p41"/>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93" name="Google Shape;393;p41"/>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94" name="Google Shape;394;p41"/>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Keep the old app release and contract address.</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users complete the task without upgrading?</a:t>
            </a:r>
            <a:endParaRPr sz="1600">
              <a:solidFill>
                <a:srgbClr val="FFFFFF"/>
              </a:solidFill>
              <a:latin typeface="Poppins"/>
              <a:ea typeface="Poppins"/>
              <a:cs typeface="Poppins"/>
              <a:sym typeface="Poppins"/>
            </a:endParaRPr>
          </a:p>
        </p:txBody>
      </p:sp>
      <p:pic>
        <p:nvPicPr>
          <p:cNvPr id="395" name="Google Shape;395;p41"/>
          <p:cNvPicPr preferRelativeResize="0"/>
          <p:nvPr/>
        </p:nvPicPr>
        <p:blipFill>
          <a:blip r:embed="rId3">
            <a:alphaModFix/>
          </a:blip>
          <a:stretch>
            <a:fillRect/>
          </a:stretch>
        </p:blipFill>
        <p:spPr>
          <a:xfrm>
            <a:off x="1864231" y="3632626"/>
            <a:ext cx="457916" cy="457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2"/>
          <p:cNvSpPr txBox="1"/>
          <p:nvPr>
            <p:ph idx="1" type="body"/>
          </p:nvPr>
        </p:nvSpPr>
        <p:spPr>
          <a:xfrm>
            <a:off x="698500" y="1371600"/>
            <a:ext cx="3746400" cy="27177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Ethereum and L1</a:t>
            </a:r>
            <a:br>
              <a:rPr b="1" lang="en" sz="2000">
                <a:solidFill>
                  <a:srgbClr val="212121"/>
                </a:solidFill>
              </a:rPr>
            </a:br>
            <a:endParaRPr b="1"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Use another node</a:t>
            </a:r>
            <a:endParaRPr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Keep required history</a:t>
            </a:r>
            <a:endParaRPr sz="2000">
              <a:solidFill>
                <a:srgbClr val="212121"/>
              </a:solidFill>
            </a:endParaRPr>
          </a:p>
          <a:p>
            <a:pPr indent="0" lvl="0" marL="0" marR="0" rtl="0" algn="l">
              <a:lnSpc>
                <a:spcPct val="110000"/>
              </a:lnSpc>
              <a:spcBef>
                <a:spcPts val="1200"/>
              </a:spcBef>
              <a:spcAft>
                <a:spcPts val="1200"/>
              </a:spcAft>
              <a:buNone/>
            </a:pPr>
            <a:r>
              <a:rPr lang="en" sz="2000">
                <a:solidFill>
                  <a:srgbClr val="212121"/>
                </a:solidFill>
              </a:rPr>
              <a:t>Check inclusion and finality</a:t>
            </a:r>
            <a:endParaRPr sz="2000">
              <a:solidFill>
                <a:srgbClr val="212121"/>
              </a:solidFill>
            </a:endParaRPr>
          </a:p>
        </p:txBody>
      </p:sp>
      <p:sp>
        <p:nvSpPr>
          <p:cNvPr id="401" name="Google Shape;401;p42"/>
          <p:cNvSpPr txBox="1"/>
          <p:nvPr>
            <p:ph idx="2" type="body"/>
          </p:nvPr>
        </p:nvSpPr>
        <p:spPr>
          <a:xfrm>
            <a:off x="4660900" y="1371600"/>
            <a:ext cx="3975000" cy="27177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L2 and settlement</a:t>
            </a:r>
            <a:br>
              <a:rPr b="1" lang="en" sz="2000">
                <a:solidFill>
                  <a:srgbClr val="212121"/>
                </a:solidFill>
              </a:rPr>
            </a:br>
            <a:endParaRPr b="1"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Who orders transactions?</a:t>
            </a:r>
            <a:endParaRPr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Can users submit through L1?</a:t>
            </a:r>
            <a:endParaRPr sz="2000">
              <a:solidFill>
                <a:srgbClr val="212121"/>
              </a:solidFill>
            </a:endParaRPr>
          </a:p>
          <a:p>
            <a:pPr indent="0" lvl="0" marL="0" marR="0" rtl="0" algn="l">
              <a:lnSpc>
                <a:spcPct val="110000"/>
              </a:lnSpc>
              <a:spcBef>
                <a:spcPts val="1200"/>
              </a:spcBef>
              <a:spcAft>
                <a:spcPts val="1200"/>
              </a:spcAft>
              <a:buNone/>
            </a:pPr>
            <a:r>
              <a:rPr lang="en" sz="2000">
                <a:solidFill>
                  <a:srgbClr val="212121"/>
                </a:solidFill>
              </a:rPr>
              <a:t>How can users withdraw?</a:t>
            </a:r>
            <a:endParaRPr sz="2000">
              <a:solidFill>
                <a:srgbClr val="212121"/>
              </a:solidFill>
            </a:endParaRPr>
          </a:p>
        </p:txBody>
      </p:sp>
      <p:sp>
        <p:nvSpPr>
          <p:cNvPr id="402" name="Google Shape;402;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
        <p:nvSpPr>
          <p:cNvPr id="403" name="Google Shape;403;p42"/>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04" name="Google Shape;404;p42"/>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05" name="Google Shape;405;p42"/>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Rehearse a documented network outage.</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the user complete the recovery steps?</a:t>
            </a:r>
            <a:endParaRPr sz="1600">
              <a:solidFill>
                <a:srgbClr val="FFFFFF"/>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900">
                <a:solidFill>
                  <a:srgbClr val="06038D"/>
                </a:solidFill>
                <a:latin typeface="Poppins"/>
                <a:ea typeface="Poppins"/>
                <a:cs typeface="Poppins"/>
                <a:sym typeface="Poppins"/>
              </a:rPr>
              <a:t>Could someone run it without you?</a:t>
            </a:r>
            <a:endParaRPr b="1" sz="2900">
              <a:solidFill>
                <a:srgbClr val="06038D"/>
              </a:solidFill>
              <a:latin typeface="Poppins"/>
              <a:ea typeface="Poppins"/>
              <a:cs typeface="Poppins"/>
              <a:sym typeface="Poppins"/>
            </a:endParaRPr>
          </a:p>
        </p:txBody>
      </p:sp>
      <p:sp>
        <p:nvSpPr>
          <p:cNvPr id="411" name="Google Shape;411;p43"/>
          <p:cNvSpPr/>
          <p:nvPr/>
        </p:nvSpPr>
        <p:spPr>
          <a:xfrm>
            <a:off x="508000" y="1905000"/>
            <a:ext cx="3048000" cy="19050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software + license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 + instructions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configuration + costs</a:t>
            </a:r>
            <a:endParaRPr sz="2000">
              <a:solidFill>
                <a:srgbClr val="212121"/>
              </a:solidFill>
              <a:latin typeface="Poppins"/>
              <a:ea typeface="Poppins"/>
              <a:cs typeface="Poppins"/>
              <a:sym typeface="Poppins"/>
            </a:endParaRPr>
          </a:p>
        </p:txBody>
      </p:sp>
      <p:cxnSp>
        <p:nvCxnSpPr>
          <p:cNvPr id="412" name="Google Shape;412;p43"/>
          <p:cNvCxnSpPr/>
          <p:nvPr/>
        </p:nvCxnSpPr>
        <p:spPr>
          <a:xfrm>
            <a:off x="3619500" y="2527300"/>
            <a:ext cx="482700" cy="0"/>
          </a:xfrm>
          <a:prstGeom prst="straightConnector1">
            <a:avLst/>
          </a:prstGeom>
          <a:noFill/>
          <a:ln cap="flat" cmpd="sng" w="16500">
            <a:solidFill>
              <a:srgbClr val="06038D"/>
            </a:solidFill>
            <a:prstDash val="solid"/>
            <a:round/>
            <a:headEnd len="med" w="med" type="none"/>
            <a:tailEnd len="med" w="med" type="triangle"/>
          </a:ln>
        </p:spPr>
      </p:cxnSp>
      <p:sp>
        <p:nvSpPr>
          <p:cNvPr id="413" name="Google Shape;413;p43"/>
          <p:cNvSpPr/>
          <p:nvPr/>
        </p:nvSpPr>
        <p:spPr>
          <a:xfrm>
            <a:off x="4191000" y="2120900"/>
            <a:ext cx="19050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Independent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operator</a:t>
            </a:r>
            <a:endParaRPr sz="2000">
              <a:solidFill>
                <a:srgbClr val="FFFFFF"/>
              </a:solidFill>
              <a:latin typeface="Poppins"/>
              <a:ea typeface="Poppins"/>
              <a:cs typeface="Poppins"/>
              <a:sym typeface="Poppins"/>
            </a:endParaRPr>
          </a:p>
        </p:txBody>
      </p:sp>
      <p:cxnSp>
        <p:nvCxnSpPr>
          <p:cNvPr id="414" name="Google Shape;414;p43"/>
          <p:cNvCxnSpPr/>
          <p:nvPr/>
        </p:nvCxnSpPr>
        <p:spPr>
          <a:xfrm>
            <a:off x="6172200" y="2527300"/>
            <a:ext cx="597000" cy="0"/>
          </a:xfrm>
          <a:prstGeom prst="straightConnector1">
            <a:avLst/>
          </a:prstGeom>
          <a:noFill/>
          <a:ln cap="flat" cmpd="sng" w="16500">
            <a:solidFill>
              <a:srgbClr val="06038D"/>
            </a:solidFill>
            <a:prstDash val="solid"/>
            <a:round/>
            <a:headEnd len="med" w="med" type="none"/>
            <a:tailEnd len="med" w="med" type="triangle"/>
          </a:ln>
        </p:spPr>
      </p:cxnSp>
      <p:sp>
        <p:nvSpPr>
          <p:cNvPr id="415" name="Google Shape;415;p43"/>
          <p:cNvSpPr/>
          <p:nvPr/>
        </p:nvSpPr>
        <p:spPr>
          <a:xfrm>
            <a:off x="6858000" y="2120900"/>
            <a:ext cx="17781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User’s task</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completed</a:t>
            </a:r>
            <a:endParaRPr sz="1800">
              <a:solidFill>
                <a:srgbClr val="FFFFFF"/>
              </a:solidFill>
              <a:latin typeface="Poppins"/>
              <a:ea typeface="Poppins"/>
              <a:cs typeface="Poppins"/>
              <a:sym typeface="Poppins"/>
            </a:endParaRPr>
          </a:p>
        </p:txBody>
      </p:sp>
      <p:sp>
        <p:nvSpPr>
          <p:cNvPr id="416" name="Google Shape;416;p43"/>
          <p:cNvSpPr/>
          <p:nvPr/>
        </p:nvSpPr>
        <p:spPr>
          <a:xfrm>
            <a:off x="3746000" y="1273950"/>
            <a:ext cx="4635600" cy="406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No private help from the team</a:t>
            </a:r>
            <a:endParaRPr sz="1700">
              <a:solidFill>
                <a:srgbClr val="FFFFFF"/>
              </a:solidFill>
              <a:latin typeface="Poppins"/>
              <a:ea typeface="Poppins"/>
              <a:cs typeface="Poppins"/>
              <a:sym typeface="Poppins"/>
            </a:endParaRPr>
          </a:p>
        </p:txBody>
      </p:sp>
      <p:sp>
        <p:nvSpPr>
          <p:cNvPr id="417" name="Google Shape;417;p43"/>
          <p:cNvSpPr txBox="1"/>
          <p:nvPr/>
        </p:nvSpPr>
        <p:spPr>
          <a:xfrm>
            <a:off x="508000" y="1460500"/>
            <a:ext cx="3048000" cy="381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000">
                <a:solidFill>
                  <a:srgbClr val="06038D"/>
                </a:solidFill>
                <a:latin typeface="Poppins"/>
                <a:ea typeface="Poppins"/>
                <a:cs typeface="Poppins"/>
                <a:sym typeface="Poppins"/>
              </a:rPr>
              <a:t>Public handoff</a:t>
            </a:r>
            <a:endParaRPr b="1" sz="2000">
              <a:solidFill>
                <a:srgbClr val="06038D"/>
              </a:solidFill>
              <a:latin typeface="Poppins"/>
              <a:ea typeface="Poppins"/>
              <a:cs typeface="Poppins"/>
              <a:sym typeface="Poppins"/>
            </a:endParaRPr>
          </a:p>
        </p:txBody>
      </p:sp>
      <p:sp>
        <p:nvSpPr>
          <p:cNvPr id="418" name="Google Shape;418;p43"/>
          <p:cNvSpPr txBox="1"/>
          <p:nvPr/>
        </p:nvSpPr>
        <p:spPr>
          <a:xfrm>
            <a:off x="3975100" y="3149600"/>
            <a:ext cx="23367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Their own keys</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and hosting</a:t>
            </a:r>
            <a:endParaRPr sz="1800">
              <a:solidFill>
                <a:srgbClr val="212121"/>
              </a:solidFill>
              <a:latin typeface="Poppins"/>
              <a:ea typeface="Poppins"/>
              <a:cs typeface="Poppins"/>
              <a:sym typeface="Poppins"/>
            </a:endParaRPr>
          </a:p>
        </p:txBody>
      </p:sp>
      <p:sp>
        <p:nvSpPr>
          <p:cNvPr id="419" name="Google Shape;419;p43"/>
          <p:cNvSpPr txBox="1"/>
          <p:nvPr/>
        </p:nvSpPr>
        <p:spPr>
          <a:xfrm>
            <a:off x="6642100" y="3149600"/>
            <a:ext cx="2209800" cy="787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A working service</a:t>
            </a:r>
            <a:endParaRPr sz="17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users can choose</a:t>
            </a:r>
            <a:endParaRPr sz="1700">
              <a:solidFill>
                <a:srgbClr val="212121"/>
              </a:solidFill>
              <a:latin typeface="Poppins"/>
              <a:ea typeface="Poppins"/>
              <a:cs typeface="Poppins"/>
              <a:sym typeface="Poppins"/>
            </a:endParaRPr>
          </a:p>
        </p:txBody>
      </p:sp>
      <p:sp>
        <p:nvSpPr>
          <p:cNvPr id="420" name="Google Shape;420;p43"/>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21" name="Google Shape;421;p43"/>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22" name="Google Shape;422;p43"/>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Give an outsider the docs. Can they run it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and complete the task without contacting you?</a:t>
            </a:r>
            <a:endParaRPr sz="1600">
              <a:solidFill>
                <a:srgbClr val="FFFFFF"/>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 away test for your app</a:t>
            </a:r>
            <a:endParaRPr b="1" sz="2400">
              <a:solidFill>
                <a:srgbClr val="FFFFFF"/>
              </a:solidFill>
              <a:latin typeface="Poppins"/>
              <a:ea typeface="Poppins"/>
              <a:cs typeface="Poppins"/>
              <a:sym typeface="Poppins"/>
            </a:endParaRPr>
          </a:p>
        </p:txBody>
      </p:sp>
      <p:sp>
        <p:nvSpPr>
          <p:cNvPr id="428" name="Google Shape;428;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 away checklist</a:t>
            </a:r>
            <a:endParaRPr b="1" sz="3200">
              <a:solidFill>
                <a:srgbClr val="06038D"/>
              </a:solidFill>
              <a:latin typeface="Poppins"/>
              <a:ea typeface="Poppins"/>
              <a:cs typeface="Poppins"/>
              <a:sym typeface="Poppins"/>
            </a:endParaRPr>
          </a:p>
        </p:txBody>
      </p:sp>
      <p:sp>
        <p:nvSpPr>
          <p:cNvPr id="434" name="Google Shape;434;p45"/>
          <p:cNvSpPr txBox="1"/>
          <p:nvPr/>
        </p:nvSpPr>
        <p:spPr>
          <a:xfrm>
            <a:off x="571400" y="12723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Interface</a:t>
            </a:r>
            <a:endParaRPr b="1" sz="2200">
              <a:solidFill>
                <a:srgbClr val="06038D"/>
              </a:solidFill>
              <a:latin typeface="Poppins"/>
              <a:ea typeface="Poppins"/>
              <a:cs typeface="Poppins"/>
              <a:sym typeface="Poppins"/>
            </a:endParaRPr>
          </a:p>
        </p:txBody>
      </p:sp>
      <p:cxnSp>
        <p:nvCxnSpPr>
          <p:cNvPr id="435" name="Google Shape;435;p45"/>
          <p:cNvCxnSpPr/>
          <p:nvPr/>
        </p:nvCxnSpPr>
        <p:spPr>
          <a:xfrm>
            <a:off x="571400" y="1767600"/>
            <a:ext cx="2412900" cy="0"/>
          </a:xfrm>
          <a:prstGeom prst="straightConnector1">
            <a:avLst/>
          </a:prstGeom>
          <a:noFill/>
          <a:ln cap="flat" cmpd="sng" w="38100">
            <a:solidFill>
              <a:srgbClr val="FFAB40"/>
            </a:solidFill>
            <a:prstDash val="solid"/>
            <a:round/>
            <a:headEnd len="med" w="med" type="none"/>
            <a:tailEnd len="med" w="med" type="none"/>
          </a:ln>
        </p:spPr>
      </p:cxnSp>
      <p:sp>
        <p:nvSpPr>
          <p:cNvPr id="436" name="Google Shape;436;p45"/>
          <p:cNvSpPr txBox="1"/>
          <p:nvPr/>
        </p:nvSpPr>
        <p:spPr>
          <a:xfrm>
            <a:off x="571400" y="19073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Open a saved release</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Recover access and keys</a:t>
            </a:r>
            <a:endParaRPr sz="1800">
              <a:solidFill>
                <a:srgbClr val="212121"/>
              </a:solidFill>
              <a:latin typeface="Poppins"/>
              <a:ea typeface="Poppins"/>
              <a:cs typeface="Poppins"/>
              <a:sym typeface="Poppins"/>
            </a:endParaRPr>
          </a:p>
        </p:txBody>
      </p:sp>
      <p:sp>
        <p:nvSpPr>
          <p:cNvPr id="437" name="Google Shape;437;p45"/>
          <p:cNvSpPr txBox="1"/>
          <p:nvPr/>
        </p:nvSpPr>
        <p:spPr>
          <a:xfrm>
            <a:off x="3340000" y="12723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Data</a:t>
            </a:r>
            <a:endParaRPr b="1" sz="2200">
              <a:solidFill>
                <a:srgbClr val="06038D"/>
              </a:solidFill>
              <a:latin typeface="Poppins"/>
              <a:ea typeface="Poppins"/>
              <a:cs typeface="Poppins"/>
              <a:sym typeface="Poppins"/>
            </a:endParaRPr>
          </a:p>
        </p:txBody>
      </p:sp>
      <p:cxnSp>
        <p:nvCxnSpPr>
          <p:cNvPr id="438" name="Google Shape;438;p45"/>
          <p:cNvCxnSpPr/>
          <p:nvPr/>
        </p:nvCxnSpPr>
        <p:spPr>
          <a:xfrm>
            <a:off x="3340000" y="1767600"/>
            <a:ext cx="2412900" cy="0"/>
          </a:xfrm>
          <a:prstGeom prst="straightConnector1">
            <a:avLst/>
          </a:prstGeom>
          <a:noFill/>
          <a:ln cap="flat" cmpd="sng" w="38100">
            <a:solidFill>
              <a:srgbClr val="06038D"/>
            </a:solidFill>
            <a:prstDash val="solid"/>
            <a:round/>
            <a:headEnd len="med" w="med" type="none"/>
            <a:tailEnd len="med" w="med" type="none"/>
          </a:ln>
        </p:spPr>
      </p:cxnSp>
      <p:sp>
        <p:nvSpPr>
          <p:cNvPr id="439" name="Google Shape;439;p45"/>
          <p:cNvSpPr txBox="1"/>
          <p:nvPr/>
        </p:nvSpPr>
        <p:spPr>
          <a:xfrm>
            <a:off x="3340000" y="19073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Restore usable records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0"/>
              </a:spcAft>
              <a:buNone/>
            </a:pPr>
            <a:r>
              <a:rPr lang="en" sz="1800">
                <a:solidFill>
                  <a:srgbClr val="212121"/>
                </a:solidFill>
                <a:latin typeface="Poppins"/>
                <a:ea typeface="Poppins"/>
                <a:cs typeface="Poppins"/>
                <a:sym typeface="Poppins"/>
              </a:rPr>
              <a:t>Switch clients and providers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Run essential background jobs</a:t>
            </a:r>
            <a:endParaRPr sz="1800">
              <a:solidFill>
                <a:srgbClr val="212121"/>
              </a:solidFill>
              <a:latin typeface="Poppins"/>
              <a:ea typeface="Poppins"/>
              <a:cs typeface="Poppins"/>
              <a:sym typeface="Poppins"/>
            </a:endParaRPr>
          </a:p>
        </p:txBody>
      </p:sp>
      <p:sp>
        <p:nvSpPr>
          <p:cNvPr id="440" name="Google Shape;440;p45"/>
          <p:cNvSpPr txBox="1"/>
          <p:nvPr/>
        </p:nvSpPr>
        <p:spPr>
          <a:xfrm>
            <a:off x="6108600" y="12723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Rules</a:t>
            </a:r>
            <a:endParaRPr b="1" sz="2200">
              <a:solidFill>
                <a:srgbClr val="06038D"/>
              </a:solidFill>
              <a:latin typeface="Poppins"/>
              <a:ea typeface="Poppins"/>
              <a:cs typeface="Poppins"/>
              <a:sym typeface="Poppins"/>
            </a:endParaRPr>
          </a:p>
        </p:txBody>
      </p:sp>
      <p:cxnSp>
        <p:nvCxnSpPr>
          <p:cNvPr id="441" name="Google Shape;441;p45"/>
          <p:cNvCxnSpPr/>
          <p:nvPr/>
        </p:nvCxnSpPr>
        <p:spPr>
          <a:xfrm>
            <a:off x="6108600" y="1767600"/>
            <a:ext cx="2412900" cy="0"/>
          </a:xfrm>
          <a:prstGeom prst="straightConnector1">
            <a:avLst/>
          </a:prstGeom>
          <a:noFill/>
          <a:ln cap="flat" cmpd="sng" w="38100">
            <a:solidFill>
              <a:srgbClr val="FF3D94"/>
            </a:solidFill>
            <a:prstDash val="solid"/>
            <a:round/>
            <a:headEnd len="med" w="med" type="none"/>
            <a:tailEnd len="med" w="med" type="none"/>
          </a:ln>
        </p:spPr>
      </p:cxnSp>
      <p:sp>
        <p:nvSpPr>
          <p:cNvPr id="442" name="Google Shape;442;p45"/>
          <p:cNvSpPr txBox="1"/>
          <p:nvPr/>
        </p:nvSpPr>
        <p:spPr>
          <a:xfrm>
            <a:off x="6108600" y="19073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Identify who can change rules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0"/>
              </a:spcAft>
              <a:buNone/>
            </a:pPr>
            <a:r>
              <a:rPr lang="en" sz="1800">
                <a:solidFill>
                  <a:srgbClr val="212121"/>
                </a:solidFill>
                <a:latin typeface="Poppins"/>
                <a:ea typeface="Poppins"/>
                <a:cs typeface="Poppins"/>
                <a:sym typeface="Poppins"/>
              </a:rPr>
              <a:t>Keep using accepted rules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Try the chain’s outage or exit path</a:t>
            </a:r>
            <a:endParaRPr sz="1800">
              <a:solidFill>
                <a:srgbClr val="212121"/>
              </a:solidFill>
              <a:latin typeface="Poppins"/>
              <a:ea typeface="Poppins"/>
              <a:cs typeface="Poppins"/>
              <a:sym typeface="Poppins"/>
            </a:endParaRPr>
          </a:p>
        </p:txBody>
      </p:sp>
      <p:sp>
        <p:nvSpPr>
          <p:cNvPr id="443" name="Google Shape;443;p45"/>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44" name="Google Shape;444;p45"/>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45" name="Google Shape;445;p45"/>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Remove one team dependency. Repeat the user’s task.</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Improve what stops it, then try again.</a:t>
            </a:r>
            <a:endParaRPr sz="1600">
              <a:solidFill>
                <a:srgbClr val="FFFFFF"/>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 away test in practice</a:t>
            </a:r>
            <a:endParaRPr b="1" sz="3000">
              <a:solidFill>
                <a:srgbClr val="06038D"/>
              </a:solidFill>
              <a:latin typeface="Poppins"/>
              <a:ea typeface="Poppins"/>
              <a:cs typeface="Poppins"/>
              <a:sym typeface="Poppins"/>
            </a:endParaRPr>
          </a:p>
        </p:txBody>
      </p:sp>
      <p:sp>
        <p:nvSpPr>
          <p:cNvPr id="451" name="Google Shape;451;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Test a saved export with the original app blocked.</a:t>
            </a:r>
            <a:endParaRPr sz="1900">
              <a:solidFill>
                <a:srgbClr val="212121"/>
              </a:solidFill>
              <a:latin typeface="Poppins"/>
              <a:ea typeface="Poppins"/>
              <a:cs typeface="Poppins"/>
              <a:sym typeface="Poppins"/>
            </a:endParaRPr>
          </a:p>
        </p:txBody>
      </p:sp>
      <p:sp>
        <p:nvSpPr>
          <p:cNvPr id="452" name="Google Shape;452;p46"/>
          <p:cNvSpPr/>
          <p:nvPr/>
        </p:nvSpPr>
        <p:spPr>
          <a:xfrm>
            <a:off x="508000" y="1676400"/>
            <a:ext cx="24129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600">
                <a:solidFill>
                  <a:srgbClr val="FFFFFF"/>
                </a:solidFill>
                <a:latin typeface="Poppins"/>
                <a:ea typeface="Poppins"/>
                <a:cs typeface="Poppins"/>
                <a:sym typeface="Poppins"/>
              </a:rPr>
              <a:t>1. Import saved data</a:t>
            </a:r>
            <a:endParaRPr b="1" sz="1600">
              <a:solidFill>
                <a:srgbClr val="FFFFFF"/>
              </a:solidFill>
              <a:latin typeface="Poppins"/>
              <a:ea typeface="Poppins"/>
              <a:cs typeface="Poppins"/>
              <a:sym typeface="Poppins"/>
            </a:endParaRPr>
          </a:p>
        </p:txBody>
      </p:sp>
      <p:sp>
        <p:nvSpPr>
          <p:cNvPr id="453" name="Google Shape;453;p46"/>
          <p:cNvSpPr/>
          <p:nvPr/>
        </p:nvSpPr>
        <p:spPr>
          <a:xfrm>
            <a:off x="5080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54" name="Google Shape;454;p46"/>
          <p:cNvSpPr/>
          <p:nvPr/>
        </p:nvSpPr>
        <p:spPr>
          <a:xfrm>
            <a:off x="3365500" y="1676400"/>
            <a:ext cx="2412900" cy="4065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600">
                <a:solidFill>
                  <a:srgbClr val="06038D"/>
                </a:solidFill>
                <a:latin typeface="Poppins"/>
                <a:ea typeface="Poppins"/>
                <a:cs typeface="Poppins"/>
                <a:sym typeface="Poppins"/>
              </a:rPr>
              <a:t>2. Fix the export</a:t>
            </a:r>
            <a:endParaRPr b="1" sz="1600">
              <a:solidFill>
                <a:srgbClr val="06038D"/>
              </a:solidFill>
              <a:latin typeface="Poppins"/>
              <a:ea typeface="Poppins"/>
              <a:cs typeface="Poppins"/>
              <a:sym typeface="Poppins"/>
            </a:endParaRPr>
          </a:p>
        </p:txBody>
      </p:sp>
      <p:sp>
        <p:nvSpPr>
          <p:cNvPr id="455" name="Google Shape;455;p46"/>
          <p:cNvSpPr/>
          <p:nvPr/>
        </p:nvSpPr>
        <p:spPr>
          <a:xfrm>
            <a:off x="33655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56" name="Google Shape;456;p46"/>
          <p:cNvSpPr/>
          <p:nvPr/>
        </p:nvSpPr>
        <p:spPr>
          <a:xfrm>
            <a:off x="6223000" y="1676400"/>
            <a:ext cx="24129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600">
                <a:solidFill>
                  <a:srgbClr val="FFFFFF"/>
                </a:solidFill>
                <a:latin typeface="Poppins"/>
                <a:ea typeface="Poppins"/>
                <a:cs typeface="Poppins"/>
                <a:sym typeface="Poppins"/>
              </a:rPr>
              <a:t>3. Import again</a:t>
            </a:r>
            <a:endParaRPr b="1" sz="1600">
              <a:solidFill>
                <a:srgbClr val="FFFFFF"/>
              </a:solidFill>
              <a:latin typeface="Poppins"/>
              <a:ea typeface="Poppins"/>
              <a:cs typeface="Poppins"/>
              <a:sym typeface="Poppins"/>
            </a:endParaRPr>
          </a:p>
        </p:txBody>
      </p:sp>
      <p:sp>
        <p:nvSpPr>
          <p:cNvPr id="457" name="Google Shape;457;p46"/>
          <p:cNvSpPr/>
          <p:nvPr/>
        </p:nvSpPr>
        <p:spPr>
          <a:xfrm>
            <a:off x="62230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cxnSp>
        <p:nvCxnSpPr>
          <p:cNvPr id="458" name="Google Shape;458;p46"/>
          <p:cNvCxnSpPr/>
          <p:nvPr/>
        </p:nvCxnSpPr>
        <p:spPr>
          <a:xfrm>
            <a:off x="2971800" y="2984500"/>
            <a:ext cx="330300" cy="0"/>
          </a:xfrm>
          <a:prstGeom prst="straightConnector1">
            <a:avLst/>
          </a:prstGeom>
          <a:noFill/>
          <a:ln cap="flat" cmpd="sng" w="16500">
            <a:solidFill>
              <a:srgbClr val="06038D"/>
            </a:solidFill>
            <a:prstDash val="solid"/>
            <a:round/>
            <a:headEnd len="med" w="med" type="none"/>
            <a:tailEnd len="med" w="med" type="triangle"/>
          </a:ln>
        </p:spPr>
      </p:cxnSp>
      <p:cxnSp>
        <p:nvCxnSpPr>
          <p:cNvPr id="459" name="Google Shape;459;p46"/>
          <p:cNvCxnSpPr/>
          <p:nvPr/>
        </p:nvCxnSpPr>
        <p:spPr>
          <a:xfrm>
            <a:off x="5829300" y="2984500"/>
            <a:ext cx="330300" cy="0"/>
          </a:xfrm>
          <a:prstGeom prst="straightConnector1">
            <a:avLst/>
          </a:prstGeom>
          <a:noFill/>
          <a:ln cap="flat" cmpd="sng" w="16500">
            <a:solidFill>
              <a:srgbClr val="06038D"/>
            </a:solidFill>
            <a:prstDash val="solid"/>
            <a:round/>
            <a:headEnd len="med" w="med" type="none"/>
            <a:tailEnd len="med" w="med" type="triangle"/>
          </a:ln>
        </p:spPr>
      </p:cxnSp>
      <p:sp>
        <p:nvSpPr>
          <p:cNvPr id="460" name="Google Shape;460;p46"/>
          <p:cNvSpPr txBox="1"/>
          <p:nvPr/>
        </p:nvSpPr>
        <p:spPr>
          <a:xfrm>
            <a:off x="635000" y="2235200"/>
            <a:ext cx="21591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800">
                <a:solidFill>
                  <a:srgbClr val="212121"/>
                </a:solidFill>
                <a:latin typeface="Poppins"/>
                <a:ea typeface="Poppins"/>
                <a:cs typeface="Poppins"/>
                <a:sym typeface="Poppins"/>
              </a:rPr>
              <a:t>Meeting at 10</a:t>
            </a:r>
            <a:endParaRPr b="1" sz="1800">
              <a:solidFill>
                <a:srgbClr val="212121"/>
              </a:solidFill>
              <a:latin typeface="Poppins"/>
              <a:ea typeface="Poppins"/>
              <a:cs typeface="Poppins"/>
              <a:sym typeface="Poppins"/>
            </a:endParaRPr>
          </a:p>
        </p:txBody>
      </p:sp>
      <p:sp>
        <p:nvSpPr>
          <p:cNvPr id="461" name="Google Shape;461;p46"/>
          <p:cNvSpPr txBox="1"/>
          <p:nvPr/>
        </p:nvSpPr>
        <p:spPr>
          <a:xfrm>
            <a:off x="635000" y="2654300"/>
            <a:ext cx="21591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212121"/>
                </a:solidFill>
                <a:latin typeface="Poppins"/>
                <a:ea typeface="Poppins"/>
                <a:cs typeface="Poppins"/>
                <a:sym typeface="Poppins"/>
              </a:rPr>
              <a:t>Review proposals.</a:t>
            </a:r>
            <a:endParaRPr>
              <a:solidFill>
                <a:srgbClr val="212121"/>
              </a:solidFill>
              <a:latin typeface="Poppins"/>
              <a:ea typeface="Poppins"/>
              <a:cs typeface="Poppins"/>
              <a:sym typeface="Poppins"/>
            </a:endParaRPr>
          </a:p>
        </p:txBody>
      </p:sp>
      <p:sp>
        <p:nvSpPr>
          <p:cNvPr id="462" name="Google Shape;462;p46"/>
          <p:cNvSpPr/>
          <p:nvPr/>
        </p:nvSpPr>
        <p:spPr>
          <a:xfrm>
            <a:off x="635000" y="3136900"/>
            <a:ext cx="2159100" cy="571500"/>
          </a:xfrm>
          <a:prstGeom prst="rect">
            <a:avLst/>
          </a:prstGeom>
          <a:solidFill>
            <a:srgbClr val="FFE5EF"/>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981650"/>
                </a:solidFill>
                <a:latin typeface="Poppins"/>
                <a:ea typeface="Poppins"/>
                <a:cs typeface="Poppins"/>
                <a:sym typeface="Poppins"/>
              </a:rPr>
              <a:t>agenda.md</a:t>
            </a:r>
            <a:endParaRPr>
              <a:solidFill>
                <a:srgbClr val="981650"/>
              </a:solidFill>
              <a:latin typeface="Poppins"/>
              <a:ea typeface="Poppins"/>
              <a:cs typeface="Poppins"/>
              <a:sym typeface="Poppins"/>
            </a:endParaRPr>
          </a:p>
          <a:p>
            <a:pPr indent="0" lvl="0" marL="0" marR="0" rtl="0" algn="ctr">
              <a:lnSpc>
                <a:spcPct val="110000"/>
              </a:lnSpc>
              <a:spcBef>
                <a:spcPts val="0"/>
              </a:spcBef>
              <a:spcAft>
                <a:spcPts val="0"/>
              </a:spcAft>
              <a:buNone/>
            </a:pPr>
            <a:r>
              <a:rPr lang="en">
                <a:solidFill>
                  <a:srgbClr val="981650"/>
                </a:solidFill>
                <a:latin typeface="Poppins"/>
                <a:ea typeface="Poppins"/>
                <a:cs typeface="Poppins"/>
                <a:sym typeface="Poppins"/>
              </a:rPr>
              <a:t>Attachment missing</a:t>
            </a:r>
            <a:endParaRPr>
              <a:solidFill>
                <a:srgbClr val="981650"/>
              </a:solidFill>
              <a:latin typeface="Poppins"/>
              <a:ea typeface="Poppins"/>
              <a:cs typeface="Poppins"/>
              <a:sym typeface="Poppins"/>
            </a:endParaRPr>
          </a:p>
        </p:txBody>
      </p:sp>
      <p:sp>
        <p:nvSpPr>
          <p:cNvPr id="463" name="Google Shape;463;p46"/>
          <p:cNvSpPr txBox="1"/>
          <p:nvPr/>
        </p:nvSpPr>
        <p:spPr>
          <a:xfrm>
            <a:off x="635000" y="3784600"/>
            <a:ext cx="2159100" cy="254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300">
                <a:solidFill>
                  <a:srgbClr val="981650"/>
                </a:solidFill>
                <a:latin typeface="Poppins"/>
                <a:ea typeface="Poppins"/>
                <a:cs typeface="Poppins"/>
                <a:sym typeface="Poppins"/>
              </a:rPr>
              <a:t>Task blocked</a:t>
            </a:r>
            <a:endParaRPr b="1" sz="1300">
              <a:solidFill>
                <a:srgbClr val="981650"/>
              </a:solidFill>
              <a:latin typeface="Poppins"/>
              <a:ea typeface="Poppins"/>
              <a:cs typeface="Poppins"/>
              <a:sym typeface="Poppins"/>
            </a:endParaRPr>
          </a:p>
        </p:txBody>
      </p:sp>
      <p:sp>
        <p:nvSpPr>
          <p:cNvPr id="464" name="Google Shape;464;p46"/>
          <p:cNvSpPr txBox="1"/>
          <p:nvPr/>
        </p:nvSpPr>
        <p:spPr>
          <a:xfrm>
            <a:off x="3492500" y="2222500"/>
            <a:ext cx="2159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700">
                <a:solidFill>
                  <a:srgbClr val="06038D"/>
                </a:solidFill>
                <a:latin typeface="Poppins"/>
                <a:ea typeface="Poppins"/>
                <a:cs typeface="Poppins"/>
                <a:sym typeface="Poppins"/>
              </a:rPr>
              <a:t>Complete export</a:t>
            </a:r>
            <a:endParaRPr b="1" sz="1700">
              <a:solidFill>
                <a:srgbClr val="06038D"/>
              </a:solidFill>
              <a:latin typeface="Poppins"/>
              <a:ea typeface="Poppins"/>
              <a:cs typeface="Poppins"/>
              <a:sym typeface="Poppins"/>
            </a:endParaRPr>
          </a:p>
        </p:txBody>
      </p:sp>
      <p:sp>
        <p:nvSpPr>
          <p:cNvPr id="465" name="Google Shape;465;p46"/>
          <p:cNvSpPr/>
          <p:nvPr/>
        </p:nvSpPr>
        <p:spPr>
          <a:xfrm>
            <a:off x="3492500" y="2692400"/>
            <a:ext cx="2159100" cy="736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06038D"/>
                </a:solidFill>
                <a:latin typeface="Poppins"/>
                <a:ea typeface="Poppins"/>
                <a:cs typeface="Poppins"/>
                <a:sym typeface="Poppins"/>
              </a:rPr>
              <a:t>notes.json</a:t>
            </a:r>
            <a:endParaRPr sz="1600">
              <a:solidFill>
                <a:srgbClr val="06038D"/>
              </a:solidFill>
              <a:latin typeface="Poppins"/>
              <a:ea typeface="Poppins"/>
              <a:cs typeface="Poppins"/>
              <a:sym typeface="Poppins"/>
            </a:endParaRPr>
          </a:p>
          <a:p>
            <a:pPr indent="0" lvl="0" marL="0" marR="0" rtl="0" algn="l">
              <a:lnSpc>
                <a:spcPct val="110000"/>
              </a:lnSpc>
              <a:spcBef>
                <a:spcPts val="0"/>
              </a:spcBef>
              <a:spcAft>
                <a:spcPts val="0"/>
              </a:spcAft>
              <a:buNone/>
            </a:pPr>
            <a:r>
              <a:rPr lang="en" sz="1600">
                <a:solidFill>
                  <a:srgbClr val="06038D"/>
                </a:solidFill>
                <a:latin typeface="Poppins"/>
                <a:ea typeface="Poppins"/>
                <a:cs typeface="Poppins"/>
                <a:sym typeface="Poppins"/>
              </a:rPr>
              <a:t>agenda.md</a:t>
            </a:r>
            <a:endParaRPr sz="1600">
              <a:solidFill>
                <a:srgbClr val="06038D"/>
              </a:solidFill>
              <a:latin typeface="Poppins"/>
              <a:ea typeface="Poppins"/>
              <a:cs typeface="Poppins"/>
              <a:sym typeface="Poppins"/>
            </a:endParaRPr>
          </a:p>
        </p:txBody>
      </p:sp>
      <p:sp>
        <p:nvSpPr>
          <p:cNvPr id="466" name="Google Shape;466;p46"/>
          <p:cNvSpPr txBox="1"/>
          <p:nvPr/>
        </p:nvSpPr>
        <p:spPr>
          <a:xfrm>
            <a:off x="3492500" y="3568700"/>
            <a:ext cx="2159100" cy="482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300">
                <a:solidFill>
                  <a:srgbClr val="212121"/>
                </a:solidFill>
                <a:latin typeface="Poppins"/>
                <a:ea typeface="Poppins"/>
                <a:cs typeface="Poppins"/>
                <a:sym typeface="Poppins"/>
              </a:rPr>
              <a:t>Reconnect. Save all files.</a:t>
            </a:r>
            <a:endParaRPr sz="1300">
              <a:solidFill>
                <a:srgbClr val="212121"/>
              </a:solidFill>
              <a:latin typeface="Poppins"/>
              <a:ea typeface="Poppins"/>
              <a:cs typeface="Poppins"/>
              <a:sym typeface="Poppins"/>
            </a:endParaRPr>
          </a:p>
          <a:p>
            <a:pPr indent="0" lvl="0" marL="0" marR="0" rtl="0" algn="l">
              <a:lnSpc>
                <a:spcPct val="110000"/>
              </a:lnSpc>
              <a:spcBef>
                <a:spcPts val="0"/>
              </a:spcBef>
              <a:spcAft>
                <a:spcPts val="0"/>
              </a:spcAft>
              <a:buNone/>
            </a:pPr>
            <a:r>
              <a:rPr lang="en" sz="1300">
                <a:solidFill>
                  <a:srgbClr val="212121"/>
                </a:solidFill>
                <a:latin typeface="Poppins"/>
                <a:ea typeface="Poppins"/>
                <a:cs typeface="Poppins"/>
                <a:sym typeface="Poppins"/>
              </a:rPr>
              <a:t>Block the app again.</a:t>
            </a:r>
            <a:endParaRPr sz="1300">
              <a:solidFill>
                <a:srgbClr val="212121"/>
              </a:solidFill>
              <a:latin typeface="Poppins"/>
              <a:ea typeface="Poppins"/>
              <a:cs typeface="Poppins"/>
              <a:sym typeface="Poppins"/>
            </a:endParaRPr>
          </a:p>
        </p:txBody>
      </p:sp>
      <p:sp>
        <p:nvSpPr>
          <p:cNvPr id="467" name="Google Shape;467;p46"/>
          <p:cNvSpPr txBox="1"/>
          <p:nvPr/>
        </p:nvSpPr>
        <p:spPr>
          <a:xfrm>
            <a:off x="6350000" y="2235200"/>
            <a:ext cx="21591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800">
                <a:solidFill>
                  <a:srgbClr val="212121"/>
                </a:solidFill>
                <a:latin typeface="Poppins"/>
                <a:ea typeface="Poppins"/>
                <a:cs typeface="Poppins"/>
                <a:sym typeface="Poppins"/>
              </a:rPr>
              <a:t>Meeting at 10</a:t>
            </a:r>
            <a:endParaRPr b="1" sz="1800">
              <a:solidFill>
                <a:srgbClr val="212121"/>
              </a:solidFill>
              <a:latin typeface="Poppins"/>
              <a:ea typeface="Poppins"/>
              <a:cs typeface="Poppins"/>
              <a:sym typeface="Poppins"/>
            </a:endParaRPr>
          </a:p>
        </p:txBody>
      </p:sp>
      <p:sp>
        <p:nvSpPr>
          <p:cNvPr id="468" name="Google Shape;468;p46"/>
          <p:cNvSpPr txBox="1"/>
          <p:nvPr/>
        </p:nvSpPr>
        <p:spPr>
          <a:xfrm>
            <a:off x="6350000" y="2654300"/>
            <a:ext cx="21591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212121"/>
                </a:solidFill>
                <a:latin typeface="Poppins"/>
                <a:ea typeface="Poppins"/>
                <a:cs typeface="Poppins"/>
                <a:sym typeface="Poppins"/>
              </a:rPr>
              <a:t>Review proposals.</a:t>
            </a:r>
            <a:endParaRPr>
              <a:solidFill>
                <a:srgbClr val="212121"/>
              </a:solidFill>
              <a:latin typeface="Poppins"/>
              <a:ea typeface="Poppins"/>
              <a:cs typeface="Poppins"/>
              <a:sym typeface="Poppins"/>
            </a:endParaRPr>
          </a:p>
        </p:txBody>
      </p:sp>
      <p:sp>
        <p:nvSpPr>
          <p:cNvPr id="469" name="Google Shape;469;p46"/>
          <p:cNvSpPr/>
          <p:nvPr/>
        </p:nvSpPr>
        <p:spPr>
          <a:xfrm>
            <a:off x="6350000" y="3136900"/>
            <a:ext cx="2159100" cy="571500"/>
          </a:xfrm>
          <a:prstGeom prst="rect">
            <a:avLst/>
          </a:prstGeom>
          <a:solidFill>
            <a:srgbClr val="E0F5EE"/>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006B5B"/>
                </a:solidFill>
                <a:latin typeface="Poppins"/>
                <a:ea typeface="Poppins"/>
                <a:cs typeface="Poppins"/>
                <a:sym typeface="Poppins"/>
              </a:rPr>
              <a:t>agenda.md opens</a:t>
            </a:r>
            <a:endParaRPr>
              <a:solidFill>
                <a:srgbClr val="006B5B"/>
              </a:solidFill>
              <a:latin typeface="Poppins"/>
              <a:ea typeface="Poppins"/>
              <a:cs typeface="Poppins"/>
              <a:sym typeface="Poppins"/>
            </a:endParaRPr>
          </a:p>
          <a:p>
            <a:pPr indent="0" lvl="0" marL="0" marR="0" rtl="0" algn="ctr">
              <a:lnSpc>
                <a:spcPct val="110000"/>
              </a:lnSpc>
              <a:spcBef>
                <a:spcPts val="0"/>
              </a:spcBef>
              <a:spcAft>
                <a:spcPts val="0"/>
              </a:spcAft>
              <a:buNone/>
            </a:pPr>
            <a:r>
              <a:rPr lang="en">
                <a:solidFill>
                  <a:srgbClr val="006B5B"/>
                </a:solidFill>
                <a:latin typeface="Poppins"/>
                <a:ea typeface="Poppins"/>
                <a:cs typeface="Poppins"/>
                <a:sym typeface="Poppins"/>
              </a:rPr>
              <a:t>Review proposals</a:t>
            </a:r>
            <a:endParaRPr>
              <a:solidFill>
                <a:srgbClr val="006B5B"/>
              </a:solidFill>
              <a:latin typeface="Poppins"/>
              <a:ea typeface="Poppins"/>
              <a:cs typeface="Poppins"/>
              <a:sym typeface="Poppins"/>
            </a:endParaRPr>
          </a:p>
        </p:txBody>
      </p:sp>
      <p:sp>
        <p:nvSpPr>
          <p:cNvPr id="470" name="Google Shape;470;p46"/>
          <p:cNvSpPr txBox="1"/>
          <p:nvPr/>
        </p:nvSpPr>
        <p:spPr>
          <a:xfrm>
            <a:off x="6350000" y="3784600"/>
            <a:ext cx="2159100" cy="254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300">
                <a:solidFill>
                  <a:srgbClr val="006B5B"/>
                </a:solidFill>
                <a:latin typeface="Poppins"/>
                <a:ea typeface="Poppins"/>
                <a:cs typeface="Poppins"/>
                <a:sym typeface="Poppins"/>
              </a:rPr>
              <a:t>Task completed</a:t>
            </a:r>
            <a:endParaRPr b="1" sz="1300">
              <a:solidFill>
                <a:srgbClr val="006B5B"/>
              </a:solidFill>
              <a:latin typeface="Poppins"/>
              <a:ea typeface="Poppins"/>
              <a:cs typeface="Poppins"/>
              <a:sym typeface="Poppins"/>
            </a:endParaRPr>
          </a:p>
        </p:txBody>
      </p:sp>
      <p:sp>
        <p:nvSpPr>
          <p:cNvPr id="471" name="Google Shape;471;p46"/>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72" name="Google Shape;472;p46"/>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73" name="Google Shape;473;p46"/>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Import a saved export into another app.</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you open the note and its attachment?</a:t>
            </a:r>
            <a:endParaRPr sz="1600">
              <a:solidFill>
                <a:srgbClr val="FFFFFF"/>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8"/>
          <p:cNvSpPr txBox="1"/>
          <p:nvPr>
            <p:ph type="title"/>
          </p:nvPr>
        </p:nvSpPr>
        <p:spPr>
          <a:xfrm>
            <a:off x="508000" y="635000"/>
            <a:ext cx="81279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3800">
                <a:solidFill>
                  <a:srgbClr val="FFFFFF"/>
                </a:solidFill>
                <a:latin typeface="Poppins"/>
                <a:ea typeface="Poppins"/>
                <a:cs typeface="Poppins"/>
                <a:sym typeface="Poppins"/>
              </a:rPr>
              <a:t>Thank you!</a:t>
            </a:r>
            <a:endParaRPr b="1" sz="3800">
              <a:solidFill>
                <a:srgbClr val="FFFFFF"/>
              </a:solidFill>
              <a:latin typeface="Poppins"/>
              <a:ea typeface="Poppins"/>
              <a:cs typeface="Poppins"/>
              <a:sym typeface="Poppins"/>
            </a:endParaRPr>
          </a:p>
        </p:txBody>
      </p:sp>
      <p:sp>
        <p:nvSpPr>
          <p:cNvPr id="484" name="Google Shape;484;p48"/>
          <p:cNvSpPr txBox="1"/>
          <p:nvPr/>
        </p:nvSpPr>
        <p:spPr>
          <a:xfrm>
            <a:off x="1397000" y="3340100"/>
            <a:ext cx="6350100" cy="1498500"/>
          </a:xfrm>
          <a:prstGeom prst="rect">
            <a:avLst/>
          </a:prstGeom>
          <a:solidFill>
            <a:srgbClr val="06038D"/>
          </a:solid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 Carnley</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Ethereum File System</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u="sng">
                <a:solidFill>
                  <a:schemeClr val="lt1"/>
                </a:solidFill>
                <a:latin typeface="Poppins"/>
                <a:ea typeface="Poppins"/>
                <a:cs typeface="Poppins"/>
                <a:sym typeface="Poppins"/>
                <a:hlinkClick r:id="rId3">
                  <a:extLst>
                    <a:ext uri="{A12FA001-AC4F-418D-AE19-62706E023703}">
                      <ahyp:hlinkClr val="tx"/>
                    </a:ext>
                  </a:extLst>
                </a:hlinkClick>
              </a:rPr>
              <a:t>efs.eth.limo</a:t>
            </a:r>
            <a:endParaRPr sz="1600" u="sng">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JamesCarnley@gmail.com</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@JamesCarnley</a:t>
            </a:r>
            <a:endParaRPr sz="1600">
              <a:solidFill>
                <a:schemeClr val="lt1"/>
              </a:solidFill>
              <a:latin typeface="Poppins"/>
              <a:ea typeface="Poppins"/>
              <a:cs typeface="Poppins"/>
              <a:sym typeface="Poppins"/>
            </a:endParaRPr>
          </a:p>
        </p:txBody>
      </p:sp>
      <p:sp>
        <p:nvSpPr>
          <p:cNvPr id="485" name="Google Shape;485;p48"/>
          <p:cNvSpPr txBox="1"/>
          <p:nvPr/>
        </p:nvSpPr>
        <p:spPr>
          <a:xfrm>
            <a:off x="508000" y="1422400"/>
            <a:ext cx="8127900" cy="73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Let’s build reliable and long lasting apps together 🖖</a:t>
            </a:r>
            <a:endParaRPr b="1" sz="210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