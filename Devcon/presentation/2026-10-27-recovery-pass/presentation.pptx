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Poppins"/>
      <p:regular r:id="rId46"/>
      <p:bold r:id="rId47"/>
      <p:italic r:id="rId48"/>
      <p:boldItalic r:id="rId49"/>
    </p:embeddedFont>
    <p:embeddedFont>
      <p:font typeface="Roboto Condensed"/>
      <p:regular r:id="rId50"/>
      <p:bold r:id="rId51"/>
      <p:italic r:id="rId52"/>
      <p:boldItalic r:id="rId53"/>
    </p:embeddedFont>
    <p:embeddedFont>
      <p:font typeface="Libre Franklin Medium"/>
      <p:regular r:id="rId54"/>
      <p:bold r:id="rId55"/>
      <p:italic r:id="rId56"/>
      <p:boldItalic r:id="rId57"/>
    </p:embeddedFont>
    <p:embeddedFont>
      <p:font typeface="Roboto Mono"/>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Poppins-regular.fntdata"/><Relationship Id="rId45"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italic.fntdata"/><Relationship Id="rId47" Type="http://schemas.openxmlformats.org/officeDocument/2006/relationships/font" Target="fonts/Poppins-bold.fntdata"/><Relationship Id="rId49"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RobotoMono-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Condensed-bold.fntdata"/><Relationship Id="rId50" Type="http://schemas.openxmlformats.org/officeDocument/2006/relationships/font" Target="fonts/RobotoCondensed-regular.fntdata"/><Relationship Id="rId53" Type="http://schemas.openxmlformats.org/officeDocument/2006/relationships/font" Target="fonts/RobotoCondensed-boldItalic.fntdata"/><Relationship Id="rId52" Type="http://schemas.openxmlformats.org/officeDocument/2006/relationships/font" Target="fonts/RobotoCondensed-italic.fntdata"/><Relationship Id="rId11" Type="http://schemas.openxmlformats.org/officeDocument/2006/relationships/slide" Target="slides/slide6.xml"/><Relationship Id="rId55" Type="http://schemas.openxmlformats.org/officeDocument/2006/relationships/font" Target="fonts/LibreFranklinMedium-bold.fntdata"/><Relationship Id="rId10" Type="http://schemas.openxmlformats.org/officeDocument/2006/relationships/slide" Target="slides/slide5.xml"/><Relationship Id="rId54" Type="http://schemas.openxmlformats.org/officeDocument/2006/relationships/font" Target="fonts/LibreFranklinMedium-regular.fntdata"/><Relationship Id="rId13" Type="http://schemas.openxmlformats.org/officeDocument/2006/relationships/slide" Target="slides/slide8.xml"/><Relationship Id="rId57" Type="http://schemas.openxmlformats.org/officeDocument/2006/relationships/font" Target="fonts/LibreFranklinMedium-boldItalic.fntdata"/><Relationship Id="rId12" Type="http://schemas.openxmlformats.org/officeDocument/2006/relationships/slide" Target="slides/slide7.xml"/><Relationship Id="rId56" Type="http://schemas.openxmlformats.org/officeDocument/2006/relationships/font" Target="fonts/LibreFranklinMedium-italic.fntdata"/><Relationship Id="rId15" Type="http://schemas.openxmlformats.org/officeDocument/2006/relationships/slide" Target="slides/slide10.xml"/><Relationship Id="rId59" Type="http://schemas.openxmlformats.org/officeDocument/2006/relationships/font" Target="fonts/RobotoMono-bold.fntdata"/><Relationship Id="rId14" Type="http://schemas.openxmlformats.org/officeDocument/2006/relationships/slide" Target="slides/slide9.xml"/><Relationship Id="rId58" Type="http://schemas.openxmlformats.org/officeDocument/2006/relationships/font" Target="fonts/RobotoMon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br>
              <a:rPr lang="en"/>
            </a:br>
            <a:br>
              <a:rPr lang="en"/>
            </a:br>
            <a:r>
              <a:rPr lang="en"/>
              <a:t>Communities and network effects take years to build and need to be nurtured.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Pick one task your users rely on. Keep it in mind as we go through the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imagine your team disappears. Can people keep working, and can others run the services? Then imagine control becomes hostile. Someone takes the admin keys or changes the rules. What can users still keep 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single points of failure and control. The test boxes turn each layer into a small exercise you can try on your own app. Use test accounts and copies, not production outages.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someone still get into your app and do that task?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addresses for a hosted website. EFS dot eth points to an IPFS identifier for a particular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people can retain that release and serve the same files. Users can reach it through a gateway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someone takes control of the name and points it at a malicious release. A user with the previously trusted identifier can bypass that changed name and open a retained copy of the release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that identifier, independent copies and clear opening instructions. Test an ordinary task without the usual website. Later, we'll ask whether its underlying contracts still keep the rules the user accepted.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compromised-name scenario is illustrative, not a reported EFS incident. A retained trusted CID and a working retrieval route bypass a changed name. This protects selection of the UI release, not mutable contract powers, external dependencies or a compromised device. Newly arriving users still need a trustworthy way to find the accepted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saved page is only useful if people can run the client behind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left, the HTML lives on IPFS, but it still loads JavaScript from the team's server. When that server disappears, the client cannot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the release contains its code, styles, assets and configuration. Someone can retain and serve that complete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blocking your team's host in a test environment, clear the browser cache and reload. Does the client start? We will check its data and network dependencies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source, locked dependencies and build instructions too, so another developer can maintain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tests the client release, not all external services. Bundle or independently retain essential scripts, lazy-loaded code, assets and configuration. Runtime RPCs, indexes and authorization paths are assessed in their own layers. Build source and dependency inputs must remain obtainable; a lockfile alone is insufficient. Diagram is illustrative.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previous test showed that the client starts. Now can the user actually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company’s login service can disappear even while the app and data survive. A user-controlled account gives another compatible service an identity it can recognize. Sign-In with Ethereum, or SIWE, standardizes proving control of an Ethereum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Whether you use SIWE or OAuth, try the complete authorized task through an independent route with the company offline. Recovery should work too, including recovery of the keys needed to decrypt private files.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examine the team’s administrative keys in the Rules chapter.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contrasts company-mediated login with independently usable account authority. A wallet signature alone does not make a company API replaceable. The alternative requires compatible software, independently reachable services, and permission rules that recognize the same account. Safe is an optional recovery example: a configured two-of-three account can replace one lost signer using the remaining authorized signers, provided those signers and the execution path do not depend on the company. Account recovery does not reconstruct file-decryption keys. Standard encryption needs compatible formats and user-controlled key recovery. Keep sensitive data private and preserve authorization across clients. Team admin-key loss/compromise belongs in Rules and the explicit powers checklist.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SIWE authenticates an Ethereum account to an offchain service. It does not make that service independent or replaceable. OAuth/OIDC is not inherently incompatible with portability. The illustrated alternative must preserve authorization through a compatible, independently usable service or contract path.</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rPr lang="en"/>
              <a:t>https://eips.ethereum.org/EIPS/eip-4361</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could they keep using the data that task depends on?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example has a stable identifier, an author, some text and an attachment. Publish the field meanings and the rules for reading and changing the record.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identifiers, relationships,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another developer an export and its format documentation. Can they read it without asking you what you meant?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Private files add another requirement: keys that can decrypt them. Imagine the company closes, but you kept an encrypted copy of an important note.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also need a protected key backup or recovery method that works without the company, plus software that understands the encrypted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test, block the company’s services. Recover the keys using the planned method, then reopen the private file in another reader. The user keeps both their privacy and access to their own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an illustrative dependency diagram, not a claim of deployed EFS encryption or recovery. Account recovery on slide 12 and file decryption here are separate checks. A wallet signature or recovered account does not automatically recreate decryption keys. The recovery path must protect confidentiality, preserve authorized access, and work without company approval. Retain the encrypted bytes, required headers/parameters, a documented format, compatible software and usable recovery material. Prepare and test recovery while the source is accessible. Use test copies and never expose real keys during a presentation.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age is one example of a documented encrypted-file format. It specifies a versioned header and recipient-wrapped file keys. It is not required here and does not by itself supply a complete recovery system. OWASP discusses protecting and testing key backups and recovery. Recovery design adds security and usability work that must fit the user's threat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https://c2sp.org/age@v1.1.0</a:t>
            </a:r>
            <a:endParaRPr/>
          </a:p>
          <a:p>
            <a:pPr indent="0" lvl="0" marL="0" rtl="0" algn="l">
              <a:spcBef>
                <a:spcPts val="0"/>
              </a:spcBef>
              <a:spcAft>
                <a:spcPts val="0"/>
              </a:spcAft>
              <a:buNone/>
            </a:pPr>
            <a:r>
              <a:rPr lang="en"/>
              <a:t>https://cheatsheetseries.owasp.org/cheatsheets/Key_Management_Cheat_Sheet.html</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main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could be an IPFS host, a copy on Arweave, or a backup the user controls. Keep attachments and the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records on Ethereum, full nodes replicate the state. Your app still needs a route to those nodes and any history it uses.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an owner. Block the primary provider in a test setup, recover through an alternative, and open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with file details, retrieval references and a fingerprint for verifying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file details. A web client can retrieve a copy from IPFS or Arweave and check its fingerprint against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Ethereum provides metadata. Any</a:t>
            </a:r>
            <a:r>
              <a:rPr lang="en"/>
              <a:t> provider can serve the same file, and another app can use its reference. What identifies the accepted version in your app, and how can someone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Visible historical summary source: EVIDENCE.md at pinned commit e86e6e77fcb5cda31374e07c5f582b502455ba80. It records a July 29, 2026 capture for efs-sepolia-deployment-reference-v0.tar.gz, 63,245 bytes, SHA-256 9c5bbda410deea8714a37b5ab82d3e22982cee79d1d1320cd43a91d562f34d39. Both retrieval rows say VERIFIED. The retained evidence is a dated results table, not raw timestamped verifier stdout. The illustrative note path above is not that archive. This pass inspected the record and did not rerun retrieval or verify present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https://github.com/efs-project/contracts/blob/e86e6e77fcb5cda31374e07c5f582b502455ba80/packages/walk-away-proof/EVIDENCE.md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 can survive while your app loses its way to read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onchain file record tells the client which version to retrieve. An RPC connects the app to a node. Make that provider replaceable, with a route to your own node. Storage supplies the file itself. A light client such as Helios can verify supported chain reads.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notebook list often comes from an index. The Graph is one Ethereum example. Another operator needs the indexing recipe and retained history to recreate that view.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two jobs separately. Switch the RPC, then try another index or rebuild it. Can users still find known notes and their latest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file name, version and notebook entries are illustrative, not live EFS results. RPC reads the onchain file reference and version. Storage supplies the file bytes. Private notebook discovery must preserve the user’s authorization. Test RPC replacement and index replacement separately. A known-record check and sync height are bounded evidence, not proof that every result is complete.</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to move important business processes forward.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can users keep the rules they accepted for that task?</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Users should be able to choose app upgrades. Shared systems need clear agreements about how their rules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who can change those rules, and what users can keep using if that power is abused.</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the saved app release? Keeping that interface is useful. Keeping the contract rules it relies on makes the choice meaningful.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another developer can build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apps can call its fixed exchange logic. Release new contract versions and let users choose to migrate. Keep the old version usable for people who stay. Most app upgrades can offer that choice. Shared networks coordinate protocol changes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a small core you can test carefully and keep stable. Check what happens if the team loses its keys, and inspect any remaining powers that can change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On Ethereum, preserve a usable node connection and the history your app needs. Understand when a transaction is included and final.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learn who orders transactions, where the data lives and how it settles on L1. Choose one concrete failure to rehearse. For a sequencer outage, OP Stack documentation describes submitting through L1. Withdrawal and a hostile upgrade are different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your chain’s documented path and your app’s actual account. Can the user complete the recovery steps? Record the delay, cost and anything they must prepare beforehand.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network test starts with one named failure and its chain-specific documented response. Sequencer outage, withdrawal and hostile upgrade are distinct. Do not perform production disruption or wallet transactions during the presentation.</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code may be public, but can someone actually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an outsider the published software, license, inputs, configuration and instructions. Then stop helping. They use their own accounts and hosting to start a replacement and help a test user complete the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Record every missing instruction, permission or secret. Include the running costs and how an operator can cover them. This dry run finds knowledge that otherwise lives only in your team’s heads.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result we want is a service users can choose, without asking the original team for permission.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dry run is proposed audience practice, not a completed EFS operator handoff. An outsider must complete the actual user task using their own accounts and accessible inputs, not merely install the software.</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to the task you chose at the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Interface: can someone open a saved release and recover access? Data: can they restore usable records, choose another provider and keep required background work running? Rules: who can change them, what can users refuse, and what happens during a chain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Remove one team dependency in a test setup. Repeat the task, fix what stops it, and try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export/import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trying this with your own app: block its services, import a saved export into another client, and open a note and its attachment.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 opens. But its attachment still points to your server. The user cannot finish. You have found a specific dependency to improve.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During practice, restore access and fix the export to retain the attachment itself. Save that complete copy. Block the original app again, repeat the import, and open both files.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method: try a real user task, find what stops it, and repeat the same test after the fix. You can make one part of your app more dependable this week.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export and outcomes are illustrative, not a live import or measured recovery. The example assumes a compatible importer and documented format. Prepare the complete export while source data is still accessible, then repeat the outage. Fix record references so the alternative reader can resolve the retained attachment. Use test accounts and copies. A migration/import exercise does not establish ongoing shared editing or synchronization.</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envision future where people can trust software with the important parts of their lives. Where their work remains theirs, they choose their own tools,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 Stack Walk 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Users lose their work and trust</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0"/>
              </a:spcAft>
              <a:buNone/>
            </a:pPr>
            <a:r>
              <a:rPr lang="en" sz="2400">
                <a:solidFill>
                  <a:schemeClr val="accent2"/>
                </a:solidFill>
              </a:rPr>
              <a:t>Other developers can’t rely on that functionality</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1000"/>
              </a:spcAft>
              <a:buNone/>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br>
              <a:rPr b="1" lang="en" sz="2400">
                <a:solidFill>
                  <a:srgbClr val="212121"/>
                </a:solidFill>
              </a:rPr>
            </a:b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br>
              <a:rPr b="1" lang="en" sz="2400">
                <a:solidFill>
                  <a:srgbClr val="212121"/>
                </a:solidFill>
              </a:rPr>
            </a:b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31975"/>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Independent teams work together via stable interfaces</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3100" y="1473200"/>
            <a:ext cx="3746400" cy="2616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The team disappears</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Can users keep working?</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Can others run the services?</a:t>
            </a:r>
            <a:endParaRPr sz="2200">
              <a:solidFill>
                <a:srgbClr val="212121"/>
              </a:solidFill>
            </a:endParaRPr>
          </a:p>
        </p:txBody>
      </p:sp>
      <p:sp>
        <p:nvSpPr>
          <p:cNvPr id="130" name="Google Shape;130;p24"/>
          <p:cNvSpPr txBox="1"/>
          <p:nvPr>
            <p:ph idx="2" type="body"/>
          </p:nvPr>
        </p:nvSpPr>
        <p:spPr>
          <a:xfrm>
            <a:off x="4610100" y="1473200"/>
            <a:ext cx="3975000" cy="2616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Control becomes hostile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Can users keep their work?</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Can they keep the rules they chose?</a:t>
            </a:r>
            <a:endParaRPr sz="2200">
              <a:solidFill>
                <a:srgbClr val="212121"/>
              </a:solidFill>
            </a:endParaRPr>
          </a:p>
        </p:txBody>
      </p:sp>
      <p:sp>
        <p:nvSpPr>
          <p:cNvPr id="131" name="Google Shape;131;p24"/>
          <p:cNvSpPr txBox="1"/>
          <p:nvPr>
            <p:ph type="title"/>
          </p:nvPr>
        </p:nvSpPr>
        <p:spPr>
          <a:xfrm>
            <a:off x="876300" y="355600"/>
            <a:ext cx="7391400" cy="5970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a:t>
            </a:r>
            <a:r>
              <a:rPr b="1" lang="en" sz="3200">
                <a:solidFill>
                  <a:srgbClr val="06038D"/>
                </a:solidFill>
                <a:latin typeface="Poppins"/>
                <a:ea typeface="Poppins"/>
                <a:cs typeface="Poppins"/>
                <a:sym typeface="Poppins"/>
              </a:rPr>
              <a:t>walk away</a:t>
            </a:r>
            <a:r>
              <a:rPr b="1" lang="en" sz="3200">
                <a:solidFill>
                  <a:srgbClr val="06038D"/>
                </a:solidFill>
                <a:latin typeface="Poppins"/>
                <a:ea typeface="Poppins"/>
                <a:cs typeface="Poppins"/>
                <a:sym typeface="Poppins"/>
              </a:rPr>
              <a:t> test</a:t>
            </a:r>
            <a:endParaRPr b="1" sz="3200">
              <a:solidFill>
                <a:srgbClr val="06038D"/>
              </a:solidFill>
              <a:latin typeface="Poppins"/>
              <a:ea typeface="Poppins"/>
              <a:cs typeface="Poppins"/>
              <a:sym typeface="Poppins"/>
            </a:endParaRPr>
          </a:p>
        </p:txBody>
      </p:sp>
      <p:sp>
        <p:nvSpPr>
          <p:cNvPr id="132" name="Google Shape;132;p24"/>
          <p:cNvSpPr txBox="1"/>
          <p:nvPr/>
        </p:nvSpPr>
        <p:spPr>
          <a:xfrm>
            <a:off x="571500" y="977900"/>
            <a:ext cx="80010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Single points of failure and control</a:t>
            </a:r>
            <a:endParaRPr sz="1800">
              <a:solidFill>
                <a:srgbClr val="06038D"/>
              </a:solidFill>
              <a:latin typeface="Poppins"/>
              <a:ea typeface="Poppins"/>
              <a:cs typeface="Poppins"/>
              <a:sym typeface="Poppins"/>
            </a:endParaRPr>
          </a:p>
        </p:txBody>
      </p:sp>
      <p:sp>
        <p:nvSpPr>
          <p:cNvPr id="133" name="Google Shape;133;p24"/>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4" name="Google Shape;134;p24"/>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135" name="Google Shape;135;p24"/>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Choose one important user task.</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Try it without your team’s services or help.</a:t>
            </a:r>
            <a:endParaRPr sz="1600">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4826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41" name="Google Shape;141;p25"/>
          <p:cNvSpPr txBox="1"/>
          <p:nvPr>
            <p:ph idx="4294967295" type="body"/>
          </p:nvPr>
        </p:nvSpPr>
        <p:spPr>
          <a:xfrm>
            <a:off x="6096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42" name="Google Shape;142;p25"/>
          <p:cNvSpPr/>
          <p:nvPr/>
        </p:nvSpPr>
        <p:spPr>
          <a:xfrm>
            <a:off x="0" y="2220475"/>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5"/>
          <p:cNvSpPr txBox="1"/>
          <p:nvPr>
            <p:ph type="title"/>
          </p:nvPr>
        </p:nvSpPr>
        <p:spPr>
          <a:xfrm>
            <a:off x="33274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4" name="Google Shape;144;p25"/>
          <p:cNvSpPr txBox="1"/>
          <p:nvPr>
            <p:ph idx="4294967295" type="body"/>
          </p:nvPr>
        </p:nvSpPr>
        <p:spPr>
          <a:xfrm>
            <a:off x="34544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5" name="Google Shape;145;p25"/>
          <p:cNvSpPr txBox="1"/>
          <p:nvPr>
            <p:ph type="title"/>
          </p:nvPr>
        </p:nvSpPr>
        <p:spPr>
          <a:xfrm>
            <a:off x="6312900" y="151862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6" name="Google Shape;146;p25"/>
          <p:cNvSpPr txBox="1"/>
          <p:nvPr>
            <p:ph idx="4294967295" type="body"/>
          </p:nvPr>
        </p:nvSpPr>
        <p:spPr>
          <a:xfrm>
            <a:off x="6299200" y="2520975"/>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7" name="Google Shape;147;p25"/>
          <p:cNvSpPr/>
          <p:nvPr/>
        </p:nvSpPr>
        <p:spPr>
          <a:xfrm>
            <a:off x="7474950" y="2147125"/>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p:nvPr/>
        </p:nvSpPr>
        <p:spPr>
          <a:xfrm>
            <a:off x="1644650" y="21515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5"/>
          <p:cNvSpPr/>
          <p:nvPr/>
        </p:nvSpPr>
        <p:spPr>
          <a:xfrm>
            <a:off x="4489500" y="2151538"/>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6" name="Google Shape;156;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62" name="Google Shape;162;p27"/>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8" name="Google Shape;168;p28"/>
          <p:cNvSpPr txBox="1"/>
          <p:nvPr/>
        </p:nvSpPr>
        <p:spPr>
          <a:xfrm>
            <a:off x="444500" y="990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9" name="Google Shape;169;p28"/>
          <p:cNvSpPr/>
          <p:nvPr/>
        </p:nvSpPr>
        <p:spPr>
          <a:xfrm>
            <a:off x="444500" y="1384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70" name="Google Shape;170;p28"/>
          <p:cNvCxnSpPr/>
          <p:nvPr/>
        </p:nvCxnSpPr>
        <p:spPr>
          <a:xfrm>
            <a:off x="2628900" y="1778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71" name="Google Shape;171;p28"/>
          <p:cNvSpPr/>
          <p:nvPr/>
        </p:nvSpPr>
        <p:spPr>
          <a:xfrm>
            <a:off x="3136900" y="1384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72" name="Google Shape;172;p28"/>
          <p:cNvCxnSpPr/>
          <p:nvPr/>
        </p:nvCxnSpPr>
        <p:spPr>
          <a:xfrm>
            <a:off x="6273800" y="1778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73" name="Google Shape;173;p28"/>
          <p:cNvSpPr/>
          <p:nvPr/>
        </p:nvSpPr>
        <p:spPr>
          <a:xfrm>
            <a:off x="6756400" y="1384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4" name="Google Shape;174;p28"/>
          <p:cNvSpPr txBox="1"/>
          <p:nvPr/>
        </p:nvSpPr>
        <p:spPr>
          <a:xfrm>
            <a:off x="444500" y="2324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5" name="Google Shape;175;p28"/>
          <p:cNvSpPr/>
          <p:nvPr/>
        </p:nvSpPr>
        <p:spPr>
          <a:xfrm>
            <a:off x="444500" y="27813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6" name="Google Shape;176;p28"/>
          <p:cNvCxnSpPr/>
          <p:nvPr/>
        </p:nvCxnSpPr>
        <p:spPr>
          <a:xfrm>
            <a:off x="2273300" y="31623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7" name="Google Shape;177;p28"/>
          <p:cNvSpPr/>
          <p:nvPr/>
        </p:nvSpPr>
        <p:spPr>
          <a:xfrm>
            <a:off x="2603500" y="27813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8" name="Google Shape;178;p28"/>
          <p:cNvCxnSpPr/>
          <p:nvPr/>
        </p:nvCxnSpPr>
        <p:spPr>
          <a:xfrm>
            <a:off x="5232400" y="31623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9" name="Google Shape;179;p28"/>
          <p:cNvCxnSpPr/>
          <p:nvPr/>
        </p:nvCxnSpPr>
        <p:spPr>
          <a:xfrm>
            <a:off x="5499100" y="2628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80" name="Google Shape;180;p28"/>
          <p:cNvCxnSpPr/>
          <p:nvPr/>
        </p:nvCxnSpPr>
        <p:spPr>
          <a:xfrm>
            <a:off x="5499100" y="2628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2413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82" name="Google Shape;182;p28"/>
          <p:cNvCxnSpPr/>
          <p:nvPr/>
        </p:nvCxnSpPr>
        <p:spPr>
          <a:xfrm>
            <a:off x="5499100" y="3162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3" name="Google Shape;183;p28"/>
          <p:cNvSpPr/>
          <p:nvPr/>
        </p:nvSpPr>
        <p:spPr>
          <a:xfrm>
            <a:off x="5803900" y="2946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4" name="Google Shape;184;p28"/>
          <p:cNvCxnSpPr/>
          <p:nvPr/>
        </p:nvCxnSpPr>
        <p:spPr>
          <a:xfrm>
            <a:off x="5499100" y="3695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5" name="Google Shape;185;p28"/>
          <p:cNvSpPr/>
          <p:nvPr/>
        </p:nvSpPr>
        <p:spPr>
          <a:xfrm>
            <a:off x="5803900" y="3479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6" name="Google Shape;186;p28"/>
          <p:cNvSpPr txBox="1"/>
          <p:nvPr/>
        </p:nvSpPr>
        <p:spPr>
          <a:xfrm>
            <a:off x="508000" y="3962400"/>
            <a:ext cx="8127900" cy="2793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212121"/>
                </a:solidFill>
                <a:latin typeface="Poppins"/>
                <a:ea typeface="Poppins"/>
                <a:cs typeface="Poppins"/>
                <a:sym typeface="Poppins"/>
              </a:rPr>
              <a:t>IPFS gateways: efs.eth.limo (or .link) or your own IPFS node</a:t>
            </a:r>
            <a:endParaRPr>
              <a:solidFill>
                <a:srgbClr val="212121"/>
              </a:solidFill>
              <a:latin typeface="Poppins"/>
              <a:ea typeface="Poppins"/>
              <a:cs typeface="Poppins"/>
              <a:sym typeface="Poppins"/>
            </a:endParaRPr>
          </a:p>
        </p:txBody>
      </p:sp>
      <p:sp>
        <p:nvSpPr>
          <p:cNvPr id="187" name="Google Shape;187;p28"/>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8" name="Google Shape;188;p28"/>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189" name="Google Shape;189;p28"/>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the usual website. Can you open</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a trusted release through another route?</a:t>
            </a:r>
            <a:endParaRPr sz="1600">
              <a:solidFill>
                <a:srgbClr val="FFFFFF"/>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complete runnable release</a:t>
            </a:r>
            <a:endParaRPr b="1" sz="3000">
              <a:solidFill>
                <a:srgbClr val="06038D"/>
              </a:solidFill>
              <a:latin typeface="Poppins"/>
              <a:ea typeface="Poppins"/>
              <a:cs typeface="Poppins"/>
              <a:sym typeface="Poppins"/>
            </a:endParaRPr>
          </a:p>
        </p:txBody>
      </p:sp>
      <p:sp>
        <p:nvSpPr>
          <p:cNvPr id="195" name="Google Shape;195;p29"/>
          <p:cNvSpPr txBox="1"/>
          <p:nvPr/>
        </p:nvSpPr>
        <p:spPr>
          <a:xfrm>
            <a:off x="571500" y="1018875"/>
            <a:ext cx="80370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Keep every file the client needs to start</a:t>
            </a:r>
            <a:endParaRPr sz="2000">
              <a:solidFill>
                <a:srgbClr val="212121"/>
              </a:solidFill>
              <a:latin typeface="Poppins"/>
              <a:ea typeface="Poppins"/>
              <a:cs typeface="Poppins"/>
              <a:sym typeface="Poppins"/>
            </a:endParaRPr>
          </a:p>
        </p:txBody>
      </p:sp>
      <p:sp>
        <p:nvSpPr>
          <p:cNvPr id="196" name="Google Shape;196;p29"/>
          <p:cNvSpPr/>
          <p:nvPr/>
        </p:nvSpPr>
        <p:spPr>
          <a:xfrm>
            <a:off x="571500" y="1905000"/>
            <a:ext cx="3683100" cy="6351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index.html on IPFS</a:t>
            </a:r>
            <a:endParaRPr sz="2100">
              <a:solidFill>
                <a:srgbClr val="212121"/>
              </a:solidFill>
              <a:latin typeface="Poppins"/>
              <a:ea typeface="Poppins"/>
              <a:cs typeface="Poppins"/>
              <a:sym typeface="Poppins"/>
            </a:endParaRPr>
          </a:p>
        </p:txBody>
      </p:sp>
      <p:sp>
        <p:nvSpPr>
          <p:cNvPr id="197" name="Google Shape;197;p29"/>
          <p:cNvSpPr/>
          <p:nvPr/>
        </p:nvSpPr>
        <p:spPr>
          <a:xfrm>
            <a:off x="4889500" y="1905000"/>
            <a:ext cx="3683100" cy="15876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IPFS bundle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index.html</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app.js + styles + assets</a:t>
            </a:r>
            <a:endParaRPr sz="2000">
              <a:solidFill>
                <a:srgbClr val="212121"/>
              </a:solidFill>
              <a:latin typeface="Poppins"/>
              <a:ea typeface="Poppins"/>
              <a:cs typeface="Poppins"/>
              <a:sym typeface="Poppins"/>
            </a:endParaRPr>
          </a:p>
        </p:txBody>
      </p:sp>
      <p:cxnSp>
        <p:nvCxnSpPr>
          <p:cNvPr id="198" name="Google Shape;198;p29"/>
          <p:cNvCxnSpPr/>
          <p:nvPr/>
        </p:nvCxnSpPr>
        <p:spPr>
          <a:xfrm>
            <a:off x="2413000" y="2565400"/>
            <a:ext cx="0" cy="292200"/>
          </a:xfrm>
          <a:prstGeom prst="straightConnector1">
            <a:avLst/>
          </a:prstGeom>
          <a:noFill/>
          <a:ln cap="flat" cmpd="sng" w="16500">
            <a:solidFill>
              <a:srgbClr val="06038D"/>
            </a:solidFill>
            <a:prstDash val="solid"/>
            <a:round/>
            <a:headEnd len="med" w="med" type="none"/>
            <a:tailEnd len="med" w="med" type="triangle"/>
          </a:ln>
        </p:spPr>
      </p:cxnSp>
      <p:cxnSp>
        <p:nvCxnSpPr>
          <p:cNvPr id="199" name="Google Shape;199;p29"/>
          <p:cNvCxnSpPr/>
          <p:nvPr/>
        </p:nvCxnSpPr>
        <p:spPr>
          <a:xfrm>
            <a:off x="6731000" y="3530600"/>
            <a:ext cx="0" cy="152400"/>
          </a:xfrm>
          <a:prstGeom prst="straightConnector1">
            <a:avLst/>
          </a:prstGeom>
          <a:noFill/>
          <a:ln cap="flat" cmpd="sng" w="16500">
            <a:solidFill>
              <a:srgbClr val="06038D"/>
            </a:solidFill>
            <a:prstDash val="solid"/>
            <a:round/>
            <a:headEnd len="med" w="med" type="none"/>
            <a:tailEnd len="med" w="med" type="triangle"/>
          </a:ln>
        </p:spPr>
      </p:cxnSp>
      <p:sp>
        <p:nvSpPr>
          <p:cNvPr id="200" name="Google Shape;200;p29"/>
          <p:cNvSpPr/>
          <p:nvPr/>
        </p:nvSpPr>
        <p:spPr>
          <a:xfrm>
            <a:off x="571500" y="2921000"/>
            <a:ext cx="3683100" cy="7239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Team server: app.js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Offline</a:t>
            </a:r>
            <a:endParaRPr sz="2000">
              <a:solidFill>
                <a:srgbClr val="FFFFFF"/>
              </a:solidFill>
              <a:latin typeface="Poppins"/>
              <a:ea typeface="Poppins"/>
              <a:cs typeface="Poppins"/>
              <a:sym typeface="Poppins"/>
            </a:endParaRPr>
          </a:p>
        </p:txBody>
      </p:sp>
      <p:sp>
        <p:nvSpPr>
          <p:cNvPr id="201" name="Google Shape;201;p29"/>
          <p:cNvSpPr/>
          <p:nvPr/>
        </p:nvSpPr>
        <p:spPr>
          <a:xfrm>
            <a:off x="4889500" y="3746500"/>
            <a:ext cx="36831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starts</a:t>
            </a:r>
            <a:endParaRPr sz="2000">
              <a:solidFill>
                <a:srgbClr val="FFFFFF"/>
              </a:solidFill>
              <a:latin typeface="Poppins"/>
              <a:ea typeface="Poppins"/>
              <a:cs typeface="Poppins"/>
              <a:sym typeface="Poppins"/>
            </a:endParaRPr>
          </a:p>
        </p:txBody>
      </p:sp>
      <p:sp>
        <p:nvSpPr>
          <p:cNvPr id="202" name="Google Shape;202;p29"/>
          <p:cNvSpPr txBox="1"/>
          <p:nvPr/>
        </p:nvSpPr>
        <p:spPr>
          <a:xfrm>
            <a:off x="571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Incomplete release</a:t>
            </a:r>
            <a:endParaRPr b="1" sz="1800">
              <a:solidFill>
                <a:srgbClr val="06038D"/>
              </a:solidFill>
              <a:latin typeface="Poppins"/>
              <a:ea typeface="Poppins"/>
              <a:cs typeface="Poppins"/>
              <a:sym typeface="Poppins"/>
            </a:endParaRPr>
          </a:p>
        </p:txBody>
      </p:sp>
      <p:sp>
        <p:nvSpPr>
          <p:cNvPr id="203" name="Google Shape;203;p29"/>
          <p:cNvSpPr txBox="1"/>
          <p:nvPr/>
        </p:nvSpPr>
        <p:spPr>
          <a:xfrm>
            <a:off x="4889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Complete release</a:t>
            </a:r>
            <a:endParaRPr b="1" sz="1800">
              <a:solidFill>
                <a:srgbClr val="06038D"/>
              </a:solidFill>
              <a:latin typeface="Poppins"/>
              <a:ea typeface="Poppins"/>
              <a:cs typeface="Poppins"/>
              <a:sym typeface="Poppins"/>
            </a:endParaRPr>
          </a:p>
        </p:txBody>
      </p:sp>
      <p:sp>
        <p:nvSpPr>
          <p:cNvPr id="204" name="Google Shape;204;p29"/>
          <p:cNvSpPr txBox="1"/>
          <p:nvPr/>
        </p:nvSpPr>
        <p:spPr>
          <a:xfrm>
            <a:off x="571500" y="3721100"/>
            <a:ext cx="3683100" cy="406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Client cannot start</a:t>
            </a:r>
            <a:endParaRPr sz="1800">
              <a:solidFill>
                <a:srgbClr val="06038D"/>
              </a:solidFill>
              <a:latin typeface="Poppins"/>
              <a:ea typeface="Poppins"/>
              <a:cs typeface="Poppins"/>
              <a:sym typeface="Poppins"/>
            </a:endParaRPr>
          </a:p>
        </p:txBody>
      </p:sp>
      <p:sp>
        <p:nvSpPr>
          <p:cNvPr id="205" name="Google Shape;205;p29"/>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06" name="Google Shape;206;p29"/>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07" name="Google Shape;207;p29"/>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your team’s server, then reload the client.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Does it start?</a:t>
            </a:r>
            <a:endParaRPr sz="1600">
              <a:solidFill>
                <a:srgbClr val="FFFFFF"/>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without the company</a:t>
            </a:r>
            <a:endParaRPr b="1" sz="3000">
              <a:solidFill>
                <a:srgbClr val="06038D"/>
              </a:solidFill>
              <a:latin typeface="Poppins"/>
              <a:ea typeface="Poppins"/>
              <a:cs typeface="Poppins"/>
              <a:sym typeface="Poppins"/>
            </a:endParaRPr>
          </a:p>
        </p:txBody>
      </p:sp>
      <p:sp>
        <p:nvSpPr>
          <p:cNvPr id="213" name="Google Shape;213;p30"/>
          <p:cNvSpPr txBox="1"/>
          <p:nvPr/>
        </p:nvSpPr>
        <p:spPr>
          <a:xfrm>
            <a:off x="571350" y="1021525"/>
            <a:ext cx="80010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The client starts. Can the user actually get in?</a:t>
            </a:r>
            <a:endParaRPr sz="2000">
              <a:solidFill>
                <a:srgbClr val="212121"/>
              </a:solidFill>
              <a:latin typeface="Poppins"/>
              <a:ea typeface="Poppins"/>
              <a:cs typeface="Poppins"/>
              <a:sym typeface="Poppins"/>
            </a:endParaRPr>
          </a:p>
        </p:txBody>
      </p:sp>
      <p:sp>
        <p:nvSpPr>
          <p:cNvPr id="214" name="Google Shape;214;p30"/>
          <p:cNvSpPr/>
          <p:nvPr/>
        </p:nvSpPr>
        <p:spPr>
          <a:xfrm>
            <a:off x="507900" y="1786775"/>
            <a:ext cx="15390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App</a:t>
            </a:r>
            <a:endParaRPr sz="2100">
              <a:solidFill>
                <a:srgbClr val="212121"/>
              </a:solidFill>
              <a:latin typeface="Poppins"/>
              <a:ea typeface="Poppins"/>
              <a:cs typeface="Poppins"/>
              <a:sym typeface="Poppins"/>
            </a:endParaRPr>
          </a:p>
        </p:txBody>
      </p:sp>
      <p:sp>
        <p:nvSpPr>
          <p:cNvPr id="215" name="Google Shape;215;p30"/>
          <p:cNvSpPr/>
          <p:nvPr/>
        </p:nvSpPr>
        <p:spPr>
          <a:xfrm>
            <a:off x="6857900" y="1786775"/>
            <a:ext cx="1778100" cy="787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Locked out</a:t>
            </a:r>
            <a:endParaRPr sz="2000">
              <a:solidFill>
                <a:srgbClr val="212121"/>
              </a:solidFill>
              <a:latin typeface="Poppins"/>
              <a:ea typeface="Poppins"/>
              <a:cs typeface="Poppins"/>
              <a:sym typeface="Poppins"/>
            </a:endParaRPr>
          </a:p>
        </p:txBody>
      </p:sp>
      <p:cxnSp>
        <p:nvCxnSpPr>
          <p:cNvPr id="216" name="Google Shape;216;p30"/>
          <p:cNvCxnSpPr/>
          <p:nvPr/>
        </p:nvCxnSpPr>
        <p:spPr>
          <a:xfrm>
            <a:off x="2046900" y="2175150"/>
            <a:ext cx="787500" cy="0"/>
          </a:xfrm>
          <a:prstGeom prst="straightConnector1">
            <a:avLst/>
          </a:prstGeom>
          <a:noFill/>
          <a:ln cap="flat" cmpd="sng" w="16500">
            <a:solidFill>
              <a:srgbClr val="FF3D94"/>
            </a:solidFill>
            <a:prstDash val="solid"/>
            <a:round/>
            <a:headEnd len="med" w="med" type="none"/>
            <a:tailEnd len="med" w="med" type="triangle"/>
          </a:ln>
        </p:spPr>
      </p:cxnSp>
      <p:cxnSp>
        <p:nvCxnSpPr>
          <p:cNvPr id="217" name="Google Shape;217;p30"/>
          <p:cNvCxnSpPr/>
          <p:nvPr/>
        </p:nvCxnSpPr>
        <p:spPr>
          <a:xfrm>
            <a:off x="6451450" y="2180100"/>
            <a:ext cx="317700" cy="300"/>
          </a:xfrm>
          <a:prstGeom prst="straightConnector1">
            <a:avLst/>
          </a:prstGeom>
          <a:noFill/>
          <a:ln cap="flat" cmpd="sng" w="16500">
            <a:solidFill>
              <a:srgbClr val="FF3D94"/>
            </a:solidFill>
            <a:prstDash val="dash"/>
            <a:round/>
            <a:headEnd len="med" w="med" type="none"/>
            <a:tailEnd len="med" w="med" type="triangle"/>
          </a:ln>
        </p:spPr>
      </p:cxnSp>
      <p:cxnSp>
        <p:nvCxnSpPr>
          <p:cNvPr id="218" name="Google Shape;218;p30"/>
          <p:cNvCxnSpPr>
            <a:stCxn id="219" idx="3"/>
          </p:cNvCxnSpPr>
          <p:nvPr/>
        </p:nvCxnSpPr>
        <p:spPr>
          <a:xfrm>
            <a:off x="2046900" y="3640975"/>
            <a:ext cx="1280400" cy="0"/>
          </a:xfrm>
          <a:prstGeom prst="straightConnector1">
            <a:avLst/>
          </a:prstGeom>
          <a:noFill/>
          <a:ln cap="flat" cmpd="sng" w="16500">
            <a:solidFill>
              <a:srgbClr val="06038D"/>
            </a:solidFill>
            <a:prstDash val="solid"/>
            <a:round/>
            <a:headEnd len="med" w="med" type="none"/>
            <a:tailEnd len="med" w="med" type="triangle"/>
          </a:ln>
        </p:spPr>
      </p:cxnSp>
      <p:cxnSp>
        <p:nvCxnSpPr>
          <p:cNvPr id="220" name="Google Shape;220;p30"/>
          <p:cNvCxnSpPr/>
          <p:nvPr/>
        </p:nvCxnSpPr>
        <p:spPr>
          <a:xfrm flipH="1" rot="10800000">
            <a:off x="5911975" y="3641125"/>
            <a:ext cx="603000" cy="9600"/>
          </a:xfrm>
          <a:prstGeom prst="straightConnector1">
            <a:avLst/>
          </a:prstGeom>
          <a:noFill/>
          <a:ln cap="flat" cmpd="sng" w="16500">
            <a:solidFill>
              <a:srgbClr val="06038D"/>
            </a:solidFill>
            <a:prstDash val="solid"/>
            <a:round/>
            <a:headEnd len="med" w="med" type="none"/>
            <a:tailEnd len="med" w="med" type="triangle"/>
          </a:ln>
        </p:spPr>
      </p:cxnSp>
      <p:sp>
        <p:nvSpPr>
          <p:cNvPr id="219" name="Google Shape;219;p30"/>
          <p:cNvSpPr txBox="1"/>
          <p:nvPr/>
        </p:nvSpPr>
        <p:spPr>
          <a:xfrm>
            <a:off x="507900" y="3247225"/>
            <a:ext cx="15390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User’s wallet</a:t>
            </a:r>
            <a:endParaRPr sz="1700">
              <a:solidFill>
                <a:srgbClr val="212121"/>
              </a:solidFill>
              <a:latin typeface="Poppins"/>
              <a:ea typeface="Poppins"/>
              <a:cs typeface="Poppins"/>
              <a:sym typeface="Poppins"/>
            </a:endParaRPr>
          </a:p>
        </p:txBody>
      </p:sp>
      <p:sp>
        <p:nvSpPr>
          <p:cNvPr id="221" name="Google Shape;221;p30"/>
          <p:cNvSpPr/>
          <p:nvPr/>
        </p:nvSpPr>
        <p:spPr>
          <a:xfrm>
            <a:off x="6603900" y="3247275"/>
            <a:ext cx="20319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Same account</a:t>
            </a:r>
            <a:endParaRPr sz="17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and permissions</a:t>
            </a:r>
            <a:endParaRPr sz="1700">
              <a:solidFill>
                <a:srgbClr val="FFFFFF"/>
              </a:solidFill>
              <a:latin typeface="Poppins"/>
              <a:ea typeface="Poppins"/>
              <a:cs typeface="Poppins"/>
              <a:sym typeface="Poppins"/>
            </a:endParaRPr>
          </a:p>
        </p:txBody>
      </p:sp>
      <p:sp>
        <p:nvSpPr>
          <p:cNvPr id="222" name="Google Shape;222;p30"/>
          <p:cNvSpPr txBox="1"/>
          <p:nvPr/>
        </p:nvSpPr>
        <p:spPr>
          <a:xfrm>
            <a:off x="507900" y="2790075"/>
            <a:ext cx="8127900" cy="3429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800">
                <a:solidFill>
                  <a:srgbClr val="06038D"/>
                </a:solidFill>
                <a:latin typeface="Poppins"/>
                <a:ea typeface="Poppins"/>
                <a:cs typeface="Poppins"/>
                <a:sym typeface="Poppins"/>
              </a:rPr>
              <a:t>An account another service can recognize</a:t>
            </a:r>
            <a:endParaRPr b="1" sz="1800">
              <a:solidFill>
                <a:srgbClr val="06038D"/>
              </a:solidFill>
              <a:latin typeface="Poppins"/>
              <a:ea typeface="Poppins"/>
              <a:cs typeface="Poppins"/>
              <a:sym typeface="Poppins"/>
            </a:endParaRPr>
          </a:p>
        </p:txBody>
      </p:sp>
      <p:sp>
        <p:nvSpPr>
          <p:cNvPr id="223" name="Google Shape;223;p30"/>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4" name="Google Shape;224;p30"/>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25" name="Google Shape;225;p30"/>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Disable company login. Can the user complete</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the same action through another client?</a:t>
            </a:r>
            <a:endParaRPr sz="1600">
              <a:solidFill>
                <a:srgbClr val="FFFFFF"/>
              </a:solidFill>
              <a:latin typeface="Poppins"/>
              <a:ea typeface="Poppins"/>
              <a:cs typeface="Poppins"/>
              <a:sym typeface="Poppins"/>
            </a:endParaRPr>
          </a:p>
        </p:txBody>
      </p:sp>
      <p:pic>
        <p:nvPicPr>
          <p:cNvPr id="226" name="Google Shape;226;p30"/>
          <p:cNvPicPr preferRelativeResize="0"/>
          <p:nvPr/>
        </p:nvPicPr>
        <p:blipFill rotWithShape="1">
          <a:blip r:embed="rId3">
            <a:alphaModFix/>
          </a:blip>
          <a:srcRect b="1200" l="0" r="0" t="1210"/>
          <a:stretch/>
        </p:blipFill>
        <p:spPr>
          <a:xfrm>
            <a:off x="3701868" y="3247231"/>
            <a:ext cx="1902182" cy="787500"/>
          </a:xfrm>
          <a:prstGeom prst="rect">
            <a:avLst/>
          </a:prstGeom>
          <a:noFill/>
          <a:ln>
            <a:noFill/>
          </a:ln>
        </p:spPr>
      </p:pic>
      <p:pic>
        <p:nvPicPr>
          <p:cNvPr id="227" name="Google Shape;227;p30"/>
          <p:cNvPicPr preferRelativeResize="0"/>
          <p:nvPr/>
        </p:nvPicPr>
        <p:blipFill>
          <a:blip r:embed="rId4">
            <a:alphaModFix/>
          </a:blip>
          <a:stretch>
            <a:fillRect/>
          </a:stretch>
        </p:blipFill>
        <p:spPr>
          <a:xfrm>
            <a:off x="4394088" y="1652320"/>
            <a:ext cx="1968600" cy="1023499"/>
          </a:xfrm>
          <a:prstGeom prst="rect">
            <a:avLst/>
          </a:prstGeom>
          <a:noFill/>
          <a:ln>
            <a:noFill/>
          </a:ln>
        </p:spPr>
      </p:pic>
      <p:pic>
        <p:nvPicPr>
          <p:cNvPr id="228" name="Google Shape;228;p30"/>
          <p:cNvPicPr preferRelativeResize="0"/>
          <p:nvPr/>
        </p:nvPicPr>
        <p:blipFill>
          <a:blip r:embed="rId5">
            <a:alphaModFix/>
          </a:blip>
          <a:stretch>
            <a:fillRect/>
          </a:stretch>
        </p:blipFill>
        <p:spPr>
          <a:xfrm>
            <a:off x="2901187" y="1715488"/>
            <a:ext cx="1426115" cy="930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34" name="Google Shape;234;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40" name="Google Shape;240;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508050" y="447025"/>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46" name="Google Shape;246;p33"/>
          <p:cNvSpPr/>
          <p:nvPr/>
        </p:nvSpPr>
        <p:spPr>
          <a:xfrm>
            <a:off x="507950" y="1364975"/>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47" name="Google Shape;247;p33"/>
          <p:cNvSpPr/>
          <p:nvPr/>
        </p:nvSpPr>
        <p:spPr>
          <a:xfrm>
            <a:off x="507950" y="1872975"/>
            <a:ext cx="3810000" cy="2065800"/>
          </a:xfrm>
          <a:prstGeom prst="rect">
            <a:avLst/>
          </a:prstGeom>
          <a:noFill/>
          <a:ln cap="flat" cmpd="sng" w="15250">
            <a:solidFill>
              <a:srgbClr val="06038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id: note-17</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author: 0xDEADBEEF…</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text: Meeting at 10</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body: Review proposals.</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file: agenda.md</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vers</a:t>
            </a:r>
            <a:r>
              <a:rPr lang="en">
                <a:solidFill>
                  <a:srgbClr val="212121"/>
                </a:solidFill>
                <a:latin typeface="Roboto Mono"/>
                <a:ea typeface="Roboto Mono"/>
                <a:cs typeface="Roboto Mono"/>
                <a:sym typeface="Roboto Mono"/>
              </a:rPr>
              <a:t>: 2</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a:t>
            </a:r>
            <a:endParaRPr>
              <a:solidFill>
                <a:srgbClr val="212121"/>
              </a:solidFill>
              <a:latin typeface="Roboto Mono"/>
              <a:ea typeface="Roboto Mono"/>
              <a:cs typeface="Roboto Mono"/>
              <a:sym typeface="Roboto Mono"/>
            </a:endParaRPr>
          </a:p>
        </p:txBody>
      </p:sp>
      <p:sp>
        <p:nvSpPr>
          <p:cNvPr id="248" name="Google Shape;248;p33"/>
          <p:cNvSpPr/>
          <p:nvPr/>
        </p:nvSpPr>
        <p:spPr>
          <a:xfrm>
            <a:off x="4825950" y="1364975"/>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49" name="Google Shape;249;p33"/>
          <p:cNvSpPr/>
          <p:nvPr/>
        </p:nvSpPr>
        <p:spPr>
          <a:xfrm>
            <a:off x="4825950" y="1872975"/>
            <a:ext cx="3810000" cy="2065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What each field means</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Who can change it</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How versions fit together</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Who can read and decrypt it</a:t>
            </a:r>
            <a:endParaRPr sz="1600">
              <a:solidFill>
                <a:srgbClr val="212121"/>
              </a:solidFill>
              <a:latin typeface="Poppins"/>
              <a:ea typeface="Poppins"/>
              <a:cs typeface="Poppins"/>
              <a:sym typeface="Poppins"/>
            </a:endParaRPr>
          </a:p>
        </p:txBody>
      </p:sp>
      <p:sp>
        <p:nvSpPr>
          <p:cNvPr id="250" name="Google Shape;250;p33"/>
          <p:cNvSpPr txBox="1"/>
          <p:nvPr/>
        </p:nvSpPr>
        <p:spPr>
          <a:xfrm>
            <a:off x="919725" y="3976038"/>
            <a:ext cx="76707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06038D"/>
                </a:solidFill>
                <a:latin typeface="Poppins"/>
                <a:ea typeface="Poppins"/>
                <a:cs typeface="Poppins"/>
                <a:sym typeface="Poppins"/>
              </a:rPr>
              <a:t>S</a:t>
            </a:r>
            <a:r>
              <a:rPr lang="en">
                <a:solidFill>
                  <a:srgbClr val="06038D"/>
                </a:solidFill>
                <a:latin typeface="Poppins"/>
                <a:ea typeface="Poppins"/>
                <a:cs typeface="Poppins"/>
                <a:sym typeface="Poppins"/>
              </a:rPr>
              <a:t>hared schemas</a:t>
            </a:r>
            <a:r>
              <a:rPr lang="en">
                <a:solidFill>
                  <a:srgbClr val="06038D"/>
                </a:solidFill>
                <a:latin typeface="Poppins"/>
                <a:ea typeface="Poppins"/>
                <a:cs typeface="Poppins"/>
                <a:sym typeface="Poppins"/>
              </a:rPr>
              <a:t> with EAS    </a:t>
            </a:r>
            <a:r>
              <a:rPr lang="en">
                <a:solidFill>
                  <a:srgbClr val="06038D"/>
                </a:solidFill>
                <a:latin typeface="Poppins"/>
                <a:ea typeface="Poppins"/>
                <a:cs typeface="Poppins"/>
                <a:sym typeface="Poppins"/>
              </a:rPr>
              <a:t>     Documented exports from your database.</a:t>
            </a:r>
            <a:endParaRPr>
              <a:solidFill>
                <a:srgbClr val="06038D"/>
              </a:solidFill>
              <a:latin typeface="Poppins"/>
              <a:ea typeface="Poppins"/>
              <a:cs typeface="Poppins"/>
              <a:sym typeface="Poppins"/>
            </a:endParaRPr>
          </a:p>
        </p:txBody>
      </p:sp>
      <p:pic>
        <p:nvPicPr>
          <p:cNvPr id="251" name="Google Shape;251;p33"/>
          <p:cNvPicPr preferRelativeResize="0"/>
          <p:nvPr/>
        </p:nvPicPr>
        <p:blipFill>
          <a:blip r:embed="rId3">
            <a:alphaModFix/>
          </a:blip>
          <a:stretch>
            <a:fillRect/>
          </a:stretch>
        </p:blipFill>
        <p:spPr>
          <a:xfrm>
            <a:off x="3816925" y="4020425"/>
            <a:ext cx="228600" cy="228600"/>
          </a:xfrm>
          <a:prstGeom prst="rect">
            <a:avLst/>
          </a:prstGeom>
          <a:noFill/>
          <a:ln>
            <a:noFill/>
          </a:ln>
        </p:spPr>
      </p:pic>
      <p:sp>
        <p:nvSpPr>
          <p:cNvPr id="252" name="Google Shape;252;p33"/>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3" name="Google Shape;253;p33"/>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54" name="Google Shape;254;p33"/>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Hand over an export and its format.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another developer read it without asking you?</a:t>
            </a:r>
            <a:endParaRPr sz="1600">
              <a:solidFill>
                <a:srgbClr val="FFFFFF"/>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3000">
                <a:solidFill>
                  <a:srgbClr val="06038D"/>
                </a:solidFill>
                <a:latin typeface="Poppins"/>
                <a:ea typeface="Poppins"/>
                <a:cs typeface="Poppins"/>
                <a:sym typeface="Poppins"/>
              </a:rPr>
              <a:t>Private data you can recover</a:t>
            </a:r>
            <a:endParaRPr b="1" sz="3000">
              <a:solidFill>
                <a:srgbClr val="06038D"/>
              </a:solidFill>
              <a:latin typeface="Poppins"/>
              <a:ea typeface="Poppins"/>
              <a:cs typeface="Poppins"/>
              <a:sym typeface="Poppins"/>
            </a:endParaRPr>
          </a:p>
        </p:txBody>
      </p:sp>
      <p:sp>
        <p:nvSpPr>
          <p:cNvPr id="260" name="Google Shape;260;p34"/>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61" name="Google Shape;261;p34"/>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62" name="Google Shape;262;p34"/>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With the company offline, recover the keys</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and reopen a private file in another reader.</a:t>
            </a:r>
            <a:endParaRPr sz="1600">
              <a:solidFill>
                <a:srgbClr val="FFFFFF"/>
              </a:solidFill>
              <a:latin typeface="Poppins"/>
              <a:ea typeface="Poppins"/>
              <a:cs typeface="Poppins"/>
              <a:sym typeface="Poppins"/>
            </a:endParaRPr>
          </a:p>
        </p:txBody>
      </p:sp>
      <p:sp>
        <p:nvSpPr>
          <p:cNvPr id="263" name="Google Shape;263;p34"/>
          <p:cNvSpPr/>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212121"/>
                </a:solidFill>
                <a:latin typeface="Poppins"/>
                <a:ea typeface="Poppins"/>
                <a:cs typeface="Poppins"/>
                <a:sym typeface="Poppins"/>
              </a:rPr>
              <a:t>Keep private work readable without company approval.</a:t>
            </a:r>
            <a:endParaRPr sz="1900">
              <a:solidFill>
                <a:srgbClr val="212121"/>
              </a:solidFill>
              <a:latin typeface="Poppins"/>
              <a:ea typeface="Poppins"/>
              <a:cs typeface="Poppins"/>
              <a:sym typeface="Poppins"/>
            </a:endParaRPr>
          </a:p>
        </p:txBody>
      </p:sp>
      <p:sp>
        <p:nvSpPr>
          <p:cNvPr id="264" name="Google Shape;264;p34"/>
          <p:cNvSpPr/>
          <p:nvPr/>
        </p:nvSpPr>
        <p:spPr>
          <a:xfrm>
            <a:off x="508000" y="1803400"/>
            <a:ext cx="2540100" cy="8889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900">
                <a:solidFill>
                  <a:srgbClr val="06038D"/>
                </a:solidFill>
                <a:latin typeface="Poppins"/>
                <a:ea typeface="Poppins"/>
                <a:cs typeface="Poppins"/>
                <a:sym typeface="Poppins"/>
              </a:rPr>
              <a:t>Encrypted copy</a:t>
            </a:r>
            <a:endParaRPr b="1" sz="1900">
              <a:solidFill>
                <a:srgbClr val="06038D"/>
              </a:solidFill>
              <a:latin typeface="Poppins"/>
              <a:ea typeface="Poppins"/>
              <a:cs typeface="Poppins"/>
              <a:sym typeface="Poppins"/>
            </a:endParaRPr>
          </a:p>
          <a:p>
            <a:pPr indent="0" lvl="0" marL="0" marR="0" rtl="0" algn="ctr">
              <a:lnSpc>
                <a:spcPct val="110000"/>
              </a:lnSpc>
              <a:spcBef>
                <a:spcPts val="0"/>
              </a:spcBef>
              <a:spcAft>
                <a:spcPts val="0"/>
              </a:spcAft>
              <a:buNone/>
            </a:pPr>
            <a:r>
              <a:rPr lang="en" sz="1600">
                <a:solidFill>
                  <a:srgbClr val="06038D"/>
                </a:solidFill>
                <a:latin typeface="Poppins"/>
                <a:ea typeface="Poppins"/>
                <a:cs typeface="Poppins"/>
                <a:sym typeface="Poppins"/>
              </a:rPr>
              <a:t>private-notes.enc</a:t>
            </a:r>
            <a:endParaRPr sz="1600">
              <a:solidFill>
                <a:srgbClr val="06038D"/>
              </a:solidFill>
              <a:latin typeface="Poppins"/>
              <a:ea typeface="Poppins"/>
              <a:cs typeface="Poppins"/>
              <a:sym typeface="Poppins"/>
            </a:endParaRPr>
          </a:p>
        </p:txBody>
      </p:sp>
      <p:sp>
        <p:nvSpPr>
          <p:cNvPr id="265" name="Google Shape;265;p34"/>
          <p:cNvSpPr/>
          <p:nvPr/>
        </p:nvSpPr>
        <p:spPr>
          <a:xfrm>
            <a:off x="508000" y="3022600"/>
            <a:ext cx="2540100" cy="888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700">
                <a:solidFill>
                  <a:srgbClr val="06038D"/>
                </a:solidFill>
                <a:latin typeface="Poppins"/>
                <a:ea typeface="Poppins"/>
                <a:cs typeface="Poppins"/>
                <a:sym typeface="Poppins"/>
              </a:rPr>
              <a:t>User’s recovery method</a:t>
            </a:r>
            <a:endParaRPr b="1" sz="1700">
              <a:solidFill>
                <a:srgbClr val="06038D"/>
              </a:solidFill>
              <a:latin typeface="Poppins"/>
              <a:ea typeface="Poppins"/>
              <a:cs typeface="Poppins"/>
              <a:sym typeface="Poppins"/>
            </a:endParaRPr>
          </a:p>
          <a:p>
            <a:pPr indent="0" lvl="0" marL="0" marR="0" rtl="0" algn="ctr">
              <a:lnSpc>
                <a:spcPct val="110000"/>
              </a:lnSpc>
              <a:spcBef>
                <a:spcPts val="0"/>
              </a:spcBef>
              <a:spcAft>
                <a:spcPts val="0"/>
              </a:spcAft>
              <a:buNone/>
            </a:pPr>
            <a:r>
              <a:rPr lang="en" sz="1600">
                <a:solidFill>
                  <a:srgbClr val="06038D"/>
                </a:solidFill>
                <a:latin typeface="Poppins"/>
                <a:ea typeface="Poppins"/>
                <a:cs typeface="Poppins"/>
                <a:sym typeface="Poppins"/>
              </a:rPr>
              <a:t>Protected keys</a:t>
            </a:r>
            <a:endParaRPr sz="1600">
              <a:solidFill>
                <a:srgbClr val="06038D"/>
              </a:solidFill>
              <a:latin typeface="Poppins"/>
              <a:ea typeface="Poppins"/>
              <a:cs typeface="Poppins"/>
              <a:sym typeface="Poppins"/>
            </a:endParaRPr>
          </a:p>
        </p:txBody>
      </p:sp>
      <p:sp>
        <p:nvSpPr>
          <p:cNvPr id="266" name="Google Shape;266;p34"/>
          <p:cNvSpPr/>
          <p:nvPr/>
        </p:nvSpPr>
        <p:spPr>
          <a:xfrm>
            <a:off x="3937000" y="2235200"/>
            <a:ext cx="1841400" cy="12192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06038D"/>
                </a:solidFill>
                <a:latin typeface="Poppins"/>
                <a:ea typeface="Poppins"/>
                <a:cs typeface="Poppins"/>
                <a:sym typeface="Poppins"/>
              </a:rPr>
              <a:t>Compatible</a:t>
            </a:r>
            <a:endParaRPr sz="2000">
              <a:solidFill>
                <a:srgbClr val="06038D"/>
              </a:solidFill>
              <a:latin typeface="Poppins"/>
              <a:ea typeface="Poppins"/>
              <a:cs typeface="Poppins"/>
              <a:sym typeface="Poppins"/>
            </a:endParaRPr>
          </a:p>
          <a:p>
            <a:pPr indent="0" lvl="0" marL="0" marR="0" rtl="0" algn="ctr">
              <a:lnSpc>
                <a:spcPct val="110000"/>
              </a:lnSpc>
              <a:spcBef>
                <a:spcPts val="0"/>
              </a:spcBef>
              <a:spcAft>
                <a:spcPts val="0"/>
              </a:spcAft>
              <a:buNone/>
            </a:pPr>
            <a:r>
              <a:rPr lang="en" sz="2000">
                <a:solidFill>
                  <a:srgbClr val="06038D"/>
                </a:solidFill>
                <a:latin typeface="Poppins"/>
                <a:ea typeface="Poppins"/>
                <a:cs typeface="Poppins"/>
                <a:sym typeface="Poppins"/>
              </a:rPr>
              <a:t>reader</a:t>
            </a:r>
            <a:endParaRPr sz="2000">
              <a:solidFill>
                <a:srgbClr val="06038D"/>
              </a:solidFill>
              <a:latin typeface="Poppins"/>
              <a:ea typeface="Poppins"/>
              <a:cs typeface="Poppins"/>
              <a:sym typeface="Poppins"/>
            </a:endParaRPr>
          </a:p>
        </p:txBody>
      </p:sp>
      <p:sp>
        <p:nvSpPr>
          <p:cNvPr id="267" name="Google Shape;267;p34"/>
          <p:cNvSpPr/>
          <p:nvPr/>
        </p:nvSpPr>
        <p:spPr>
          <a:xfrm>
            <a:off x="6731000" y="2235200"/>
            <a:ext cx="1905000" cy="1219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000">
                <a:solidFill>
                  <a:srgbClr val="FFFFFF"/>
                </a:solidFill>
                <a:latin typeface="Poppins"/>
                <a:ea typeface="Poppins"/>
                <a:cs typeface="Poppins"/>
                <a:sym typeface="Poppins"/>
              </a:rPr>
              <a:t>Private note</a:t>
            </a:r>
            <a:endParaRPr b="1" sz="20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b="1" lang="en" sz="2000">
                <a:solidFill>
                  <a:srgbClr val="FFFFFF"/>
                </a:solidFill>
                <a:latin typeface="Poppins"/>
                <a:ea typeface="Poppins"/>
                <a:cs typeface="Poppins"/>
                <a:sym typeface="Poppins"/>
              </a:rPr>
              <a:t>opens</a:t>
            </a:r>
            <a:endParaRPr b="1" sz="2000">
              <a:solidFill>
                <a:srgbClr val="FFFFFF"/>
              </a:solidFill>
              <a:latin typeface="Poppins"/>
              <a:ea typeface="Poppins"/>
              <a:cs typeface="Poppins"/>
              <a:sym typeface="Poppins"/>
            </a:endParaRPr>
          </a:p>
        </p:txBody>
      </p:sp>
      <p:cxnSp>
        <p:nvCxnSpPr>
          <p:cNvPr id="268" name="Google Shape;268;p34"/>
          <p:cNvCxnSpPr/>
          <p:nvPr/>
        </p:nvCxnSpPr>
        <p:spPr>
          <a:xfrm>
            <a:off x="3048000" y="2247900"/>
            <a:ext cx="444600" cy="0"/>
          </a:xfrm>
          <a:prstGeom prst="straightConnector1">
            <a:avLst/>
          </a:prstGeom>
          <a:noFill/>
          <a:ln cap="flat" cmpd="sng" w="19050">
            <a:solidFill>
              <a:srgbClr val="06038D"/>
            </a:solidFill>
            <a:prstDash val="solid"/>
            <a:round/>
            <a:headEnd len="med" w="med" type="none"/>
            <a:tailEnd len="med" w="med" type="none"/>
          </a:ln>
        </p:spPr>
      </p:cxnSp>
      <p:cxnSp>
        <p:nvCxnSpPr>
          <p:cNvPr id="269" name="Google Shape;269;p34"/>
          <p:cNvCxnSpPr/>
          <p:nvPr/>
        </p:nvCxnSpPr>
        <p:spPr>
          <a:xfrm>
            <a:off x="3048000" y="3467100"/>
            <a:ext cx="444600" cy="0"/>
          </a:xfrm>
          <a:prstGeom prst="straightConnector1">
            <a:avLst/>
          </a:prstGeom>
          <a:noFill/>
          <a:ln cap="flat" cmpd="sng" w="19050">
            <a:solidFill>
              <a:srgbClr val="06038D"/>
            </a:solidFill>
            <a:prstDash val="solid"/>
            <a:round/>
            <a:headEnd len="med" w="med" type="none"/>
            <a:tailEnd len="med" w="med" type="none"/>
          </a:ln>
        </p:spPr>
      </p:cxnSp>
      <p:cxnSp>
        <p:nvCxnSpPr>
          <p:cNvPr id="270" name="Google Shape;270;p34"/>
          <p:cNvCxnSpPr/>
          <p:nvPr/>
        </p:nvCxnSpPr>
        <p:spPr>
          <a:xfrm>
            <a:off x="3492500" y="2247900"/>
            <a:ext cx="0" cy="1219200"/>
          </a:xfrm>
          <a:prstGeom prst="straightConnector1">
            <a:avLst/>
          </a:prstGeom>
          <a:noFill/>
          <a:ln cap="flat" cmpd="sng" w="19050">
            <a:solidFill>
              <a:srgbClr val="06038D"/>
            </a:solidFill>
            <a:prstDash val="solid"/>
            <a:round/>
            <a:headEnd len="med" w="med" type="none"/>
            <a:tailEnd len="med" w="med" type="none"/>
          </a:ln>
        </p:spPr>
      </p:cxnSp>
      <p:cxnSp>
        <p:nvCxnSpPr>
          <p:cNvPr id="271" name="Google Shape;271;p34"/>
          <p:cNvCxnSpPr/>
          <p:nvPr/>
        </p:nvCxnSpPr>
        <p:spPr>
          <a:xfrm>
            <a:off x="3492500" y="2844800"/>
            <a:ext cx="381000" cy="0"/>
          </a:xfrm>
          <a:prstGeom prst="straightConnector1">
            <a:avLst/>
          </a:prstGeom>
          <a:noFill/>
          <a:ln cap="flat" cmpd="sng" w="19050">
            <a:solidFill>
              <a:srgbClr val="06038D"/>
            </a:solidFill>
            <a:prstDash val="solid"/>
            <a:round/>
            <a:headEnd len="med" w="med" type="none"/>
            <a:tailEnd len="med" w="med" type="triangle"/>
          </a:ln>
        </p:spPr>
      </p:cxnSp>
      <p:cxnSp>
        <p:nvCxnSpPr>
          <p:cNvPr id="272" name="Google Shape;272;p34"/>
          <p:cNvCxnSpPr/>
          <p:nvPr/>
        </p:nvCxnSpPr>
        <p:spPr>
          <a:xfrm>
            <a:off x="5842000" y="2844800"/>
            <a:ext cx="825600" cy="0"/>
          </a:xfrm>
          <a:prstGeom prst="straightConnector1">
            <a:avLst/>
          </a:prstGeom>
          <a:noFill/>
          <a:ln cap="flat" cmpd="sng" w="19050">
            <a:solidFill>
              <a:srgbClr val="06038D"/>
            </a:solidFill>
            <a:prstDash val="solid"/>
            <a:round/>
            <a:headEnd len="med" w="med" type="none"/>
            <a:tailEnd len="med" w="med" type="triangle"/>
          </a:ln>
        </p:spPr>
      </p:cxnSp>
      <p:sp>
        <p:nvSpPr>
          <p:cNvPr id="273" name="Google Shape;273;p34"/>
          <p:cNvSpPr/>
          <p:nvPr/>
        </p:nvSpPr>
        <p:spPr>
          <a:xfrm>
            <a:off x="3683000" y="3594100"/>
            <a:ext cx="49530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600">
                <a:solidFill>
                  <a:srgbClr val="06038D"/>
                </a:solidFill>
                <a:latin typeface="Poppins"/>
                <a:ea typeface="Poppins"/>
                <a:cs typeface="Poppins"/>
                <a:sym typeface="Poppins"/>
              </a:rPr>
              <a:t>A documented encryption format</a:t>
            </a:r>
            <a:endParaRPr sz="1600">
              <a:solidFill>
                <a:srgbClr val="06038D"/>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79" name="Google Shape;279;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80" name="Google Shape;280;p35"/>
          <p:cNvSpPr/>
          <p:nvPr/>
        </p:nvSpPr>
        <p:spPr>
          <a:xfrm>
            <a:off x="508000" y="19367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81" name="Google Shape;281;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IPFS host</a:t>
            </a:r>
            <a:endParaRPr sz="2000">
              <a:solidFill>
                <a:srgbClr val="212121"/>
              </a:solidFill>
              <a:latin typeface="Poppins"/>
              <a:ea typeface="Poppins"/>
              <a:cs typeface="Poppins"/>
              <a:sym typeface="Poppins"/>
            </a:endParaRPr>
          </a:p>
        </p:txBody>
      </p:sp>
      <p:sp>
        <p:nvSpPr>
          <p:cNvPr id="282" name="Google Shape;282;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Independent Arweave copy</a:t>
            </a:r>
            <a:endParaRPr sz="1800">
              <a:solidFill>
                <a:srgbClr val="212121"/>
              </a:solidFill>
              <a:latin typeface="Poppins"/>
              <a:ea typeface="Poppins"/>
              <a:cs typeface="Poppins"/>
              <a:sym typeface="Poppins"/>
            </a:endParaRPr>
          </a:p>
        </p:txBody>
      </p:sp>
      <p:sp>
        <p:nvSpPr>
          <p:cNvPr id="283" name="Google Shape;283;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User saved backup</a:t>
            </a:r>
            <a:endParaRPr sz="2000">
              <a:solidFill>
                <a:srgbClr val="212121"/>
              </a:solidFill>
              <a:latin typeface="Poppins"/>
              <a:ea typeface="Poppins"/>
              <a:cs typeface="Poppins"/>
              <a:sym typeface="Poppins"/>
            </a:endParaRPr>
          </a:p>
        </p:txBody>
      </p:sp>
      <p:cxnSp>
        <p:nvCxnSpPr>
          <p:cNvPr id="284" name="Google Shape;284;p35"/>
          <p:cNvCxnSpPr/>
          <p:nvPr/>
        </p:nvCxnSpPr>
        <p:spPr>
          <a:xfrm>
            <a:off x="3644900" y="23558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85" name="Google Shape;285;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286" name="Google Shape;286;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87" name="Google Shape;287;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88" name="Google Shape;288;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289" name="Google Shape;289;p35"/>
          <p:cNvSpPr txBox="1"/>
          <p:nvPr/>
        </p:nvSpPr>
        <p:spPr>
          <a:xfrm>
            <a:off x="508000" y="31877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290" name="Google Shape;290;p35"/>
          <p:cNvSpPr/>
          <p:nvPr/>
        </p:nvSpPr>
        <p:spPr>
          <a:xfrm>
            <a:off x="508000" y="36068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291" name="Google Shape;291;p35"/>
          <p:cNvCxnSpPr/>
          <p:nvPr/>
        </p:nvCxnSpPr>
        <p:spPr>
          <a:xfrm>
            <a:off x="3644900" y="38735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292" name="Google Shape;292;p35"/>
          <p:cNvSpPr/>
          <p:nvPr/>
        </p:nvSpPr>
        <p:spPr>
          <a:xfrm>
            <a:off x="4635500" y="36068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 full nodes</a:t>
            </a:r>
            <a:endParaRPr sz="2000">
              <a:solidFill>
                <a:srgbClr val="212121"/>
              </a:solidFill>
              <a:latin typeface="Poppins"/>
              <a:ea typeface="Poppins"/>
              <a:cs typeface="Poppins"/>
              <a:sym typeface="Poppins"/>
            </a:endParaRPr>
          </a:p>
        </p:txBody>
      </p:sp>
      <p:sp>
        <p:nvSpPr>
          <p:cNvPr id="293" name="Google Shape;293;p35"/>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94" name="Google Shape;294;p35"/>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95" name="Google Shape;295;p35"/>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the primary storage provider.</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you recover the record and attachments elsewhere?</a:t>
            </a:r>
            <a:endParaRPr sz="1600">
              <a:solidFill>
                <a:srgbClr val="FFFFFF"/>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6"/>
          <p:cNvSpPr txBox="1"/>
          <p:nvPr>
            <p:ph type="title"/>
          </p:nvPr>
        </p:nvSpPr>
        <p:spPr>
          <a:xfrm>
            <a:off x="1587650" y="462275"/>
            <a:ext cx="70356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600">
                <a:solidFill>
                  <a:srgbClr val="06038D"/>
                </a:solidFill>
                <a:latin typeface="Poppins"/>
                <a:ea typeface="Poppins"/>
                <a:cs typeface="Poppins"/>
                <a:sym typeface="Poppins"/>
              </a:rPr>
              <a:t>Shared paths, data verifiability</a:t>
            </a:r>
            <a:endParaRPr sz="2600">
              <a:solidFill>
                <a:srgbClr val="06038D"/>
              </a:solidFill>
              <a:latin typeface="Poppins"/>
              <a:ea typeface="Poppins"/>
              <a:cs typeface="Poppins"/>
              <a:sym typeface="Poppins"/>
            </a:endParaRPr>
          </a:p>
        </p:txBody>
      </p:sp>
      <p:sp>
        <p:nvSpPr>
          <p:cNvPr id="301" name="Google Shape;301;p36"/>
          <p:cNvSpPr txBox="1"/>
          <p:nvPr/>
        </p:nvSpPr>
        <p:spPr>
          <a:xfrm>
            <a:off x="571500" y="1094413"/>
            <a:ext cx="6312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212121"/>
                </a:solidFill>
                <a:latin typeface="Poppins"/>
                <a:ea typeface="Poppins"/>
                <a:cs typeface="Poppins"/>
                <a:sym typeface="Poppins"/>
              </a:rPr>
              <a:t>Example path: /notes/meeting.md</a:t>
            </a:r>
            <a:endParaRPr sz="1900">
              <a:solidFill>
                <a:srgbClr val="212121"/>
              </a:solidFill>
              <a:latin typeface="Poppins"/>
              <a:ea typeface="Poppins"/>
              <a:cs typeface="Poppins"/>
              <a:sym typeface="Poppins"/>
            </a:endParaRPr>
          </a:p>
        </p:txBody>
      </p:sp>
      <p:cxnSp>
        <p:nvCxnSpPr>
          <p:cNvPr id="302" name="Google Shape;302;p36"/>
          <p:cNvCxnSpPr/>
          <p:nvPr/>
        </p:nvCxnSpPr>
        <p:spPr>
          <a:xfrm>
            <a:off x="2699800" y="15263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303" name="Google Shape;303;p36"/>
          <p:cNvSpPr/>
          <p:nvPr/>
        </p:nvSpPr>
        <p:spPr>
          <a:xfrm>
            <a:off x="571450" y="1835275"/>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304" name="Google Shape;304;p36"/>
          <p:cNvCxnSpPr/>
          <p:nvPr/>
        </p:nvCxnSpPr>
        <p:spPr>
          <a:xfrm>
            <a:off x="4787850" y="2432175"/>
            <a:ext cx="635100" cy="0"/>
          </a:xfrm>
          <a:prstGeom prst="straightConnector1">
            <a:avLst/>
          </a:prstGeom>
          <a:noFill/>
          <a:ln cap="flat" cmpd="sng" w="17775">
            <a:solidFill>
              <a:srgbClr val="06038D"/>
            </a:solidFill>
            <a:prstDash val="solid"/>
            <a:round/>
            <a:headEnd len="med" w="med" type="none"/>
            <a:tailEnd len="med" w="med" type="triangle"/>
          </a:ln>
        </p:spPr>
      </p:cxnSp>
      <p:sp>
        <p:nvSpPr>
          <p:cNvPr id="305" name="Google Shape;305;p36"/>
          <p:cNvSpPr/>
          <p:nvPr/>
        </p:nvSpPr>
        <p:spPr>
          <a:xfrm>
            <a:off x="5460950" y="2000375"/>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sp>
        <p:nvSpPr>
          <p:cNvPr id="306" name="Google Shape;306;p36"/>
          <p:cNvSpPr/>
          <p:nvPr/>
        </p:nvSpPr>
        <p:spPr>
          <a:xfrm>
            <a:off x="571450" y="3295775"/>
            <a:ext cx="4191000" cy="774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Web client retrieves a copy</a:t>
            </a:r>
            <a:endParaRPr sz="18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and checks its fingerprint</a:t>
            </a:r>
            <a:endParaRPr sz="1800">
              <a:solidFill>
                <a:srgbClr val="FFFFFF"/>
              </a:solidFill>
              <a:latin typeface="Poppins"/>
              <a:ea typeface="Poppins"/>
              <a:cs typeface="Poppins"/>
              <a:sym typeface="Poppins"/>
            </a:endParaRPr>
          </a:p>
        </p:txBody>
      </p:sp>
      <p:sp>
        <p:nvSpPr>
          <p:cNvPr id="307" name="Google Shape;307;p36"/>
          <p:cNvSpPr/>
          <p:nvPr/>
        </p:nvSpPr>
        <p:spPr>
          <a:xfrm>
            <a:off x="5460950" y="3143325"/>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308" name="Google Shape;308;p36"/>
          <p:cNvSpPr/>
          <p:nvPr/>
        </p:nvSpPr>
        <p:spPr>
          <a:xfrm>
            <a:off x="5460950" y="3714825"/>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cxnSp>
        <p:nvCxnSpPr>
          <p:cNvPr id="309" name="Google Shape;309;p36"/>
          <p:cNvCxnSpPr/>
          <p:nvPr/>
        </p:nvCxnSpPr>
        <p:spPr>
          <a:xfrm>
            <a:off x="2666950" y="3067175"/>
            <a:ext cx="0" cy="190500"/>
          </a:xfrm>
          <a:prstGeom prst="straightConnector1">
            <a:avLst/>
          </a:prstGeom>
          <a:noFill/>
          <a:ln cap="flat" cmpd="sng" w="12700">
            <a:solidFill>
              <a:srgbClr val="06038D"/>
            </a:solidFill>
            <a:prstDash val="solid"/>
            <a:round/>
            <a:headEnd len="med" w="med" type="none"/>
            <a:tailEnd len="med" w="med" type="triangle"/>
          </a:ln>
        </p:spPr>
      </p:cxnSp>
      <p:cxnSp>
        <p:nvCxnSpPr>
          <p:cNvPr id="310" name="Google Shape;310;p36"/>
          <p:cNvCxnSpPr/>
          <p:nvPr/>
        </p:nvCxnSpPr>
        <p:spPr>
          <a:xfrm rot="10800000">
            <a:off x="5130750" y="3359225"/>
            <a:ext cx="304800" cy="0"/>
          </a:xfrm>
          <a:prstGeom prst="straightConnector1">
            <a:avLst/>
          </a:prstGeom>
          <a:noFill/>
          <a:ln cap="flat" cmpd="sng" w="12700">
            <a:solidFill>
              <a:srgbClr val="06038D"/>
            </a:solidFill>
            <a:prstDash val="solid"/>
            <a:round/>
            <a:headEnd len="med" w="med" type="none"/>
            <a:tailEnd len="med" w="med" type="none"/>
          </a:ln>
        </p:spPr>
      </p:cxnSp>
      <p:cxnSp>
        <p:nvCxnSpPr>
          <p:cNvPr id="311" name="Google Shape;311;p36"/>
          <p:cNvCxnSpPr/>
          <p:nvPr/>
        </p:nvCxnSpPr>
        <p:spPr>
          <a:xfrm rot="10800000">
            <a:off x="5130750" y="3930725"/>
            <a:ext cx="304800" cy="0"/>
          </a:xfrm>
          <a:prstGeom prst="straightConnector1">
            <a:avLst/>
          </a:prstGeom>
          <a:noFill/>
          <a:ln cap="flat" cmpd="sng" w="12700">
            <a:solidFill>
              <a:srgbClr val="06038D"/>
            </a:solidFill>
            <a:prstDash val="solid"/>
            <a:round/>
            <a:headEnd len="med" w="med" type="none"/>
            <a:tailEnd len="med" w="med" type="none"/>
          </a:ln>
        </p:spPr>
      </p:cxnSp>
      <p:cxnSp>
        <p:nvCxnSpPr>
          <p:cNvPr id="312" name="Google Shape;312;p36"/>
          <p:cNvCxnSpPr/>
          <p:nvPr/>
        </p:nvCxnSpPr>
        <p:spPr>
          <a:xfrm>
            <a:off x="5130750" y="3359225"/>
            <a:ext cx="0" cy="571500"/>
          </a:xfrm>
          <a:prstGeom prst="straightConnector1">
            <a:avLst/>
          </a:prstGeom>
          <a:noFill/>
          <a:ln cap="flat" cmpd="sng" w="12700">
            <a:solidFill>
              <a:srgbClr val="06038D"/>
            </a:solidFill>
            <a:prstDash val="solid"/>
            <a:round/>
            <a:headEnd len="med" w="med" type="none"/>
            <a:tailEnd len="med" w="med" type="none"/>
          </a:ln>
        </p:spPr>
      </p:cxnSp>
      <p:cxnSp>
        <p:nvCxnSpPr>
          <p:cNvPr id="313" name="Google Shape;313;p36"/>
          <p:cNvCxnSpPr/>
          <p:nvPr/>
        </p:nvCxnSpPr>
        <p:spPr>
          <a:xfrm rot="10800000">
            <a:off x="4800450" y="3651375"/>
            <a:ext cx="330300" cy="0"/>
          </a:xfrm>
          <a:prstGeom prst="straightConnector1">
            <a:avLst/>
          </a:prstGeom>
          <a:noFill/>
          <a:ln cap="flat" cmpd="sng" w="12700">
            <a:solidFill>
              <a:srgbClr val="06038D"/>
            </a:solidFill>
            <a:prstDash val="solid"/>
            <a:round/>
            <a:headEnd len="med" w="med" type="none"/>
            <a:tailEnd len="med" w="med" type="triangle"/>
          </a:ln>
        </p:spPr>
      </p:cxnSp>
      <p:sp>
        <p:nvSpPr>
          <p:cNvPr id="314" name="Google Shape;314;p36"/>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15" name="Google Shape;315;p36"/>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16" name="Google Shape;316;p36"/>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Fetch from another source. Does its fingerprint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match the accepted file record?</a:t>
            </a:r>
            <a:endParaRPr sz="1600">
              <a:solidFill>
                <a:srgbClr val="FFFFFF"/>
              </a:solidFill>
              <a:latin typeface="Poppins"/>
              <a:ea typeface="Poppins"/>
              <a:cs typeface="Poppins"/>
              <a:sym typeface="Poppins"/>
            </a:endParaRPr>
          </a:p>
        </p:txBody>
      </p:sp>
      <p:pic>
        <p:nvPicPr>
          <p:cNvPr id="317" name="Google Shape;317;p36"/>
          <p:cNvPicPr preferRelativeResize="0"/>
          <p:nvPr/>
        </p:nvPicPr>
        <p:blipFill>
          <a:blip r:embed="rId3">
            <a:alphaModFix/>
          </a:blip>
          <a:stretch>
            <a:fillRect/>
          </a:stretch>
        </p:blipFill>
        <p:spPr>
          <a:xfrm>
            <a:off x="1184900" y="564525"/>
            <a:ext cx="1155700" cy="4938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The data survives. Can your app read it?</a:t>
            </a:r>
            <a:endParaRPr b="1">
              <a:solidFill>
                <a:srgbClr val="06038D"/>
              </a:solidFill>
              <a:latin typeface="Poppins"/>
              <a:ea typeface="Poppins"/>
              <a:cs typeface="Poppins"/>
              <a:sym typeface="Poppins"/>
            </a:endParaRPr>
          </a:p>
        </p:txBody>
      </p:sp>
      <p:sp>
        <p:nvSpPr>
          <p:cNvPr id="323" name="Google Shape;323;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06038D"/>
                </a:solidFill>
                <a:latin typeface="Poppins"/>
                <a:ea typeface="Poppins"/>
                <a:cs typeface="Poppins"/>
                <a:sym typeface="Poppins"/>
              </a:rPr>
              <a:t>Read a file record</a:t>
            </a:r>
            <a:endParaRPr b="1" sz="2000">
              <a:solidFill>
                <a:srgbClr val="06038D"/>
              </a:solidFill>
              <a:latin typeface="Poppins"/>
              <a:ea typeface="Poppins"/>
              <a:cs typeface="Poppins"/>
              <a:sym typeface="Poppins"/>
            </a:endParaRPr>
          </a:p>
        </p:txBody>
      </p:sp>
      <p:sp>
        <p:nvSpPr>
          <p:cNvPr id="324" name="Google Shape;324;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File reference</a:t>
            </a:r>
            <a:endParaRPr sz="2000">
              <a:solidFill>
                <a:srgbClr val="212121"/>
              </a:solidFill>
              <a:latin typeface="Poppins"/>
              <a:ea typeface="Poppins"/>
              <a:cs typeface="Poppins"/>
              <a:sym typeface="Poppins"/>
            </a:endParaRPr>
          </a:p>
        </p:txBody>
      </p:sp>
      <p:sp>
        <p:nvSpPr>
          <p:cNvPr id="325" name="Google Shape;325;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RPC provider</a:t>
            </a:r>
            <a:endParaRPr sz="18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or your own node</a:t>
            </a:r>
            <a:endParaRPr sz="1800">
              <a:solidFill>
                <a:srgbClr val="212121"/>
              </a:solidFill>
              <a:latin typeface="Poppins"/>
              <a:ea typeface="Poppins"/>
              <a:cs typeface="Poppins"/>
              <a:sym typeface="Poppins"/>
            </a:endParaRPr>
          </a:p>
        </p:txBody>
      </p:sp>
      <p:sp>
        <p:nvSpPr>
          <p:cNvPr id="326" name="Google Shape;326;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agenda.md</a:t>
            </a:r>
            <a:endParaRPr sz="18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version 2</a:t>
            </a:r>
            <a:endParaRPr sz="1800">
              <a:solidFill>
                <a:srgbClr val="FFFFFF"/>
              </a:solidFill>
              <a:latin typeface="Poppins"/>
              <a:ea typeface="Poppins"/>
              <a:cs typeface="Poppins"/>
              <a:sym typeface="Poppins"/>
            </a:endParaRPr>
          </a:p>
        </p:txBody>
      </p:sp>
      <p:sp>
        <p:nvSpPr>
          <p:cNvPr id="327" name="Google Shape;327;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06038D"/>
                </a:solidFill>
                <a:latin typeface="Poppins"/>
                <a:ea typeface="Poppins"/>
                <a:cs typeface="Poppins"/>
                <a:sym typeface="Poppins"/>
              </a:rPr>
              <a:t>Find notes in a notebook</a:t>
            </a:r>
            <a:endParaRPr b="1" sz="2000">
              <a:solidFill>
                <a:srgbClr val="06038D"/>
              </a:solidFill>
              <a:latin typeface="Poppins"/>
              <a:ea typeface="Poppins"/>
              <a:cs typeface="Poppins"/>
              <a:sym typeface="Poppins"/>
            </a:endParaRPr>
          </a:p>
        </p:txBody>
      </p:sp>
      <p:cxnSp>
        <p:nvCxnSpPr>
          <p:cNvPr id="328" name="Google Shape;328;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29" name="Google Shape;329;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30" name="Google Shape;330;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Published records</a:t>
            </a:r>
            <a:endParaRPr sz="18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and history</a:t>
            </a:r>
            <a:endParaRPr sz="1800">
              <a:solidFill>
                <a:srgbClr val="212121"/>
              </a:solidFill>
              <a:latin typeface="Poppins"/>
              <a:ea typeface="Poppins"/>
              <a:cs typeface="Poppins"/>
              <a:sym typeface="Poppins"/>
            </a:endParaRPr>
          </a:p>
        </p:txBody>
      </p:sp>
      <p:sp>
        <p:nvSpPr>
          <p:cNvPr id="331" name="Google Shape;331;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32" name="Google Shape;332;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Meeting at 10</a:t>
            </a:r>
            <a:endParaRPr sz="17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Project ideas</a:t>
            </a:r>
            <a:endParaRPr sz="1700">
              <a:solidFill>
                <a:srgbClr val="FFFFFF"/>
              </a:solidFill>
              <a:latin typeface="Poppins"/>
              <a:ea typeface="Poppins"/>
              <a:cs typeface="Poppins"/>
              <a:sym typeface="Poppins"/>
            </a:endParaRPr>
          </a:p>
        </p:txBody>
      </p:sp>
      <p:cxnSp>
        <p:nvCxnSpPr>
          <p:cNvPr id="333" name="Google Shape;333;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34" name="Google Shape;334;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35" name="Google Shape;335;p37"/>
          <p:cNvSpPr txBox="1"/>
          <p:nvPr/>
        </p:nvSpPr>
        <p:spPr>
          <a:xfrm>
            <a:off x="508000" y="2489200"/>
            <a:ext cx="8127900" cy="266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300">
                <a:solidFill>
                  <a:srgbClr val="06038D"/>
                </a:solidFill>
                <a:latin typeface="Poppins"/>
                <a:ea typeface="Poppins"/>
                <a:cs typeface="Poppins"/>
                <a:sym typeface="Poppins"/>
              </a:rPr>
              <a:t>Light clients such as Helios can verify supported chain reads.</a:t>
            </a:r>
            <a:endParaRPr sz="1300">
              <a:solidFill>
                <a:srgbClr val="06038D"/>
              </a:solidFill>
              <a:latin typeface="Poppins"/>
              <a:ea typeface="Poppins"/>
              <a:cs typeface="Poppins"/>
              <a:sym typeface="Poppins"/>
            </a:endParaRPr>
          </a:p>
        </p:txBody>
      </p:sp>
      <p:sp>
        <p:nvSpPr>
          <p:cNvPr id="336" name="Google Shape;336;p37"/>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37" name="Google Shape;337;p37"/>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38" name="Google Shape;338;p37"/>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Switch the RPC, then the index. Can users</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still find their notes and latest changes?</a:t>
            </a:r>
            <a:endParaRPr sz="1600">
              <a:solidFill>
                <a:srgbClr val="FFFFFF"/>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44" name="Google Shape;344;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replaceable relayers</a:t>
            </a:r>
            <a:endParaRPr sz="2200">
              <a:solidFill>
                <a:srgbClr val="212121"/>
              </a:solidFill>
              <a:latin typeface="Poppins"/>
              <a:ea typeface="Poppins"/>
              <a:cs typeface="Poppins"/>
              <a:sym typeface="Poppins"/>
            </a:endParaRPr>
          </a:p>
        </p:txBody>
      </p:sp>
      <p:sp>
        <p:nvSpPr>
          <p:cNvPr id="345" name="Google Shape;345;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46" name="Google Shape;346;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47" name="Google Shape;347;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48" name="Google Shape;348;p38"/>
          <p:cNvSpPr/>
          <p:nvPr/>
        </p:nvSpPr>
        <p:spPr>
          <a:xfrm>
            <a:off x="520650" y="23050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cxnSp>
        <p:nvCxnSpPr>
          <p:cNvPr id="349" name="Google Shape;349;p38"/>
          <p:cNvCxnSpPr/>
          <p:nvPr/>
        </p:nvCxnSpPr>
        <p:spPr>
          <a:xfrm>
            <a:off x="3073500" y="285115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50" name="Google Shape;350;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51" name="Google Shape;351;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52" name="Google Shape;352;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53" name="Google Shape;353;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
        <p:nvSpPr>
          <p:cNvPr id="354" name="Google Shape;354;p38"/>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55" name="Google Shape;355;p38"/>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56" name="Google Shape;356;p38"/>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Stop your transaction service. Can another</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operator complete the user’s request?</a:t>
            </a:r>
            <a:endParaRPr sz="1600">
              <a:solidFill>
                <a:srgbClr val="FFFFFF"/>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62" name="Google Shape;362;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0"/>
          <p:cNvSpPr txBox="1"/>
          <p:nvPr>
            <p:ph type="title"/>
          </p:nvPr>
        </p:nvSpPr>
        <p:spPr>
          <a:xfrm>
            <a:off x="4838700" y="762000"/>
            <a:ext cx="3733800" cy="31749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68" name="Google Shape;368;p40"/>
          <p:cNvSpPr txBox="1"/>
          <p:nvPr>
            <p:ph idx="1" type="body"/>
          </p:nvPr>
        </p:nvSpPr>
        <p:spPr>
          <a:xfrm>
            <a:off x="647700" y="889000"/>
            <a:ext cx="3733800" cy="3174900"/>
          </a:xfrm>
          <a:prstGeom prst="rect">
            <a:avLst/>
          </a:prstGeom>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2200">
                <a:solidFill>
                  <a:srgbClr val="212121"/>
                </a:solidFill>
              </a:rPr>
              <a:t>Stable core contracts</a:t>
            </a:r>
            <a:endParaRPr sz="2200">
              <a:solidFill>
                <a:srgbClr val="212121"/>
              </a:solidFill>
            </a:endParaRPr>
          </a:p>
          <a:p>
            <a:pPr indent="0" lvl="0" marL="0" marR="0" rtl="0" algn="l">
              <a:lnSpc>
                <a:spcPct val="105000"/>
              </a:lnSpc>
              <a:spcBef>
                <a:spcPts val="0"/>
              </a:spcBef>
              <a:spcAft>
                <a:spcPts val="0"/>
              </a:spcAft>
              <a:buNone/>
            </a:pPr>
            <a:r>
              <a:t/>
            </a:r>
            <a:endParaRPr sz="2200">
              <a:solidFill>
                <a:srgbClr val="212121"/>
              </a:solidFill>
            </a:endParaRPr>
          </a:p>
          <a:p>
            <a:pPr indent="0" lvl="0" marL="0" marR="0" rtl="0" algn="l">
              <a:lnSpc>
                <a:spcPct val="105000"/>
              </a:lnSpc>
              <a:spcBef>
                <a:spcPts val="0"/>
              </a:spcBef>
              <a:spcAft>
                <a:spcPts val="0"/>
              </a:spcAft>
              <a:buNone/>
            </a:pPr>
            <a:r>
              <a:rPr lang="en" sz="2200">
                <a:solidFill>
                  <a:srgbClr val="212121"/>
                </a:solidFill>
              </a:rPr>
              <a:t>User-controlled app upgrades</a:t>
            </a:r>
            <a:endParaRPr sz="2200">
              <a:solidFill>
                <a:srgbClr val="212121"/>
              </a:solidFill>
            </a:endParaRPr>
          </a:p>
          <a:p>
            <a:pPr indent="0" lvl="0" marL="0" marR="0" rtl="0" algn="l">
              <a:lnSpc>
                <a:spcPct val="105000"/>
              </a:lnSpc>
              <a:spcBef>
                <a:spcPts val="0"/>
              </a:spcBef>
              <a:spcAft>
                <a:spcPts val="0"/>
              </a:spcAft>
              <a:buNone/>
            </a:pPr>
            <a:r>
              <a:t/>
            </a:r>
            <a:endParaRPr sz="2200">
              <a:solidFill>
                <a:srgbClr val="212121"/>
              </a:solidFill>
            </a:endParaRPr>
          </a:p>
          <a:p>
            <a:pPr indent="0" lvl="0" marL="0" marR="0" rtl="0" algn="l">
              <a:lnSpc>
                <a:spcPct val="105000"/>
              </a:lnSpc>
              <a:spcBef>
                <a:spcPts val="0"/>
              </a:spcBef>
              <a:spcAft>
                <a:spcPts val="0"/>
              </a:spcAft>
              <a:buNone/>
            </a:pPr>
            <a:r>
              <a:rPr lang="en" sz="2200">
                <a:solidFill>
                  <a:srgbClr val="212121"/>
                </a:solidFill>
              </a:rPr>
              <a:t>Clear rules for shared governance</a:t>
            </a:r>
            <a:endParaRPr sz="2200">
              <a:solidFill>
                <a:srgbClr val="21212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1"/>
          <p:cNvSpPr txBox="1"/>
          <p:nvPr>
            <p:ph idx="1" type="body"/>
          </p:nvPr>
        </p:nvSpPr>
        <p:spPr>
          <a:xfrm>
            <a:off x="698500" y="1485900"/>
            <a:ext cx="3746400" cy="2324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A stable core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Keep contract code fixed</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Let other apps build on it</a:t>
            </a:r>
            <a:endParaRPr sz="2200">
              <a:solidFill>
                <a:srgbClr val="212121"/>
              </a:solidFill>
            </a:endParaRPr>
          </a:p>
        </p:txBody>
      </p:sp>
      <p:sp>
        <p:nvSpPr>
          <p:cNvPr id="374" name="Google Shape;374;p41"/>
          <p:cNvSpPr txBox="1"/>
          <p:nvPr>
            <p:ph idx="2" type="body"/>
          </p:nvPr>
        </p:nvSpPr>
        <p:spPr>
          <a:xfrm>
            <a:off x="4660900" y="1485900"/>
            <a:ext cx="3784500" cy="2324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Room to improve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Deploy a new version</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Let users choose to migrate</a:t>
            </a:r>
            <a:endParaRPr sz="2200">
              <a:solidFill>
                <a:srgbClr val="212121"/>
              </a:solidFill>
            </a:endParaRPr>
          </a:p>
        </p:txBody>
      </p:sp>
      <p:sp>
        <p:nvSpPr>
          <p:cNvPr id="375" name="Google Shape;375;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76" name="Google Shape;376;p41"/>
          <p:cNvSpPr txBox="1"/>
          <p:nvPr/>
        </p:nvSpPr>
        <p:spPr>
          <a:xfrm>
            <a:off x="698500" y="3730050"/>
            <a:ext cx="77469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600">
                <a:solidFill>
                  <a:srgbClr val="06038D"/>
                </a:solidFill>
                <a:latin typeface="Poppins"/>
                <a:ea typeface="Poppins"/>
                <a:cs typeface="Poppins"/>
                <a:sym typeface="Poppins"/>
              </a:rPr>
              <a:t>Uniswap: fixed code, shared exchange logic</a:t>
            </a:r>
            <a:endParaRPr sz="1600">
              <a:solidFill>
                <a:srgbClr val="06038D"/>
              </a:solidFill>
              <a:latin typeface="Poppins"/>
              <a:ea typeface="Poppins"/>
              <a:cs typeface="Poppins"/>
              <a:sym typeface="Poppins"/>
            </a:endParaRPr>
          </a:p>
        </p:txBody>
      </p:sp>
      <p:sp>
        <p:nvSpPr>
          <p:cNvPr id="377" name="Google Shape;377;p41"/>
          <p:cNvSpPr txBox="1"/>
          <p:nvPr/>
        </p:nvSpPr>
        <p:spPr>
          <a:xfrm>
            <a:off x="1540800" y="1058050"/>
            <a:ext cx="6062400" cy="366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200">
                <a:solidFill>
                  <a:srgbClr val="06038D"/>
                </a:solidFill>
                <a:latin typeface="Poppins"/>
                <a:ea typeface="Poppins"/>
                <a:cs typeface="Poppins"/>
                <a:sym typeface="Poppins"/>
              </a:rPr>
              <a:t>UNIX mindset: Do one thing and do it well</a:t>
            </a:r>
            <a:endParaRPr sz="1200">
              <a:solidFill>
                <a:srgbClr val="06038D"/>
              </a:solidFill>
              <a:latin typeface="Poppins"/>
              <a:ea typeface="Poppins"/>
              <a:cs typeface="Poppins"/>
              <a:sym typeface="Poppins"/>
            </a:endParaRPr>
          </a:p>
        </p:txBody>
      </p:sp>
      <p:sp>
        <p:nvSpPr>
          <p:cNvPr id="378" name="Google Shape;378;p41"/>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79" name="Google Shape;379;p41"/>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80" name="Google Shape;380;p41"/>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Keep the old app release and contract address.</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users complete the task without upgrading?</a:t>
            </a:r>
            <a:endParaRPr sz="1600">
              <a:solidFill>
                <a:srgbClr val="FFFFFF"/>
              </a:solidFill>
              <a:latin typeface="Poppins"/>
              <a:ea typeface="Poppins"/>
              <a:cs typeface="Poppins"/>
              <a:sym typeface="Poppins"/>
            </a:endParaRPr>
          </a:p>
        </p:txBody>
      </p:sp>
      <p:pic>
        <p:nvPicPr>
          <p:cNvPr id="381" name="Google Shape;381;p41"/>
          <p:cNvPicPr preferRelativeResize="0"/>
          <p:nvPr/>
        </p:nvPicPr>
        <p:blipFill>
          <a:blip r:embed="rId3">
            <a:alphaModFix/>
          </a:blip>
          <a:stretch>
            <a:fillRect/>
          </a:stretch>
        </p:blipFill>
        <p:spPr>
          <a:xfrm>
            <a:off x="1864231" y="3632626"/>
            <a:ext cx="457916" cy="457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2"/>
          <p:cNvSpPr txBox="1"/>
          <p:nvPr>
            <p:ph idx="1" type="body"/>
          </p:nvPr>
        </p:nvSpPr>
        <p:spPr>
          <a:xfrm>
            <a:off x="698500" y="1371600"/>
            <a:ext cx="3746400" cy="27177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rPr>
              <a:t>Ethereum and L1</a:t>
            </a:r>
            <a:br>
              <a:rPr b="1" lang="en" sz="2000">
                <a:solidFill>
                  <a:srgbClr val="212121"/>
                </a:solidFill>
              </a:rPr>
            </a:br>
            <a:endParaRPr b="1" sz="2000">
              <a:solidFill>
                <a:srgbClr val="212121"/>
              </a:solidFill>
            </a:endParaRPr>
          </a:p>
          <a:p>
            <a:pPr indent="0" lvl="0" marL="0" marR="0" rtl="0" algn="l">
              <a:lnSpc>
                <a:spcPct val="110000"/>
              </a:lnSpc>
              <a:spcBef>
                <a:spcPts val="1200"/>
              </a:spcBef>
              <a:spcAft>
                <a:spcPts val="0"/>
              </a:spcAft>
              <a:buNone/>
            </a:pPr>
            <a:r>
              <a:rPr lang="en" sz="2000">
                <a:solidFill>
                  <a:srgbClr val="212121"/>
                </a:solidFill>
              </a:rPr>
              <a:t>Use another node</a:t>
            </a:r>
            <a:endParaRPr sz="2000">
              <a:solidFill>
                <a:srgbClr val="212121"/>
              </a:solidFill>
            </a:endParaRPr>
          </a:p>
          <a:p>
            <a:pPr indent="0" lvl="0" marL="0" marR="0" rtl="0" algn="l">
              <a:lnSpc>
                <a:spcPct val="110000"/>
              </a:lnSpc>
              <a:spcBef>
                <a:spcPts val="1200"/>
              </a:spcBef>
              <a:spcAft>
                <a:spcPts val="0"/>
              </a:spcAft>
              <a:buNone/>
            </a:pPr>
            <a:r>
              <a:rPr lang="en" sz="2000">
                <a:solidFill>
                  <a:srgbClr val="212121"/>
                </a:solidFill>
              </a:rPr>
              <a:t>Keep required history</a:t>
            </a:r>
            <a:endParaRPr sz="2000">
              <a:solidFill>
                <a:srgbClr val="212121"/>
              </a:solidFill>
            </a:endParaRPr>
          </a:p>
          <a:p>
            <a:pPr indent="0" lvl="0" marL="0" marR="0" rtl="0" algn="l">
              <a:lnSpc>
                <a:spcPct val="110000"/>
              </a:lnSpc>
              <a:spcBef>
                <a:spcPts val="1200"/>
              </a:spcBef>
              <a:spcAft>
                <a:spcPts val="1200"/>
              </a:spcAft>
              <a:buNone/>
            </a:pPr>
            <a:r>
              <a:rPr lang="en" sz="2000">
                <a:solidFill>
                  <a:srgbClr val="212121"/>
                </a:solidFill>
              </a:rPr>
              <a:t>Check inclusion and finality</a:t>
            </a:r>
            <a:endParaRPr sz="2000">
              <a:solidFill>
                <a:srgbClr val="212121"/>
              </a:solidFill>
            </a:endParaRPr>
          </a:p>
        </p:txBody>
      </p:sp>
      <p:sp>
        <p:nvSpPr>
          <p:cNvPr id="387" name="Google Shape;387;p42"/>
          <p:cNvSpPr txBox="1"/>
          <p:nvPr>
            <p:ph idx="2" type="body"/>
          </p:nvPr>
        </p:nvSpPr>
        <p:spPr>
          <a:xfrm>
            <a:off x="4660900" y="1371600"/>
            <a:ext cx="3975000" cy="27177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rPr>
              <a:t>L2 and settlement</a:t>
            </a:r>
            <a:br>
              <a:rPr b="1" lang="en" sz="2000">
                <a:solidFill>
                  <a:srgbClr val="212121"/>
                </a:solidFill>
              </a:rPr>
            </a:br>
            <a:endParaRPr b="1" sz="2000">
              <a:solidFill>
                <a:srgbClr val="212121"/>
              </a:solidFill>
            </a:endParaRPr>
          </a:p>
          <a:p>
            <a:pPr indent="0" lvl="0" marL="0" marR="0" rtl="0" algn="l">
              <a:lnSpc>
                <a:spcPct val="110000"/>
              </a:lnSpc>
              <a:spcBef>
                <a:spcPts val="1200"/>
              </a:spcBef>
              <a:spcAft>
                <a:spcPts val="0"/>
              </a:spcAft>
              <a:buNone/>
            </a:pPr>
            <a:r>
              <a:rPr lang="en" sz="2000">
                <a:solidFill>
                  <a:srgbClr val="212121"/>
                </a:solidFill>
              </a:rPr>
              <a:t>Who orders transactions?</a:t>
            </a:r>
            <a:endParaRPr sz="2000">
              <a:solidFill>
                <a:srgbClr val="212121"/>
              </a:solidFill>
            </a:endParaRPr>
          </a:p>
          <a:p>
            <a:pPr indent="0" lvl="0" marL="0" marR="0" rtl="0" algn="l">
              <a:lnSpc>
                <a:spcPct val="110000"/>
              </a:lnSpc>
              <a:spcBef>
                <a:spcPts val="1200"/>
              </a:spcBef>
              <a:spcAft>
                <a:spcPts val="0"/>
              </a:spcAft>
              <a:buNone/>
            </a:pPr>
            <a:r>
              <a:rPr lang="en" sz="2000">
                <a:solidFill>
                  <a:srgbClr val="212121"/>
                </a:solidFill>
              </a:rPr>
              <a:t>Can users submit through L1?</a:t>
            </a:r>
            <a:endParaRPr sz="2000">
              <a:solidFill>
                <a:srgbClr val="212121"/>
              </a:solidFill>
            </a:endParaRPr>
          </a:p>
          <a:p>
            <a:pPr indent="0" lvl="0" marL="0" marR="0" rtl="0" algn="l">
              <a:lnSpc>
                <a:spcPct val="110000"/>
              </a:lnSpc>
              <a:spcBef>
                <a:spcPts val="1200"/>
              </a:spcBef>
              <a:spcAft>
                <a:spcPts val="1200"/>
              </a:spcAft>
              <a:buNone/>
            </a:pPr>
            <a:r>
              <a:rPr lang="en" sz="2000">
                <a:solidFill>
                  <a:srgbClr val="212121"/>
                </a:solidFill>
              </a:rPr>
              <a:t>How can users withdraw?</a:t>
            </a:r>
            <a:endParaRPr sz="2000">
              <a:solidFill>
                <a:srgbClr val="212121"/>
              </a:solidFill>
            </a:endParaRPr>
          </a:p>
        </p:txBody>
      </p:sp>
      <p:sp>
        <p:nvSpPr>
          <p:cNvPr id="388" name="Google Shape;388;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
        <p:nvSpPr>
          <p:cNvPr id="389" name="Google Shape;389;p42"/>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90" name="Google Shape;390;p42"/>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91" name="Google Shape;391;p42"/>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Rehearse a documented network outage.</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the user complete the recovery steps?</a:t>
            </a:r>
            <a:endParaRPr sz="1600">
              <a:solidFill>
                <a:srgbClr val="FFFFFF"/>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900">
                <a:solidFill>
                  <a:srgbClr val="06038D"/>
                </a:solidFill>
                <a:latin typeface="Poppins"/>
                <a:ea typeface="Poppins"/>
                <a:cs typeface="Poppins"/>
                <a:sym typeface="Poppins"/>
              </a:rPr>
              <a:t>Could someone run it without you?</a:t>
            </a:r>
            <a:endParaRPr b="1" sz="2900">
              <a:solidFill>
                <a:srgbClr val="06038D"/>
              </a:solidFill>
              <a:latin typeface="Poppins"/>
              <a:ea typeface="Poppins"/>
              <a:cs typeface="Poppins"/>
              <a:sym typeface="Poppins"/>
            </a:endParaRPr>
          </a:p>
        </p:txBody>
      </p:sp>
      <p:sp>
        <p:nvSpPr>
          <p:cNvPr id="397" name="Google Shape;397;p43"/>
          <p:cNvSpPr/>
          <p:nvPr/>
        </p:nvSpPr>
        <p:spPr>
          <a:xfrm>
            <a:off x="508000" y="1905000"/>
            <a:ext cx="3048000" cy="19050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software + license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 + instructions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configuration + costs</a:t>
            </a:r>
            <a:endParaRPr sz="2000">
              <a:solidFill>
                <a:srgbClr val="212121"/>
              </a:solidFill>
              <a:latin typeface="Poppins"/>
              <a:ea typeface="Poppins"/>
              <a:cs typeface="Poppins"/>
              <a:sym typeface="Poppins"/>
            </a:endParaRPr>
          </a:p>
        </p:txBody>
      </p:sp>
      <p:cxnSp>
        <p:nvCxnSpPr>
          <p:cNvPr id="398" name="Google Shape;398;p43"/>
          <p:cNvCxnSpPr/>
          <p:nvPr/>
        </p:nvCxnSpPr>
        <p:spPr>
          <a:xfrm>
            <a:off x="3619500" y="2527300"/>
            <a:ext cx="482700" cy="0"/>
          </a:xfrm>
          <a:prstGeom prst="straightConnector1">
            <a:avLst/>
          </a:prstGeom>
          <a:noFill/>
          <a:ln cap="flat" cmpd="sng" w="16500">
            <a:solidFill>
              <a:srgbClr val="06038D"/>
            </a:solidFill>
            <a:prstDash val="solid"/>
            <a:round/>
            <a:headEnd len="med" w="med" type="none"/>
            <a:tailEnd len="med" w="med" type="triangle"/>
          </a:ln>
        </p:spPr>
      </p:cxnSp>
      <p:sp>
        <p:nvSpPr>
          <p:cNvPr id="399" name="Google Shape;399;p43"/>
          <p:cNvSpPr/>
          <p:nvPr/>
        </p:nvSpPr>
        <p:spPr>
          <a:xfrm>
            <a:off x="4191000" y="2120900"/>
            <a:ext cx="19050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Independent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operator</a:t>
            </a:r>
            <a:endParaRPr sz="2000">
              <a:solidFill>
                <a:srgbClr val="FFFFFF"/>
              </a:solidFill>
              <a:latin typeface="Poppins"/>
              <a:ea typeface="Poppins"/>
              <a:cs typeface="Poppins"/>
              <a:sym typeface="Poppins"/>
            </a:endParaRPr>
          </a:p>
        </p:txBody>
      </p:sp>
      <p:cxnSp>
        <p:nvCxnSpPr>
          <p:cNvPr id="400" name="Google Shape;400;p43"/>
          <p:cNvCxnSpPr/>
          <p:nvPr/>
        </p:nvCxnSpPr>
        <p:spPr>
          <a:xfrm>
            <a:off x="6172200" y="2527300"/>
            <a:ext cx="597000" cy="0"/>
          </a:xfrm>
          <a:prstGeom prst="straightConnector1">
            <a:avLst/>
          </a:prstGeom>
          <a:noFill/>
          <a:ln cap="flat" cmpd="sng" w="16500">
            <a:solidFill>
              <a:srgbClr val="06038D"/>
            </a:solidFill>
            <a:prstDash val="solid"/>
            <a:round/>
            <a:headEnd len="med" w="med" type="none"/>
            <a:tailEnd len="med" w="med" type="triangle"/>
          </a:ln>
        </p:spPr>
      </p:cxnSp>
      <p:sp>
        <p:nvSpPr>
          <p:cNvPr id="401" name="Google Shape;401;p43"/>
          <p:cNvSpPr/>
          <p:nvPr/>
        </p:nvSpPr>
        <p:spPr>
          <a:xfrm>
            <a:off x="6858000" y="2120900"/>
            <a:ext cx="17781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User’s task</a:t>
            </a:r>
            <a:endParaRPr sz="18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completed</a:t>
            </a:r>
            <a:endParaRPr sz="1800">
              <a:solidFill>
                <a:srgbClr val="FFFFFF"/>
              </a:solidFill>
              <a:latin typeface="Poppins"/>
              <a:ea typeface="Poppins"/>
              <a:cs typeface="Poppins"/>
              <a:sym typeface="Poppins"/>
            </a:endParaRPr>
          </a:p>
        </p:txBody>
      </p:sp>
      <p:sp>
        <p:nvSpPr>
          <p:cNvPr id="402" name="Google Shape;402;p43"/>
          <p:cNvSpPr/>
          <p:nvPr/>
        </p:nvSpPr>
        <p:spPr>
          <a:xfrm>
            <a:off x="3746000" y="1273950"/>
            <a:ext cx="4635600" cy="4065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No private help from the team</a:t>
            </a:r>
            <a:endParaRPr sz="1700">
              <a:solidFill>
                <a:srgbClr val="FFFFFF"/>
              </a:solidFill>
              <a:latin typeface="Poppins"/>
              <a:ea typeface="Poppins"/>
              <a:cs typeface="Poppins"/>
              <a:sym typeface="Poppins"/>
            </a:endParaRPr>
          </a:p>
        </p:txBody>
      </p:sp>
      <p:sp>
        <p:nvSpPr>
          <p:cNvPr id="403" name="Google Shape;403;p43"/>
          <p:cNvSpPr txBox="1"/>
          <p:nvPr/>
        </p:nvSpPr>
        <p:spPr>
          <a:xfrm>
            <a:off x="508000" y="1460500"/>
            <a:ext cx="3048000" cy="3810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000">
                <a:solidFill>
                  <a:srgbClr val="06038D"/>
                </a:solidFill>
                <a:latin typeface="Poppins"/>
                <a:ea typeface="Poppins"/>
                <a:cs typeface="Poppins"/>
                <a:sym typeface="Poppins"/>
              </a:rPr>
              <a:t>Public handoff</a:t>
            </a:r>
            <a:endParaRPr b="1" sz="2000">
              <a:solidFill>
                <a:srgbClr val="06038D"/>
              </a:solidFill>
              <a:latin typeface="Poppins"/>
              <a:ea typeface="Poppins"/>
              <a:cs typeface="Poppins"/>
              <a:sym typeface="Poppins"/>
            </a:endParaRPr>
          </a:p>
        </p:txBody>
      </p:sp>
      <p:sp>
        <p:nvSpPr>
          <p:cNvPr id="404" name="Google Shape;404;p43"/>
          <p:cNvSpPr txBox="1"/>
          <p:nvPr/>
        </p:nvSpPr>
        <p:spPr>
          <a:xfrm>
            <a:off x="3975100" y="3149600"/>
            <a:ext cx="2336700" cy="787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Their own keys</a:t>
            </a:r>
            <a:endParaRPr sz="1800">
              <a:solidFill>
                <a:srgbClr val="212121"/>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and hosting</a:t>
            </a:r>
            <a:endParaRPr sz="1800">
              <a:solidFill>
                <a:srgbClr val="212121"/>
              </a:solidFill>
              <a:latin typeface="Poppins"/>
              <a:ea typeface="Poppins"/>
              <a:cs typeface="Poppins"/>
              <a:sym typeface="Poppins"/>
            </a:endParaRPr>
          </a:p>
        </p:txBody>
      </p:sp>
      <p:sp>
        <p:nvSpPr>
          <p:cNvPr id="405" name="Google Shape;405;p43"/>
          <p:cNvSpPr txBox="1"/>
          <p:nvPr/>
        </p:nvSpPr>
        <p:spPr>
          <a:xfrm>
            <a:off x="6642100" y="3149600"/>
            <a:ext cx="2209800" cy="7875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A working service</a:t>
            </a:r>
            <a:endParaRPr sz="17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users can choose</a:t>
            </a:r>
            <a:endParaRPr sz="1700">
              <a:solidFill>
                <a:srgbClr val="212121"/>
              </a:solidFill>
              <a:latin typeface="Poppins"/>
              <a:ea typeface="Poppins"/>
              <a:cs typeface="Poppins"/>
              <a:sym typeface="Poppins"/>
            </a:endParaRPr>
          </a:p>
        </p:txBody>
      </p:sp>
      <p:sp>
        <p:nvSpPr>
          <p:cNvPr id="406" name="Google Shape;406;p43"/>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07" name="Google Shape;407;p43"/>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08" name="Google Shape;408;p43"/>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Give an outsider the docs. Can they run it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and complete the task without contacting you?</a:t>
            </a:r>
            <a:endParaRPr sz="1600">
              <a:solidFill>
                <a:srgbClr val="FFFFFF"/>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 away test for your app</a:t>
            </a:r>
            <a:endParaRPr b="1" sz="2400">
              <a:solidFill>
                <a:srgbClr val="FFFFFF"/>
              </a:solidFill>
              <a:latin typeface="Poppins"/>
              <a:ea typeface="Poppins"/>
              <a:cs typeface="Poppins"/>
              <a:sym typeface="Poppins"/>
            </a:endParaRPr>
          </a:p>
        </p:txBody>
      </p:sp>
      <p:sp>
        <p:nvSpPr>
          <p:cNvPr id="414" name="Google Shape;414;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 away checklist</a:t>
            </a:r>
            <a:endParaRPr b="1" sz="3200">
              <a:solidFill>
                <a:srgbClr val="06038D"/>
              </a:solidFill>
              <a:latin typeface="Poppins"/>
              <a:ea typeface="Poppins"/>
              <a:cs typeface="Poppins"/>
              <a:sym typeface="Poppins"/>
            </a:endParaRPr>
          </a:p>
        </p:txBody>
      </p:sp>
      <p:sp>
        <p:nvSpPr>
          <p:cNvPr id="420" name="Google Shape;420;p45"/>
          <p:cNvSpPr txBox="1"/>
          <p:nvPr/>
        </p:nvSpPr>
        <p:spPr>
          <a:xfrm>
            <a:off x="571400" y="12723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Interface</a:t>
            </a:r>
            <a:endParaRPr b="1" sz="2200">
              <a:solidFill>
                <a:srgbClr val="06038D"/>
              </a:solidFill>
              <a:latin typeface="Poppins"/>
              <a:ea typeface="Poppins"/>
              <a:cs typeface="Poppins"/>
              <a:sym typeface="Poppins"/>
            </a:endParaRPr>
          </a:p>
        </p:txBody>
      </p:sp>
      <p:cxnSp>
        <p:nvCxnSpPr>
          <p:cNvPr id="421" name="Google Shape;421;p45"/>
          <p:cNvCxnSpPr/>
          <p:nvPr/>
        </p:nvCxnSpPr>
        <p:spPr>
          <a:xfrm>
            <a:off x="571400" y="1767600"/>
            <a:ext cx="2412900" cy="0"/>
          </a:xfrm>
          <a:prstGeom prst="straightConnector1">
            <a:avLst/>
          </a:prstGeom>
          <a:noFill/>
          <a:ln cap="flat" cmpd="sng" w="38100">
            <a:solidFill>
              <a:srgbClr val="FFAB40"/>
            </a:solidFill>
            <a:prstDash val="solid"/>
            <a:round/>
            <a:headEnd len="med" w="med" type="none"/>
            <a:tailEnd len="med" w="med" type="none"/>
          </a:ln>
        </p:spPr>
      </p:cxnSp>
      <p:sp>
        <p:nvSpPr>
          <p:cNvPr id="422" name="Google Shape;422;p45"/>
          <p:cNvSpPr txBox="1"/>
          <p:nvPr/>
        </p:nvSpPr>
        <p:spPr>
          <a:xfrm>
            <a:off x="571400" y="19073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Open a saved release</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Recover access and keys</a:t>
            </a:r>
            <a:endParaRPr sz="1800">
              <a:solidFill>
                <a:srgbClr val="212121"/>
              </a:solidFill>
              <a:latin typeface="Poppins"/>
              <a:ea typeface="Poppins"/>
              <a:cs typeface="Poppins"/>
              <a:sym typeface="Poppins"/>
            </a:endParaRPr>
          </a:p>
        </p:txBody>
      </p:sp>
      <p:sp>
        <p:nvSpPr>
          <p:cNvPr id="423" name="Google Shape;423;p45"/>
          <p:cNvSpPr txBox="1"/>
          <p:nvPr/>
        </p:nvSpPr>
        <p:spPr>
          <a:xfrm>
            <a:off x="3340000" y="12723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Data</a:t>
            </a:r>
            <a:endParaRPr b="1" sz="2200">
              <a:solidFill>
                <a:srgbClr val="06038D"/>
              </a:solidFill>
              <a:latin typeface="Poppins"/>
              <a:ea typeface="Poppins"/>
              <a:cs typeface="Poppins"/>
              <a:sym typeface="Poppins"/>
            </a:endParaRPr>
          </a:p>
        </p:txBody>
      </p:sp>
      <p:cxnSp>
        <p:nvCxnSpPr>
          <p:cNvPr id="424" name="Google Shape;424;p45"/>
          <p:cNvCxnSpPr/>
          <p:nvPr/>
        </p:nvCxnSpPr>
        <p:spPr>
          <a:xfrm>
            <a:off x="3340000" y="1767600"/>
            <a:ext cx="2412900" cy="0"/>
          </a:xfrm>
          <a:prstGeom prst="straightConnector1">
            <a:avLst/>
          </a:prstGeom>
          <a:noFill/>
          <a:ln cap="flat" cmpd="sng" w="38100">
            <a:solidFill>
              <a:srgbClr val="06038D"/>
            </a:solidFill>
            <a:prstDash val="solid"/>
            <a:round/>
            <a:headEnd len="med" w="med" type="none"/>
            <a:tailEnd len="med" w="med" type="none"/>
          </a:ln>
        </p:spPr>
      </p:cxnSp>
      <p:sp>
        <p:nvSpPr>
          <p:cNvPr id="425" name="Google Shape;425;p45"/>
          <p:cNvSpPr txBox="1"/>
          <p:nvPr/>
        </p:nvSpPr>
        <p:spPr>
          <a:xfrm>
            <a:off x="3340000" y="19073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Restore usable records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0"/>
              </a:spcAft>
              <a:buNone/>
            </a:pPr>
            <a:r>
              <a:rPr lang="en" sz="1800">
                <a:solidFill>
                  <a:srgbClr val="212121"/>
                </a:solidFill>
                <a:latin typeface="Poppins"/>
                <a:ea typeface="Poppins"/>
                <a:cs typeface="Poppins"/>
                <a:sym typeface="Poppins"/>
              </a:rPr>
              <a:t>Switch clients and providers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Run essential background jobs</a:t>
            </a:r>
            <a:endParaRPr sz="1800">
              <a:solidFill>
                <a:srgbClr val="212121"/>
              </a:solidFill>
              <a:latin typeface="Poppins"/>
              <a:ea typeface="Poppins"/>
              <a:cs typeface="Poppins"/>
              <a:sym typeface="Poppins"/>
            </a:endParaRPr>
          </a:p>
        </p:txBody>
      </p:sp>
      <p:sp>
        <p:nvSpPr>
          <p:cNvPr id="426" name="Google Shape;426;p45"/>
          <p:cNvSpPr txBox="1"/>
          <p:nvPr/>
        </p:nvSpPr>
        <p:spPr>
          <a:xfrm>
            <a:off x="6108600" y="12723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Rules</a:t>
            </a:r>
            <a:endParaRPr b="1" sz="2200">
              <a:solidFill>
                <a:srgbClr val="06038D"/>
              </a:solidFill>
              <a:latin typeface="Poppins"/>
              <a:ea typeface="Poppins"/>
              <a:cs typeface="Poppins"/>
              <a:sym typeface="Poppins"/>
            </a:endParaRPr>
          </a:p>
        </p:txBody>
      </p:sp>
      <p:cxnSp>
        <p:nvCxnSpPr>
          <p:cNvPr id="427" name="Google Shape;427;p45"/>
          <p:cNvCxnSpPr/>
          <p:nvPr/>
        </p:nvCxnSpPr>
        <p:spPr>
          <a:xfrm>
            <a:off x="6108600" y="1767600"/>
            <a:ext cx="2412900" cy="0"/>
          </a:xfrm>
          <a:prstGeom prst="straightConnector1">
            <a:avLst/>
          </a:prstGeom>
          <a:noFill/>
          <a:ln cap="flat" cmpd="sng" w="38100">
            <a:solidFill>
              <a:srgbClr val="FF3D94"/>
            </a:solidFill>
            <a:prstDash val="solid"/>
            <a:round/>
            <a:headEnd len="med" w="med" type="none"/>
            <a:tailEnd len="med" w="med" type="none"/>
          </a:ln>
        </p:spPr>
      </p:cxnSp>
      <p:sp>
        <p:nvSpPr>
          <p:cNvPr id="428" name="Google Shape;428;p45"/>
          <p:cNvSpPr txBox="1"/>
          <p:nvPr/>
        </p:nvSpPr>
        <p:spPr>
          <a:xfrm>
            <a:off x="6108600" y="19073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Identify who can change rules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0"/>
              </a:spcAft>
              <a:buNone/>
            </a:pPr>
            <a:r>
              <a:rPr lang="en" sz="1800">
                <a:solidFill>
                  <a:srgbClr val="212121"/>
                </a:solidFill>
                <a:latin typeface="Poppins"/>
                <a:ea typeface="Poppins"/>
                <a:cs typeface="Poppins"/>
                <a:sym typeface="Poppins"/>
              </a:rPr>
              <a:t>Keep using accepted rules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Try the chain’s outage or exit path</a:t>
            </a:r>
            <a:endParaRPr sz="1800">
              <a:solidFill>
                <a:srgbClr val="212121"/>
              </a:solidFill>
              <a:latin typeface="Poppins"/>
              <a:ea typeface="Poppins"/>
              <a:cs typeface="Poppins"/>
              <a:sym typeface="Poppins"/>
            </a:endParaRPr>
          </a:p>
        </p:txBody>
      </p:sp>
      <p:sp>
        <p:nvSpPr>
          <p:cNvPr id="429" name="Google Shape;429;p45"/>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30" name="Google Shape;430;p45"/>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31" name="Google Shape;431;p45"/>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Remove one team dependency. Repeat the user’s task.</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Improve what stops it, then try again.</a:t>
            </a:r>
            <a:endParaRPr sz="1600">
              <a:solidFill>
                <a:srgbClr val="FFFFFF"/>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 away test in practice</a:t>
            </a:r>
            <a:endParaRPr b="1" sz="3000">
              <a:solidFill>
                <a:srgbClr val="06038D"/>
              </a:solidFill>
              <a:latin typeface="Poppins"/>
              <a:ea typeface="Poppins"/>
              <a:cs typeface="Poppins"/>
              <a:sym typeface="Poppins"/>
            </a:endParaRPr>
          </a:p>
        </p:txBody>
      </p:sp>
      <p:sp>
        <p:nvSpPr>
          <p:cNvPr id="437" name="Google Shape;437;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Practice opening a note and its attachment with the app blocked.</a:t>
            </a:r>
            <a:endParaRPr sz="1800">
              <a:solidFill>
                <a:srgbClr val="212121"/>
              </a:solidFill>
              <a:latin typeface="Poppins"/>
              <a:ea typeface="Poppins"/>
              <a:cs typeface="Poppins"/>
              <a:sym typeface="Poppins"/>
            </a:endParaRPr>
          </a:p>
        </p:txBody>
      </p:sp>
      <p:sp>
        <p:nvSpPr>
          <p:cNvPr id="438" name="Google Shape;438;p46"/>
          <p:cNvSpPr/>
          <p:nvPr/>
        </p:nvSpPr>
        <p:spPr>
          <a:xfrm>
            <a:off x="508000" y="1676400"/>
            <a:ext cx="24129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700">
                <a:solidFill>
                  <a:srgbClr val="FFFFFF"/>
                </a:solidFill>
                <a:latin typeface="Poppins"/>
                <a:ea typeface="Poppins"/>
                <a:cs typeface="Poppins"/>
                <a:sym typeface="Poppins"/>
              </a:rPr>
              <a:t>1. Find the failure</a:t>
            </a:r>
            <a:endParaRPr b="1" sz="1700">
              <a:solidFill>
                <a:srgbClr val="FFFFFF"/>
              </a:solidFill>
              <a:latin typeface="Poppins"/>
              <a:ea typeface="Poppins"/>
              <a:cs typeface="Poppins"/>
              <a:sym typeface="Poppins"/>
            </a:endParaRPr>
          </a:p>
        </p:txBody>
      </p:sp>
      <p:sp>
        <p:nvSpPr>
          <p:cNvPr id="439" name="Google Shape;439;p46"/>
          <p:cNvSpPr/>
          <p:nvPr/>
        </p:nvSpPr>
        <p:spPr>
          <a:xfrm>
            <a:off x="5080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40" name="Google Shape;440;p46"/>
          <p:cNvSpPr/>
          <p:nvPr/>
        </p:nvSpPr>
        <p:spPr>
          <a:xfrm>
            <a:off x="3365500" y="1676400"/>
            <a:ext cx="2412900" cy="4065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700">
                <a:solidFill>
                  <a:srgbClr val="06038D"/>
                </a:solidFill>
                <a:latin typeface="Poppins"/>
                <a:ea typeface="Poppins"/>
                <a:cs typeface="Poppins"/>
                <a:sym typeface="Poppins"/>
              </a:rPr>
              <a:t>2. Fix the export</a:t>
            </a:r>
            <a:endParaRPr b="1" sz="1700">
              <a:solidFill>
                <a:srgbClr val="06038D"/>
              </a:solidFill>
              <a:latin typeface="Poppins"/>
              <a:ea typeface="Poppins"/>
              <a:cs typeface="Poppins"/>
              <a:sym typeface="Poppins"/>
            </a:endParaRPr>
          </a:p>
        </p:txBody>
      </p:sp>
      <p:sp>
        <p:nvSpPr>
          <p:cNvPr id="441" name="Google Shape;441;p46"/>
          <p:cNvSpPr/>
          <p:nvPr/>
        </p:nvSpPr>
        <p:spPr>
          <a:xfrm>
            <a:off x="33655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42" name="Google Shape;442;p46"/>
          <p:cNvSpPr/>
          <p:nvPr/>
        </p:nvSpPr>
        <p:spPr>
          <a:xfrm>
            <a:off x="6223000" y="1676400"/>
            <a:ext cx="24129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700">
                <a:solidFill>
                  <a:srgbClr val="FFFFFF"/>
                </a:solidFill>
                <a:latin typeface="Poppins"/>
                <a:ea typeface="Poppins"/>
                <a:cs typeface="Poppins"/>
                <a:sym typeface="Poppins"/>
              </a:rPr>
              <a:t>3. Repeat the test</a:t>
            </a:r>
            <a:endParaRPr b="1" sz="1700">
              <a:solidFill>
                <a:srgbClr val="FFFFFF"/>
              </a:solidFill>
              <a:latin typeface="Poppins"/>
              <a:ea typeface="Poppins"/>
              <a:cs typeface="Poppins"/>
              <a:sym typeface="Poppins"/>
            </a:endParaRPr>
          </a:p>
        </p:txBody>
      </p:sp>
      <p:sp>
        <p:nvSpPr>
          <p:cNvPr id="443" name="Google Shape;443;p46"/>
          <p:cNvSpPr/>
          <p:nvPr/>
        </p:nvSpPr>
        <p:spPr>
          <a:xfrm>
            <a:off x="62230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cxnSp>
        <p:nvCxnSpPr>
          <p:cNvPr id="444" name="Google Shape;444;p46"/>
          <p:cNvCxnSpPr/>
          <p:nvPr/>
        </p:nvCxnSpPr>
        <p:spPr>
          <a:xfrm>
            <a:off x="2971800" y="2984500"/>
            <a:ext cx="330300" cy="0"/>
          </a:xfrm>
          <a:prstGeom prst="straightConnector1">
            <a:avLst/>
          </a:prstGeom>
          <a:noFill/>
          <a:ln cap="flat" cmpd="sng" w="16500">
            <a:solidFill>
              <a:srgbClr val="06038D"/>
            </a:solidFill>
            <a:prstDash val="solid"/>
            <a:round/>
            <a:headEnd len="med" w="med" type="none"/>
            <a:tailEnd len="med" w="med" type="triangle"/>
          </a:ln>
        </p:spPr>
      </p:cxnSp>
      <p:cxnSp>
        <p:nvCxnSpPr>
          <p:cNvPr id="445" name="Google Shape;445;p46"/>
          <p:cNvCxnSpPr/>
          <p:nvPr/>
        </p:nvCxnSpPr>
        <p:spPr>
          <a:xfrm>
            <a:off x="5829300" y="2984500"/>
            <a:ext cx="330300" cy="0"/>
          </a:xfrm>
          <a:prstGeom prst="straightConnector1">
            <a:avLst/>
          </a:prstGeom>
          <a:noFill/>
          <a:ln cap="flat" cmpd="sng" w="16500">
            <a:solidFill>
              <a:srgbClr val="06038D"/>
            </a:solidFill>
            <a:prstDash val="solid"/>
            <a:round/>
            <a:headEnd len="med" w="med" type="none"/>
            <a:tailEnd len="med" w="med" type="triangle"/>
          </a:ln>
        </p:spPr>
      </p:cxnSp>
      <p:sp>
        <p:nvSpPr>
          <p:cNvPr id="446" name="Google Shape;446;p46"/>
          <p:cNvSpPr txBox="1"/>
          <p:nvPr/>
        </p:nvSpPr>
        <p:spPr>
          <a:xfrm>
            <a:off x="635000" y="2209800"/>
            <a:ext cx="21591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Note opens</a:t>
            </a:r>
            <a:endParaRPr b="1" sz="2100">
              <a:solidFill>
                <a:srgbClr val="212121"/>
              </a:solidFill>
              <a:latin typeface="Poppins"/>
              <a:ea typeface="Poppins"/>
              <a:cs typeface="Poppins"/>
              <a:sym typeface="Poppins"/>
            </a:endParaRPr>
          </a:p>
        </p:txBody>
      </p:sp>
      <p:sp>
        <p:nvSpPr>
          <p:cNvPr id="447" name="Google Shape;447;p46"/>
          <p:cNvSpPr txBox="1"/>
          <p:nvPr/>
        </p:nvSpPr>
        <p:spPr>
          <a:xfrm>
            <a:off x="635000" y="2692400"/>
            <a:ext cx="2159100" cy="6222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212121"/>
                </a:solidFill>
                <a:latin typeface="Poppins"/>
                <a:ea typeface="Poppins"/>
                <a:cs typeface="Poppins"/>
                <a:sym typeface="Poppins"/>
              </a:rPr>
              <a:t>Links to the</a:t>
            </a:r>
            <a:endParaRPr sz="1600">
              <a:solidFill>
                <a:srgbClr val="212121"/>
              </a:solidFill>
              <a:latin typeface="Poppins"/>
              <a:ea typeface="Poppins"/>
              <a:cs typeface="Poppins"/>
              <a:sym typeface="Poppins"/>
            </a:endParaRPr>
          </a:p>
          <a:p>
            <a:pPr indent="0" lvl="0" marL="0" marR="0" rtl="0" algn="l">
              <a:lnSpc>
                <a:spcPct val="110000"/>
              </a:lnSpc>
              <a:spcBef>
                <a:spcPts val="0"/>
              </a:spcBef>
              <a:spcAft>
                <a:spcPts val="0"/>
              </a:spcAft>
              <a:buNone/>
            </a:pPr>
            <a:r>
              <a:rPr lang="en" sz="1600">
                <a:solidFill>
                  <a:srgbClr val="212121"/>
                </a:solidFill>
                <a:latin typeface="Poppins"/>
                <a:ea typeface="Poppins"/>
                <a:cs typeface="Poppins"/>
                <a:sym typeface="Poppins"/>
              </a:rPr>
              <a:t>team’s server.</a:t>
            </a:r>
            <a:endParaRPr sz="1600">
              <a:solidFill>
                <a:srgbClr val="212121"/>
              </a:solidFill>
              <a:latin typeface="Poppins"/>
              <a:ea typeface="Poppins"/>
              <a:cs typeface="Poppins"/>
              <a:sym typeface="Poppins"/>
            </a:endParaRPr>
          </a:p>
        </p:txBody>
      </p:sp>
      <p:sp>
        <p:nvSpPr>
          <p:cNvPr id="448" name="Google Shape;448;p46"/>
          <p:cNvSpPr/>
          <p:nvPr/>
        </p:nvSpPr>
        <p:spPr>
          <a:xfrm>
            <a:off x="635000" y="3403600"/>
            <a:ext cx="2159100" cy="368400"/>
          </a:xfrm>
          <a:prstGeom prst="rect">
            <a:avLst/>
          </a:prstGeom>
          <a:solidFill>
            <a:srgbClr val="FFE5EF"/>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600">
                <a:solidFill>
                  <a:srgbClr val="AA1457"/>
                </a:solidFill>
                <a:latin typeface="Poppins"/>
                <a:ea typeface="Poppins"/>
                <a:cs typeface="Poppins"/>
                <a:sym typeface="Poppins"/>
              </a:rPr>
              <a:t>File missing</a:t>
            </a:r>
            <a:endParaRPr sz="1600">
              <a:solidFill>
                <a:srgbClr val="AA1457"/>
              </a:solidFill>
              <a:latin typeface="Poppins"/>
              <a:ea typeface="Poppins"/>
              <a:cs typeface="Poppins"/>
              <a:sym typeface="Poppins"/>
            </a:endParaRPr>
          </a:p>
        </p:txBody>
      </p:sp>
      <p:sp>
        <p:nvSpPr>
          <p:cNvPr id="449" name="Google Shape;449;p46"/>
          <p:cNvSpPr txBox="1"/>
          <p:nvPr/>
        </p:nvSpPr>
        <p:spPr>
          <a:xfrm>
            <a:off x="635000" y="3822700"/>
            <a:ext cx="21591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a:solidFill>
                  <a:srgbClr val="AA1457"/>
                </a:solidFill>
                <a:latin typeface="Poppins"/>
                <a:ea typeface="Poppins"/>
                <a:cs typeface="Poppins"/>
                <a:sym typeface="Poppins"/>
              </a:rPr>
              <a:t>User cannot finish</a:t>
            </a:r>
            <a:endParaRPr b="1">
              <a:solidFill>
                <a:srgbClr val="AA1457"/>
              </a:solidFill>
              <a:latin typeface="Poppins"/>
              <a:ea typeface="Poppins"/>
              <a:cs typeface="Poppins"/>
              <a:sym typeface="Poppins"/>
            </a:endParaRPr>
          </a:p>
        </p:txBody>
      </p:sp>
      <p:sp>
        <p:nvSpPr>
          <p:cNvPr id="450" name="Google Shape;450;p46"/>
          <p:cNvSpPr txBox="1"/>
          <p:nvPr/>
        </p:nvSpPr>
        <p:spPr>
          <a:xfrm>
            <a:off x="3492500" y="2209800"/>
            <a:ext cx="21591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800">
                <a:solidFill>
                  <a:srgbClr val="06038D"/>
                </a:solidFill>
                <a:latin typeface="Poppins"/>
                <a:ea typeface="Poppins"/>
                <a:cs typeface="Poppins"/>
                <a:sym typeface="Poppins"/>
              </a:rPr>
              <a:t>Keep both files</a:t>
            </a:r>
            <a:endParaRPr b="1" sz="1800">
              <a:solidFill>
                <a:srgbClr val="06038D"/>
              </a:solidFill>
              <a:latin typeface="Poppins"/>
              <a:ea typeface="Poppins"/>
              <a:cs typeface="Poppins"/>
              <a:sym typeface="Poppins"/>
            </a:endParaRPr>
          </a:p>
        </p:txBody>
      </p:sp>
      <p:sp>
        <p:nvSpPr>
          <p:cNvPr id="451" name="Google Shape;451;p46"/>
          <p:cNvSpPr/>
          <p:nvPr/>
        </p:nvSpPr>
        <p:spPr>
          <a:xfrm>
            <a:off x="3492500" y="2730500"/>
            <a:ext cx="2159100" cy="7239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800">
                <a:solidFill>
                  <a:srgbClr val="06038D"/>
                </a:solidFill>
                <a:latin typeface="Roboto Mono"/>
                <a:ea typeface="Roboto Mono"/>
                <a:cs typeface="Roboto Mono"/>
                <a:sym typeface="Roboto Mono"/>
              </a:rPr>
              <a:t>notes.json</a:t>
            </a:r>
            <a:endParaRPr sz="1800">
              <a:solidFill>
                <a:srgbClr val="06038D"/>
              </a:solidFill>
              <a:latin typeface="Roboto Mono"/>
              <a:ea typeface="Roboto Mono"/>
              <a:cs typeface="Roboto Mono"/>
              <a:sym typeface="Roboto Mono"/>
            </a:endParaRPr>
          </a:p>
          <a:p>
            <a:pPr indent="0" lvl="0" marL="0" marR="0" rtl="0" algn="l">
              <a:lnSpc>
                <a:spcPct val="110000"/>
              </a:lnSpc>
              <a:spcBef>
                <a:spcPts val="0"/>
              </a:spcBef>
              <a:spcAft>
                <a:spcPts val="0"/>
              </a:spcAft>
              <a:buNone/>
            </a:pPr>
            <a:r>
              <a:rPr lang="en" sz="1800">
                <a:solidFill>
                  <a:srgbClr val="06038D"/>
                </a:solidFill>
                <a:latin typeface="Roboto Mono"/>
                <a:ea typeface="Roboto Mono"/>
                <a:cs typeface="Roboto Mono"/>
                <a:sym typeface="Roboto Mono"/>
              </a:rPr>
              <a:t>agenda.md</a:t>
            </a:r>
            <a:endParaRPr sz="1800">
              <a:solidFill>
                <a:srgbClr val="06038D"/>
              </a:solidFill>
              <a:latin typeface="Roboto Mono"/>
              <a:ea typeface="Roboto Mono"/>
              <a:cs typeface="Roboto Mono"/>
              <a:sym typeface="Roboto Mono"/>
            </a:endParaRPr>
          </a:p>
        </p:txBody>
      </p:sp>
      <p:sp>
        <p:nvSpPr>
          <p:cNvPr id="452" name="Google Shape;452;p46"/>
          <p:cNvSpPr txBox="1"/>
          <p:nvPr/>
        </p:nvSpPr>
        <p:spPr>
          <a:xfrm>
            <a:off x="3492500" y="3530600"/>
            <a:ext cx="2159100" cy="5589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212121"/>
                </a:solidFill>
                <a:latin typeface="Poppins"/>
                <a:ea typeface="Poppins"/>
                <a:cs typeface="Poppins"/>
                <a:sym typeface="Poppins"/>
              </a:rPr>
              <a:t>Reconnect. Save.</a:t>
            </a:r>
            <a:endParaRPr>
              <a:solidFill>
                <a:srgbClr val="212121"/>
              </a:solidFill>
              <a:latin typeface="Poppins"/>
              <a:ea typeface="Poppins"/>
              <a:cs typeface="Poppins"/>
              <a:sym typeface="Poppins"/>
            </a:endParaRPr>
          </a:p>
          <a:p>
            <a:pPr indent="0" lvl="0" marL="0" marR="0" rtl="0" algn="l">
              <a:lnSpc>
                <a:spcPct val="110000"/>
              </a:lnSpc>
              <a:spcBef>
                <a:spcPts val="0"/>
              </a:spcBef>
              <a:spcAft>
                <a:spcPts val="0"/>
              </a:spcAft>
              <a:buNone/>
            </a:pPr>
            <a:r>
              <a:rPr lang="en">
                <a:solidFill>
                  <a:srgbClr val="212121"/>
                </a:solidFill>
                <a:latin typeface="Poppins"/>
                <a:ea typeface="Poppins"/>
                <a:cs typeface="Poppins"/>
                <a:sym typeface="Poppins"/>
              </a:rPr>
              <a:t>Block the app again.</a:t>
            </a:r>
            <a:endParaRPr>
              <a:solidFill>
                <a:srgbClr val="212121"/>
              </a:solidFill>
              <a:latin typeface="Poppins"/>
              <a:ea typeface="Poppins"/>
              <a:cs typeface="Poppins"/>
              <a:sym typeface="Poppins"/>
            </a:endParaRPr>
          </a:p>
        </p:txBody>
      </p:sp>
      <p:sp>
        <p:nvSpPr>
          <p:cNvPr id="453" name="Google Shape;453;p46"/>
          <p:cNvSpPr txBox="1"/>
          <p:nvPr/>
        </p:nvSpPr>
        <p:spPr>
          <a:xfrm>
            <a:off x="6350000" y="2209800"/>
            <a:ext cx="21591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Both open</a:t>
            </a:r>
            <a:endParaRPr b="1" sz="2100">
              <a:solidFill>
                <a:srgbClr val="212121"/>
              </a:solidFill>
              <a:latin typeface="Poppins"/>
              <a:ea typeface="Poppins"/>
              <a:cs typeface="Poppins"/>
              <a:sym typeface="Poppins"/>
            </a:endParaRPr>
          </a:p>
        </p:txBody>
      </p:sp>
      <p:sp>
        <p:nvSpPr>
          <p:cNvPr id="454" name="Google Shape;454;p46"/>
          <p:cNvSpPr txBox="1"/>
          <p:nvPr/>
        </p:nvSpPr>
        <p:spPr>
          <a:xfrm>
            <a:off x="6350000" y="2692400"/>
            <a:ext cx="2159100" cy="6222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212121"/>
                </a:solidFill>
                <a:latin typeface="Poppins"/>
                <a:ea typeface="Poppins"/>
                <a:cs typeface="Poppins"/>
                <a:sym typeface="Poppins"/>
              </a:rPr>
              <a:t>Another app reads</a:t>
            </a:r>
            <a:endParaRPr sz="1600">
              <a:solidFill>
                <a:srgbClr val="212121"/>
              </a:solidFill>
              <a:latin typeface="Poppins"/>
              <a:ea typeface="Poppins"/>
              <a:cs typeface="Poppins"/>
              <a:sym typeface="Poppins"/>
            </a:endParaRPr>
          </a:p>
          <a:p>
            <a:pPr indent="0" lvl="0" marL="0" marR="0" rtl="0" algn="l">
              <a:lnSpc>
                <a:spcPct val="110000"/>
              </a:lnSpc>
              <a:spcBef>
                <a:spcPts val="0"/>
              </a:spcBef>
              <a:spcAft>
                <a:spcPts val="0"/>
              </a:spcAft>
              <a:buNone/>
            </a:pPr>
            <a:r>
              <a:rPr lang="en" sz="1600">
                <a:solidFill>
                  <a:srgbClr val="212121"/>
                </a:solidFill>
                <a:latin typeface="Poppins"/>
                <a:ea typeface="Poppins"/>
                <a:cs typeface="Poppins"/>
                <a:sym typeface="Poppins"/>
              </a:rPr>
              <a:t>the saved copies.</a:t>
            </a:r>
            <a:endParaRPr sz="1600">
              <a:solidFill>
                <a:srgbClr val="212121"/>
              </a:solidFill>
              <a:latin typeface="Poppins"/>
              <a:ea typeface="Poppins"/>
              <a:cs typeface="Poppins"/>
              <a:sym typeface="Poppins"/>
            </a:endParaRPr>
          </a:p>
        </p:txBody>
      </p:sp>
      <p:sp>
        <p:nvSpPr>
          <p:cNvPr id="455" name="Google Shape;455;p46"/>
          <p:cNvSpPr/>
          <p:nvPr/>
        </p:nvSpPr>
        <p:spPr>
          <a:xfrm>
            <a:off x="6350000" y="3403600"/>
            <a:ext cx="2159100" cy="368400"/>
          </a:xfrm>
          <a:prstGeom prst="rect">
            <a:avLst/>
          </a:prstGeom>
          <a:solidFill>
            <a:srgbClr val="E0F5EE"/>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600">
                <a:solidFill>
                  <a:srgbClr val="00796B"/>
                </a:solidFill>
                <a:latin typeface="Poppins"/>
                <a:ea typeface="Poppins"/>
                <a:cs typeface="Poppins"/>
                <a:sym typeface="Poppins"/>
              </a:rPr>
              <a:t>agenda.md opens</a:t>
            </a:r>
            <a:endParaRPr sz="1600">
              <a:solidFill>
                <a:srgbClr val="00796B"/>
              </a:solidFill>
              <a:latin typeface="Poppins"/>
              <a:ea typeface="Poppins"/>
              <a:cs typeface="Poppins"/>
              <a:sym typeface="Poppins"/>
            </a:endParaRPr>
          </a:p>
        </p:txBody>
      </p:sp>
      <p:sp>
        <p:nvSpPr>
          <p:cNvPr id="456" name="Google Shape;456;p46"/>
          <p:cNvSpPr txBox="1"/>
          <p:nvPr/>
        </p:nvSpPr>
        <p:spPr>
          <a:xfrm>
            <a:off x="6350000" y="3822700"/>
            <a:ext cx="21591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a:solidFill>
                  <a:srgbClr val="00796B"/>
                </a:solidFill>
                <a:latin typeface="Poppins"/>
                <a:ea typeface="Poppins"/>
                <a:cs typeface="Poppins"/>
                <a:sym typeface="Poppins"/>
              </a:rPr>
              <a:t>User can finish</a:t>
            </a:r>
            <a:endParaRPr b="1">
              <a:solidFill>
                <a:srgbClr val="00796B"/>
              </a:solidFill>
              <a:latin typeface="Poppins"/>
              <a:ea typeface="Poppins"/>
              <a:cs typeface="Poppins"/>
              <a:sym typeface="Poppins"/>
            </a:endParaRPr>
          </a:p>
        </p:txBody>
      </p:sp>
      <p:sp>
        <p:nvSpPr>
          <p:cNvPr id="457" name="Google Shape;457;p46"/>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58" name="Google Shape;458;p46"/>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59" name="Google Shape;459;p46"/>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Repeat the same task after the fix,</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with the original app still blocked.</a:t>
            </a:r>
            <a:endParaRPr sz="1600">
              <a:solidFill>
                <a:srgbClr val="FFFFFF"/>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8"/>
          <p:cNvSpPr txBox="1"/>
          <p:nvPr>
            <p:ph type="title"/>
          </p:nvPr>
        </p:nvSpPr>
        <p:spPr>
          <a:xfrm>
            <a:off x="508000" y="635000"/>
            <a:ext cx="81279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3800">
                <a:solidFill>
                  <a:srgbClr val="FFFFFF"/>
                </a:solidFill>
                <a:latin typeface="Poppins"/>
                <a:ea typeface="Poppins"/>
                <a:cs typeface="Poppins"/>
                <a:sym typeface="Poppins"/>
              </a:rPr>
              <a:t>Thank you!</a:t>
            </a:r>
            <a:endParaRPr b="1" sz="3800">
              <a:solidFill>
                <a:srgbClr val="FFFFFF"/>
              </a:solidFill>
              <a:latin typeface="Poppins"/>
              <a:ea typeface="Poppins"/>
              <a:cs typeface="Poppins"/>
              <a:sym typeface="Poppins"/>
            </a:endParaRPr>
          </a:p>
        </p:txBody>
      </p:sp>
      <p:sp>
        <p:nvSpPr>
          <p:cNvPr id="470" name="Google Shape;470;p48"/>
          <p:cNvSpPr txBox="1"/>
          <p:nvPr/>
        </p:nvSpPr>
        <p:spPr>
          <a:xfrm>
            <a:off x="1397000" y="3340100"/>
            <a:ext cx="6350100" cy="1498500"/>
          </a:xfrm>
          <a:prstGeom prst="rect">
            <a:avLst/>
          </a:prstGeom>
          <a:solidFill>
            <a:srgbClr val="06038D"/>
          </a:solid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 Carnley</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Ethereum File System</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u="sng">
                <a:solidFill>
                  <a:schemeClr val="lt1"/>
                </a:solidFill>
                <a:latin typeface="Poppins"/>
                <a:ea typeface="Poppins"/>
                <a:cs typeface="Poppins"/>
                <a:sym typeface="Poppins"/>
                <a:hlinkClick r:id="rId3">
                  <a:extLst>
                    <a:ext uri="{A12FA001-AC4F-418D-AE19-62706E023703}">
                      <ahyp:hlinkClr val="tx"/>
                    </a:ext>
                  </a:extLst>
                </a:hlinkClick>
              </a:rPr>
              <a:t>efs.eth.limo</a:t>
            </a:r>
            <a:endParaRPr sz="1600" u="sng">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JamesCarnley@gmail.com</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@JamesCarnley</a:t>
            </a:r>
            <a:endParaRPr sz="1600">
              <a:solidFill>
                <a:schemeClr val="lt1"/>
              </a:solidFill>
              <a:latin typeface="Poppins"/>
              <a:ea typeface="Poppins"/>
              <a:cs typeface="Poppins"/>
              <a:sym typeface="Poppins"/>
            </a:endParaRPr>
          </a:p>
        </p:txBody>
      </p:sp>
      <p:sp>
        <p:nvSpPr>
          <p:cNvPr id="471" name="Google Shape;471;p48"/>
          <p:cNvSpPr txBox="1"/>
          <p:nvPr/>
        </p:nvSpPr>
        <p:spPr>
          <a:xfrm>
            <a:off x="508000" y="1422400"/>
            <a:ext cx="8127900" cy="73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100">
                <a:solidFill>
                  <a:srgbClr val="FFFFFF"/>
                </a:solidFill>
                <a:latin typeface="Poppins"/>
                <a:ea typeface="Poppins"/>
                <a:cs typeface="Poppins"/>
                <a:sym typeface="Poppins"/>
              </a:rPr>
              <a:t>Let’s build reliable and long lasting apps together 🖖</a:t>
            </a:r>
            <a:endParaRPr b="1" sz="210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