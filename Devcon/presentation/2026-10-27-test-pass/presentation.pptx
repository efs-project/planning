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Thin"/>
      <p:regular r:id="rId36"/>
      <p:bold r:id="rId37"/>
      <p:italic r:id="rId38"/>
      <p:boldItalic r:id="rId39"/>
    </p:embeddedFont>
    <p:embeddedFont>
      <p:font typeface="Roboto Condensed ExtraBold"/>
      <p:bold r:id="rId40"/>
      <p:boldItalic r:id="rId41"/>
    </p:embeddedFont>
    <p:embeddedFont>
      <p:font typeface="Libre Franklin"/>
      <p:regular r:id="rId42"/>
      <p:bold r:id="rId43"/>
      <p:italic r:id="rId44"/>
      <p:boldItalic r:id="rId45"/>
    </p:embeddedFont>
    <p:embeddedFont>
      <p:font typeface="Poppins"/>
      <p:regular r:id="rId46"/>
      <p:bold r:id="rId47"/>
      <p:italic r:id="rId48"/>
      <p:boldItalic r:id="rId49"/>
    </p:embeddedFont>
    <p:embeddedFont>
      <p:font typeface="Roboto Condensed"/>
      <p:regular r:id="rId50"/>
      <p:bold r:id="rId51"/>
      <p:italic r:id="rId52"/>
      <p:boldItalic r:id="rId53"/>
    </p:embeddedFont>
    <p:embeddedFont>
      <p:font typeface="Libre Franklin Medium"/>
      <p:regular r:id="rId54"/>
      <p:bold r:id="rId55"/>
      <p:italic r:id="rId56"/>
      <p:boldItalic r:id="rId57"/>
    </p:embeddedFont>
    <p:embeddedFont>
      <p:font typeface="Roboto Mono"/>
      <p:regular r:id="rId58"/>
      <p:bold r:id="rId59"/>
      <p:italic r:id="rId60"/>
      <p:boldItalic r:id="rId61"/>
    </p:embeddedFont>
    <p:embeddedFont>
      <p:font typeface="Poppins ExtraBold"/>
      <p:bold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fntdata"/><Relationship Id="rId42" Type="http://schemas.openxmlformats.org/officeDocument/2006/relationships/font" Target="fonts/LibreFranklin-regular.fntdata"/><Relationship Id="rId41" Type="http://schemas.openxmlformats.org/officeDocument/2006/relationships/font" Target="fonts/RobotoCondensedExtraBold-boldItalic.fntdata"/><Relationship Id="rId44" Type="http://schemas.openxmlformats.org/officeDocument/2006/relationships/font" Target="fonts/LibreFranklin-italic.fntdata"/><Relationship Id="rId43" Type="http://schemas.openxmlformats.org/officeDocument/2006/relationships/font" Target="fonts/LibreFranklin-bold.fntdata"/><Relationship Id="rId46" Type="http://schemas.openxmlformats.org/officeDocument/2006/relationships/font" Target="fonts/Poppins-regular.fntdata"/><Relationship Id="rId45" Type="http://schemas.openxmlformats.org/officeDocument/2006/relationships/font" Target="fonts/LibreFranklin-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oppins-italic.fntdata"/><Relationship Id="rId47" Type="http://schemas.openxmlformats.org/officeDocument/2006/relationships/font" Target="fonts/Poppins-bold.fntdata"/><Relationship Id="rId49" Type="http://schemas.openxmlformats.org/officeDocument/2006/relationships/font" Target="fonts/Poppi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Thin-bold.fntdata"/><Relationship Id="rId36" Type="http://schemas.openxmlformats.org/officeDocument/2006/relationships/font" Target="fonts/RobotoThin-regular.fntdata"/><Relationship Id="rId39" Type="http://schemas.openxmlformats.org/officeDocument/2006/relationships/font" Target="fonts/RobotoThin-boldItalic.fntdata"/><Relationship Id="rId38" Type="http://schemas.openxmlformats.org/officeDocument/2006/relationships/font" Target="fonts/RobotoThin-italic.fntdata"/><Relationship Id="rId62" Type="http://schemas.openxmlformats.org/officeDocument/2006/relationships/font" Target="fonts/PoppinsExtraBold-bold.fntdata"/><Relationship Id="rId61" Type="http://schemas.openxmlformats.org/officeDocument/2006/relationships/font" Target="fonts/RobotoMono-boldItalic.fntdata"/><Relationship Id="rId20" Type="http://schemas.openxmlformats.org/officeDocument/2006/relationships/slide" Target="slides/slide15.xml"/><Relationship Id="rId63" Type="http://schemas.openxmlformats.org/officeDocument/2006/relationships/font" Target="fonts/PoppinsExtraBol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Mono-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Condensed-bold.fntdata"/><Relationship Id="rId50" Type="http://schemas.openxmlformats.org/officeDocument/2006/relationships/font" Target="fonts/RobotoCondensed-regular.fntdata"/><Relationship Id="rId53" Type="http://schemas.openxmlformats.org/officeDocument/2006/relationships/font" Target="fonts/RobotoCondensed-boldItalic.fntdata"/><Relationship Id="rId52" Type="http://schemas.openxmlformats.org/officeDocument/2006/relationships/font" Target="fonts/RobotoCondensed-italic.fntdata"/><Relationship Id="rId11" Type="http://schemas.openxmlformats.org/officeDocument/2006/relationships/slide" Target="slides/slide6.xml"/><Relationship Id="rId55" Type="http://schemas.openxmlformats.org/officeDocument/2006/relationships/font" Target="fonts/LibreFranklinMedium-bold.fntdata"/><Relationship Id="rId10" Type="http://schemas.openxmlformats.org/officeDocument/2006/relationships/slide" Target="slides/slide5.xml"/><Relationship Id="rId54" Type="http://schemas.openxmlformats.org/officeDocument/2006/relationships/font" Target="fonts/LibreFranklinMedium-regular.fntdata"/><Relationship Id="rId13" Type="http://schemas.openxmlformats.org/officeDocument/2006/relationships/slide" Target="slides/slide8.xml"/><Relationship Id="rId57" Type="http://schemas.openxmlformats.org/officeDocument/2006/relationships/font" Target="fonts/LibreFranklinMedium-boldItalic.fntdata"/><Relationship Id="rId12" Type="http://schemas.openxmlformats.org/officeDocument/2006/relationships/slide" Target="slides/slide7.xml"/><Relationship Id="rId56" Type="http://schemas.openxmlformats.org/officeDocument/2006/relationships/font" Target="fonts/LibreFranklinMedium-italic.fntdata"/><Relationship Id="rId15" Type="http://schemas.openxmlformats.org/officeDocument/2006/relationships/slide" Target="slides/slide10.xml"/><Relationship Id="rId59" Type="http://schemas.openxmlformats.org/officeDocument/2006/relationships/font" Target="fonts/RobotoMono-bold.fntdata"/><Relationship Id="rId14" Type="http://schemas.openxmlformats.org/officeDocument/2006/relationships/slide" Target="slides/slide9.xml"/><Relationship Id="rId58" Type="http://schemas.openxmlformats.org/officeDocument/2006/relationships/font" Target="fonts/RobotoMon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years of notes, attachments and shared work inside an app. The company closes, or a new owner changes the deal. Your work still matters, but you lose the tools you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built another app on that service, your users inherit the failure. This is why fragile apps make poor foundations for important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users to keep their work and builders to rely on each other. We can make choices now that give both a better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human stakes, not a customer testimonial. Shutdown and hostile changes create different recovery problems.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this ambition: lasting public protocols that anyone can use and build on without depending on their creators.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teams provide membership, voting and treasury components. A DAO app combines them. Another team builds a social app using that DAO and a moderation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team adds a useful capability instead of rebuilding everything beneath it. Stable interfaces and dependable operation let their work accumulate.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us to build. CROPS brings our values: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composition, not a deployed DAO or a claim that every module meets the full hyperstructure definition. Arrows point from a reusable capability to its consumer. Moderation changes an interface's selection, not all retained records or the DAO's shared rules. Jacob Horne's definition has additional economic conditions. Ethereum operation, storage, funding and participants remain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2:35-3:10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Pick one task your users rely on. Keep it in mind as we go through the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imagine your team disappears. Can people keep working, and can others run the services? Then imagine control becomes hostile. Someone takes the admin keys or changes the rules. What can users still keep using?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single points of failure and control. The test boxes turn each layer into a small exercise you can try on your own app. Use test accounts and copies, not production outages.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separate scenarios. Several operators only help when they have the inputs and authority to act independently.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3:10-3:30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3:30-3:35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can someone still get into your app and do that task?</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3:45-4:55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real names and lookup values. Ethereum dot org resolves to addresses for a hosted website. EFS dot eth points to an IPFS identifier for a particular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people can retain that release and serve the same files. Users can reach it through a gateway or their own IPFS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someone takes control of the name and points it at a malicious release. A user with the previously trusted identifier can bypass that changed name and open a retained copy of the release they chose.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that identifier, independent copies and clear opening instructions. Test an ordinary task without the usual website. Later, we'll ask whether its underlying contracts still keep the rules the user accepted.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Lookup snapshot: 2026-10-26. ethereum.org returned A records 104.18.176.152 and 104.19.239.224 through both 1.1.1.1 and 8.8.8.8. These are Cloudflare network endpoints, not proof of one physical server; the slide groups the hosted service, not its internal machines. ENS mainnet at block 26279986 (hash 0xd812e26824d24b4ef54112803d47e0fdb7b6c5ffabe1631d624ab2cb1c349b0e, 22:54:35Z) resolved efs.eth through resolver 0xF29100983E058B709F3D539b0c765937B804AC15 to ipfs://bafybeicrisk74xwozdpx4v5kaqjmimzjqsrp74r5tsrgdyv5kju3dnp5ku. The shortened CID on the slide is explicitly an abbreviation. Three retained copies are an illustrative deployment pattern, not a measured EFS operator count. .link and .limo share the eth.limo operator; do not count them as independent retention. ENS controller, resolver and renewal powers and browser verification remain relevant.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compromised-name scenario is illustrative, not a reported EFS incident. A retained trusted CID and a working retrieval route bypass a changed name. This protects selection of the UI release, not mutable contract powers, external dependencies or a compromised device. Newly arriving users still need a trustworthy way to find the accepted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https://docs.ens.domains/ensip/7/</a:t>
            </a:r>
            <a:endParaRPr/>
          </a:p>
          <a:p>
            <a:pPr indent="0" lvl="0" marL="0" rtl="0" algn="l">
              <a:spcBef>
                <a:spcPts val="0"/>
              </a:spcBef>
              <a:spcAft>
                <a:spcPts val="0"/>
              </a:spcAft>
              <a:buNone/>
            </a:pPr>
            <a:r>
              <a:rPr lang="en"/>
              <a:t>https://docs.ipfs.tech/concepts/content-addressing/</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https://developers.cloudflare.com/dns/proxy-status/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4:55-5:40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saved page is only useful if people can run the client behind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left, the HTML lives on IPFS, but it still loads JavaScript from the team's server. When that server disappears, the client cannot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right, the release contains its code, styles, assets and configuration. Someone can retain and serve that complete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blocking your team's host in a test environment, clear the browser cache and reload. Does the client start? We will check its data and network dependencies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source, locked dependencies and build instructions too, so another developer can maintain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Running a saved release and reproducing a build are separate checks. Inspect dynamic imports, remote configuration, wallet connectors and deep links. The Ledger Connect Kit compromise is an optional historical example of distribution becoming an attack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slide tests the client release, not all external services. Bundle or independently retain essential scripts, lazy-loaded code, assets and configuration. Runtime RPCs, indexes and authorization paths are assessed in their own layers. Build source and dependency inputs must remain obtainable; a lockfile alone is insufficient. Diagram is illustrative.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5:40-6:25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previous test showed that the client starts. Now can the user actually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company’s login service can disappear even while the app and data survive. A user-controlled account gives another compatible service an identity it can recognize. Sign-In with Ethereum, or SIWE, standardizes proving control of an Ethereum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Whether you use SIWE or OAuth, try the complete authorized task through an independent route with the company offline. Recovery should work too, including recovery of the keys needed to decrypt private files.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will examine the team’s administrative keys in the Rules chapter.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contrasts company-mediated login with independently usable account authority. A wallet signature alone does not make a company API replaceable. The alternative requires compatible software, independently reachable services, and permission rules that recognize the same account. Safe is an optional recovery example: a configured two-of-three account can replace one lost signer using the remaining authorized signers, provided those signers and the execution path do not depend on the company. Account recovery does not reconstruct file-decryption keys. Standard encryption needs compatible formats and user-controlled key recovery. Keep sensitive data private and preserve authorization across clients. Team admin-key loss/compromise belongs in Rules and the explicit powers checklist.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SIWE authenticates an Ethereum account to an offchain service. It does not make that service independent or replaceable. OAuth/OIDC is not inherently incompatible with portability. The illustrated alternative must preserve authorization through a compatible, independently usable service or contract path.</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rPr lang="en"/>
              <a:t>https://eips.ethereum.org/EIPS/eip-4361</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6:25-6:30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could they keep using the data that task depends on?</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6:30-6:40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6:40-7:40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app needs to understand what your data means. This example has a stable identifier, an author, some text and an attachment. Publish the field meanings and the rules for reading and changing the record.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makes this explicit through schemas for structured statements and a record of who made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existing database can benefit too. Export a documented format with identifiers, relationships, attachments and the encryption information an authorized reader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another developer an export and its format documentation. Can they read it without asking you what you meant?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displayed note is illustrative, not a deployed EAS schema or EAS/EFS integration. EAS has separate schema, attester and data fields and supports onchain and offchain attestations. An attester is not a proof of truth. Stable IDs, author identity, references, schema versions and permission rules must retain meaning across implementations. Export offers a migration/recovery path; ongoing shared writes additionally need agreed synchronization, conflict handling and authorization. A database does not have to move onchain for these improvements.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https://github.com/ethereum-attestation-service/eas-contracts/blob/master/contracts/SchemaRegistry.sol</a:t>
            </a:r>
            <a:endParaRPr/>
          </a:p>
          <a:p>
            <a:pPr indent="0" lvl="0" marL="0" rtl="0" algn="l">
              <a:spcBef>
                <a:spcPts val="0"/>
              </a:spcBef>
              <a:spcAft>
                <a:spcPts val="0"/>
              </a:spcAft>
              <a:buNone/>
            </a:pPr>
            <a:r>
              <a:rPr lang="en"/>
              <a:t>https://github.com/ethereum-attestation-service/eas-contracts/blob/master/contracts/IEAS.sol</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7:40-8:30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same work in two different tools. On the left, a person edits a note. On the right, their community reads it in a feed. The author, note and attachment retain their meaning.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illustrative interfaces, not a requirement to use these particular apps. Your users should be able to choose another tool without losing their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goes beyond whether a file imports. Can the user open the attachment and continue the task? Shared formats make that possible. Agreed permissions and synchronization matter when both apps also write to the same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mockups, not screenshots of deployed products. note-17 and 0xDEADBEEF… are visibly abbreviated example identifiers. A copied export supports recovery/migration; two live clients sharing edits need common authority, synchronization and compatible versions. Neither path requires EAS or EFS. Private clients must preserve authorized access and compatible decryption.</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8:30-9:25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will a usable copy come from when the main provider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files and databases, arrange independently retained copies. That could be an IPFS host, a copy on Arweave, or a backup the user controls. The examples are options, not a required storage stack. Keep attachments and the format information needed to restore useful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records on Ethereum, full nodes replicate the state. Your app still needs a route to those nodes and any history it uses.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retention a budget and an owner. Block the primary provider in a test setup, recover through an alternative, and open the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shows two storage arrangements, not a prescription to move every database to Ethereum. Offchain copies are illustrative and must be refreshed under a defined policy. A chain state commitment is not an archive of every historical state or offchain file. Rebuilding indexes may require retained event history and suitable node access. IPFS persistence requires providers to retain content. Backups alone do not preserve a live multiwriter service; independent deployment/sync and authorization may also be needed.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9:25-10:30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one job I built Ethereum File System to help with. A readable path leads to an onchain record with file details, retrieval references and a fingerprint for checking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can read the file details. A client can retrieve a copy from IPFS or Arweave and check its fingerprint against the expected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path in this diagram is an example. In the recorded July 29 check, copies of a deployment archive from both networks matched the expected fingerprint.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provider can serve the same file, and another app can use its reference. What identifies the accepted version in your app, and how can someone obtain and check a replacement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/notes/meeting.md path is illustrative. The EFS Sepolia proof package supplies historical evidence for retrieving and checking the same artifact through IPFS and Arweave, not a fresh run in this revision. A digest is a cryptographic hash, called a content fingerprint in the spoken explanation. It checks byte integrity relative to an accepted reference, not semantic truth, freshness or retention. Onchain contracts read metadata; clients fetch offchain bytes. Include chain, deployment and exact revision in a stable reference. No public EFS version or new deployment 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Visible historical summary source: EVIDENCE.md at pinned commit e86e6e77fcb5cda31374e07c5f582b502455ba80. It records a July 29, 2026 capture for efs-sepolia-deployment-reference-v0.tar.gz, 63,245 bytes, SHA-256 9c5bbda410deea8714a37b5ab82d3e22982cee79d1d1320cd43a91d562f34d39. Both retrieval rows say VERIFIED. The retained evidence is a dated results table, not raw timestamped verifier stdout. The illustrative note path above is not that archive. This pass inspected the record and did not rerun retrieval or verify present availability.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https://github.com/efs-project/contracts/blob/e86e6e77fcb5cda31374e07c5f582b502455ba80/packages/walk-away-proof/EVIDENCE.md</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10:30-11:40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data can survive while your app loses its way to read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Reading a wallet balance is a chain-state query. An RPC connects the app to a node. Make that provider replaceable, with a route to your own node. A light client such as Helios can verify supported chain reads.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useful transaction-history view often comes from an index. The Graph is one Ethereum example. Another operator needs the recipe and retained history to recreate that view.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the two jobs separately. Switch the RPC, then try another index or rebuild it. Can users still find known records and their latest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Graph network is live; this is a mechanism example, not a blanket reliability assessment of every subgraph. Its normal gateway/API-key/billing path has its own dependencies. A replacement needs the subgraph definition, linked files, schema, chain history, RPC and database. Helios verifies supported Ethereum consensus/execution responses with checkpoint and RPC assumptions; it does not automatically verify arbitrary index queries or retain offchain files. Multiple RPCs offer alternatives, not verification by majority vote. For completeness checks, compare an expected set of known records as well as the indexed block height. No EFS light-client integration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wallet balance and transfer amounts are invented UI examples, not live account data. Test RPC replacement and index replacement separately. A known-record check and sync height are bounded evidence, not proof that every result is complete.</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https://thegraph.com/docs/en/indexing/overview/</a:t>
            </a:r>
            <a:endParaRPr/>
          </a:p>
          <a:p>
            <a:pPr indent="0" lvl="0" marL="0" rtl="0" algn="l">
              <a:spcBef>
                <a:spcPts val="0"/>
              </a:spcBef>
              <a:spcAft>
                <a:spcPts val="0"/>
              </a:spcAft>
              <a:buNone/>
            </a:pPr>
            <a:r>
              <a:rPr lang="en"/>
              <a:t>https://thegraph.com/docs/en/gateways/subgraphs/components/overview/</a:t>
            </a:r>
            <a:endParaRPr/>
          </a:p>
          <a:p>
            <a:pPr indent="0" lvl="0" marL="0" rtl="0" algn="l">
              <a:spcBef>
                <a:spcPts val="0"/>
              </a:spcBef>
              <a:spcAft>
                <a:spcPts val="0"/>
              </a:spcAft>
              <a:buNone/>
            </a:pPr>
            <a:r>
              <a:rPr lang="en"/>
              <a:t>https://thegraph.com/docs/en/subgraphs/providers/subgraph-studio/managing-api-keys/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11:40-12:35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still needs someone to submit a transaction. Many apps also need background services to supply inputs or do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Tornado Cash Classic gives one focused example. A relayer submits a user's withdrawal proof and pays the transaction's gas. The pool contract checks the proof. The user can choose another relayer and generate a proof for that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the same question about your workers. Could another operator get the code and inputs, pay the costs and complete the job? Could the user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replacement in a test environment before the original service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Technical mechanism only, not instructions to use the service or a current legal/availability claim. Classic pool withdrawal checks the proof, known root and unspent nullifier rather than a privileged caller allowlist. The proof binds recipient, relayer payment address, fee and refund; a replacement paid relayer may require a new proof. UI registry/listing rules are distinct from pool-level permissionless submission. Pool contracts, relayer registry and upgradeable governance are separate components. Oracles, provers, bundlers and paymasters have different inputs, economics and authorities; test the actual job instead of assuming every worker is interchangeable.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https://github.com/tornadocash/tornado-core/blob/master/contracts/Tornado.sol</a:t>
            </a:r>
            <a:endParaRPr/>
          </a:p>
          <a:p>
            <a:pPr indent="0" lvl="0" marL="0" rtl="0" algn="l">
              <a:spcBef>
                <a:spcPts val="0"/>
              </a:spcBef>
              <a:spcAft>
                <a:spcPts val="0"/>
              </a:spcAft>
              <a:buNone/>
            </a:pPr>
            <a:r>
              <a:rPr lang="en"/>
              <a:t>https://github.com/tornadocash/tornado-core/blob/master/contracts/ETHTornado.sol</a:t>
            </a:r>
            <a:endParaRPr/>
          </a:p>
          <a:p>
            <a:pPr indent="0" lvl="0" marL="0" rtl="0" algn="l">
              <a:spcBef>
                <a:spcPts val="0"/>
              </a:spcBef>
              <a:spcAft>
                <a:spcPts val="0"/>
              </a:spcAft>
              <a:buNone/>
            </a:pPr>
            <a:r>
              <a:rPr lang="en"/>
              <a:t>https://github.com/tornadocash/docs/blob/en/general/how-to-become-a-relayer.md</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12:35-12:40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can users keep the rules they accepted for that task?</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12:40-12:50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Users should be able to choose app upgrades. Shared systems need clear agreements about how their rules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 who can change those rules, and what users can keep using if that power is abused.</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12:50-14:15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Remember the saved app release? Keeping that interface is useful. Keeping the contract rules it relies on makes the choice meaningful.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immutable core contracts. When the logic at an address stays fixed, another developer can build on it without asking what the original team will change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Other apps can call its fixed exchange logic. Release new contract versions and let users choose to migrate. Keep the old version usable for people who stay. Most app upgrades can offer that choice. Shared networks coordinate protocol changes differently.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a small core you can test carefully and keep stable. Check what happens if the team loses its keys, and inspect any remaining powers that can change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core code does not freeze external inputs, fees or all dependencies. v2 Factory has bounded feeTo/feeToSetter powers and no arbitrary core upgrade. Official docs describe v2/v3/v4 core as non-upgradeable; v4 hooks can introduce separate custom and upgradeable behavior. Use v2 as the simple slide example. A canonical v2 USDC/WETH Swap receipt was independently checked October 26, 2026: transaction 0xd5cc225a285adc402669af3930dca1e486e5508feb1289be447a3d1660aaa4f7, block 26280293, status 1. This establishes activity, not general safety. Zerion cites liquidity and execution benefits, not immutability as its selection motive; its API integration adds an offchain dependency. Immutability removes in-place repair, so scope/audit carefully and plan voluntary migration. No new EFS immutability verification.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https://developers.uniswap.org/docs/get-started/concepts/how-uniswap-works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https://developers.uniswap.org/docs/protocols/v4/security</a:t>
            </a:r>
            <a:endParaRPr/>
          </a:p>
          <a:p>
            <a:pPr indent="0" lvl="0" marL="0" rtl="0" algn="l">
              <a:spcBef>
                <a:spcPts val="0"/>
              </a:spcBef>
              <a:spcAft>
                <a:spcPts val="0"/>
              </a:spcAft>
              <a:buNone/>
            </a:pPr>
            <a:r>
              <a:rPr lang="en"/>
              <a:t>https://zerion.io/blog/zerion-wallet-now-offers-swaps-powered-by-uniswap-api/</a:t>
            </a:r>
            <a:endParaRPr/>
          </a:p>
          <a:p>
            <a:pPr indent="0" lvl="0" marL="0" rtl="0" algn="l">
              <a:spcBef>
                <a:spcPts val="0"/>
              </a:spcBef>
              <a:spcAft>
                <a:spcPts val="0"/>
              </a:spcAft>
              <a:buNone/>
            </a:pPr>
            <a:r>
              <a:rPr lang="en"/>
              <a:t>https://etherscan.io/tx/0xd5cc225a285adc402669af3930dca1e486e5508feb1289be447a3d1660aaa4f7</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14:15-15:15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the chain beneath it. On Ethereum, preserve a usable node connection and the history your app needs. Understand when a transaction is included and final.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learn who orders transactions, where the data lives and how it settles on L1. Choose one concrete failure to rehearse. For a sequencer outage, OP Stack documentation describes submitting through L1. Withdrawal and a hostile upgrade are different cases.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your chain’s documented path and your app’s actual account. Can the user complete the recovery steps? Record the delay, cost and anything they must prepare beforehand.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unavailable sequencer, a faulty prover, missing data and a hostile upgrade are distinct failure modes. OP Stack forced inclusion through OptimismPortal is not a universal exit guarantee or a cure for hostile upgrades. Withdrawal rules, bridges, security councils, upgrade controls and deployment configuration need separate inspection. Inherited token, oracle, bridge and other protocol dependencies can change an otherwise fixed application. Nodes need peer connectivity and required history. This is an app design check, not a performed recovery test.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network test starts with one named failure and its chain-specific documented response. Sequencer outage, withdrawal and hostile upgrade are distinct. Do not perform production disruption or wallet transactions during the presentation.</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15:15-15:55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code may be public, but can someone actually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an outsider the published software, license, inputs, configuration and instructions. Then stop helping. They use their own accounts and hosting to start a replacement and help a test user complete the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Record every missing instruction, permission or secret. Include the running costs and how an operator can cover them. This dry run finds knowledge that otherwise lives only in your team’s heads.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result we want is a service users can choose, without asking the original team for permission.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handoff, not a completed operator exercise. Three participants is James's resilience ambition, not a universal safety threshold. Shared cloud accounts, credentials, funders and undocumented privileges can defeat apparent redundancy. Include licenses, documentation, funding and compatible standards so a willing operator can 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dry run is proposed audience practice, not a completed EFS operator handoff. An outsider must complete the actual user task using their own accounts and accessible inputs, not merely install the software.</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15:55-16:00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16:00-16:45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Return to the task you chose at the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Interface: can someone open a saved release and recover access? Data: can they restore usable records, choose another provider and keep required background work running? Rules: who can change them, what can users refuse, and what happens during a chain outage?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Remove one team dependency in a test setup. Repeat the task, fix what stops it, and try again. These are practical checks, not a score or a certification.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practical exercise, not certification or a maintained scoring tool. Keep an explicit inventory of upgrade, pause, routing, account and data-writing powers. Record time, cost, privacy, required inputs and remaining assumptions. The next slide shows an illustrative export/import failure, not an observed EFS outage.</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concrete_walkthroug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concrete_walkthroug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16:45-17:45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one small test you could run: import a saved export into another client, then open a note and its attachment with the original app unavailable.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attempt imports the note, but the attachment is missing. The user cannot finish. That is a useful failure.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While the original system is still available, improve the export to include the attachment. Retain the complete copy, repeat the outage, and import again. Now the note and its attachment open.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an illustrative example. The method is what matters: choose a task, expose one dependency, improve it, and repeat the same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export, notes, attachment and application states are illustrative. No live import, runtime verification or measured recovery is claimed. The complete export must be prepared and retained while the source data is still accessible, before repeating the outage. An import is a migration/recovery path; ongoing shared edits need agreed authorization and synchronization. Use test accounts and copies.</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17:45-18:30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a future where people can trust software with the important parts of their lives. Where their work remains theirs, better tools can use it,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 Stack Walk 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Users lose their work and trust</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0"/>
              </a:spcAft>
              <a:buNone/>
            </a:pPr>
            <a:r>
              <a:rPr lang="en" sz="2400">
                <a:solidFill>
                  <a:schemeClr val="accent2"/>
                </a:solidFill>
              </a:rPr>
              <a:t>Other developers can’t rely on that functionality</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1000"/>
              </a:spcAft>
              <a:buNone/>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a:solidFill>
                  <a:srgbClr val="06038D"/>
                </a:solidFill>
                <a:latin typeface="Poppins"/>
                <a:ea typeface="Poppins"/>
                <a:cs typeface="Poppins"/>
                <a:sym typeface="Poppins"/>
              </a:rPr>
              <a:t>Hyperstructures: build on each other</a:t>
            </a:r>
            <a:endParaRPr b="1">
              <a:solidFill>
                <a:srgbClr val="06038D"/>
              </a:solidFill>
              <a:latin typeface="Poppins"/>
              <a:ea typeface="Poppins"/>
              <a:cs typeface="Poppins"/>
              <a:sym typeface="Poppins"/>
            </a:endParaRPr>
          </a:p>
        </p:txBody>
      </p:sp>
      <p:cxnSp>
        <p:nvCxnSpPr>
          <p:cNvPr id="109" name="Google Shape;109;p23"/>
          <p:cNvCxnSpPr/>
          <p:nvPr/>
        </p:nvCxnSpPr>
        <p:spPr>
          <a:xfrm rot="10800000">
            <a:off x="1651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0" name="Google Shape;110;p23"/>
          <p:cNvCxnSpPr/>
          <p:nvPr/>
        </p:nvCxnSpPr>
        <p:spPr>
          <a:xfrm rot="10800000">
            <a:off x="3810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1" name="Google Shape;111;p23"/>
          <p:cNvCxnSpPr/>
          <p:nvPr/>
        </p:nvCxnSpPr>
        <p:spPr>
          <a:xfrm rot="10800000">
            <a:off x="5969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2" name="Google Shape;112;p23"/>
          <p:cNvCxnSpPr/>
          <p:nvPr/>
        </p:nvCxnSpPr>
        <p:spPr>
          <a:xfrm>
            <a:off x="1651000" y="3111500"/>
            <a:ext cx="4317900" cy="0"/>
          </a:xfrm>
          <a:prstGeom prst="straightConnector1">
            <a:avLst/>
          </a:prstGeom>
          <a:noFill/>
          <a:ln cap="flat" cmpd="sng" w="17775">
            <a:solidFill>
              <a:srgbClr val="06038D"/>
            </a:solidFill>
            <a:prstDash val="solid"/>
            <a:round/>
            <a:headEnd len="med" w="med" type="none"/>
            <a:tailEnd len="med" w="med" type="none"/>
          </a:ln>
        </p:spPr>
      </p:cxnSp>
      <p:cxnSp>
        <p:nvCxnSpPr>
          <p:cNvPr id="113" name="Google Shape;113;p23"/>
          <p:cNvCxnSpPr/>
          <p:nvPr/>
        </p:nvCxnSpPr>
        <p:spPr>
          <a:xfrm rot="10800000">
            <a:off x="3810000" y="2857400"/>
            <a:ext cx="0" cy="254100"/>
          </a:xfrm>
          <a:prstGeom prst="straightConnector1">
            <a:avLst/>
          </a:prstGeom>
          <a:noFill/>
          <a:ln cap="flat" cmpd="sng" w="17775">
            <a:solidFill>
              <a:srgbClr val="06038D"/>
            </a:solidFill>
            <a:prstDash val="solid"/>
            <a:round/>
            <a:headEnd len="med" w="med" type="none"/>
            <a:tailEnd len="med" w="med" type="triangle"/>
          </a:ln>
        </p:spPr>
      </p:cxnSp>
      <p:cxnSp>
        <p:nvCxnSpPr>
          <p:cNvPr id="114" name="Google Shape;114;p23"/>
          <p:cNvCxnSpPr/>
          <p:nvPr/>
        </p:nvCxnSpPr>
        <p:spPr>
          <a:xfrm rot="10800000">
            <a:off x="381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5" name="Google Shape;115;p23"/>
          <p:cNvCxnSpPr/>
          <p:nvPr/>
        </p:nvCxnSpPr>
        <p:spPr>
          <a:xfrm rot="10800000">
            <a:off x="762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6" name="Google Shape;116;p23"/>
          <p:cNvCxnSpPr/>
          <p:nvPr/>
        </p:nvCxnSpPr>
        <p:spPr>
          <a:xfrm>
            <a:off x="3810000" y="1917700"/>
            <a:ext cx="3810000" cy="0"/>
          </a:xfrm>
          <a:prstGeom prst="straightConnector1">
            <a:avLst/>
          </a:prstGeom>
          <a:noFill/>
          <a:ln cap="flat" cmpd="sng" w="17775">
            <a:solidFill>
              <a:srgbClr val="06038D"/>
            </a:solidFill>
            <a:prstDash val="solid"/>
            <a:round/>
            <a:headEnd len="med" w="med" type="none"/>
            <a:tailEnd len="med" w="med" type="none"/>
          </a:ln>
        </p:spPr>
      </p:cxnSp>
      <p:cxnSp>
        <p:nvCxnSpPr>
          <p:cNvPr id="117" name="Google Shape;117;p23"/>
          <p:cNvCxnSpPr/>
          <p:nvPr/>
        </p:nvCxnSpPr>
        <p:spPr>
          <a:xfrm rot="10800000">
            <a:off x="5016500" y="1777900"/>
            <a:ext cx="0" cy="139800"/>
          </a:xfrm>
          <a:prstGeom prst="straightConnector1">
            <a:avLst/>
          </a:prstGeom>
          <a:noFill/>
          <a:ln cap="flat" cmpd="sng" w="17775">
            <a:solidFill>
              <a:srgbClr val="06038D"/>
            </a:solidFill>
            <a:prstDash val="solid"/>
            <a:round/>
            <a:headEnd len="med" w="med" type="none"/>
            <a:tailEnd len="med" w="med" type="triangle"/>
          </a:ln>
        </p:spPr>
      </p:cxnSp>
      <p:sp>
        <p:nvSpPr>
          <p:cNvPr id="118" name="Google Shape;118;p23"/>
          <p:cNvSpPr/>
          <p:nvPr/>
        </p:nvSpPr>
        <p:spPr>
          <a:xfrm>
            <a:off x="3365500" y="1155700"/>
            <a:ext cx="3302100" cy="622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Community social app</a:t>
            </a:r>
            <a:endParaRPr sz="19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Team F</a:t>
            </a:r>
            <a:endParaRPr sz="1900">
              <a:solidFill>
                <a:srgbClr val="FFFFFF"/>
              </a:solidFill>
              <a:latin typeface="Poppins"/>
              <a:ea typeface="Poppins"/>
              <a:cs typeface="Poppins"/>
              <a:sym typeface="Poppins"/>
            </a:endParaRPr>
          </a:p>
        </p:txBody>
      </p:sp>
      <p:sp>
        <p:nvSpPr>
          <p:cNvPr id="119" name="Google Shape;119;p23"/>
          <p:cNvSpPr/>
          <p:nvPr/>
        </p:nvSpPr>
        <p:spPr>
          <a:xfrm>
            <a:off x="1905000" y="2159000"/>
            <a:ext cx="38100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DAO app</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D</a:t>
            </a:r>
            <a:endParaRPr sz="2100">
              <a:solidFill>
                <a:srgbClr val="212121"/>
              </a:solidFill>
              <a:latin typeface="Poppins"/>
              <a:ea typeface="Poppins"/>
              <a:cs typeface="Poppins"/>
              <a:sym typeface="Poppins"/>
            </a:endParaRPr>
          </a:p>
        </p:txBody>
      </p:sp>
      <p:sp>
        <p:nvSpPr>
          <p:cNvPr id="120" name="Google Shape;120;p23"/>
          <p:cNvSpPr/>
          <p:nvPr/>
        </p:nvSpPr>
        <p:spPr>
          <a:xfrm>
            <a:off x="6731000" y="2159000"/>
            <a:ext cx="18414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Moderation</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Team E</a:t>
            </a:r>
            <a:endParaRPr sz="1800">
              <a:solidFill>
                <a:srgbClr val="212121"/>
              </a:solidFill>
              <a:latin typeface="Poppins"/>
              <a:ea typeface="Poppins"/>
              <a:cs typeface="Poppins"/>
              <a:sym typeface="Poppins"/>
            </a:endParaRPr>
          </a:p>
        </p:txBody>
      </p:sp>
      <p:sp>
        <p:nvSpPr>
          <p:cNvPr id="121" name="Google Shape;121;p23"/>
          <p:cNvSpPr/>
          <p:nvPr/>
        </p:nvSpPr>
        <p:spPr>
          <a:xfrm>
            <a:off x="698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Membership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A</a:t>
            </a:r>
            <a:endParaRPr sz="2000">
              <a:solidFill>
                <a:srgbClr val="212121"/>
              </a:solidFill>
              <a:latin typeface="Poppins"/>
              <a:ea typeface="Poppins"/>
              <a:cs typeface="Poppins"/>
              <a:sym typeface="Poppins"/>
            </a:endParaRPr>
          </a:p>
        </p:txBody>
      </p:sp>
      <p:sp>
        <p:nvSpPr>
          <p:cNvPr id="122" name="Google Shape;122;p23"/>
          <p:cNvSpPr/>
          <p:nvPr/>
        </p:nvSpPr>
        <p:spPr>
          <a:xfrm>
            <a:off x="2857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Voting</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B</a:t>
            </a:r>
            <a:endParaRPr sz="2000">
              <a:solidFill>
                <a:srgbClr val="212121"/>
              </a:solidFill>
              <a:latin typeface="Poppins"/>
              <a:ea typeface="Poppins"/>
              <a:cs typeface="Poppins"/>
              <a:sym typeface="Poppins"/>
            </a:endParaRPr>
          </a:p>
        </p:txBody>
      </p:sp>
      <p:sp>
        <p:nvSpPr>
          <p:cNvPr id="123" name="Google Shape;123;p23"/>
          <p:cNvSpPr/>
          <p:nvPr/>
        </p:nvSpPr>
        <p:spPr>
          <a:xfrm>
            <a:off x="5016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Treasury</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C</a:t>
            </a:r>
            <a:endParaRPr sz="2000">
              <a:solidFill>
                <a:srgbClr val="212121"/>
              </a:solidFill>
              <a:latin typeface="Poppins"/>
              <a:ea typeface="Poppins"/>
              <a:cs typeface="Poppins"/>
              <a:sym typeface="Poppins"/>
            </a:endParaRPr>
          </a:p>
        </p:txBody>
      </p:sp>
      <p:sp>
        <p:nvSpPr>
          <p:cNvPr id="124" name="Google Shape;124;p23"/>
          <p:cNvSpPr txBox="1"/>
          <p:nvPr/>
        </p:nvSpPr>
        <p:spPr>
          <a:xfrm>
            <a:off x="571500" y="4331975"/>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Independent teams work together via stable interfaces</a:t>
            </a:r>
            <a:endParaRPr sz="16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673100" y="1473200"/>
            <a:ext cx="3746400" cy="2616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The team disappears</a:t>
            </a:r>
            <a:endParaRPr b="1" sz="2200">
              <a:solidFill>
                <a:srgbClr val="212121"/>
              </a:solidFill>
            </a:endParaRPr>
          </a:p>
          <a:p>
            <a:pPr indent="0" lvl="0" marL="0" marR="0" rtl="0" algn="l">
              <a:lnSpc>
                <a:spcPct val="110000"/>
              </a:lnSpc>
              <a:spcBef>
                <a:spcPts val="1200"/>
              </a:spcBef>
              <a:spcAft>
                <a:spcPts val="0"/>
              </a:spcAft>
              <a:buNone/>
            </a:pPr>
            <a:r>
              <a:rPr lang="en" sz="2200">
                <a:solidFill>
                  <a:srgbClr val="212121"/>
                </a:solidFill>
              </a:rPr>
              <a:t>Can users keep working?</a:t>
            </a:r>
            <a:endParaRPr sz="2200">
              <a:solidFill>
                <a:srgbClr val="212121"/>
              </a:solidFill>
            </a:endParaRPr>
          </a:p>
          <a:p>
            <a:pPr indent="0" lvl="0" marL="0" marR="0" rtl="0" algn="l">
              <a:lnSpc>
                <a:spcPct val="110000"/>
              </a:lnSpc>
              <a:spcBef>
                <a:spcPts val="1200"/>
              </a:spcBef>
              <a:spcAft>
                <a:spcPts val="1200"/>
              </a:spcAft>
              <a:buNone/>
            </a:pPr>
            <a:r>
              <a:rPr lang="en" sz="2200">
                <a:solidFill>
                  <a:srgbClr val="212121"/>
                </a:solidFill>
              </a:rPr>
              <a:t>Can others run the services?</a:t>
            </a:r>
            <a:endParaRPr sz="2200">
              <a:solidFill>
                <a:srgbClr val="212121"/>
              </a:solidFill>
            </a:endParaRPr>
          </a:p>
        </p:txBody>
      </p:sp>
      <p:sp>
        <p:nvSpPr>
          <p:cNvPr id="130" name="Google Shape;130;p24"/>
          <p:cNvSpPr txBox="1"/>
          <p:nvPr>
            <p:ph idx="2" type="body"/>
          </p:nvPr>
        </p:nvSpPr>
        <p:spPr>
          <a:xfrm>
            <a:off x="4610100" y="1473200"/>
            <a:ext cx="3975000" cy="2616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Control becomes hostile</a:t>
            </a:r>
            <a:endParaRPr b="1" sz="2200">
              <a:solidFill>
                <a:srgbClr val="212121"/>
              </a:solidFill>
            </a:endParaRPr>
          </a:p>
          <a:p>
            <a:pPr indent="0" lvl="0" marL="0" marR="0" rtl="0" algn="l">
              <a:lnSpc>
                <a:spcPct val="110000"/>
              </a:lnSpc>
              <a:spcBef>
                <a:spcPts val="1200"/>
              </a:spcBef>
              <a:spcAft>
                <a:spcPts val="0"/>
              </a:spcAft>
              <a:buNone/>
            </a:pPr>
            <a:r>
              <a:rPr lang="en" sz="2200">
                <a:solidFill>
                  <a:srgbClr val="212121"/>
                </a:solidFill>
              </a:rPr>
              <a:t>Can users keep their work?</a:t>
            </a:r>
            <a:endParaRPr sz="2200">
              <a:solidFill>
                <a:srgbClr val="212121"/>
              </a:solidFill>
            </a:endParaRPr>
          </a:p>
          <a:p>
            <a:pPr indent="0" lvl="0" marL="0" marR="0" rtl="0" algn="l">
              <a:lnSpc>
                <a:spcPct val="110000"/>
              </a:lnSpc>
              <a:spcBef>
                <a:spcPts val="1200"/>
              </a:spcBef>
              <a:spcAft>
                <a:spcPts val="1200"/>
              </a:spcAft>
              <a:buNone/>
            </a:pPr>
            <a:r>
              <a:rPr lang="en" sz="2200">
                <a:solidFill>
                  <a:srgbClr val="212121"/>
                </a:solidFill>
              </a:rPr>
              <a:t>Can they keep the rules they chose?</a:t>
            </a:r>
            <a:endParaRPr sz="2200">
              <a:solidFill>
                <a:srgbClr val="212121"/>
              </a:solidFill>
            </a:endParaRPr>
          </a:p>
        </p:txBody>
      </p:sp>
      <p:sp>
        <p:nvSpPr>
          <p:cNvPr id="131" name="Google Shape;131;p24"/>
          <p:cNvSpPr txBox="1"/>
          <p:nvPr>
            <p:ph type="title"/>
          </p:nvPr>
        </p:nvSpPr>
        <p:spPr>
          <a:xfrm>
            <a:off x="876300" y="355600"/>
            <a:ext cx="7391400" cy="5970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a:t>
            </a:r>
            <a:r>
              <a:rPr b="1" lang="en" sz="3200">
                <a:solidFill>
                  <a:srgbClr val="06038D"/>
                </a:solidFill>
                <a:latin typeface="Poppins"/>
                <a:ea typeface="Poppins"/>
                <a:cs typeface="Poppins"/>
                <a:sym typeface="Poppins"/>
              </a:rPr>
              <a:t>walk away</a:t>
            </a:r>
            <a:r>
              <a:rPr b="1" lang="en" sz="3200">
                <a:solidFill>
                  <a:srgbClr val="06038D"/>
                </a:solidFill>
                <a:latin typeface="Poppins"/>
                <a:ea typeface="Poppins"/>
                <a:cs typeface="Poppins"/>
                <a:sym typeface="Poppins"/>
              </a:rPr>
              <a:t> test</a:t>
            </a:r>
            <a:endParaRPr b="1" sz="3200">
              <a:solidFill>
                <a:srgbClr val="06038D"/>
              </a:solidFill>
              <a:latin typeface="Poppins"/>
              <a:ea typeface="Poppins"/>
              <a:cs typeface="Poppins"/>
              <a:sym typeface="Poppins"/>
            </a:endParaRPr>
          </a:p>
        </p:txBody>
      </p:sp>
      <p:sp>
        <p:nvSpPr>
          <p:cNvPr id="132" name="Google Shape;132;p24"/>
          <p:cNvSpPr txBox="1"/>
          <p:nvPr/>
        </p:nvSpPr>
        <p:spPr>
          <a:xfrm>
            <a:off x="571500" y="977900"/>
            <a:ext cx="80010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06038D"/>
                </a:solidFill>
                <a:latin typeface="Poppins"/>
                <a:ea typeface="Poppins"/>
                <a:cs typeface="Poppins"/>
                <a:sym typeface="Poppins"/>
              </a:rPr>
              <a:t>Single points of failure and control</a:t>
            </a:r>
            <a:endParaRPr sz="1800">
              <a:solidFill>
                <a:srgbClr val="06038D"/>
              </a:solidFill>
              <a:latin typeface="Poppins"/>
              <a:ea typeface="Poppins"/>
              <a:cs typeface="Poppins"/>
              <a:sym typeface="Poppins"/>
            </a:endParaRPr>
          </a:p>
        </p:txBody>
      </p:sp>
      <p:sp>
        <p:nvSpPr>
          <p:cNvPr id="133" name="Google Shape;133;p24"/>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4" name="Google Shape;134;p24"/>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135" name="Google Shape;135;p24"/>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Choose one important user task.</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Try it without your team’s services or help.</a:t>
            </a:r>
            <a:endParaRPr sz="1600">
              <a:solidFill>
                <a:srgbClr val="FFFFFF"/>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482600" y="150497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41" name="Google Shape;141;p25"/>
          <p:cNvSpPr txBox="1"/>
          <p:nvPr>
            <p:ph idx="4294967295" type="body"/>
          </p:nvPr>
        </p:nvSpPr>
        <p:spPr>
          <a:xfrm>
            <a:off x="609600" y="2520975"/>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42" name="Google Shape;142;p25"/>
          <p:cNvSpPr/>
          <p:nvPr/>
        </p:nvSpPr>
        <p:spPr>
          <a:xfrm>
            <a:off x="0" y="2220475"/>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5"/>
          <p:cNvSpPr txBox="1"/>
          <p:nvPr>
            <p:ph type="title"/>
          </p:nvPr>
        </p:nvSpPr>
        <p:spPr>
          <a:xfrm>
            <a:off x="3327400" y="150497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44" name="Google Shape;144;p25"/>
          <p:cNvSpPr txBox="1"/>
          <p:nvPr>
            <p:ph idx="4294967295" type="body"/>
          </p:nvPr>
        </p:nvSpPr>
        <p:spPr>
          <a:xfrm>
            <a:off x="3454400" y="2520975"/>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45" name="Google Shape;145;p25"/>
          <p:cNvSpPr txBox="1"/>
          <p:nvPr>
            <p:ph type="title"/>
          </p:nvPr>
        </p:nvSpPr>
        <p:spPr>
          <a:xfrm>
            <a:off x="6312900" y="151862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46" name="Google Shape;146;p25"/>
          <p:cNvSpPr txBox="1"/>
          <p:nvPr>
            <p:ph idx="4294967295" type="body"/>
          </p:nvPr>
        </p:nvSpPr>
        <p:spPr>
          <a:xfrm>
            <a:off x="6299200" y="2520975"/>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47" name="Google Shape;147;p25"/>
          <p:cNvSpPr/>
          <p:nvPr/>
        </p:nvSpPr>
        <p:spPr>
          <a:xfrm>
            <a:off x="7474950" y="2147125"/>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5"/>
          <p:cNvSpPr/>
          <p:nvPr/>
        </p:nvSpPr>
        <p:spPr>
          <a:xfrm>
            <a:off x="1644650" y="21515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5"/>
          <p:cNvSpPr/>
          <p:nvPr/>
        </p:nvSpPr>
        <p:spPr>
          <a:xfrm>
            <a:off x="4489500" y="2151538"/>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56" name="Google Shape;156;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62" name="Google Shape;162;p27"/>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More than one way into the app</a:t>
            </a:r>
            <a:endParaRPr b="1" sz="3000">
              <a:solidFill>
                <a:srgbClr val="06038D"/>
              </a:solidFill>
              <a:latin typeface="Poppins"/>
              <a:ea typeface="Poppins"/>
              <a:cs typeface="Poppins"/>
              <a:sym typeface="Poppins"/>
            </a:endParaRPr>
          </a:p>
        </p:txBody>
      </p:sp>
      <p:sp>
        <p:nvSpPr>
          <p:cNvPr id="168" name="Google Shape;168;p28"/>
          <p:cNvSpPr txBox="1"/>
          <p:nvPr/>
        </p:nvSpPr>
        <p:spPr>
          <a:xfrm>
            <a:off x="444500" y="9906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DNS + HTTP</a:t>
            </a:r>
            <a:endParaRPr b="1" sz="1700">
              <a:solidFill>
                <a:srgbClr val="06038D"/>
              </a:solidFill>
              <a:latin typeface="Poppins"/>
              <a:ea typeface="Poppins"/>
              <a:cs typeface="Poppins"/>
              <a:sym typeface="Poppins"/>
            </a:endParaRPr>
          </a:p>
        </p:txBody>
      </p:sp>
      <p:sp>
        <p:nvSpPr>
          <p:cNvPr id="169" name="Google Shape;169;p28"/>
          <p:cNvSpPr/>
          <p:nvPr/>
        </p:nvSpPr>
        <p:spPr>
          <a:xfrm>
            <a:off x="444500" y="1384300"/>
            <a:ext cx="21591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ethereum.org</a:t>
            </a:r>
            <a:endParaRPr sz="2000">
              <a:solidFill>
                <a:srgbClr val="212121"/>
              </a:solidFill>
              <a:latin typeface="Poppins"/>
              <a:ea typeface="Poppins"/>
              <a:cs typeface="Poppins"/>
              <a:sym typeface="Poppins"/>
            </a:endParaRPr>
          </a:p>
        </p:txBody>
      </p:sp>
      <p:cxnSp>
        <p:nvCxnSpPr>
          <p:cNvPr id="170" name="Google Shape;170;p28"/>
          <p:cNvCxnSpPr/>
          <p:nvPr/>
        </p:nvCxnSpPr>
        <p:spPr>
          <a:xfrm>
            <a:off x="2628900" y="1778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171" name="Google Shape;171;p28"/>
          <p:cNvSpPr/>
          <p:nvPr/>
        </p:nvSpPr>
        <p:spPr>
          <a:xfrm>
            <a:off x="3136900" y="1384300"/>
            <a:ext cx="31116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Hosted website endpoint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104.18.176.152</a:t>
            </a:r>
            <a:endParaRPr sz="1800">
              <a:solidFill>
                <a:srgbClr val="212121"/>
              </a:solidFill>
              <a:latin typeface="Poppins"/>
              <a:ea typeface="Poppins"/>
              <a:cs typeface="Poppins"/>
              <a:sym typeface="Poppins"/>
            </a:endParaRPr>
          </a:p>
        </p:txBody>
      </p:sp>
      <p:cxnSp>
        <p:nvCxnSpPr>
          <p:cNvPr id="172" name="Google Shape;172;p28"/>
          <p:cNvCxnSpPr/>
          <p:nvPr/>
        </p:nvCxnSpPr>
        <p:spPr>
          <a:xfrm>
            <a:off x="6273800" y="1778000"/>
            <a:ext cx="457200" cy="0"/>
          </a:xfrm>
          <a:prstGeom prst="straightConnector1">
            <a:avLst/>
          </a:prstGeom>
          <a:noFill/>
          <a:ln cap="flat" cmpd="sng" w="17775">
            <a:solidFill>
              <a:srgbClr val="06038D"/>
            </a:solidFill>
            <a:prstDash val="solid"/>
            <a:round/>
            <a:headEnd len="med" w="med" type="none"/>
            <a:tailEnd len="med" w="med" type="triangle"/>
          </a:ln>
        </p:spPr>
      </p:cxnSp>
      <p:sp>
        <p:nvSpPr>
          <p:cNvPr id="173" name="Google Shape;173;p28"/>
          <p:cNvSpPr/>
          <p:nvPr/>
        </p:nvSpPr>
        <p:spPr>
          <a:xfrm>
            <a:off x="6756400" y="1384300"/>
            <a:ext cx="1917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Page in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your browser</a:t>
            </a:r>
            <a:endParaRPr sz="1800">
              <a:solidFill>
                <a:srgbClr val="FFFFFF"/>
              </a:solidFill>
              <a:latin typeface="Poppins"/>
              <a:ea typeface="Poppins"/>
              <a:cs typeface="Poppins"/>
              <a:sym typeface="Poppins"/>
            </a:endParaRPr>
          </a:p>
        </p:txBody>
      </p:sp>
      <p:sp>
        <p:nvSpPr>
          <p:cNvPr id="174" name="Google Shape;174;p28"/>
          <p:cNvSpPr txBox="1"/>
          <p:nvPr/>
        </p:nvSpPr>
        <p:spPr>
          <a:xfrm>
            <a:off x="444500" y="23241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ENS + IPFS</a:t>
            </a:r>
            <a:endParaRPr b="1" sz="1700">
              <a:solidFill>
                <a:srgbClr val="06038D"/>
              </a:solidFill>
              <a:latin typeface="Poppins"/>
              <a:ea typeface="Poppins"/>
              <a:cs typeface="Poppins"/>
              <a:sym typeface="Poppins"/>
            </a:endParaRPr>
          </a:p>
        </p:txBody>
      </p:sp>
      <p:sp>
        <p:nvSpPr>
          <p:cNvPr id="175" name="Google Shape;175;p28"/>
          <p:cNvSpPr/>
          <p:nvPr/>
        </p:nvSpPr>
        <p:spPr>
          <a:xfrm>
            <a:off x="444500" y="2743200"/>
            <a:ext cx="18162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efs.eth</a:t>
            </a:r>
            <a:endParaRPr sz="2000">
              <a:solidFill>
                <a:srgbClr val="212121"/>
              </a:solidFill>
              <a:latin typeface="Poppins"/>
              <a:ea typeface="Poppins"/>
              <a:cs typeface="Poppins"/>
              <a:sym typeface="Poppins"/>
            </a:endParaRPr>
          </a:p>
        </p:txBody>
      </p:sp>
      <p:cxnSp>
        <p:nvCxnSpPr>
          <p:cNvPr id="176" name="Google Shape;176;p28"/>
          <p:cNvCxnSpPr/>
          <p:nvPr/>
        </p:nvCxnSpPr>
        <p:spPr>
          <a:xfrm>
            <a:off x="2273300" y="3124200"/>
            <a:ext cx="304800" cy="0"/>
          </a:xfrm>
          <a:prstGeom prst="straightConnector1">
            <a:avLst/>
          </a:prstGeom>
          <a:noFill/>
          <a:ln cap="flat" cmpd="sng" w="17775">
            <a:solidFill>
              <a:srgbClr val="06038D"/>
            </a:solidFill>
            <a:prstDash val="solid"/>
            <a:round/>
            <a:headEnd len="med" w="med" type="none"/>
            <a:tailEnd len="med" w="med" type="triangle"/>
          </a:ln>
        </p:spPr>
      </p:cxnSp>
      <p:sp>
        <p:nvSpPr>
          <p:cNvPr id="177" name="Google Shape;177;p28"/>
          <p:cNvSpPr/>
          <p:nvPr/>
        </p:nvSpPr>
        <p:spPr>
          <a:xfrm>
            <a:off x="2603500" y="2743200"/>
            <a:ext cx="26034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IPFS release</a:t>
            </a:r>
            <a:endParaRPr sz="17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bafybeicrisk…p5ku</a:t>
            </a:r>
            <a:endParaRPr sz="1700">
              <a:solidFill>
                <a:srgbClr val="212121"/>
              </a:solidFill>
              <a:latin typeface="Poppins"/>
              <a:ea typeface="Poppins"/>
              <a:cs typeface="Poppins"/>
              <a:sym typeface="Poppins"/>
            </a:endParaRPr>
          </a:p>
        </p:txBody>
      </p:sp>
      <p:cxnSp>
        <p:nvCxnSpPr>
          <p:cNvPr id="178" name="Google Shape;178;p28"/>
          <p:cNvCxnSpPr/>
          <p:nvPr/>
        </p:nvCxnSpPr>
        <p:spPr>
          <a:xfrm>
            <a:off x="5232400" y="3124200"/>
            <a:ext cx="266700" cy="0"/>
          </a:xfrm>
          <a:prstGeom prst="straightConnector1">
            <a:avLst/>
          </a:prstGeom>
          <a:noFill/>
          <a:ln cap="flat" cmpd="sng" w="17775">
            <a:solidFill>
              <a:srgbClr val="06038D"/>
            </a:solidFill>
            <a:prstDash val="solid"/>
            <a:round/>
            <a:headEnd len="med" w="med" type="none"/>
            <a:tailEnd len="med" w="med" type="none"/>
          </a:ln>
        </p:spPr>
      </p:cxnSp>
      <p:cxnSp>
        <p:nvCxnSpPr>
          <p:cNvPr id="179" name="Google Shape;179;p28"/>
          <p:cNvCxnSpPr/>
          <p:nvPr/>
        </p:nvCxnSpPr>
        <p:spPr>
          <a:xfrm>
            <a:off x="5499100" y="2628900"/>
            <a:ext cx="0" cy="1066800"/>
          </a:xfrm>
          <a:prstGeom prst="straightConnector1">
            <a:avLst/>
          </a:prstGeom>
          <a:noFill/>
          <a:ln cap="flat" cmpd="sng" w="17775">
            <a:solidFill>
              <a:srgbClr val="06038D"/>
            </a:solidFill>
            <a:prstDash val="solid"/>
            <a:round/>
            <a:headEnd len="med" w="med" type="none"/>
            <a:tailEnd len="med" w="med" type="none"/>
          </a:ln>
        </p:spPr>
      </p:cxnSp>
      <p:cxnSp>
        <p:nvCxnSpPr>
          <p:cNvPr id="180" name="Google Shape;180;p28"/>
          <p:cNvCxnSpPr/>
          <p:nvPr/>
        </p:nvCxnSpPr>
        <p:spPr>
          <a:xfrm>
            <a:off x="5499100" y="26289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1" name="Google Shape;181;p28"/>
          <p:cNvSpPr/>
          <p:nvPr/>
        </p:nvSpPr>
        <p:spPr>
          <a:xfrm>
            <a:off x="5803900" y="2413000"/>
            <a:ext cx="2844900" cy="431700"/>
          </a:xfrm>
          <a:prstGeom prst="rect">
            <a:avLst/>
          </a:prstGeom>
          <a:solidFill>
            <a:srgbClr val="06038D"/>
          </a:solid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chemeClr val="lt1"/>
                </a:solidFill>
                <a:latin typeface="Poppins"/>
                <a:ea typeface="Poppins"/>
                <a:cs typeface="Poppins"/>
                <a:sym typeface="Poppins"/>
              </a:rPr>
              <a:t>Operator A copy</a:t>
            </a:r>
            <a:endParaRPr sz="1800">
              <a:solidFill>
                <a:schemeClr val="lt1"/>
              </a:solidFill>
              <a:latin typeface="Poppins"/>
              <a:ea typeface="Poppins"/>
              <a:cs typeface="Poppins"/>
              <a:sym typeface="Poppins"/>
            </a:endParaRPr>
          </a:p>
        </p:txBody>
      </p:sp>
      <p:cxnSp>
        <p:nvCxnSpPr>
          <p:cNvPr id="182" name="Google Shape;182;p28"/>
          <p:cNvCxnSpPr/>
          <p:nvPr/>
        </p:nvCxnSpPr>
        <p:spPr>
          <a:xfrm>
            <a:off x="5499100" y="31623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3" name="Google Shape;183;p28"/>
          <p:cNvSpPr/>
          <p:nvPr/>
        </p:nvSpPr>
        <p:spPr>
          <a:xfrm>
            <a:off x="5803900" y="29464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B copy</a:t>
            </a:r>
            <a:endParaRPr sz="1800">
              <a:solidFill>
                <a:srgbClr val="212121"/>
              </a:solidFill>
              <a:latin typeface="Poppins"/>
              <a:ea typeface="Poppins"/>
              <a:cs typeface="Poppins"/>
              <a:sym typeface="Poppins"/>
            </a:endParaRPr>
          </a:p>
        </p:txBody>
      </p:sp>
      <p:cxnSp>
        <p:nvCxnSpPr>
          <p:cNvPr id="184" name="Google Shape;184;p28"/>
          <p:cNvCxnSpPr/>
          <p:nvPr/>
        </p:nvCxnSpPr>
        <p:spPr>
          <a:xfrm>
            <a:off x="5499100" y="36957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5" name="Google Shape;185;p28"/>
          <p:cNvSpPr/>
          <p:nvPr/>
        </p:nvSpPr>
        <p:spPr>
          <a:xfrm>
            <a:off x="5803900" y="34798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C copy</a:t>
            </a:r>
            <a:endParaRPr sz="1800">
              <a:solidFill>
                <a:srgbClr val="212121"/>
              </a:solidFill>
              <a:latin typeface="Poppins"/>
              <a:ea typeface="Poppins"/>
              <a:cs typeface="Poppins"/>
              <a:sym typeface="Poppins"/>
            </a:endParaRPr>
          </a:p>
        </p:txBody>
      </p:sp>
      <p:sp>
        <p:nvSpPr>
          <p:cNvPr id="186" name="Google Shape;186;p28"/>
          <p:cNvSpPr txBox="1"/>
          <p:nvPr/>
        </p:nvSpPr>
        <p:spPr>
          <a:xfrm>
            <a:off x="508000" y="3962400"/>
            <a:ext cx="8127900" cy="2793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a:solidFill>
                  <a:srgbClr val="212121"/>
                </a:solidFill>
                <a:latin typeface="Poppins"/>
                <a:ea typeface="Poppins"/>
                <a:cs typeface="Poppins"/>
                <a:sym typeface="Poppins"/>
              </a:rPr>
              <a:t>IPFS gateways: efs.eth.limo (or .link) or your own IPFS node</a:t>
            </a:r>
            <a:endParaRPr>
              <a:solidFill>
                <a:srgbClr val="212121"/>
              </a:solidFill>
              <a:latin typeface="Poppins"/>
              <a:ea typeface="Poppins"/>
              <a:cs typeface="Poppins"/>
              <a:sym typeface="Poppins"/>
            </a:endParaRPr>
          </a:p>
        </p:txBody>
      </p:sp>
      <p:sp>
        <p:nvSpPr>
          <p:cNvPr id="187" name="Google Shape;187;p28"/>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88" name="Google Shape;188;p28"/>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189" name="Google Shape;189;p28"/>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Block the usual website. Can you open</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a trusted release through another route?</a:t>
            </a:r>
            <a:endParaRPr sz="1600">
              <a:solidFill>
                <a:srgbClr val="FFFFFF"/>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9"/>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complete runnable release</a:t>
            </a:r>
            <a:endParaRPr b="1" sz="3000">
              <a:solidFill>
                <a:srgbClr val="06038D"/>
              </a:solidFill>
              <a:latin typeface="Poppins"/>
              <a:ea typeface="Poppins"/>
              <a:cs typeface="Poppins"/>
              <a:sym typeface="Poppins"/>
            </a:endParaRPr>
          </a:p>
        </p:txBody>
      </p:sp>
      <p:sp>
        <p:nvSpPr>
          <p:cNvPr id="195" name="Google Shape;195;p29"/>
          <p:cNvSpPr txBox="1"/>
          <p:nvPr/>
        </p:nvSpPr>
        <p:spPr>
          <a:xfrm>
            <a:off x="508000" y="1130300"/>
            <a:ext cx="8127900" cy="4191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Keep every file the client needs to start</a:t>
            </a:r>
            <a:endParaRPr sz="2000">
              <a:solidFill>
                <a:srgbClr val="212121"/>
              </a:solidFill>
              <a:latin typeface="Poppins"/>
              <a:ea typeface="Poppins"/>
              <a:cs typeface="Poppins"/>
              <a:sym typeface="Poppins"/>
            </a:endParaRPr>
          </a:p>
        </p:txBody>
      </p:sp>
      <p:sp>
        <p:nvSpPr>
          <p:cNvPr id="196" name="Google Shape;196;p29"/>
          <p:cNvSpPr/>
          <p:nvPr/>
        </p:nvSpPr>
        <p:spPr>
          <a:xfrm>
            <a:off x="571500" y="1905000"/>
            <a:ext cx="3683100" cy="6351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index.html on IPFS</a:t>
            </a:r>
            <a:endParaRPr sz="2100">
              <a:solidFill>
                <a:srgbClr val="212121"/>
              </a:solidFill>
              <a:latin typeface="Poppins"/>
              <a:ea typeface="Poppins"/>
              <a:cs typeface="Poppins"/>
              <a:sym typeface="Poppins"/>
            </a:endParaRPr>
          </a:p>
        </p:txBody>
      </p:sp>
      <p:sp>
        <p:nvSpPr>
          <p:cNvPr id="197" name="Google Shape;197;p29"/>
          <p:cNvSpPr/>
          <p:nvPr/>
        </p:nvSpPr>
        <p:spPr>
          <a:xfrm>
            <a:off x="4889500" y="1905000"/>
            <a:ext cx="3683100" cy="15876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IPFS release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index.html</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app.js + styles + assets</a:t>
            </a:r>
            <a:endParaRPr sz="2000">
              <a:solidFill>
                <a:srgbClr val="212121"/>
              </a:solidFill>
              <a:latin typeface="Poppins"/>
              <a:ea typeface="Poppins"/>
              <a:cs typeface="Poppins"/>
              <a:sym typeface="Poppins"/>
            </a:endParaRPr>
          </a:p>
        </p:txBody>
      </p:sp>
      <p:cxnSp>
        <p:nvCxnSpPr>
          <p:cNvPr id="198" name="Google Shape;198;p29"/>
          <p:cNvCxnSpPr/>
          <p:nvPr/>
        </p:nvCxnSpPr>
        <p:spPr>
          <a:xfrm>
            <a:off x="2413000" y="2565400"/>
            <a:ext cx="0" cy="292200"/>
          </a:xfrm>
          <a:prstGeom prst="straightConnector1">
            <a:avLst/>
          </a:prstGeom>
          <a:noFill/>
          <a:ln cap="flat" cmpd="sng" w="16500">
            <a:solidFill>
              <a:srgbClr val="06038D"/>
            </a:solidFill>
            <a:prstDash val="solid"/>
            <a:round/>
            <a:headEnd len="med" w="med" type="none"/>
            <a:tailEnd len="med" w="med" type="triangle"/>
          </a:ln>
        </p:spPr>
      </p:cxnSp>
      <p:cxnSp>
        <p:nvCxnSpPr>
          <p:cNvPr id="199" name="Google Shape;199;p29"/>
          <p:cNvCxnSpPr/>
          <p:nvPr/>
        </p:nvCxnSpPr>
        <p:spPr>
          <a:xfrm>
            <a:off x="6731000" y="3530600"/>
            <a:ext cx="0" cy="152400"/>
          </a:xfrm>
          <a:prstGeom prst="straightConnector1">
            <a:avLst/>
          </a:prstGeom>
          <a:noFill/>
          <a:ln cap="flat" cmpd="sng" w="16500">
            <a:solidFill>
              <a:srgbClr val="06038D"/>
            </a:solidFill>
            <a:prstDash val="solid"/>
            <a:round/>
            <a:headEnd len="med" w="med" type="none"/>
            <a:tailEnd len="med" w="med" type="triangle"/>
          </a:ln>
        </p:spPr>
      </p:cxnSp>
      <p:sp>
        <p:nvSpPr>
          <p:cNvPr id="200" name="Google Shape;200;p29"/>
          <p:cNvSpPr/>
          <p:nvPr/>
        </p:nvSpPr>
        <p:spPr>
          <a:xfrm>
            <a:off x="571500" y="2921000"/>
            <a:ext cx="3683100" cy="7239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Team server: app.js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Offline</a:t>
            </a:r>
            <a:endParaRPr sz="2000">
              <a:solidFill>
                <a:srgbClr val="FFFFFF"/>
              </a:solidFill>
              <a:latin typeface="Poppins"/>
              <a:ea typeface="Poppins"/>
              <a:cs typeface="Poppins"/>
              <a:sym typeface="Poppins"/>
            </a:endParaRPr>
          </a:p>
        </p:txBody>
      </p:sp>
      <p:sp>
        <p:nvSpPr>
          <p:cNvPr id="201" name="Google Shape;201;p29"/>
          <p:cNvSpPr/>
          <p:nvPr/>
        </p:nvSpPr>
        <p:spPr>
          <a:xfrm>
            <a:off x="4889500" y="3746500"/>
            <a:ext cx="3683100" cy="40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Client starts</a:t>
            </a:r>
            <a:endParaRPr sz="2000">
              <a:solidFill>
                <a:srgbClr val="FFFFFF"/>
              </a:solidFill>
              <a:latin typeface="Poppins"/>
              <a:ea typeface="Poppins"/>
              <a:cs typeface="Poppins"/>
              <a:sym typeface="Poppins"/>
            </a:endParaRPr>
          </a:p>
        </p:txBody>
      </p:sp>
      <p:sp>
        <p:nvSpPr>
          <p:cNvPr id="202" name="Google Shape;202;p29"/>
          <p:cNvSpPr txBox="1"/>
          <p:nvPr/>
        </p:nvSpPr>
        <p:spPr>
          <a:xfrm>
            <a:off x="571500" y="1485900"/>
            <a:ext cx="36831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06038D"/>
                </a:solidFill>
                <a:latin typeface="Poppins"/>
                <a:ea typeface="Poppins"/>
                <a:cs typeface="Poppins"/>
                <a:sym typeface="Poppins"/>
              </a:rPr>
              <a:t>Incomplete release</a:t>
            </a:r>
            <a:endParaRPr b="1" sz="1800">
              <a:solidFill>
                <a:srgbClr val="06038D"/>
              </a:solidFill>
              <a:latin typeface="Poppins"/>
              <a:ea typeface="Poppins"/>
              <a:cs typeface="Poppins"/>
              <a:sym typeface="Poppins"/>
            </a:endParaRPr>
          </a:p>
        </p:txBody>
      </p:sp>
      <p:sp>
        <p:nvSpPr>
          <p:cNvPr id="203" name="Google Shape;203;p29"/>
          <p:cNvSpPr txBox="1"/>
          <p:nvPr/>
        </p:nvSpPr>
        <p:spPr>
          <a:xfrm>
            <a:off x="4889500" y="1485900"/>
            <a:ext cx="36831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06038D"/>
                </a:solidFill>
                <a:latin typeface="Poppins"/>
                <a:ea typeface="Poppins"/>
                <a:cs typeface="Poppins"/>
                <a:sym typeface="Poppins"/>
              </a:rPr>
              <a:t>Complete release</a:t>
            </a:r>
            <a:endParaRPr b="1" sz="1800">
              <a:solidFill>
                <a:srgbClr val="06038D"/>
              </a:solidFill>
              <a:latin typeface="Poppins"/>
              <a:ea typeface="Poppins"/>
              <a:cs typeface="Poppins"/>
              <a:sym typeface="Poppins"/>
            </a:endParaRPr>
          </a:p>
        </p:txBody>
      </p:sp>
      <p:sp>
        <p:nvSpPr>
          <p:cNvPr id="204" name="Google Shape;204;p29"/>
          <p:cNvSpPr txBox="1"/>
          <p:nvPr/>
        </p:nvSpPr>
        <p:spPr>
          <a:xfrm>
            <a:off x="571500" y="3721100"/>
            <a:ext cx="3683100" cy="4065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06038D"/>
                </a:solidFill>
                <a:latin typeface="Poppins"/>
                <a:ea typeface="Poppins"/>
                <a:cs typeface="Poppins"/>
                <a:sym typeface="Poppins"/>
              </a:rPr>
              <a:t>Client cannot start</a:t>
            </a:r>
            <a:endParaRPr sz="1800">
              <a:solidFill>
                <a:srgbClr val="06038D"/>
              </a:solidFill>
              <a:latin typeface="Poppins"/>
              <a:ea typeface="Poppins"/>
              <a:cs typeface="Poppins"/>
              <a:sym typeface="Poppins"/>
            </a:endParaRPr>
          </a:p>
        </p:txBody>
      </p:sp>
      <p:sp>
        <p:nvSpPr>
          <p:cNvPr id="205" name="Google Shape;205;p29"/>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06" name="Google Shape;206;p29"/>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07" name="Google Shape;207;p29"/>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Block your team’s server, then reload the client.</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Does it start?</a:t>
            </a:r>
            <a:endParaRPr sz="1600">
              <a:solidFill>
                <a:srgbClr val="FFFFFF"/>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0"/>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Access without the company</a:t>
            </a:r>
            <a:endParaRPr b="1" sz="3000">
              <a:solidFill>
                <a:srgbClr val="06038D"/>
              </a:solidFill>
              <a:latin typeface="Poppins"/>
              <a:ea typeface="Poppins"/>
              <a:cs typeface="Poppins"/>
              <a:sym typeface="Poppins"/>
            </a:endParaRPr>
          </a:p>
        </p:txBody>
      </p:sp>
      <p:sp>
        <p:nvSpPr>
          <p:cNvPr id="213" name="Google Shape;213;p30"/>
          <p:cNvSpPr txBox="1"/>
          <p:nvPr/>
        </p:nvSpPr>
        <p:spPr>
          <a:xfrm>
            <a:off x="571500" y="1117600"/>
            <a:ext cx="80010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The client starts. Can the user actually get in?</a:t>
            </a:r>
            <a:endParaRPr sz="2000">
              <a:solidFill>
                <a:srgbClr val="212121"/>
              </a:solidFill>
              <a:latin typeface="Poppins"/>
              <a:ea typeface="Poppins"/>
              <a:cs typeface="Poppins"/>
              <a:sym typeface="Poppins"/>
            </a:endParaRPr>
          </a:p>
        </p:txBody>
      </p:sp>
      <p:sp>
        <p:nvSpPr>
          <p:cNvPr id="214" name="Google Shape;214;p30"/>
          <p:cNvSpPr/>
          <p:nvPr/>
        </p:nvSpPr>
        <p:spPr>
          <a:xfrm>
            <a:off x="508000" y="1905000"/>
            <a:ext cx="19686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App</a:t>
            </a:r>
            <a:endParaRPr sz="2100">
              <a:solidFill>
                <a:srgbClr val="212121"/>
              </a:solidFill>
              <a:latin typeface="Poppins"/>
              <a:ea typeface="Poppins"/>
              <a:cs typeface="Poppins"/>
              <a:sym typeface="Poppins"/>
            </a:endParaRPr>
          </a:p>
        </p:txBody>
      </p:sp>
      <p:sp>
        <p:nvSpPr>
          <p:cNvPr id="215" name="Google Shape;215;p30"/>
          <p:cNvSpPr/>
          <p:nvPr/>
        </p:nvSpPr>
        <p:spPr>
          <a:xfrm>
            <a:off x="3429000" y="1803400"/>
            <a:ext cx="2540100" cy="9780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FFFFFF"/>
                </a:solidFill>
                <a:latin typeface="Poppins"/>
                <a:ea typeface="Poppins"/>
                <a:cs typeface="Poppins"/>
                <a:sym typeface="Poppins"/>
              </a:rPr>
              <a:t>Company login</a:t>
            </a:r>
            <a:endParaRPr sz="16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600">
                <a:solidFill>
                  <a:srgbClr val="FFFFFF"/>
                </a:solidFill>
                <a:latin typeface="Poppins"/>
                <a:ea typeface="Poppins"/>
                <a:cs typeface="Poppins"/>
                <a:sym typeface="Poppins"/>
              </a:rPr>
              <a:t>OAuth example</a:t>
            </a:r>
            <a:endParaRPr sz="16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600">
                <a:solidFill>
                  <a:srgbClr val="FFFFFF"/>
                </a:solidFill>
                <a:latin typeface="Poppins"/>
                <a:ea typeface="Poppins"/>
                <a:cs typeface="Poppins"/>
                <a:sym typeface="Poppins"/>
              </a:rPr>
              <a:t>Unavailable</a:t>
            </a:r>
            <a:endParaRPr sz="1600">
              <a:solidFill>
                <a:srgbClr val="FFFFFF"/>
              </a:solidFill>
              <a:latin typeface="Poppins"/>
              <a:ea typeface="Poppins"/>
              <a:cs typeface="Poppins"/>
              <a:sym typeface="Poppins"/>
            </a:endParaRPr>
          </a:p>
        </p:txBody>
      </p:sp>
      <p:sp>
        <p:nvSpPr>
          <p:cNvPr id="216" name="Google Shape;216;p30"/>
          <p:cNvSpPr/>
          <p:nvPr/>
        </p:nvSpPr>
        <p:spPr>
          <a:xfrm>
            <a:off x="6858000" y="1905000"/>
            <a:ext cx="1778100" cy="7875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Locked out</a:t>
            </a:r>
            <a:endParaRPr sz="2000">
              <a:solidFill>
                <a:srgbClr val="212121"/>
              </a:solidFill>
              <a:latin typeface="Poppins"/>
              <a:ea typeface="Poppins"/>
              <a:cs typeface="Poppins"/>
              <a:sym typeface="Poppins"/>
            </a:endParaRPr>
          </a:p>
        </p:txBody>
      </p:sp>
      <p:cxnSp>
        <p:nvCxnSpPr>
          <p:cNvPr id="217" name="Google Shape;217;p30"/>
          <p:cNvCxnSpPr/>
          <p:nvPr/>
        </p:nvCxnSpPr>
        <p:spPr>
          <a:xfrm>
            <a:off x="2540000" y="2298700"/>
            <a:ext cx="787500" cy="0"/>
          </a:xfrm>
          <a:prstGeom prst="straightConnector1">
            <a:avLst/>
          </a:prstGeom>
          <a:noFill/>
          <a:ln cap="flat" cmpd="sng" w="16500">
            <a:solidFill>
              <a:srgbClr val="FF3D94"/>
            </a:solidFill>
            <a:prstDash val="solid"/>
            <a:round/>
            <a:headEnd len="med" w="med" type="none"/>
            <a:tailEnd len="med" w="med" type="triangle"/>
          </a:ln>
        </p:spPr>
      </p:cxnSp>
      <p:cxnSp>
        <p:nvCxnSpPr>
          <p:cNvPr id="218" name="Google Shape;218;p30"/>
          <p:cNvCxnSpPr/>
          <p:nvPr/>
        </p:nvCxnSpPr>
        <p:spPr>
          <a:xfrm>
            <a:off x="6057900" y="2298700"/>
            <a:ext cx="711300" cy="0"/>
          </a:xfrm>
          <a:prstGeom prst="straightConnector1">
            <a:avLst/>
          </a:prstGeom>
          <a:noFill/>
          <a:ln cap="flat" cmpd="sng" w="16500">
            <a:solidFill>
              <a:srgbClr val="FF3D94"/>
            </a:solidFill>
            <a:prstDash val="dash"/>
            <a:round/>
            <a:headEnd len="med" w="med" type="none"/>
            <a:tailEnd len="med" w="med" type="triangle"/>
          </a:ln>
        </p:spPr>
      </p:cxnSp>
      <p:cxnSp>
        <p:nvCxnSpPr>
          <p:cNvPr id="219" name="Google Shape;219;p30"/>
          <p:cNvCxnSpPr/>
          <p:nvPr/>
        </p:nvCxnSpPr>
        <p:spPr>
          <a:xfrm>
            <a:off x="2540000" y="3759200"/>
            <a:ext cx="787500" cy="0"/>
          </a:xfrm>
          <a:prstGeom prst="straightConnector1">
            <a:avLst/>
          </a:prstGeom>
          <a:noFill/>
          <a:ln cap="flat" cmpd="sng" w="16500">
            <a:solidFill>
              <a:srgbClr val="06038D"/>
            </a:solidFill>
            <a:prstDash val="solid"/>
            <a:round/>
            <a:headEnd len="med" w="med" type="none"/>
            <a:tailEnd len="med" w="med" type="triangle"/>
          </a:ln>
        </p:spPr>
      </p:cxnSp>
      <p:cxnSp>
        <p:nvCxnSpPr>
          <p:cNvPr id="220" name="Google Shape;220;p30"/>
          <p:cNvCxnSpPr/>
          <p:nvPr/>
        </p:nvCxnSpPr>
        <p:spPr>
          <a:xfrm>
            <a:off x="6057900" y="3759200"/>
            <a:ext cx="457200" cy="0"/>
          </a:xfrm>
          <a:prstGeom prst="straightConnector1">
            <a:avLst/>
          </a:prstGeom>
          <a:noFill/>
          <a:ln cap="flat" cmpd="sng" w="16500">
            <a:solidFill>
              <a:srgbClr val="06038D"/>
            </a:solidFill>
            <a:prstDash val="solid"/>
            <a:round/>
            <a:headEnd len="med" w="med" type="none"/>
            <a:tailEnd len="med" w="med" type="triangle"/>
          </a:ln>
        </p:spPr>
      </p:cxnSp>
      <p:sp>
        <p:nvSpPr>
          <p:cNvPr id="221" name="Google Shape;221;p30"/>
          <p:cNvSpPr/>
          <p:nvPr/>
        </p:nvSpPr>
        <p:spPr>
          <a:xfrm>
            <a:off x="3429000" y="3365500"/>
            <a:ext cx="25401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Independent</a:t>
            </a:r>
            <a:endParaRPr sz="1800">
              <a:solidFill>
                <a:srgbClr val="212121"/>
              </a:solidFill>
              <a:latin typeface="Poppins"/>
              <a:ea typeface="Poppins"/>
              <a:cs typeface="Poppins"/>
              <a:sym typeface="Poppins"/>
            </a:endParaRPr>
          </a:p>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client / service</a:t>
            </a:r>
            <a:endParaRPr sz="1800">
              <a:solidFill>
                <a:srgbClr val="212121"/>
              </a:solidFill>
              <a:latin typeface="Poppins"/>
              <a:ea typeface="Poppins"/>
              <a:cs typeface="Poppins"/>
              <a:sym typeface="Poppins"/>
            </a:endParaRPr>
          </a:p>
        </p:txBody>
      </p:sp>
      <p:sp>
        <p:nvSpPr>
          <p:cNvPr id="222" name="Google Shape;222;p30"/>
          <p:cNvSpPr txBox="1"/>
          <p:nvPr/>
        </p:nvSpPr>
        <p:spPr>
          <a:xfrm>
            <a:off x="508000" y="3365500"/>
            <a:ext cx="19686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212121"/>
                </a:solidFill>
                <a:latin typeface="Poppins"/>
                <a:ea typeface="Poppins"/>
                <a:cs typeface="Poppins"/>
                <a:sym typeface="Poppins"/>
              </a:rPr>
              <a:t>User’s wallet</a:t>
            </a:r>
            <a:endParaRPr sz="1700">
              <a:solidFill>
                <a:srgbClr val="212121"/>
              </a:solidFill>
              <a:latin typeface="Poppins"/>
              <a:ea typeface="Poppins"/>
              <a:cs typeface="Poppins"/>
              <a:sym typeface="Poppins"/>
            </a:endParaRPr>
          </a:p>
          <a:p>
            <a:pPr indent="0" lvl="0" marL="0" marR="0" rtl="0" algn="ctr">
              <a:lnSpc>
                <a:spcPct val="110000"/>
              </a:lnSpc>
              <a:spcBef>
                <a:spcPts val="0"/>
              </a:spcBef>
              <a:spcAft>
                <a:spcPts val="0"/>
              </a:spcAft>
              <a:buNone/>
            </a:pPr>
            <a:r>
              <a:rPr lang="en" sz="1700">
                <a:solidFill>
                  <a:srgbClr val="212121"/>
                </a:solidFill>
                <a:latin typeface="Poppins"/>
                <a:ea typeface="Poppins"/>
                <a:cs typeface="Poppins"/>
                <a:sym typeface="Poppins"/>
              </a:rPr>
              <a:t>SIWE identity</a:t>
            </a:r>
            <a:endParaRPr sz="1700">
              <a:solidFill>
                <a:srgbClr val="212121"/>
              </a:solidFill>
              <a:latin typeface="Poppins"/>
              <a:ea typeface="Poppins"/>
              <a:cs typeface="Poppins"/>
              <a:sym typeface="Poppins"/>
            </a:endParaRPr>
          </a:p>
        </p:txBody>
      </p:sp>
      <p:sp>
        <p:nvSpPr>
          <p:cNvPr id="223" name="Google Shape;223;p30"/>
          <p:cNvSpPr/>
          <p:nvPr/>
        </p:nvSpPr>
        <p:spPr>
          <a:xfrm>
            <a:off x="6604000" y="3365500"/>
            <a:ext cx="20319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FFFFFF"/>
                </a:solidFill>
                <a:latin typeface="Poppins"/>
                <a:ea typeface="Poppins"/>
                <a:cs typeface="Poppins"/>
                <a:sym typeface="Poppins"/>
              </a:rPr>
              <a:t>Same account</a:t>
            </a:r>
            <a:endParaRPr sz="17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700">
                <a:solidFill>
                  <a:srgbClr val="FFFFFF"/>
                </a:solidFill>
                <a:latin typeface="Poppins"/>
                <a:ea typeface="Poppins"/>
                <a:cs typeface="Poppins"/>
                <a:sym typeface="Poppins"/>
              </a:rPr>
              <a:t>and permissions</a:t>
            </a:r>
            <a:endParaRPr sz="1700">
              <a:solidFill>
                <a:srgbClr val="FFFFFF"/>
              </a:solidFill>
              <a:latin typeface="Poppins"/>
              <a:ea typeface="Poppins"/>
              <a:cs typeface="Poppins"/>
              <a:sym typeface="Poppins"/>
            </a:endParaRPr>
          </a:p>
        </p:txBody>
      </p:sp>
      <p:sp>
        <p:nvSpPr>
          <p:cNvPr id="224" name="Google Shape;224;p30"/>
          <p:cNvSpPr txBox="1"/>
          <p:nvPr/>
        </p:nvSpPr>
        <p:spPr>
          <a:xfrm>
            <a:off x="508000" y="2908300"/>
            <a:ext cx="8127900" cy="3429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800">
                <a:solidFill>
                  <a:srgbClr val="06038D"/>
                </a:solidFill>
                <a:latin typeface="Poppins"/>
                <a:ea typeface="Poppins"/>
                <a:cs typeface="Poppins"/>
                <a:sym typeface="Poppins"/>
              </a:rPr>
              <a:t>An account another service can recognize</a:t>
            </a:r>
            <a:endParaRPr b="1" sz="1800">
              <a:solidFill>
                <a:srgbClr val="06038D"/>
              </a:solidFill>
              <a:latin typeface="Poppins"/>
              <a:ea typeface="Poppins"/>
              <a:cs typeface="Poppins"/>
              <a:sym typeface="Poppins"/>
            </a:endParaRPr>
          </a:p>
        </p:txBody>
      </p:sp>
      <p:sp>
        <p:nvSpPr>
          <p:cNvPr id="225" name="Google Shape;225;p30"/>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26" name="Google Shape;226;p30"/>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27" name="Google Shape;227;p30"/>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Disable company login. Can the user complete</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the same action through another client?</a:t>
            </a:r>
            <a:endParaRPr sz="1600">
              <a:solidFill>
                <a:srgbClr val="FFFFFF"/>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233" name="Google Shape;233;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239" name="Google Shape;239;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3"/>
          <p:cNvSpPr txBox="1"/>
          <p:nvPr>
            <p:ph type="title"/>
          </p:nvPr>
        </p:nvSpPr>
        <p:spPr>
          <a:xfrm>
            <a:off x="508050" y="447025"/>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Data another app can understand</a:t>
            </a:r>
            <a:endParaRPr b="1" sz="3000">
              <a:solidFill>
                <a:srgbClr val="06038D"/>
              </a:solidFill>
              <a:latin typeface="Poppins"/>
              <a:ea typeface="Poppins"/>
              <a:cs typeface="Poppins"/>
              <a:sym typeface="Poppins"/>
            </a:endParaRPr>
          </a:p>
        </p:txBody>
      </p:sp>
      <p:sp>
        <p:nvSpPr>
          <p:cNvPr id="245" name="Google Shape;245;p33"/>
          <p:cNvSpPr/>
          <p:nvPr/>
        </p:nvSpPr>
        <p:spPr>
          <a:xfrm>
            <a:off x="507950" y="1364975"/>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Example shared record</a:t>
            </a:r>
            <a:endParaRPr sz="2100">
              <a:solidFill>
                <a:srgbClr val="FFFFFF"/>
              </a:solidFill>
              <a:latin typeface="Poppins"/>
              <a:ea typeface="Poppins"/>
              <a:cs typeface="Poppins"/>
              <a:sym typeface="Poppins"/>
            </a:endParaRPr>
          </a:p>
        </p:txBody>
      </p:sp>
      <p:sp>
        <p:nvSpPr>
          <p:cNvPr id="246" name="Google Shape;246;p33"/>
          <p:cNvSpPr/>
          <p:nvPr/>
        </p:nvSpPr>
        <p:spPr>
          <a:xfrm>
            <a:off x="507950" y="1872975"/>
            <a:ext cx="3810000" cy="2065800"/>
          </a:xfrm>
          <a:prstGeom prst="rect">
            <a:avLst/>
          </a:prstGeom>
          <a:noFill/>
          <a:ln cap="flat" cmpd="sng" w="15250">
            <a:solidFill>
              <a:srgbClr val="06038D"/>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id: note-17</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author: 0xDEADBEEF…</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text: Meeting at 10</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body: Review proposals.</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file: agenda.md</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  </a:t>
            </a:r>
            <a:r>
              <a:rPr lang="en">
                <a:solidFill>
                  <a:srgbClr val="212121"/>
                </a:solidFill>
                <a:latin typeface="Roboto Mono"/>
                <a:ea typeface="Roboto Mono"/>
                <a:cs typeface="Roboto Mono"/>
                <a:sym typeface="Roboto Mono"/>
              </a:rPr>
              <a:t>fileRevision: 2</a:t>
            </a:r>
            <a:endParaRPr>
              <a:solidFill>
                <a:srgbClr val="212121"/>
              </a:solidFill>
              <a:latin typeface="Roboto Mono"/>
              <a:ea typeface="Roboto Mono"/>
              <a:cs typeface="Roboto Mono"/>
              <a:sym typeface="Roboto Mono"/>
            </a:endParaRPr>
          </a:p>
          <a:p>
            <a:pPr indent="0" lvl="0" marL="0" marR="0" rtl="0" algn="l">
              <a:lnSpc>
                <a:spcPct val="105000"/>
              </a:lnSpc>
              <a:spcBef>
                <a:spcPts val="0"/>
              </a:spcBef>
              <a:spcAft>
                <a:spcPts val="0"/>
              </a:spcAft>
              <a:buNone/>
            </a:pPr>
            <a:r>
              <a:rPr lang="en">
                <a:solidFill>
                  <a:srgbClr val="212121"/>
                </a:solidFill>
                <a:latin typeface="Roboto Mono"/>
                <a:ea typeface="Roboto Mono"/>
                <a:cs typeface="Roboto Mono"/>
                <a:sym typeface="Roboto Mono"/>
              </a:rPr>
              <a:t>}</a:t>
            </a:r>
            <a:endParaRPr>
              <a:solidFill>
                <a:srgbClr val="212121"/>
              </a:solidFill>
              <a:latin typeface="Roboto Mono"/>
              <a:ea typeface="Roboto Mono"/>
              <a:cs typeface="Roboto Mono"/>
              <a:sym typeface="Roboto Mono"/>
            </a:endParaRPr>
          </a:p>
        </p:txBody>
      </p:sp>
      <p:sp>
        <p:nvSpPr>
          <p:cNvPr id="247" name="Google Shape;247;p33"/>
          <p:cNvSpPr/>
          <p:nvPr/>
        </p:nvSpPr>
        <p:spPr>
          <a:xfrm>
            <a:off x="4825950" y="1364975"/>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Shared meaning</a:t>
            </a:r>
            <a:endParaRPr sz="2100">
              <a:solidFill>
                <a:srgbClr val="FFFFFF"/>
              </a:solidFill>
              <a:latin typeface="Poppins"/>
              <a:ea typeface="Poppins"/>
              <a:cs typeface="Poppins"/>
              <a:sym typeface="Poppins"/>
            </a:endParaRPr>
          </a:p>
        </p:txBody>
      </p:sp>
      <p:sp>
        <p:nvSpPr>
          <p:cNvPr id="248" name="Google Shape;248;p33"/>
          <p:cNvSpPr/>
          <p:nvPr/>
        </p:nvSpPr>
        <p:spPr>
          <a:xfrm>
            <a:off x="4825950" y="1872975"/>
            <a:ext cx="3810000" cy="20658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What each field means</a:t>
            </a:r>
            <a:br>
              <a:rPr lang="en" sz="1600">
                <a:solidFill>
                  <a:srgbClr val="212121"/>
                </a:solidFill>
                <a:latin typeface="Poppins"/>
                <a:ea typeface="Poppins"/>
                <a:cs typeface="Poppins"/>
                <a:sym typeface="Poppins"/>
              </a:rPr>
            </a:br>
            <a:endParaRPr sz="16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Who can change it</a:t>
            </a:r>
            <a:br>
              <a:rPr lang="en" sz="1600">
                <a:solidFill>
                  <a:srgbClr val="212121"/>
                </a:solidFill>
                <a:latin typeface="Poppins"/>
                <a:ea typeface="Poppins"/>
                <a:cs typeface="Poppins"/>
                <a:sym typeface="Poppins"/>
              </a:rPr>
            </a:br>
            <a:endParaRPr sz="16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How versions fit together</a:t>
            </a:r>
            <a:br>
              <a:rPr lang="en" sz="1600">
                <a:solidFill>
                  <a:srgbClr val="212121"/>
                </a:solidFill>
                <a:latin typeface="Poppins"/>
                <a:ea typeface="Poppins"/>
                <a:cs typeface="Poppins"/>
                <a:sym typeface="Poppins"/>
              </a:rPr>
            </a:br>
            <a:endParaRPr sz="16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212121"/>
                </a:solidFill>
                <a:latin typeface="Poppins"/>
                <a:ea typeface="Poppins"/>
                <a:cs typeface="Poppins"/>
                <a:sym typeface="Poppins"/>
              </a:rPr>
              <a:t>Who can read and decrypt it</a:t>
            </a:r>
            <a:endParaRPr sz="1600">
              <a:solidFill>
                <a:srgbClr val="212121"/>
              </a:solidFill>
              <a:latin typeface="Poppins"/>
              <a:ea typeface="Poppins"/>
              <a:cs typeface="Poppins"/>
              <a:sym typeface="Poppins"/>
            </a:endParaRPr>
          </a:p>
        </p:txBody>
      </p:sp>
      <p:sp>
        <p:nvSpPr>
          <p:cNvPr id="249" name="Google Shape;249;p33"/>
          <p:cNvSpPr txBox="1"/>
          <p:nvPr/>
        </p:nvSpPr>
        <p:spPr>
          <a:xfrm>
            <a:off x="927100" y="3949700"/>
            <a:ext cx="76707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a:solidFill>
                  <a:srgbClr val="06038D"/>
                </a:solidFill>
                <a:latin typeface="Poppins"/>
                <a:ea typeface="Poppins"/>
                <a:cs typeface="Poppins"/>
                <a:sym typeface="Poppins"/>
              </a:rPr>
              <a:t>Shared schemas with EAS. Documented exports from your database.</a:t>
            </a:r>
            <a:endParaRPr>
              <a:solidFill>
                <a:srgbClr val="06038D"/>
              </a:solidFill>
              <a:latin typeface="Poppins"/>
              <a:ea typeface="Poppins"/>
              <a:cs typeface="Poppins"/>
              <a:sym typeface="Poppins"/>
            </a:endParaRPr>
          </a:p>
        </p:txBody>
      </p:sp>
      <p:pic>
        <p:nvPicPr>
          <p:cNvPr id="250" name="Google Shape;250;p33"/>
          <p:cNvPicPr preferRelativeResize="0"/>
          <p:nvPr/>
        </p:nvPicPr>
        <p:blipFill>
          <a:blip r:embed="rId3">
            <a:alphaModFix/>
          </a:blip>
          <a:stretch>
            <a:fillRect/>
          </a:stretch>
        </p:blipFill>
        <p:spPr>
          <a:xfrm>
            <a:off x="609600" y="3987800"/>
            <a:ext cx="228600" cy="228600"/>
          </a:xfrm>
          <a:prstGeom prst="rect">
            <a:avLst/>
          </a:prstGeom>
          <a:noFill/>
          <a:ln>
            <a:noFill/>
          </a:ln>
        </p:spPr>
      </p:pic>
      <p:sp>
        <p:nvSpPr>
          <p:cNvPr id="251" name="Google Shape;251;p33"/>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2" name="Google Shape;252;p33"/>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53" name="Google Shape;253;p33"/>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Hand over an export and its format.</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another developer read it without asking you?</a:t>
            </a:r>
            <a:endParaRPr sz="1600">
              <a:solidFill>
                <a:srgbClr val="FFFFFF"/>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4"/>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Different tools. The same work.</a:t>
            </a:r>
            <a:endParaRPr b="1" sz="3000">
              <a:solidFill>
                <a:srgbClr val="06038D"/>
              </a:solidFill>
              <a:latin typeface="Poppins"/>
              <a:ea typeface="Poppins"/>
              <a:cs typeface="Poppins"/>
              <a:sym typeface="Poppins"/>
            </a:endParaRPr>
          </a:p>
        </p:txBody>
      </p:sp>
      <p:sp>
        <p:nvSpPr>
          <p:cNvPr id="259" name="Google Shape;259;p34"/>
          <p:cNvSpPr/>
          <p:nvPr/>
        </p:nvSpPr>
        <p:spPr>
          <a:xfrm>
            <a:off x="889000" y="4038600"/>
            <a:ext cx="7365900" cy="2412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300">
                <a:solidFill>
                  <a:srgbClr val="06038D"/>
                </a:solidFill>
                <a:latin typeface="Poppins"/>
                <a:ea typeface="Poppins"/>
                <a:cs typeface="Poppins"/>
                <a:sym typeface="Poppins"/>
              </a:rPr>
              <a:t>Same record: note-17 and agenda.md (revision 2)</a:t>
            </a:r>
            <a:endParaRPr sz="1300">
              <a:solidFill>
                <a:srgbClr val="06038D"/>
              </a:solidFill>
              <a:latin typeface="Poppins"/>
              <a:ea typeface="Poppins"/>
              <a:cs typeface="Poppins"/>
              <a:sym typeface="Poppins"/>
            </a:endParaRPr>
          </a:p>
        </p:txBody>
      </p:sp>
      <p:sp>
        <p:nvSpPr>
          <p:cNvPr id="260" name="Google Shape;260;p34"/>
          <p:cNvSpPr/>
          <p:nvPr/>
        </p:nvSpPr>
        <p:spPr>
          <a:xfrm>
            <a:off x="508000" y="1219200"/>
            <a:ext cx="4445100" cy="27939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61" name="Google Shape;261;p34"/>
          <p:cNvSpPr/>
          <p:nvPr/>
        </p:nvSpPr>
        <p:spPr>
          <a:xfrm>
            <a:off x="5207000" y="1219200"/>
            <a:ext cx="3429000" cy="27939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62" name="Google Shape;262;p34"/>
          <p:cNvSpPr/>
          <p:nvPr/>
        </p:nvSpPr>
        <p:spPr>
          <a:xfrm>
            <a:off x="520700" y="1587500"/>
            <a:ext cx="990600" cy="2412900"/>
          </a:xfrm>
          <a:prstGeom prst="rect">
            <a:avLst/>
          </a:prstGeom>
          <a:solidFill>
            <a:srgbClr val="F5F5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63" name="Google Shape;263;p34"/>
          <p:cNvSpPr txBox="1"/>
          <p:nvPr/>
        </p:nvSpPr>
        <p:spPr>
          <a:xfrm>
            <a:off x="609600" y="1689100"/>
            <a:ext cx="825600" cy="3048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100">
                <a:solidFill>
                  <a:srgbClr val="6C6B79"/>
                </a:solidFill>
                <a:latin typeface="Poppins"/>
                <a:ea typeface="Poppins"/>
                <a:cs typeface="Poppins"/>
                <a:sym typeface="Poppins"/>
              </a:rPr>
              <a:t>MY NOTES</a:t>
            </a:r>
            <a:endParaRPr b="1" sz="1100">
              <a:solidFill>
                <a:srgbClr val="6C6B79"/>
              </a:solidFill>
              <a:latin typeface="Poppins"/>
              <a:ea typeface="Poppins"/>
              <a:cs typeface="Poppins"/>
              <a:sym typeface="Poppins"/>
            </a:endParaRPr>
          </a:p>
        </p:txBody>
      </p:sp>
      <p:sp>
        <p:nvSpPr>
          <p:cNvPr id="264" name="Google Shape;264;p34"/>
          <p:cNvSpPr/>
          <p:nvPr/>
        </p:nvSpPr>
        <p:spPr>
          <a:xfrm>
            <a:off x="584200" y="2108200"/>
            <a:ext cx="863700" cy="3684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200">
                <a:solidFill>
                  <a:srgbClr val="06038D"/>
                </a:solidFill>
                <a:latin typeface="Poppins"/>
                <a:ea typeface="Poppins"/>
                <a:cs typeface="Poppins"/>
                <a:sym typeface="Poppins"/>
              </a:rPr>
              <a:t>Meeting</a:t>
            </a:r>
            <a:endParaRPr b="1" sz="1200">
              <a:solidFill>
                <a:srgbClr val="06038D"/>
              </a:solidFill>
              <a:latin typeface="Poppins"/>
              <a:ea typeface="Poppins"/>
              <a:cs typeface="Poppins"/>
              <a:sym typeface="Poppins"/>
            </a:endParaRPr>
          </a:p>
        </p:txBody>
      </p:sp>
      <p:sp>
        <p:nvSpPr>
          <p:cNvPr id="265" name="Google Shape;265;p34"/>
          <p:cNvSpPr txBox="1"/>
          <p:nvPr/>
        </p:nvSpPr>
        <p:spPr>
          <a:xfrm>
            <a:off x="609600" y="2578100"/>
            <a:ext cx="825600" cy="11175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200">
                <a:solidFill>
                  <a:srgbClr val="6C6B79"/>
                </a:solidFill>
                <a:latin typeface="Poppins"/>
                <a:ea typeface="Poppins"/>
                <a:cs typeface="Poppins"/>
                <a:sym typeface="Poppins"/>
              </a:rPr>
              <a:t>Ideas</a:t>
            </a:r>
            <a:endParaRPr sz="1200">
              <a:solidFill>
                <a:srgbClr val="6C6B79"/>
              </a:solidFill>
              <a:latin typeface="Poppins"/>
              <a:ea typeface="Poppins"/>
              <a:cs typeface="Poppins"/>
              <a:sym typeface="Poppins"/>
            </a:endParaRPr>
          </a:p>
          <a:p>
            <a:pPr indent="0" lvl="0" marL="0" marR="0" rtl="0" algn="l">
              <a:lnSpc>
                <a:spcPct val="110000"/>
              </a:lnSpc>
              <a:spcBef>
                <a:spcPts val="1200"/>
              </a:spcBef>
              <a:spcAft>
                <a:spcPts val="0"/>
              </a:spcAft>
              <a:buNone/>
            </a:pPr>
            <a:r>
              <a:rPr lang="en" sz="1200">
                <a:solidFill>
                  <a:srgbClr val="6C6B79"/>
                </a:solidFill>
                <a:latin typeface="Poppins"/>
                <a:ea typeface="Poppins"/>
                <a:cs typeface="Poppins"/>
                <a:sym typeface="Poppins"/>
              </a:rPr>
              <a:t>Projects</a:t>
            </a:r>
            <a:endParaRPr sz="1200">
              <a:solidFill>
                <a:srgbClr val="6C6B79"/>
              </a:solidFill>
              <a:latin typeface="Poppins"/>
              <a:ea typeface="Poppins"/>
              <a:cs typeface="Poppins"/>
              <a:sym typeface="Poppins"/>
            </a:endParaRPr>
          </a:p>
          <a:p>
            <a:pPr indent="0" lvl="0" marL="0" marR="0" rtl="0" algn="l">
              <a:lnSpc>
                <a:spcPct val="110000"/>
              </a:lnSpc>
              <a:spcBef>
                <a:spcPts val="1200"/>
              </a:spcBef>
              <a:spcAft>
                <a:spcPts val="1200"/>
              </a:spcAft>
              <a:buNone/>
            </a:pPr>
            <a:r>
              <a:rPr lang="en" sz="1200">
                <a:solidFill>
                  <a:srgbClr val="6C6B79"/>
                </a:solidFill>
                <a:latin typeface="Poppins"/>
                <a:ea typeface="Poppins"/>
                <a:cs typeface="Poppins"/>
                <a:sym typeface="Poppins"/>
              </a:rPr>
              <a:t>Archive</a:t>
            </a:r>
            <a:endParaRPr sz="1200">
              <a:solidFill>
                <a:srgbClr val="6C6B79"/>
              </a:solidFill>
              <a:latin typeface="Poppins"/>
              <a:ea typeface="Poppins"/>
              <a:cs typeface="Poppins"/>
              <a:sym typeface="Poppins"/>
            </a:endParaRPr>
          </a:p>
        </p:txBody>
      </p:sp>
      <p:sp>
        <p:nvSpPr>
          <p:cNvPr id="266" name="Google Shape;266;p34"/>
          <p:cNvSpPr txBox="1"/>
          <p:nvPr/>
        </p:nvSpPr>
        <p:spPr>
          <a:xfrm>
            <a:off x="1651000" y="1625600"/>
            <a:ext cx="3149700" cy="2922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200">
                <a:solidFill>
                  <a:srgbClr val="6C6B79"/>
                </a:solidFill>
                <a:latin typeface="Poppins"/>
                <a:ea typeface="Poppins"/>
                <a:cs typeface="Poppins"/>
                <a:sym typeface="Poppins"/>
              </a:rPr>
              <a:t>Edit     Format     Attach</a:t>
            </a:r>
            <a:endParaRPr sz="1200">
              <a:solidFill>
                <a:srgbClr val="6C6B79"/>
              </a:solidFill>
              <a:latin typeface="Poppins"/>
              <a:ea typeface="Poppins"/>
              <a:cs typeface="Poppins"/>
              <a:sym typeface="Poppins"/>
            </a:endParaRPr>
          </a:p>
        </p:txBody>
      </p:sp>
      <p:cxnSp>
        <p:nvCxnSpPr>
          <p:cNvPr id="267" name="Google Shape;267;p34"/>
          <p:cNvCxnSpPr/>
          <p:nvPr/>
        </p:nvCxnSpPr>
        <p:spPr>
          <a:xfrm>
            <a:off x="1524000" y="1968500"/>
            <a:ext cx="3416400" cy="0"/>
          </a:xfrm>
          <a:prstGeom prst="straightConnector1">
            <a:avLst/>
          </a:prstGeom>
          <a:noFill/>
          <a:ln cap="flat" cmpd="sng" w="12700">
            <a:solidFill>
              <a:srgbClr val="D9D8E5"/>
            </a:solidFill>
            <a:prstDash val="solid"/>
            <a:round/>
            <a:headEnd len="med" w="med" type="none"/>
            <a:tailEnd len="med" w="med" type="none"/>
          </a:ln>
        </p:spPr>
      </p:cxnSp>
      <p:sp>
        <p:nvSpPr>
          <p:cNvPr id="268" name="Google Shape;268;p34"/>
          <p:cNvSpPr txBox="1"/>
          <p:nvPr/>
        </p:nvSpPr>
        <p:spPr>
          <a:xfrm>
            <a:off x="1689100" y="2095500"/>
            <a:ext cx="31242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latin typeface="Poppins"/>
                <a:ea typeface="Poppins"/>
                <a:cs typeface="Poppins"/>
                <a:sym typeface="Poppins"/>
              </a:rPr>
              <a:t>Meeting at 10</a:t>
            </a:r>
            <a:endParaRPr b="1" sz="2200">
              <a:solidFill>
                <a:srgbClr val="212121"/>
              </a:solidFill>
              <a:latin typeface="Poppins"/>
              <a:ea typeface="Poppins"/>
              <a:cs typeface="Poppins"/>
              <a:sym typeface="Poppins"/>
            </a:endParaRPr>
          </a:p>
        </p:txBody>
      </p:sp>
      <p:sp>
        <p:nvSpPr>
          <p:cNvPr id="269" name="Google Shape;269;p34"/>
          <p:cNvSpPr txBox="1"/>
          <p:nvPr/>
        </p:nvSpPr>
        <p:spPr>
          <a:xfrm>
            <a:off x="1689100" y="2540000"/>
            <a:ext cx="3124200" cy="279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200">
                <a:solidFill>
                  <a:srgbClr val="6C6B79"/>
                </a:solidFill>
                <a:latin typeface="Poppins"/>
                <a:ea typeface="Poppins"/>
                <a:cs typeface="Poppins"/>
                <a:sym typeface="Poppins"/>
              </a:rPr>
              <a:t>0xDEADBEEF…</a:t>
            </a:r>
            <a:endParaRPr sz="1200">
              <a:solidFill>
                <a:srgbClr val="6C6B79"/>
              </a:solidFill>
              <a:latin typeface="Poppins"/>
              <a:ea typeface="Poppins"/>
              <a:cs typeface="Poppins"/>
              <a:sym typeface="Poppins"/>
            </a:endParaRPr>
          </a:p>
        </p:txBody>
      </p:sp>
      <p:sp>
        <p:nvSpPr>
          <p:cNvPr id="270" name="Google Shape;270;p34"/>
          <p:cNvSpPr txBox="1"/>
          <p:nvPr/>
        </p:nvSpPr>
        <p:spPr>
          <a:xfrm>
            <a:off x="1689100" y="2933700"/>
            <a:ext cx="31242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700">
                <a:solidFill>
                  <a:srgbClr val="212121"/>
                </a:solidFill>
                <a:latin typeface="Poppins"/>
                <a:ea typeface="Poppins"/>
                <a:cs typeface="Poppins"/>
                <a:sym typeface="Poppins"/>
              </a:rPr>
              <a:t>Review proposals.</a:t>
            </a:r>
            <a:endParaRPr sz="1700">
              <a:solidFill>
                <a:srgbClr val="212121"/>
              </a:solidFill>
              <a:latin typeface="Poppins"/>
              <a:ea typeface="Poppins"/>
              <a:cs typeface="Poppins"/>
              <a:sym typeface="Poppins"/>
            </a:endParaRPr>
          </a:p>
        </p:txBody>
      </p:sp>
      <p:sp>
        <p:nvSpPr>
          <p:cNvPr id="271" name="Google Shape;271;p34"/>
          <p:cNvSpPr/>
          <p:nvPr/>
        </p:nvSpPr>
        <p:spPr>
          <a:xfrm>
            <a:off x="1676400" y="3403600"/>
            <a:ext cx="3098700" cy="3936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a:solidFill>
                  <a:srgbClr val="06038D"/>
                </a:solidFill>
                <a:latin typeface="Poppins"/>
                <a:ea typeface="Poppins"/>
                <a:cs typeface="Poppins"/>
                <a:sym typeface="Poppins"/>
              </a:rPr>
              <a:t>agenda.md     revision 2</a:t>
            </a:r>
            <a:endParaRPr>
              <a:solidFill>
                <a:srgbClr val="06038D"/>
              </a:solidFill>
              <a:latin typeface="Poppins"/>
              <a:ea typeface="Poppins"/>
              <a:cs typeface="Poppins"/>
              <a:sym typeface="Poppins"/>
            </a:endParaRPr>
          </a:p>
        </p:txBody>
      </p:sp>
      <p:sp>
        <p:nvSpPr>
          <p:cNvPr id="272" name="Google Shape;272;p34"/>
          <p:cNvSpPr txBox="1"/>
          <p:nvPr/>
        </p:nvSpPr>
        <p:spPr>
          <a:xfrm>
            <a:off x="1689100" y="3797300"/>
            <a:ext cx="3098700" cy="2031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000">
                <a:solidFill>
                  <a:srgbClr val="6C6B79"/>
                </a:solidFill>
                <a:latin typeface="Poppins"/>
                <a:ea typeface="Poppins"/>
                <a:cs typeface="Poppins"/>
                <a:sym typeface="Poppins"/>
              </a:rPr>
              <a:t>Saved as note-17</a:t>
            </a:r>
            <a:endParaRPr sz="1000">
              <a:solidFill>
                <a:srgbClr val="6C6B79"/>
              </a:solidFill>
              <a:latin typeface="Poppins"/>
              <a:ea typeface="Poppins"/>
              <a:cs typeface="Poppins"/>
              <a:sym typeface="Poppins"/>
            </a:endParaRPr>
          </a:p>
        </p:txBody>
      </p:sp>
      <p:sp>
        <p:nvSpPr>
          <p:cNvPr id="273" name="Google Shape;273;p34"/>
          <p:cNvSpPr txBox="1"/>
          <p:nvPr/>
        </p:nvSpPr>
        <p:spPr>
          <a:xfrm>
            <a:off x="5372100" y="1625600"/>
            <a:ext cx="3060600" cy="3048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200">
                <a:solidFill>
                  <a:srgbClr val="06038D"/>
                </a:solidFill>
                <a:latin typeface="Poppins"/>
                <a:ea typeface="Poppins"/>
                <a:cs typeface="Poppins"/>
                <a:sym typeface="Poppins"/>
              </a:rPr>
              <a:t>Following      Community</a:t>
            </a:r>
            <a:endParaRPr b="1" sz="1200">
              <a:solidFill>
                <a:srgbClr val="06038D"/>
              </a:solidFill>
              <a:latin typeface="Poppins"/>
              <a:ea typeface="Poppins"/>
              <a:cs typeface="Poppins"/>
              <a:sym typeface="Poppins"/>
            </a:endParaRPr>
          </a:p>
        </p:txBody>
      </p:sp>
      <p:cxnSp>
        <p:nvCxnSpPr>
          <p:cNvPr id="274" name="Google Shape;274;p34"/>
          <p:cNvCxnSpPr/>
          <p:nvPr/>
        </p:nvCxnSpPr>
        <p:spPr>
          <a:xfrm>
            <a:off x="5219700" y="1968500"/>
            <a:ext cx="3403500" cy="0"/>
          </a:xfrm>
          <a:prstGeom prst="straightConnector1">
            <a:avLst/>
          </a:prstGeom>
          <a:noFill/>
          <a:ln cap="flat" cmpd="sng" w="12700">
            <a:solidFill>
              <a:srgbClr val="D9D8E5"/>
            </a:solidFill>
            <a:prstDash val="solid"/>
            <a:round/>
            <a:headEnd len="med" w="med" type="none"/>
            <a:tailEnd len="med" w="med" type="none"/>
          </a:ln>
        </p:spPr>
      </p:cxnSp>
      <p:sp>
        <p:nvSpPr>
          <p:cNvPr id="275" name="Google Shape;275;p34"/>
          <p:cNvSpPr/>
          <p:nvPr/>
        </p:nvSpPr>
        <p:spPr>
          <a:xfrm>
            <a:off x="5384800" y="2095500"/>
            <a:ext cx="317400" cy="317400"/>
          </a:xfrm>
          <a:prstGeom prst="ellipse">
            <a:avLst/>
          </a:prstGeom>
          <a:solidFill>
            <a:srgbClr val="FFAB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76" name="Google Shape;276;p34"/>
          <p:cNvSpPr txBox="1"/>
          <p:nvPr/>
        </p:nvSpPr>
        <p:spPr>
          <a:xfrm>
            <a:off x="5791200" y="2082800"/>
            <a:ext cx="2679600" cy="279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200">
                <a:solidFill>
                  <a:srgbClr val="212121"/>
                </a:solidFill>
                <a:latin typeface="Poppins"/>
                <a:ea typeface="Poppins"/>
                <a:cs typeface="Poppins"/>
                <a:sym typeface="Poppins"/>
              </a:rPr>
              <a:t>0xDEADBEEF…</a:t>
            </a:r>
            <a:endParaRPr b="1" sz="1200">
              <a:solidFill>
                <a:srgbClr val="212121"/>
              </a:solidFill>
              <a:latin typeface="Poppins"/>
              <a:ea typeface="Poppins"/>
              <a:cs typeface="Poppins"/>
              <a:sym typeface="Poppins"/>
            </a:endParaRPr>
          </a:p>
        </p:txBody>
      </p:sp>
      <p:sp>
        <p:nvSpPr>
          <p:cNvPr id="277" name="Google Shape;277;p34"/>
          <p:cNvSpPr txBox="1"/>
          <p:nvPr/>
        </p:nvSpPr>
        <p:spPr>
          <a:xfrm>
            <a:off x="5791200" y="2324100"/>
            <a:ext cx="2679600" cy="216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000">
                <a:solidFill>
                  <a:srgbClr val="6C6B79"/>
                </a:solidFill>
                <a:latin typeface="Poppins"/>
                <a:ea typeface="Poppins"/>
                <a:cs typeface="Poppins"/>
                <a:sym typeface="Poppins"/>
              </a:rPr>
              <a:t>Shared note   /   note-17</a:t>
            </a:r>
            <a:endParaRPr sz="1000">
              <a:solidFill>
                <a:srgbClr val="6C6B79"/>
              </a:solidFill>
              <a:latin typeface="Poppins"/>
              <a:ea typeface="Poppins"/>
              <a:cs typeface="Poppins"/>
              <a:sym typeface="Poppins"/>
            </a:endParaRPr>
          </a:p>
        </p:txBody>
      </p:sp>
      <p:sp>
        <p:nvSpPr>
          <p:cNvPr id="278" name="Google Shape;278;p34"/>
          <p:cNvSpPr txBox="1"/>
          <p:nvPr/>
        </p:nvSpPr>
        <p:spPr>
          <a:xfrm>
            <a:off x="5384800" y="2603500"/>
            <a:ext cx="30735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latin typeface="Poppins"/>
                <a:ea typeface="Poppins"/>
                <a:cs typeface="Poppins"/>
                <a:sym typeface="Poppins"/>
              </a:rPr>
              <a:t>Meeting at 10</a:t>
            </a:r>
            <a:endParaRPr b="1" sz="2100">
              <a:solidFill>
                <a:srgbClr val="212121"/>
              </a:solidFill>
              <a:latin typeface="Poppins"/>
              <a:ea typeface="Poppins"/>
              <a:cs typeface="Poppins"/>
              <a:sym typeface="Poppins"/>
            </a:endParaRPr>
          </a:p>
        </p:txBody>
      </p:sp>
      <p:sp>
        <p:nvSpPr>
          <p:cNvPr id="279" name="Google Shape;279;p34"/>
          <p:cNvSpPr txBox="1"/>
          <p:nvPr/>
        </p:nvSpPr>
        <p:spPr>
          <a:xfrm>
            <a:off x="5384800" y="2984500"/>
            <a:ext cx="3073500" cy="3303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600">
                <a:solidFill>
                  <a:srgbClr val="212121"/>
                </a:solidFill>
                <a:latin typeface="Poppins"/>
                <a:ea typeface="Poppins"/>
                <a:cs typeface="Poppins"/>
                <a:sym typeface="Poppins"/>
              </a:rPr>
              <a:t>Review proposals.</a:t>
            </a:r>
            <a:endParaRPr sz="1600">
              <a:solidFill>
                <a:srgbClr val="212121"/>
              </a:solidFill>
              <a:latin typeface="Poppins"/>
              <a:ea typeface="Poppins"/>
              <a:cs typeface="Poppins"/>
              <a:sym typeface="Poppins"/>
            </a:endParaRPr>
          </a:p>
        </p:txBody>
      </p:sp>
      <p:sp>
        <p:nvSpPr>
          <p:cNvPr id="280" name="Google Shape;280;p34"/>
          <p:cNvSpPr/>
          <p:nvPr/>
        </p:nvSpPr>
        <p:spPr>
          <a:xfrm>
            <a:off x="5372100" y="3365500"/>
            <a:ext cx="3098700" cy="3936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a:solidFill>
                  <a:srgbClr val="06038D"/>
                </a:solidFill>
                <a:latin typeface="Poppins"/>
                <a:ea typeface="Poppins"/>
                <a:cs typeface="Poppins"/>
                <a:sym typeface="Poppins"/>
              </a:rPr>
              <a:t>Open agenda.md   (rev 2)</a:t>
            </a:r>
            <a:endParaRPr>
              <a:solidFill>
                <a:srgbClr val="06038D"/>
              </a:solidFill>
              <a:latin typeface="Poppins"/>
              <a:ea typeface="Poppins"/>
              <a:cs typeface="Poppins"/>
              <a:sym typeface="Poppins"/>
            </a:endParaRPr>
          </a:p>
        </p:txBody>
      </p:sp>
      <p:sp>
        <p:nvSpPr>
          <p:cNvPr id="281" name="Google Shape;281;p34"/>
          <p:cNvSpPr txBox="1"/>
          <p:nvPr/>
        </p:nvSpPr>
        <p:spPr>
          <a:xfrm>
            <a:off x="5384800" y="3784600"/>
            <a:ext cx="3073500" cy="216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100">
                <a:solidFill>
                  <a:srgbClr val="6C6B79"/>
                </a:solidFill>
                <a:latin typeface="Poppins"/>
                <a:ea typeface="Poppins"/>
                <a:cs typeface="Poppins"/>
                <a:sym typeface="Poppins"/>
              </a:rPr>
              <a:t>Reply       Share       Save</a:t>
            </a:r>
            <a:endParaRPr sz="1100">
              <a:solidFill>
                <a:srgbClr val="6C6B79"/>
              </a:solidFill>
              <a:latin typeface="Poppins"/>
              <a:ea typeface="Poppins"/>
              <a:cs typeface="Poppins"/>
              <a:sym typeface="Poppins"/>
            </a:endParaRPr>
          </a:p>
        </p:txBody>
      </p:sp>
      <p:sp>
        <p:nvSpPr>
          <p:cNvPr id="282" name="Google Shape;282;p34"/>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83" name="Google Shape;283;p34"/>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284" name="Google Shape;284;p34"/>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Open the same record in another app.</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the user continue their work?</a:t>
            </a:r>
            <a:endParaRPr sz="1600">
              <a:solidFill>
                <a:srgbClr val="FFFFFF"/>
              </a:solidFill>
              <a:latin typeface="Poppins"/>
              <a:ea typeface="Poppins"/>
              <a:cs typeface="Poppins"/>
              <a:sym typeface="Poppins"/>
            </a:endParaRPr>
          </a:p>
        </p:txBody>
      </p:sp>
      <p:sp>
        <p:nvSpPr>
          <p:cNvPr id="285" name="Google Shape;285;p34"/>
          <p:cNvSpPr/>
          <p:nvPr/>
        </p:nvSpPr>
        <p:spPr>
          <a:xfrm>
            <a:off x="508000" y="1219200"/>
            <a:ext cx="4445100" cy="355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500">
                <a:solidFill>
                  <a:srgbClr val="FFFFFF"/>
                </a:solidFill>
                <a:latin typeface="Poppins"/>
                <a:ea typeface="Poppins"/>
                <a:cs typeface="Poppins"/>
                <a:sym typeface="Poppins"/>
              </a:rPr>
              <a:t>Notes</a:t>
            </a:r>
            <a:endParaRPr b="1" sz="1500">
              <a:solidFill>
                <a:srgbClr val="FFFFFF"/>
              </a:solidFill>
              <a:latin typeface="Poppins"/>
              <a:ea typeface="Poppins"/>
              <a:cs typeface="Poppins"/>
              <a:sym typeface="Poppins"/>
            </a:endParaRPr>
          </a:p>
        </p:txBody>
      </p:sp>
      <p:sp>
        <p:nvSpPr>
          <p:cNvPr id="286" name="Google Shape;286;p34"/>
          <p:cNvSpPr/>
          <p:nvPr/>
        </p:nvSpPr>
        <p:spPr>
          <a:xfrm>
            <a:off x="5207000" y="1219200"/>
            <a:ext cx="3429000" cy="355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500">
                <a:solidFill>
                  <a:srgbClr val="FFFFFF"/>
                </a:solidFill>
                <a:latin typeface="Poppins"/>
                <a:ea typeface="Poppins"/>
                <a:cs typeface="Poppins"/>
                <a:sym typeface="Poppins"/>
              </a:rPr>
              <a:t>Community</a:t>
            </a:r>
            <a:endParaRPr b="1" sz="1500">
              <a:solidFill>
                <a:srgbClr val="FFFFFF"/>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5"/>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keeps a usable copy?</a:t>
            </a:r>
            <a:endParaRPr b="1" sz="3000">
              <a:solidFill>
                <a:srgbClr val="06038D"/>
              </a:solidFill>
              <a:latin typeface="Poppins"/>
              <a:ea typeface="Poppins"/>
              <a:cs typeface="Poppins"/>
              <a:sym typeface="Poppins"/>
            </a:endParaRPr>
          </a:p>
        </p:txBody>
      </p:sp>
      <p:sp>
        <p:nvSpPr>
          <p:cNvPr id="292" name="Google Shape;292;p35"/>
          <p:cNvSpPr txBox="1"/>
          <p:nvPr/>
        </p:nvSpPr>
        <p:spPr>
          <a:xfrm>
            <a:off x="508000" y="1181100"/>
            <a:ext cx="36831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Files and databases</a:t>
            </a:r>
            <a:endParaRPr b="1" sz="2100">
              <a:solidFill>
                <a:srgbClr val="06038D"/>
              </a:solidFill>
              <a:latin typeface="Poppins"/>
              <a:ea typeface="Poppins"/>
              <a:cs typeface="Poppins"/>
              <a:sym typeface="Poppins"/>
            </a:endParaRPr>
          </a:p>
        </p:txBody>
      </p:sp>
      <p:sp>
        <p:nvSpPr>
          <p:cNvPr id="293" name="Google Shape;293;p35"/>
          <p:cNvSpPr/>
          <p:nvPr/>
        </p:nvSpPr>
        <p:spPr>
          <a:xfrm>
            <a:off x="508000" y="1993900"/>
            <a:ext cx="31116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Files + attachments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Database export</a:t>
            </a:r>
            <a:endParaRPr sz="2000">
              <a:solidFill>
                <a:srgbClr val="212121"/>
              </a:solidFill>
              <a:latin typeface="Poppins"/>
              <a:ea typeface="Poppins"/>
              <a:cs typeface="Poppins"/>
              <a:sym typeface="Poppins"/>
            </a:endParaRPr>
          </a:p>
        </p:txBody>
      </p:sp>
      <p:sp>
        <p:nvSpPr>
          <p:cNvPr id="294" name="Google Shape;294;p35"/>
          <p:cNvSpPr/>
          <p:nvPr/>
        </p:nvSpPr>
        <p:spPr>
          <a:xfrm>
            <a:off x="4635500" y="14986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IPFS host</a:t>
            </a:r>
            <a:endParaRPr sz="2000">
              <a:solidFill>
                <a:srgbClr val="212121"/>
              </a:solidFill>
              <a:latin typeface="Poppins"/>
              <a:ea typeface="Poppins"/>
              <a:cs typeface="Poppins"/>
              <a:sym typeface="Poppins"/>
            </a:endParaRPr>
          </a:p>
        </p:txBody>
      </p:sp>
      <p:sp>
        <p:nvSpPr>
          <p:cNvPr id="295" name="Google Shape;295;p35"/>
          <p:cNvSpPr/>
          <p:nvPr/>
        </p:nvSpPr>
        <p:spPr>
          <a:xfrm>
            <a:off x="4635500" y="20955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Independent Arweave copy</a:t>
            </a:r>
            <a:endParaRPr sz="1800">
              <a:solidFill>
                <a:srgbClr val="212121"/>
              </a:solidFill>
              <a:latin typeface="Poppins"/>
              <a:ea typeface="Poppins"/>
              <a:cs typeface="Poppins"/>
              <a:sym typeface="Poppins"/>
            </a:endParaRPr>
          </a:p>
        </p:txBody>
      </p:sp>
      <p:sp>
        <p:nvSpPr>
          <p:cNvPr id="296" name="Google Shape;296;p35"/>
          <p:cNvSpPr/>
          <p:nvPr/>
        </p:nvSpPr>
        <p:spPr>
          <a:xfrm>
            <a:off x="4635500" y="26924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2000">
                <a:solidFill>
                  <a:srgbClr val="212121"/>
                </a:solidFill>
                <a:latin typeface="Poppins"/>
                <a:ea typeface="Poppins"/>
                <a:cs typeface="Poppins"/>
                <a:sym typeface="Poppins"/>
              </a:rPr>
              <a:t>User-held backup</a:t>
            </a:r>
            <a:endParaRPr sz="2000">
              <a:solidFill>
                <a:srgbClr val="212121"/>
              </a:solidFill>
              <a:latin typeface="Poppins"/>
              <a:ea typeface="Poppins"/>
              <a:cs typeface="Poppins"/>
              <a:sym typeface="Poppins"/>
            </a:endParaRPr>
          </a:p>
        </p:txBody>
      </p:sp>
      <p:cxnSp>
        <p:nvCxnSpPr>
          <p:cNvPr id="297" name="Google Shape;297;p35"/>
          <p:cNvCxnSpPr/>
          <p:nvPr/>
        </p:nvCxnSpPr>
        <p:spPr>
          <a:xfrm>
            <a:off x="3644900" y="2413000"/>
            <a:ext cx="457200" cy="0"/>
          </a:xfrm>
          <a:prstGeom prst="straightConnector1">
            <a:avLst/>
          </a:prstGeom>
          <a:noFill/>
          <a:ln cap="flat" cmpd="sng" w="16500">
            <a:solidFill>
              <a:srgbClr val="06038D"/>
            </a:solidFill>
            <a:prstDash val="solid"/>
            <a:round/>
            <a:headEnd len="med" w="med" type="none"/>
            <a:tailEnd len="med" w="med" type="none"/>
          </a:ln>
        </p:spPr>
      </p:cxnSp>
      <p:cxnSp>
        <p:nvCxnSpPr>
          <p:cNvPr id="298" name="Google Shape;298;p35"/>
          <p:cNvCxnSpPr/>
          <p:nvPr/>
        </p:nvCxnSpPr>
        <p:spPr>
          <a:xfrm>
            <a:off x="4102100" y="1752600"/>
            <a:ext cx="0" cy="1193700"/>
          </a:xfrm>
          <a:prstGeom prst="straightConnector1">
            <a:avLst/>
          </a:prstGeom>
          <a:noFill/>
          <a:ln cap="flat" cmpd="sng" w="16500">
            <a:solidFill>
              <a:srgbClr val="06038D"/>
            </a:solidFill>
            <a:prstDash val="solid"/>
            <a:round/>
            <a:headEnd len="med" w="med" type="none"/>
            <a:tailEnd len="med" w="med" type="none"/>
          </a:ln>
        </p:spPr>
      </p:cxnSp>
      <p:cxnSp>
        <p:nvCxnSpPr>
          <p:cNvPr id="299" name="Google Shape;299;p35"/>
          <p:cNvCxnSpPr/>
          <p:nvPr/>
        </p:nvCxnSpPr>
        <p:spPr>
          <a:xfrm>
            <a:off x="4102100" y="17526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300" name="Google Shape;300;p35"/>
          <p:cNvCxnSpPr/>
          <p:nvPr/>
        </p:nvCxnSpPr>
        <p:spPr>
          <a:xfrm>
            <a:off x="4102100" y="23495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301" name="Google Shape;301;p35"/>
          <p:cNvCxnSpPr/>
          <p:nvPr/>
        </p:nvCxnSpPr>
        <p:spPr>
          <a:xfrm>
            <a:off x="4102100" y="2946400"/>
            <a:ext cx="507900" cy="0"/>
          </a:xfrm>
          <a:prstGeom prst="straightConnector1">
            <a:avLst/>
          </a:prstGeom>
          <a:noFill/>
          <a:ln cap="flat" cmpd="sng" w="16500">
            <a:solidFill>
              <a:srgbClr val="06038D"/>
            </a:solidFill>
            <a:prstDash val="solid"/>
            <a:round/>
            <a:headEnd len="med" w="med" type="none"/>
            <a:tailEnd len="med" w="med" type="triangle"/>
          </a:ln>
        </p:spPr>
      </p:cxnSp>
      <p:sp>
        <p:nvSpPr>
          <p:cNvPr id="302" name="Google Shape;302;p35"/>
          <p:cNvSpPr txBox="1"/>
          <p:nvPr/>
        </p:nvSpPr>
        <p:spPr>
          <a:xfrm>
            <a:off x="508000" y="3238500"/>
            <a:ext cx="3683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Onchain records</a:t>
            </a:r>
            <a:endParaRPr b="1" sz="2100">
              <a:solidFill>
                <a:srgbClr val="06038D"/>
              </a:solidFill>
              <a:latin typeface="Poppins"/>
              <a:ea typeface="Poppins"/>
              <a:cs typeface="Poppins"/>
              <a:sym typeface="Poppins"/>
            </a:endParaRPr>
          </a:p>
        </p:txBody>
      </p:sp>
      <p:sp>
        <p:nvSpPr>
          <p:cNvPr id="303" name="Google Shape;303;p35"/>
          <p:cNvSpPr/>
          <p:nvPr/>
        </p:nvSpPr>
        <p:spPr>
          <a:xfrm>
            <a:off x="508000" y="3657600"/>
            <a:ext cx="31116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Contract state</a:t>
            </a:r>
            <a:endParaRPr sz="2000">
              <a:solidFill>
                <a:srgbClr val="212121"/>
              </a:solidFill>
              <a:latin typeface="Poppins"/>
              <a:ea typeface="Poppins"/>
              <a:cs typeface="Poppins"/>
              <a:sym typeface="Poppins"/>
            </a:endParaRPr>
          </a:p>
        </p:txBody>
      </p:sp>
      <p:cxnSp>
        <p:nvCxnSpPr>
          <p:cNvPr id="304" name="Google Shape;304;p35"/>
          <p:cNvCxnSpPr/>
          <p:nvPr/>
        </p:nvCxnSpPr>
        <p:spPr>
          <a:xfrm>
            <a:off x="3644900" y="3924300"/>
            <a:ext cx="965100" cy="0"/>
          </a:xfrm>
          <a:prstGeom prst="straightConnector1">
            <a:avLst/>
          </a:prstGeom>
          <a:noFill/>
          <a:ln cap="flat" cmpd="sng" w="16500">
            <a:solidFill>
              <a:srgbClr val="06038D"/>
            </a:solidFill>
            <a:prstDash val="solid"/>
            <a:round/>
            <a:headEnd len="med" w="med" type="none"/>
            <a:tailEnd len="med" w="med" type="triangle"/>
          </a:ln>
        </p:spPr>
      </p:cxnSp>
      <p:sp>
        <p:nvSpPr>
          <p:cNvPr id="305" name="Google Shape;305;p35"/>
          <p:cNvSpPr/>
          <p:nvPr/>
        </p:nvSpPr>
        <p:spPr>
          <a:xfrm>
            <a:off x="4635500" y="3657600"/>
            <a:ext cx="40005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 full nodes</a:t>
            </a:r>
            <a:endParaRPr sz="2000">
              <a:solidFill>
                <a:srgbClr val="212121"/>
              </a:solidFill>
              <a:latin typeface="Poppins"/>
              <a:ea typeface="Poppins"/>
              <a:cs typeface="Poppins"/>
              <a:sym typeface="Poppins"/>
            </a:endParaRPr>
          </a:p>
        </p:txBody>
      </p:sp>
      <p:sp>
        <p:nvSpPr>
          <p:cNvPr id="306" name="Google Shape;306;p35"/>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07" name="Google Shape;307;p35"/>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08" name="Google Shape;308;p35"/>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Block the primary storage provider.</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you recover the record and attachments elsewhere?</a:t>
            </a:r>
            <a:endParaRPr sz="1600">
              <a:solidFill>
                <a:srgbClr val="FFFFFF"/>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3000">
                <a:solidFill>
                  <a:srgbClr val="06038D"/>
                </a:solidFill>
                <a:latin typeface="Poppins"/>
                <a:ea typeface="Poppins"/>
                <a:cs typeface="Poppins"/>
                <a:sym typeface="Poppins"/>
              </a:rPr>
              <a:t>EFS: find a file and check a copy</a:t>
            </a:r>
            <a:endParaRPr b="1" sz="3000">
              <a:solidFill>
                <a:srgbClr val="06038D"/>
              </a:solidFill>
              <a:latin typeface="Poppins"/>
              <a:ea typeface="Poppins"/>
              <a:cs typeface="Poppins"/>
              <a:sym typeface="Poppins"/>
            </a:endParaRPr>
          </a:p>
        </p:txBody>
      </p:sp>
      <p:sp>
        <p:nvSpPr>
          <p:cNvPr id="314" name="Google Shape;314;p36"/>
          <p:cNvSpPr txBox="1"/>
          <p:nvPr/>
        </p:nvSpPr>
        <p:spPr>
          <a:xfrm>
            <a:off x="571500" y="1117600"/>
            <a:ext cx="6312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900">
                <a:solidFill>
                  <a:srgbClr val="212121"/>
                </a:solidFill>
                <a:latin typeface="Poppins"/>
                <a:ea typeface="Poppins"/>
                <a:cs typeface="Poppins"/>
                <a:sym typeface="Poppins"/>
              </a:rPr>
              <a:t>Example path: /notes/meeting.md</a:t>
            </a:r>
            <a:endParaRPr sz="1900">
              <a:solidFill>
                <a:srgbClr val="212121"/>
              </a:solidFill>
              <a:latin typeface="Poppins"/>
              <a:ea typeface="Poppins"/>
              <a:cs typeface="Poppins"/>
              <a:sym typeface="Poppins"/>
            </a:endParaRPr>
          </a:p>
        </p:txBody>
      </p:sp>
      <p:cxnSp>
        <p:nvCxnSpPr>
          <p:cNvPr id="315" name="Google Shape;315;p36"/>
          <p:cNvCxnSpPr/>
          <p:nvPr/>
        </p:nvCxnSpPr>
        <p:spPr>
          <a:xfrm>
            <a:off x="2692400" y="16002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316" name="Google Shape;316;p36"/>
          <p:cNvSpPr/>
          <p:nvPr/>
        </p:nvSpPr>
        <p:spPr>
          <a:xfrm>
            <a:off x="571500" y="1879600"/>
            <a:ext cx="4191000" cy="1206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Onchain file record</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 details + fingerprint</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Retrieval references</a:t>
            </a:r>
            <a:endParaRPr sz="2000">
              <a:solidFill>
                <a:srgbClr val="212121"/>
              </a:solidFill>
              <a:latin typeface="Poppins"/>
              <a:ea typeface="Poppins"/>
              <a:cs typeface="Poppins"/>
              <a:sym typeface="Poppins"/>
            </a:endParaRPr>
          </a:p>
        </p:txBody>
      </p:sp>
      <p:cxnSp>
        <p:nvCxnSpPr>
          <p:cNvPr id="317" name="Google Shape;317;p36"/>
          <p:cNvCxnSpPr/>
          <p:nvPr/>
        </p:nvCxnSpPr>
        <p:spPr>
          <a:xfrm>
            <a:off x="4787900" y="2476500"/>
            <a:ext cx="635100" cy="0"/>
          </a:xfrm>
          <a:prstGeom prst="straightConnector1">
            <a:avLst/>
          </a:prstGeom>
          <a:noFill/>
          <a:ln cap="flat" cmpd="sng" w="17775">
            <a:solidFill>
              <a:srgbClr val="06038D"/>
            </a:solidFill>
            <a:prstDash val="solid"/>
            <a:round/>
            <a:headEnd len="med" w="med" type="none"/>
            <a:tailEnd len="med" w="med" type="triangle"/>
          </a:ln>
        </p:spPr>
      </p:cxnSp>
      <p:sp>
        <p:nvSpPr>
          <p:cNvPr id="318" name="Google Shape;318;p36"/>
          <p:cNvSpPr/>
          <p:nvPr/>
        </p:nvSpPr>
        <p:spPr>
          <a:xfrm>
            <a:off x="5461000" y="2044700"/>
            <a:ext cx="31116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Contract reads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file details</a:t>
            </a:r>
            <a:endParaRPr sz="2100">
              <a:solidFill>
                <a:srgbClr val="FFFFFF"/>
              </a:solidFill>
              <a:latin typeface="Poppins"/>
              <a:ea typeface="Poppins"/>
              <a:cs typeface="Poppins"/>
              <a:sym typeface="Poppins"/>
            </a:endParaRPr>
          </a:p>
        </p:txBody>
      </p:sp>
      <p:sp>
        <p:nvSpPr>
          <p:cNvPr id="319" name="Google Shape;319;p36"/>
          <p:cNvSpPr/>
          <p:nvPr/>
        </p:nvSpPr>
        <p:spPr>
          <a:xfrm>
            <a:off x="571500" y="3340100"/>
            <a:ext cx="4191000" cy="774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Web client retrieves a copy</a:t>
            </a:r>
            <a:endParaRPr sz="18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and checks its fingerprint</a:t>
            </a:r>
            <a:endParaRPr sz="1800">
              <a:solidFill>
                <a:srgbClr val="FFFFFF"/>
              </a:solidFill>
              <a:latin typeface="Poppins"/>
              <a:ea typeface="Poppins"/>
              <a:cs typeface="Poppins"/>
              <a:sym typeface="Poppins"/>
            </a:endParaRPr>
          </a:p>
        </p:txBody>
      </p:sp>
      <p:sp>
        <p:nvSpPr>
          <p:cNvPr id="320" name="Google Shape;320;p36"/>
          <p:cNvSpPr/>
          <p:nvPr/>
        </p:nvSpPr>
        <p:spPr>
          <a:xfrm>
            <a:off x="5461000" y="30988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IPFS copy</a:t>
            </a:r>
            <a:endParaRPr sz="2100">
              <a:solidFill>
                <a:srgbClr val="212121"/>
              </a:solidFill>
              <a:latin typeface="Poppins"/>
              <a:ea typeface="Poppins"/>
              <a:cs typeface="Poppins"/>
              <a:sym typeface="Poppins"/>
            </a:endParaRPr>
          </a:p>
        </p:txBody>
      </p:sp>
      <p:sp>
        <p:nvSpPr>
          <p:cNvPr id="321" name="Google Shape;321;p36"/>
          <p:cNvSpPr/>
          <p:nvPr/>
        </p:nvSpPr>
        <p:spPr>
          <a:xfrm>
            <a:off x="5461000" y="36703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Arweave copy</a:t>
            </a:r>
            <a:endParaRPr sz="2100">
              <a:solidFill>
                <a:srgbClr val="212121"/>
              </a:solidFill>
              <a:latin typeface="Poppins"/>
              <a:ea typeface="Poppins"/>
              <a:cs typeface="Poppins"/>
              <a:sym typeface="Poppins"/>
            </a:endParaRPr>
          </a:p>
        </p:txBody>
      </p:sp>
      <p:cxnSp>
        <p:nvCxnSpPr>
          <p:cNvPr id="322" name="Google Shape;322;p36"/>
          <p:cNvCxnSpPr/>
          <p:nvPr/>
        </p:nvCxnSpPr>
        <p:spPr>
          <a:xfrm>
            <a:off x="2667000" y="3111500"/>
            <a:ext cx="0" cy="190500"/>
          </a:xfrm>
          <a:prstGeom prst="straightConnector1">
            <a:avLst/>
          </a:prstGeom>
          <a:noFill/>
          <a:ln cap="flat" cmpd="sng" w="12700">
            <a:solidFill>
              <a:srgbClr val="06038D"/>
            </a:solidFill>
            <a:prstDash val="solid"/>
            <a:round/>
            <a:headEnd len="med" w="med" type="none"/>
            <a:tailEnd len="med" w="med" type="triangle"/>
          </a:ln>
        </p:spPr>
      </p:cxnSp>
      <p:cxnSp>
        <p:nvCxnSpPr>
          <p:cNvPr id="323" name="Google Shape;323;p36"/>
          <p:cNvCxnSpPr/>
          <p:nvPr/>
        </p:nvCxnSpPr>
        <p:spPr>
          <a:xfrm rot="10800000">
            <a:off x="5130800" y="3314700"/>
            <a:ext cx="304800" cy="0"/>
          </a:xfrm>
          <a:prstGeom prst="straightConnector1">
            <a:avLst/>
          </a:prstGeom>
          <a:noFill/>
          <a:ln cap="flat" cmpd="sng" w="12700">
            <a:solidFill>
              <a:srgbClr val="06038D"/>
            </a:solidFill>
            <a:prstDash val="solid"/>
            <a:round/>
            <a:headEnd len="med" w="med" type="none"/>
            <a:tailEnd len="med" w="med" type="none"/>
          </a:ln>
        </p:spPr>
      </p:cxnSp>
      <p:cxnSp>
        <p:nvCxnSpPr>
          <p:cNvPr id="324" name="Google Shape;324;p36"/>
          <p:cNvCxnSpPr/>
          <p:nvPr/>
        </p:nvCxnSpPr>
        <p:spPr>
          <a:xfrm rot="10800000">
            <a:off x="5130800" y="3886200"/>
            <a:ext cx="304800" cy="0"/>
          </a:xfrm>
          <a:prstGeom prst="straightConnector1">
            <a:avLst/>
          </a:prstGeom>
          <a:noFill/>
          <a:ln cap="flat" cmpd="sng" w="12700">
            <a:solidFill>
              <a:srgbClr val="06038D"/>
            </a:solidFill>
            <a:prstDash val="solid"/>
            <a:round/>
            <a:headEnd len="med" w="med" type="none"/>
            <a:tailEnd len="med" w="med" type="none"/>
          </a:ln>
        </p:spPr>
      </p:cxnSp>
      <p:cxnSp>
        <p:nvCxnSpPr>
          <p:cNvPr id="325" name="Google Shape;325;p36"/>
          <p:cNvCxnSpPr/>
          <p:nvPr/>
        </p:nvCxnSpPr>
        <p:spPr>
          <a:xfrm>
            <a:off x="5130800" y="3314700"/>
            <a:ext cx="0" cy="571500"/>
          </a:xfrm>
          <a:prstGeom prst="straightConnector1">
            <a:avLst/>
          </a:prstGeom>
          <a:noFill/>
          <a:ln cap="flat" cmpd="sng" w="12700">
            <a:solidFill>
              <a:srgbClr val="06038D"/>
            </a:solidFill>
            <a:prstDash val="solid"/>
            <a:round/>
            <a:headEnd len="med" w="med" type="none"/>
            <a:tailEnd len="med" w="med" type="none"/>
          </a:ln>
        </p:spPr>
      </p:cxnSp>
      <p:cxnSp>
        <p:nvCxnSpPr>
          <p:cNvPr id="326" name="Google Shape;326;p36"/>
          <p:cNvCxnSpPr/>
          <p:nvPr/>
        </p:nvCxnSpPr>
        <p:spPr>
          <a:xfrm rot="10800000">
            <a:off x="4800500" y="3695700"/>
            <a:ext cx="330300" cy="0"/>
          </a:xfrm>
          <a:prstGeom prst="straightConnector1">
            <a:avLst/>
          </a:prstGeom>
          <a:noFill/>
          <a:ln cap="flat" cmpd="sng" w="12700">
            <a:solidFill>
              <a:srgbClr val="06038D"/>
            </a:solidFill>
            <a:prstDash val="solid"/>
            <a:round/>
            <a:headEnd len="med" w="med" type="none"/>
            <a:tailEnd len="med" w="med" type="triangle"/>
          </a:ln>
        </p:spPr>
      </p:cxnSp>
      <p:sp>
        <p:nvSpPr>
          <p:cNvPr id="327" name="Google Shape;327;p36"/>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28" name="Google Shape;328;p36"/>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29" name="Google Shape;329;p36"/>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Fetch from another source. Does its fingerprint</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match the accepted file record?</a:t>
            </a:r>
            <a:endParaRPr sz="1600">
              <a:solidFill>
                <a:srgbClr val="FFFFFF"/>
              </a:solidFill>
              <a:latin typeface="Poppins"/>
              <a:ea typeface="Poppins"/>
              <a:cs typeface="Poppins"/>
              <a:sym typeface="Poppins"/>
            </a:endParaRPr>
          </a:p>
        </p:txBody>
      </p:sp>
      <p:pic>
        <p:nvPicPr>
          <p:cNvPr id="330" name="Google Shape;330;p36"/>
          <p:cNvPicPr preferRelativeResize="0"/>
          <p:nvPr/>
        </p:nvPicPr>
        <p:blipFill>
          <a:blip r:embed="rId3">
            <a:alphaModFix/>
          </a:blip>
          <a:stretch>
            <a:fillRect/>
          </a:stretch>
        </p:blipFill>
        <p:spPr>
          <a:xfrm>
            <a:off x="7366000" y="1155700"/>
            <a:ext cx="1155700" cy="49388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7"/>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The data survives. Can your app read it?</a:t>
            </a:r>
            <a:endParaRPr b="1">
              <a:solidFill>
                <a:srgbClr val="06038D"/>
              </a:solidFill>
              <a:latin typeface="Poppins"/>
              <a:ea typeface="Poppins"/>
              <a:cs typeface="Poppins"/>
              <a:sym typeface="Poppins"/>
            </a:endParaRPr>
          </a:p>
        </p:txBody>
      </p:sp>
      <p:sp>
        <p:nvSpPr>
          <p:cNvPr id="336" name="Google Shape;336;p37"/>
          <p:cNvSpPr txBox="1"/>
          <p:nvPr/>
        </p:nvSpPr>
        <p:spPr>
          <a:xfrm>
            <a:off x="508000" y="11811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06038D"/>
                </a:solidFill>
                <a:latin typeface="Poppins"/>
                <a:ea typeface="Poppins"/>
                <a:cs typeface="Poppins"/>
                <a:sym typeface="Poppins"/>
              </a:rPr>
              <a:t>Read a wallet balance</a:t>
            </a:r>
            <a:endParaRPr b="1" sz="2000">
              <a:solidFill>
                <a:srgbClr val="06038D"/>
              </a:solidFill>
              <a:latin typeface="Poppins"/>
              <a:ea typeface="Poppins"/>
              <a:cs typeface="Poppins"/>
              <a:sym typeface="Poppins"/>
            </a:endParaRPr>
          </a:p>
        </p:txBody>
      </p:sp>
      <p:sp>
        <p:nvSpPr>
          <p:cNvPr id="337" name="Google Shape;337;p37"/>
          <p:cNvSpPr/>
          <p:nvPr/>
        </p:nvSpPr>
        <p:spPr>
          <a:xfrm>
            <a:off x="508000" y="16891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Chain state</a:t>
            </a:r>
            <a:endParaRPr sz="2000">
              <a:solidFill>
                <a:srgbClr val="212121"/>
              </a:solidFill>
              <a:latin typeface="Poppins"/>
              <a:ea typeface="Poppins"/>
              <a:cs typeface="Poppins"/>
              <a:sym typeface="Poppins"/>
            </a:endParaRPr>
          </a:p>
        </p:txBody>
      </p:sp>
      <p:sp>
        <p:nvSpPr>
          <p:cNvPr id="338" name="Google Shape;338;p37"/>
          <p:cNvSpPr/>
          <p:nvPr/>
        </p:nvSpPr>
        <p:spPr>
          <a:xfrm>
            <a:off x="3365500" y="16891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RPC provider</a:t>
            </a:r>
            <a:endParaRPr sz="1800">
              <a:solidFill>
                <a:srgbClr val="212121"/>
              </a:solidFill>
              <a:latin typeface="Poppins"/>
              <a:ea typeface="Poppins"/>
              <a:cs typeface="Poppins"/>
              <a:sym typeface="Poppins"/>
            </a:endParaRPr>
          </a:p>
          <a:p>
            <a:pPr indent="0" lvl="0" marL="0" marR="0" rtl="0" algn="ctr">
              <a:lnSpc>
                <a:spcPct val="110000"/>
              </a:lnSpc>
              <a:spcBef>
                <a:spcPts val="0"/>
              </a:spcBef>
              <a:spcAft>
                <a:spcPts val="0"/>
              </a:spcAft>
              <a:buNone/>
            </a:pPr>
            <a:r>
              <a:rPr lang="en" sz="1800">
                <a:solidFill>
                  <a:srgbClr val="212121"/>
                </a:solidFill>
                <a:latin typeface="Poppins"/>
                <a:ea typeface="Poppins"/>
                <a:cs typeface="Poppins"/>
                <a:sym typeface="Poppins"/>
              </a:rPr>
              <a:t>or your own node</a:t>
            </a:r>
            <a:endParaRPr sz="1800">
              <a:solidFill>
                <a:srgbClr val="212121"/>
              </a:solidFill>
              <a:latin typeface="Poppins"/>
              <a:ea typeface="Poppins"/>
              <a:cs typeface="Poppins"/>
              <a:sym typeface="Poppins"/>
            </a:endParaRPr>
          </a:p>
        </p:txBody>
      </p:sp>
      <p:sp>
        <p:nvSpPr>
          <p:cNvPr id="339" name="Google Shape;339;p37"/>
          <p:cNvSpPr/>
          <p:nvPr/>
        </p:nvSpPr>
        <p:spPr>
          <a:xfrm>
            <a:off x="6667500" y="16891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900">
                <a:solidFill>
                  <a:srgbClr val="FFFFFF"/>
                </a:solidFill>
                <a:latin typeface="Poppins"/>
                <a:ea typeface="Poppins"/>
                <a:cs typeface="Poppins"/>
                <a:sym typeface="Poppins"/>
              </a:rPr>
              <a:t>Balance</a:t>
            </a:r>
            <a:endParaRPr sz="19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900">
                <a:solidFill>
                  <a:srgbClr val="FFFFFF"/>
                </a:solidFill>
                <a:latin typeface="Poppins"/>
                <a:ea typeface="Poppins"/>
                <a:cs typeface="Poppins"/>
                <a:sym typeface="Poppins"/>
              </a:rPr>
              <a:t>2.40 ETH</a:t>
            </a:r>
            <a:endParaRPr sz="1900">
              <a:solidFill>
                <a:srgbClr val="FFFFFF"/>
              </a:solidFill>
              <a:latin typeface="Poppins"/>
              <a:ea typeface="Poppins"/>
              <a:cs typeface="Poppins"/>
              <a:sym typeface="Poppins"/>
            </a:endParaRPr>
          </a:p>
        </p:txBody>
      </p:sp>
      <p:sp>
        <p:nvSpPr>
          <p:cNvPr id="340" name="Google Shape;340;p37"/>
          <p:cNvSpPr txBox="1"/>
          <p:nvPr/>
        </p:nvSpPr>
        <p:spPr>
          <a:xfrm>
            <a:off x="508000" y="27178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06038D"/>
                </a:solidFill>
                <a:latin typeface="Poppins"/>
                <a:ea typeface="Poppins"/>
                <a:cs typeface="Poppins"/>
                <a:sym typeface="Poppins"/>
              </a:rPr>
              <a:t>Show a transaction history</a:t>
            </a:r>
            <a:endParaRPr b="1" sz="2000">
              <a:solidFill>
                <a:srgbClr val="06038D"/>
              </a:solidFill>
              <a:latin typeface="Poppins"/>
              <a:ea typeface="Poppins"/>
              <a:cs typeface="Poppins"/>
              <a:sym typeface="Poppins"/>
            </a:endParaRPr>
          </a:p>
        </p:txBody>
      </p:sp>
      <p:cxnSp>
        <p:nvCxnSpPr>
          <p:cNvPr id="341" name="Google Shape;341;p37"/>
          <p:cNvCxnSpPr/>
          <p:nvPr/>
        </p:nvCxnSpPr>
        <p:spPr>
          <a:xfrm>
            <a:off x="2946400" y="20828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42" name="Google Shape;342;p37"/>
          <p:cNvCxnSpPr/>
          <p:nvPr/>
        </p:nvCxnSpPr>
        <p:spPr>
          <a:xfrm>
            <a:off x="6248400" y="2082800"/>
            <a:ext cx="393600" cy="0"/>
          </a:xfrm>
          <a:prstGeom prst="straightConnector1">
            <a:avLst/>
          </a:prstGeom>
          <a:noFill/>
          <a:ln cap="flat" cmpd="sng" w="16500">
            <a:solidFill>
              <a:srgbClr val="06038D"/>
            </a:solidFill>
            <a:prstDash val="solid"/>
            <a:round/>
            <a:headEnd len="med" w="med" type="none"/>
            <a:tailEnd len="med" w="med" type="triangle"/>
          </a:ln>
        </p:spPr>
      </p:cxnSp>
      <p:sp>
        <p:nvSpPr>
          <p:cNvPr id="343" name="Google Shape;343;p37"/>
          <p:cNvSpPr/>
          <p:nvPr/>
        </p:nvSpPr>
        <p:spPr>
          <a:xfrm>
            <a:off x="508000" y="32258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Published</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records + history</a:t>
            </a:r>
            <a:endParaRPr sz="1900">
              <a:solidFill>
                <a:srgbClr val="212121"/>
              </a:solidFill>
              <a:latin typeface="Poppins"/>
              <a:ea typeface="Poppins"/>
              <a:cs typeface="Poppins"/>
              <a:sym typeface="Poppins"/>
            </a:endParaRPr>
          </a:p>
        </p:txBody>
      </p:sp>
      <p:sp>
        <p:nvSpPr>
          <p:cNvPr id="344" name="Google Shape;344;p37"/>
          <p:cNvSpPr/>
          <p:nvPr/>
        </p:nvSpPr>
        <p:spPr>
          <a:xfrm>
            <a:off x="3365500" y="32258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Independent indexers</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Example: The Graph</a:t>
            </a:r>
            <a:endParaRPr sz="1800">
              <a:solidFill>
                <a:srgbClr val="212121"/>
              </a:solidFill>
              <a:latin typeface="Poppins"/>
              <a:ea typeface="Poppins"/>
              <a:cs typeface="Poppins"/>
              <a:sym typeface="Poppins"/>
            </a:endParaRPr>
          </a:p>
        </p:txBody>
      </p:sp>
      <p:sp>
        <p:nvSpPr>
          <p:cNvPr id="345" name="Google Shape;345;p37"/>
          <p:cNvSpPr/>
          <p:nvPr/>
        </p:nvSpPr>
        <p:spPr>
          <a:xfrm>
            <a:off x="6667500" y="32258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500">
                <a:solidFill>
                  <a:srgbClr val="FFFFFF"/>
                </a:solidFill>
                <a:latin typeface="Poppins"/>
                <a:ea typeface="Poppins"/>
                <a:cs typeface="Poppins"/>
                <a:sym typeface="Poppins"/>
              </a:rPr>
              <a:t>Recent transfers</a:t>
            </a:r>
            <a:endParaRPr sz="15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500">
                <a:solidFill>
                  <a:srgbClr val="FFFFFF"/>
                </a:solidFill>
                <a:latin typeface="Poppins"/>
                <a:ea typeface="Poppins"/>
                <a:cs typeface="Poppins"/>
                <a:sym typeface="Poppins"/>
              </a:rPr>
              <a:t>0.20 ETH received</a:t>
            </a:r>
            <a:endParaRPr sz="1500">
              <a:solidFill>
                <a:srgbClr val="FFFFFF"/>
              </a:solidFill>
              <a:latin typeface="Poppins"/>
              <a:ea typeface="Poppins"/>
              <a:cs typeface="Poppins"/>
              <a:sym typeface="Poppins"/>
            </a:endParaRPr>
          </a:p>
        </p:txBody>
      </p:sp>
      <p:cxnSp>
        <p:nvCxnSpPr>
          <p:cNvPr id="346" name="Google Shape;346;p37"/>
          <p:cNvCxnSpPr/>
          <p:nvPr/>
        </p:nvCxnSpPr>
        <p:spPr>
          <a:xfrm>
            <a:off x="2946400" y="36195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47" name="Google Shape;347;p37"/>
          <p:cNvCxnSpPr/>
          <p:nvPr/>
        </p:nvCxnSpPr>
        <p:spPr>
          <a:xfrm>
            <a:off x="6248400" y="3619500"/>
            <a:ext cx="393600" cy="0"/>
          </a:xfrm>
          <a:prstGeom prst="straightConnector1">
            <a:avLst/>
          </a:prstGeom>
          <a:noFill/>
          <a:ln cap="flat" cmpd="sng" w="16500">
            <a:solidFill>
              <a:srgbClr val="06038D"/>
            </a:solidFill>
            <a:prstDash val="solid"/>
            <a:round/>
            <a:headEnd len="med" w="med" type="none"/>
            <a:tailEnd len="med" w="med" type="triangle"/>
          </a:ln>
        </p:spPr>
      </p:cxnSp>
      <p:sp>
        <p:nvSpPr>
          <p:cNvPr id="348" name="Google Shape;348;p37"/>
          <p:cNvSpPr txBox="1"/>
          <p:nvPr/>
        </p:nvSpPr>
        <p:spPr>
          <a:xfrm>
            <a:off x="508000" y="2489200"/>
            <a:ext cx="8127900" cy="266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300">
                <a:solidFill>
                  <a:srgbClr val="06038D"/>
                </a:solidFill>
                <a:latin typeface="Poppins"/>
                <a:ea typeface="Poppins"/>
                <a:cs typeface="Poppins"/>
                <a:sym typeface="Poppins"/>
              </a:rPr>
              <a:t>Light clients such as Helios can verify supported chain reads.</a:t>
            </a:r>
            <a:endParaRPr sz="1300">
              <a:solidFill>
                <a:srgbClr val="06038D"/>
              </a:solidFill>
              <a:latin typeface="Poppins"/>
              <a:ea typeface="Poppins"/>
              <a:cs typeface="Poppins"/>
              <a:sym typeface="Poppins"/>
            </a:endParaRPr>
          </a:p>
        </p:txBody>
      </p:sp>
      <p:sp>
        <p:nvSpPr>
          <p:cNvPr id="349" name="Google Shape;349;p37"/>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50" name="Google Shape;350;p37"/>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51" name="Google Shape;351;p37"/>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Switch data providers. Can users still find</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their records and latest changes?</a:t>
            </a:r>
            <a:endParaRPr sz="1600">
              <a:solidFill>
                <a:srgbClr val="FFFFFF"/>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sends the next transaction?</a:t>
            </a:r>
            <a:endParaRPr b="1" sz="3000">
              <a:solidFill>
                <a:srgbClr val="06038D"/>
              </a:solidFill>
              <a:latin typeface="Poppins"/>
              <a:ea typeface="Poppins"/>
              <a:cs typeface="Poppins"/>
              <a:sym typeface="Poppins"/>
            </a:endParaRPr>
          </a:p>
        </p:txBody>
      </p:sp>
      <p:sp>
        <p:nvSpPr>
          <p:cNvPr id="357" name="Google Shape;357;p38"/>
          <p:cNvSpPr txBox="1"/>
          <p:nvPr/>
        </p:nvSpPr>
        <p:spPr>
          <a:xfrm>
            <a:off x="508000" y="11430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Tornado Cash: replaceable relayers</a:t>
            </a:r>
            <a:endParaRPr sz="2200">
              <a:solidFill>
                <a:srgbClr val="212121"/>
              </a:solidFill>
              <a:latin typeface="Poppins"/>
              <a:ea typeface="Poppins"/>
              <a:cs typeface="Poppins"/>
              <a:sym typeface="Poppins"/>
            </a:endParaRPr>
          </a:p>
        </p:txBody>
      </p:sp>
      <p:sp>
        <p:nvSpPr>
          <p:cNvPr id="358" name="Google Shape;358;p38"/>
          <p:cNvSpPr/>
          <p:nvPr/>
        </p:nvSpPr>
        <p:spPr>
          <a:xfrm>
            <a:off x="3581400" y="1816100"/>
            <a:ext cx="2412900" cy="7494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A</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Offline</a:t>
            </a:r>
            <a:endParaRPr sz="2000">
              <a:solidFill>
                <a:srgbClr val="212121"/>
              </a:solidFill>
              <a:latin typeface="Poppins"/>
              <a:ea typeface="Poppins"/>
              <a:cs typeface="Poppins"/>
              <a:sym typeface="Poppins"/>
            </a:endParaRPr>
          </a:p>
        </p:txBody>
      </p:sp>
      <p:sp>
        <p:nvSpPr>
          <p:cNvPr id="359" name="Google Shape;359;p38"/>
          <p:cNvSpPr/>
          <p:nvPr/>
        </p:nvSpPr>
        <p:spPr>
          <a:xfrm>
            <a:off x="3581400" y="3073400"/>
            <a:ext cx="24129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B</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Submits proof</a:t>
            </a:r>
            <a:endParaRPr sz="2000">
              <a:solidFill>
                <a:srgbClr val="212121"/>
              </a:solidFill>
              <a:latin typeface="Poppins"/>
              <a:ea typeface="Poppins"/>
              <a:cs typeface="Poppins"/>
              <a:sym typeface="Poppins"/>
            </a:endParaRPr>
          </a:p>
        </p:txBody>
      </p:sp>
      <p:sp>
        <p:nvSpPr>
          <p:cNvPr id="360" name="Google Shape;360;p38"/>
          <p:cNvSpPr/>
          <p:nvPr/>
        </p:nvSpPr>
        <p:spPr>
          <a:xfrm>
            <a:off x="6540500" y="2692400"/>
            <a:ext cx="2095500" cy="1092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Pool contract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Checks the proof</a:t>
            </a:r>
            <a:endParaRPr sz="2000">
              <a:solidFill>
                <a:srgbClr val="FFFFFF"/>
              </a:solidFill>
              <a:latin typeface="Poppins"/>
              <a:ea typeface="Poppins"/>
              <a:cs typeface="Poppins"/>
              <a:sym typeface="Poppins"/>
            </a:endParaRPr>
          </a:p>
        </p:txBody>
      </p:sp>
      <p:sp>
        <p:nvSpPr>
          <p:cNvPr id="361" name="Google Shape;361;p38"/>
          <p:cNvSpPr/>
          <p:nvPr/>
        </p:nvSpPr>
        <p:spPr>
          <a:xfrm>
            <a:off x="520650" y="2305000"/>
            <a:ext cx="2540100" cy="1092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authorizes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 withdrawal</a:t>
            </a:r>
            <a:endParaRPr sz="2000">
              <a:solidFill>
                <a:srgbClr val="212121"/>
              </a:solidFill>
              <a:latin typeface="Poppins"/>
              <a:ea typeface="Poppins"/>
              <a:cs typeface="Poppins"/>
              <a:sym typeface="Poppins"/>
            </a:endParaRPr>
          </a:p>
        </p:txBody>
      </p:sp>
      <p:cxnSp>
        <p:nvCxnSpPr>
          <p:cNvPr id="362" name="Google Shape;362;p38"/>
          <p:cNvCxnSpPr/>
          <p:nvPr/>
        </p:nvCxnSpPr>
        <p:spPr>
          <a:xfrm>
            <a:off x="3073500" y="2851150"/>
            <a:ext cx="241200" cy="0"/>
          </a:xfrm>
          <a:prstGeom prst="straightConnector1">
            <a:avLst/>
          </a:prstGeom>
          <a:noFill/>
          <a:ln cap="flat" cmpd="sng" w="16500">
            <a:solidFill>
              <a:srgbClr val="06038D"/>
            </a:solidFill>
            <a:prstDash val="solid"/>
            <a:round/>
            <a:headEnd len="med" w="med" type="none"/>
            <a:tailEnd len="med" w="med" type="none"/>
          </a:ln>
        </p:spPr>
      </p:cxnSp>
      <p:cxnSp>
        <p:nvCxnSpPr>
          <p:cNvPr id="363" name="Google Shape;363;p38"/>
          <p:cNvCxnSpPr/>
          <p:nvPr/>
        </p:nvCxnSpPr>
        <p:spPr>
          <a:xfrm>
            <a:off x="3314700" y="2209800"/>
            <a:ext cx="0" cy="1282800"/>
          </a:xfrm>
          <a:prstGeom prst="straightConnector1">
            <a:avLst/>
          </a:prstGeom>
          <a:noFill/>
          <a:ln cap="flat" cmpd="sng" w="16500">
            <a:solidFill>
              <a:srgbClr val="06038D"/>
            </a:solidFill>
            <a:prstDash val="solid"/>
            <a:round/>
            <a:headEnd len="med" w="med" type="none"/>
            <a:tailEnd len="med" w="med" type="none"/>
          </a:ln>
        </p:spPr>
      </p:cxnSp>
      <p:cxnSp>
        <p:nvCxnSpPr>
          <p:cNvPr id="364" name="Google Shape;364;p38"/>
          <p:cNvCxnSpPr/>
          <p:nvPr/>
        </p:nvCxnSpPr>
        <p:spPr>
          <a:xfrm>
            <a:off x="3314700" y="22098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65" name="Google Shape;365;p38"/>
          <p:cNvCxnSpPr/>
          <p:nvPr/>
        </p:nvCxnSpPr>
        <p:spPr>
          <a:xfrm>
            <a:off x="3314700" y="34925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66" name="Google Shape;366;p38"/>
          <p:cNvCxnSpPr/>
          <p:nvPr/>
        </p:nvCxnSpPr>
        <p:spPr>
          <a:xfrm flipH="1" rot="10800000">
            <a:off x="6019800" y="3238400"/>
            <a:ext cx="495300" cy="254100"/>
          </a:xfrm>
          <a:prstGeom prst="straightConnector1">
            <a:avLst/>
          </a:prstGeom>
          <a:noFill/>
          <a:ln cap="flat" cmpd="sng" w="16500">
            <a:solidFill>
              <a:srgbClr val="06038D"/>
            </a:solidFill>
            <a:prstDash val="solid"/>
            <a:round/>
            <a:headEnd len="med" w="med" type="none"/>
            <a:tailEnd len="med" w="med" type="triangle"/>
          </a:ln>
        </p:spPr>
      </p:cxnSp>
      <p:sp>
        <p:nvSpPr>
          <p:cNvPr id="367" name="Google Shape;367;p38"/>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68" name="Google Shape;368;p38"/>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69" name="Google Shape;369;p38"/>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Stop your transaction service. Can another</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operator complete the user’s request?</a:t>
            </a:r>
            <a:endParaRPr sz="1600">
              <a:solidFill>
                <a:srgbClr val="FFFFFF"/>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375" name="Google Shape;375;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0"/>
          <p:cNvSpPr txBox="1"/>
          <p:nvPr>
            <p:ph type="title"/>
          </p:nvPr>
        </p:nvSpPr>
        <p:spPr>
          <a:xfrm>
            <a:off x="4838700" y="762000"/>
            <a:ext cx="3733800" cy="31749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381" name="Google Shape;381;p40"/>
          <p:cNvSpPr txBox="1"/>
          <p:nvPr>
            <p:ph idx="1" type="body"/>
          </p:nvPr>
        </p:nvSpPr>
        <p:spPr>
          <a:xfrm>
            <a:off x="647700" y="889000"/>
            <a:ext cx="3733800" cy="3174900"/>
          </a:xfrm>
          <a:prstGeom prst="rect">
            <a:avLst/>
          </a:prstGeom>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2200">
                <a:solidFill>
                  <a:srgbClr val="212121"/>
                </a:solidFill>
              </a:rPr>
              <a:t>Stable core contracts</a:t>
            </a:r>
            <a:endParaRPr sz="2200">
              <a:solidFill>
                <a:srgbClr val="212121"/>
              </a:solidFill>
            </a:endParaRPr>
          </a:p>
          <a:p>
            <a:pPr indent="0" lvl="0" marL="0" marR="0" rtl="0" algn="l">
              <a:lnSpc>
                <a:spcPct val="105000"/>
              </a:lnSpc>
              <a:spcBef>
                <a:spcPts val="0"/>
              </a:spcBef>
              <a:spcAft>
                <a:spcPts val="0"/>
              </a:spcAft>
              <a:buNone/>
            </a:pPr>
            <a:r>
              <a:t/>
            </a:r>
            <a:endParaRPr sz="2200">
              <a:solidFill>
                <a:srgbClr val="212121"/>
              </a:solidFill>
            </a:endParaRPr>
          </a:p>
          <a:p>
            <a:pPr indent="0" lvl="0" marL="0" marR="0" rtl="0" algn="l">
              <a:lnSpc>
                <a:spcPct val="105000"/>
              </a:lnSpc>
              <a:spcBef>
                <a:spcPts val="0"/>
              </a:spcBef>
              <a:spcAft>
                <a:spcPts val="0"/>
              </a:spcAft>
              <a:buNone/>
            </a:pPr>
            <a:r>
              <a:rPr lang="en" sz="2200">
                <a:solidFill>
                  <a:srgbClr val="212121"/>
                </a:solidFill>
              </a:rPr>
              <a:t>User-controlled app upgrades</a:t>
            </a:r>
            <a:endParaRPr sz="2200">
              <a:solidFill>
                <a:srgbClr val="212121"/>
              </a:solidFill>
            </a:endParaRPr>
          </a:p>
          <a:p>
            <a:pPr indent="0" lvl="0" marL="0" marR="0" rtl="0" algn="l">
              <a:lnSpc>
                <a:spcPct val="105000"/>
              </a:lnSpc>
              <a:spcBef>
                <a:spcPts val="0"/>
              </a:spcBef>
              <a:spcAft>
                <a:spcPts val="0"/>
              </a:spcAft>
              <a:buNone/>
            </a:pPr>
            <a:r>
              <a:t/>
            </a:r>
            <a:endParaRPr sz="2200">
              <a:solidFill>
                <a:srgbClr val="212121"/>
              </a:solidFill>
            </a:endParaRPr>
          </a:p>
          <a:p>
            <a:pPr indent="0" lvl="0" marL="0" marR="0" rtl="0" algn="l">
              <a:lnSpc>
                <a:spcPct val="105000"/>
              </a:lnSpc>
              <a:spcBef>
                <a:spcPts val="0"/>
              </a:spcBef>
              <a:spcAft>
                <a:spcPts val="0"/>
              </a:spcAft>
              <a:buNone/>
            </a:pPr>
            <a:r>
              <a:rPr lang="en" sz="2200">
                <a:solidFill>
                  <a:srgbClr val="212121"/>
                </a:solidFill>
              </a:rPr>
              <a:t>Clear rules for shared governance</a:t>
            </a:r>
            <a:endParaRPr sz="2200">
              <a:solidFill>
                <a:srgbClr val="212121"/>
              </a:solidFill>
            </a:endParaRPr>
          </a:p>
        </p:txBody>
      </p:sp>
      <p:sp>
        <p:nvSpPr>
          <p:cNvPr id="382" name="Google Shape;382;p40"/>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83" name="Google Shape;383;p40"/>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CHECK</a:t>
            </a:r>
            <a:endParaRPr b="1">
              <a:solidFill>
                <a:srgbClr val="06038D"/>
              </a:solidFill>
              <a:latin typeface="Poppins"/>
              <a:ea typeface="Poppins"/>
              <a:cs typeface="Poppins"/>
              <a:sym typeface="Poppins"/>
            </a:endParaRPr>
          </a:p>
        </p:txBody>
      </p:sp>
      <p:sp>
        <p:nvSpPr>
          <p:cNvPr id="384" name="Google Shape;384;p40"/>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Who can change the rules? What can users</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keep using if those powers are abused?</a:t>
            </a:r>
            <a:endParaRPr sz="1600">
              <a:solidFill>
                <a:srgbClr val="FFFFFF"/>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1"/>
          <p:cNvSpPr txBox="1"/>
          <p:nvPr>
            <p:ph idx="1" type="body"/>
          </p:nvPr>
        </p:nvSpPr>
        <p:spPr>
          <a:xfrm>
            <a:off x="698500" y="1485900"/>
            <a:ext cx="3746400" cy="23241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A stable core</a:t>
            </a:r>
            <a:endParaRPr b="1" sz="2200">
              <a:solidFill>
                <a:srgbClr val="212121"/>
              </a:solidFill>
            </a:endParaRPr>
          </a:p>
          <a:p>
            <a:pPr indent="0" lvl="0" marL="0" marR="0" rtl="0" algn="l">
              <a:lnSpc>
                <a:spcPct val="110000"/>
              </a:lnSpc>
              <a:spcBef>
                <a:spcPts val="1200"/>
              </a:spcBef>
              <a:spcAft>
                <a:spcPts val="0"/>
              </a:spcAft>
              <a:buNone/>
            </a:pPr>
            <a:r>
              <a:rPr lang="en" sz="2200">
                <a:solidFill>
                  <a:srgbClr val="212121"/>
                </a:solidFill>
              </a:rPr>
              <a:t>Keep contract code fixed</a:t>
            </a:r>
            <a:endParaRPr sz="2200">
              <a:solidFill>
                <a:srgbClr val="212121"/>
              </a:solidFill>
            </a:endParaRPr>
          </a:p>
          <a:p>
            <a:pPr indent="0" lvl="0" marL="0" marR="0" rtl="0" algn="l">
              <a:lnSpc>
                <a:spcPct val="110000"/>
              </a:lnSpc>
              <a:spcBef>
                <a:spcPts val="1200"/>
              </a:spcBef>
              <a:spcAft>
                <a:spcPts val="1200"/>
              </a:spcAft>
              <a:buNone/>
            </a:pPr>
            <a:r>
              <a:rPr lang="en" sz="2200">
                <a:solidFill>
                  <a:srgbClr val="212121"/>
                </a:solidFill>
              </a:rPr>
              <a:t>Let other apps build on it</a:t>
            </a:r>
            <a:endParaRPr sz="2200">
              <a:solidFill>
                <a:srgbClr val="212121"/>
              </a:solidFill>
            </a:endParaRPr>
          </a:p>
        </p:txBody>
      </p:sp>
      <p:sp>
        <p:nvSpPr>
          <p:cNvPr id="390" name="Google Shape;390;p41"/>
          <p:cNvSpPr txBox="1"/>
          <p:nvPr>
            <p:ph idx="2" type="body"/>
          </p:nvPr>
        </p:nvSpPr>
        <p:spPr>
          <a:xfrm>
            <a:off x="4660900" y="1485900"/>
            <a:ext cx="3784500" cy="23241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Room to improve</a:t>
            </a:r>
            <a:endParaRPr b="1" sz="2200">
              <a:solidFill>
                <a:srgbClr val="212121"/>
              </a:solidFill>
            </a:endParaRPr>
          </a:p>
          <a:p>
            <a:pPr indent="0" lvl="0" marL="0" marR="0" rtl="0" algn="l">
              <a:lnSpc>
                <a:spcPct val="110000"/>
              </a:lnSpc>
              <a:spcBef>
                <a:spcPts val="1200"/>
              </a:spcBef>
              <a:spcAft>
                <a:spcPts val="0"/>
              </a:spcAft>
              <a:buNone/>
            </a:pPr>
            <a:r>
              <a:rPr lang="en" sz="2200">
                <a:solidFill>
                  <a:srgbClr val="212121"/>
                </a:solidFill>
              </a:rPr>
              <a:t>Deploy a new version</a:t>
            </a:r>
            <a:endParaRPr sz="2200">
              <a:solidFill>
                <a:srgbClr val="212121"/>
              </a:solidFill>
            </a:endParaRPr>
          </a:p>
          <a:p>
            <a:pPr indent="0" lvl="0" marL="0" marR="0" rtl="0" algn="l">
              <a:lnSpc>
                <a:spcPct val="110000"/>
              </a:lnSpc>
              <a:spcBef>
                <a:spcPts val="1200"/>
              </a:spcBef>
              <a:spcAft>
                <a:spcPts val="1200"/>
              </a:spcAft>
              <a:buNone/>
            </a:pPr>
            <a:r>
              <a:rPr lang="en" sz="2200">
                <a:solidFill>
                  <a:srgbClr val="212121"/>
                </a:solidFill>
              </a:rPr>
              <a:t>Let users choose to migrate</a:t>
            </a:r>
            <a:endParaRPr sz="2200">
              <a:solidFill>
                <a:srgbClr val="212121"/>
              </a:solidFill>
            </a:endParaRPr>
          </a:p>
        </p:txBody>
      </p:sp>
      <p:sp>
        <p:nvSpPr>
          <p:cNvPr id="391" name="Google Shape;391;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392" name="Google Shape;392;p41"/>
          <p:cNvSpPr txBox="1"/>
          <p:nvPr/>
        </p:nvSpPr>
        <p:spPr>
          <a:xfrm>
            <a:off x="698500" y="3911600"/>
            <a:ext cx="77469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600">
                <a:solidFill>
                  <a:srgbClr val="06038D"/>
                </a:solidFill>
                <a:latin typeface="Poppins"/>
                <a:ea typeface="Poppins"/>
                <a:cs typeface="Poppins"/>
                <a:sym typeface="Poppins"/>
              </a:rPr>
              <a:t>Uniswap v2 core: fixed code, shared exchange logic</a:t>
            </a:r>
            <a:endParaRPr sz="1600">
              <a:solidFill>
                <a:srgbClr val="06038D"/>
              </a:solidFill>
              <a:latin typeface="Poppins"/>
              <a:ea typeface="Poppins"/>
              <a:cs typeface="Poppins"/>
              <a:sym typeface="Poppins"/>
            </a:endParaRPr>
          </a:p>
        </p:txBody>
      </p:sp>
      <p:sp>
        <p:nvSpPr>
          <p:cNvPr id="393" name="Google Shape;393;p41"/>
          <p:cNvSpPr txBox="1"/>
          <p:nvPr/>
        </p:nvSpPr>
        <p:spPr>
          <a:xfrm>
            <a:off x="1540800" y="1058050"/>
            <a:ext cx="6062400" cy="366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200">
                <a:solidFill>
                  <a:srgbClr val="06038D"/>
                </a:solidFill>
                <a:latin typeface="Poppins"/>
                <a:ea typeface="Poppins"/>
                <a:cs typeface="Poppins"/>
                <a:sym typeface="Poppins"/>
              </a:rPr>
              <a:t>UNIX mindset: Do one thing and do it well</a:t>
            </a:r>
            <a:endParaRPr sz="1200">
              <a:solidFill>
                <a:srgbClr val="06038D"/>
              </a:solidFill>
              <a:latin typeface="Poppins"/>
              <a:ea typeface="Poppins"/>
              <a:cs typeface="Poppins"/>
              <a:sym typeface="Poppins"/>
            </a:endParaRPr>
          </a:p>
        </p:txBody>
      </p:sp>
      <p:sp>
        <p:nvSpPr>
          <p:cNvPr id="394" name="Google Shape;394;p41"/>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95" name="Google Shape;395;p41"/>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396" name="Google Shape;396;p41"/>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Keep the old app release and contract address.</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users complete the task without upgrading?</a:t>
            </a:r>
            <a:endParaRPr sz="1600">
              <a:solidFill>
                <a:srgbClr val="FFFFFF"/>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2"/>
          <p:cNvSpPr txBox="1"/>
          <p:nvPr>
            <p:ph idx="1" type="body"/>
          </p:nvPr>
        </p:nvSpPr>
        <p:spPr>
          <a:xfrm>
            <a:off x="698500" y="1371600"/>
            <a:ext cx="3746400" cy="27177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rPr>
              <a:t>Ethereum and L1</a:t>
            </a:r>
            <a:endParaRPr b="1" sz="2100">
              <a:solidFill>
                <a:srgbClr val="212121"/>
              </a:solidFill>
            </a:endParaRPr>
          </a:p>
          <a:p>
            <a:pPr indent="0" lvl="0" marL="0" marR="0" rtl="0" algn="l">
              <a:lnSpc>
                <a:spcPct val="110000"/>
              </a:lnSpc>
              <a:spcBef>
                <a:spcPts val="1200"/>
              </a:spcBef>
              <a:spcAft>
                <a:spcPts val="0"/>
              </a:spcAft>
              <a:buNone/>
            </a:pPr>
            <a:r>
              <a:rPr lang="en" sz="2100">
                <a:solidFill>
                  <a:srgbClr val="212121"/>
                </a:solidFill>
              </a:rPr>
              <a:t>Use another node</a:t>
            </a:r>
            <a:endParaRPr sz="2100">
              <a:solidFill>
                <a:srgbClr val="212121"/>
              </a:solidFill>
            </a:endParaRPr>
          </a:p>
          <a:p>
            <a:pPr indent="0" lvl="0" marL="0" marR="0" rtl="0" algn="l">
              <a:lnSpc>
                <a:spcPct val="110000"/>
              </a:lnSpc>
              <a:spcBef>
                <a:spcPts val="1200"/>
              </a:spcBef>
              <a:spcAft>
                <a:spcPts val="0"/>
              </a:spcAft>
              <a:buNone/>
            </a:pPr>
            <a:r>
              <a:rPr lang="en" sz="2100">
                <a:solidFill>
                  <a:srgbClr val="212121"/>
                </a:solidFill>
              </a:rPr>
              <a:t>Keep required history</a:t>
            </a:r>
            <a:endParaRPr sz="2100">
              <a:solidFill>
                <a:srgbClr val="212121"/>
              </a:solidFill>
            </a:endParaRPr>
          </a:p>
          <a:p>
            <a:pPr indent="0" lvl="0" marL="0" marR="0" rtl="0" algn="l">
              <a:lnSpc>
                <a:spcPct val="110000"/>
              </a:lnSpc>
              <a:spcBef>
                <a:spcPts val="1200"/>
              </a:spcBef>
              <a:spcAft>
                <a:spcPts val="1200"/>
              </a:spcAft>
              <a:buNone/>
            </a:pPr>
            <a:r>
              <a:rPr lang="en" sz="2100">
                <a:solidFill>
                  <a:srgbClr val="212121"/>
                </a:solidFill>
              </a:rPr>
              <a:t>Check inclusion and finality</a:t>
            </a:r>
            <a:endParaRPr sz="2100">
              <a:solidFill>
                <a:srgbClr val="212121"/>
              </a:solidFill>
            </a:endParaRPr>
          </a:p>
        </p:txBody>
      </p:sp>
      <p:sp>
        <p:nvSpPr>
          <p:cNvPr id="402" name="Google Shape;402;p42"/>
          <p:cNvSpPr txBox="1"/>
          <p:nvPr>
            <p:ph idx="2" type="body"/>
          </p:nvPr>
        </p:nvSpPr>
        <p:spPr>
          <a:xfrm>
            <a:off x="4660900" y="1371600"/>
            <a:ext cx="3784500" cy="27177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rPr>
              <a:t>L2 and settlement</a:t>
            </a:r>
            <a:endParaRPr b="1" sz="2100">
              <a:solidFill>
                <a:srgbClr val="212121"/>
              </a:solidFill>
            </a:endParaRPr>
          </a:p>
          <a:p>
            <a:pPr indent="0" lvl="0" marL="0" marR="0" rtl="0" algn="l">
              <a:lnSpc>
                <a:spcPct val="110000"/>
              </a:lnSpc>
              <a:spcBef>
                <a:spcPts val="1200"/>
              </a:spcBef>
              <a:spcAft>
                <a:spcPts val="0"/>
              </a:spcAft>
              <a:buNone/>
            </a:pPr>
            <a:r>
              <a:rPr lang="en" sz="2100">
                <a:solidFill>
                  <a:srgbClr val="212121"/>
                </a:solidFill>
              </a:rPr>
              <a:t>Who orders transactions?</a:t>
            </a:r>
            <a:endParaRPr sz="2100">
              <a:solidFill>
                <a:srgbClr val="212121"/>
              </a:solidFill>
            </a:endParaRPr>
          </a:p>
          <a:p>
            <a:pPr indent="0" lvl="0" marL="0" marR="0" rtl="0" algn="l">
              <a:lnSpc>
                <a:spcPct val="110000"/>
              </a:lnSpc>
              <a:spcBef>
                <a:spcPts val="1200"/>
              </a:spcBef>
              <a:spcAft>
                <a:spcPts val="0"/>
              </a:spcAft>
              <a:buNone/>
            </a:pPr>
            <a:r>
              <a:rPr lang="en" sz="2100">
                <a:solidFill>
                  <a:srgbClr val="212121"/>
                </a:solidFill>
              </a:rPr>
              <a:t>Can users submit through L1?</a:t>
            </a:r>
            <a:endParaRPr sz="2100">
              <a:solidFill>
                <a:srgbClr val="212121"/>
              </a:solidFill>
            </a:endParaRPr>
          </a:p>
          <a:p>
            <a:pPr indent="0" lvl="0" marL="0" marR="0" rtl="0" algn="l">
              <a:lnSpc>
                <a:spcPct val="110000"/>
              </a:lnSpc>
              <a:spcBef>
                <a:spcPts val="1200"/>
              </a:spcBef>
              <a:spcAft>
                <a:spcPts val="1200"/>
              </a:spcAft>
              <a:buNone/>
            </a:pPr>
            <a:r>
              <a:rPr lang="en" sz="2100">
                <a:solidFill>
                  <a:srgbClr val="212121"/>
                </a:solidFill>
              </a:rPr>
              <a:t>How can users withdraw?</a:t>
            </a:r>
            <a:endParaRPr sz="2100">
              <a:solidFill>
                <a:srgbClr val="212121"/>
              </a:solidFill>
            </a:endParaRPr>
          </a:p>
        </p:txBody>
      </p:sp>
      <p:sp>
        <p:nvSpPr>
          <p:cNvPr id="403" name="Google Shape;403;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
        <p:nvSpPr>
          <p:cNvPr id="404" name="Google Shape;404;p42"/>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05" name="Google Shape;405;p42"/>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406" name="Google Shape;406;p42"/>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Rehearse a documented network outage.</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the user complete the recovery steps?</a:t>
            </a:r>
            <a:endParaRPr sz="1600">
              <a:solidFill>
                <a:srgbClr val="FFFFFF"/>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900">
                <a:solidFill>
                  <a:srgbClr val="06038D"/>
                </a:solidFill>
                <a:latin typeface="Poppins"/>
                <a:ea typeface="Poppins"/>
                <a:cs typeface="Poppins"/>
                <a:sym typeface="Poppins"/>
              </a:rPr>
              <a:t>Could someone run it without you?</a:t>
            </a:r>
            <a:endParaRPr b="1" sz="2900">
              <a:solidFill>
                <a:srgbClr val="06038D"/>
              </a:solidFill>
              <a:latin typeface="Poppins"/>
              <a:ea typeface="Poppins"/>
              <a:cs typeface="Poppins"/>
              <a:sym typeface="Poppins"/>
            </a:endParaRPr>
          </a:p>
        </p:txBody>
      </p:sp>
      <p:sp>
        <p:nvSpPr>
          <p:cNvPr id="412" name="Google Shape;412;p43"/>
          <p:cNvSpPr/>
          <p:nvPr/>
        </p:nvSpPr>
        <p:spPr>
          <a:xfrm>
            <a:off x="508000" y="1905000"/>
            <a:ext cx="3048000" cy="19050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Software + license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 + instructions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Configuration + costs</a:t>
            </a:r>
            <a:endParaRPr sz="2000">
              <a:solidFill>
                <a:srgbClr val="212121"/>
              </a:solidFill>
              <a:latin typeface="Poppins"/>
              <a:ea typeface="Poppins"/>
              <a:cs typeface="Poppins"/>
              <a:sym typeface="Poppins"/>
            </a:endParaRPr>
          </a:p>
        </p:txBody>
      </p:sp>
      <p:cxnSp>
        <p:nvCxnSpPr>
          <p:cNvPr id="413" name="Google Shape;413;p43"/>
          <p:cNvCxnSpPr/>
          <p:nvPr/>
        </p:nvCxnSpPr>
        <p:spPr>
          <a:xfrm>
            <a:off x="3619500" y="2527300"/>
            <a:ext cx="482700" cy="0"/>
          </a:xfrm>
          <a:prstGeom prst="straightConnector1">
            <a:avLst/>
          </a:prstGeom>
          <a:noFill/>
          <a:ln cap="flat" cmpd="sng" w="16500">
            <a:solidFill>
              <a:srgbClr val="06038D"/>
            </a:solidFill>
            <a:prstDash val="solid"/>
            <a:round/>
            <a:headEnd len="med" w="med" type="none"/>
            <a:tailEnd len="med" w="med" type="triangle"/>
          </a:ln>
        </p:spPr>
      </p:cxnSp>
      <p:sp>
        <p:nvSpPr>
          <p:cNvPr id="414" name="Google Shape;414;p43"/>
          <p:cNvSpPr/>
          <p:nvPr/>
        </p:nvSpPr>
        <p:spPr>
          <a:xfrm>
            <a:off x="4191000" y="2120900"/>
            <a:ext cx="1905000" cy="825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Independent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operator</a:t>
            </a:r>
            <a:endParaRPr sz="2000">
              <a:solidFill>
                <a:srgbClr val="FFFFFF"/>
              </a:solidFill>
              <a:latin typeface="Poppins"/>
              <a:ea typeface="Poppins"/>
              <a:cs typeface="Poppins"/>
              <a:sym typeface="Poppins"/>
            </a:endParaRPr>
          </a:p>
        </p:txBody>
      </p:sp>
      <p:cxnSp>
        <p:nvCxnSpPr>
          <p:cNvPr id="415" name="Google Shape;415;p43"/>
          <p:cNvCxnSpPr/>
          <p:nvPr/>
        </p:nvCxnSpPr>
        <p:spPr>
          <a:xfrm>
            <a:off x="6172200" y="2527300"/>
            <a:ext cx="597000" cy="0"/>
          </a:xfrm>
          <a:prstGeom prst="straightConnector1">
            <a:avLst/>
          </a:prstGeom>
          <a:noFill/>
          <a:ln cap="flat" cmpd="sng" w="16500">
            <a:solidFill>
              <a:srgbClr val="06038D"/>
            </a:solidFill>
            <a:prstDash val="solid"/>
            <a:round/>
            <a:headEnd len="med" w="med" type="none"/>
            <a:tailEnd len="med" w="med" type="triangle"/>
          </a:ln>
        </p:spPr>
      </p:cxnSp>
      <p:sp>
        <p:nvSpPr>
          <p:cNvPr id="416" name="Google Shape;416;p43"/>
          <p:cNvSpPr/>
          <p:nvPr/>
        </p:nvSpPr>
        <p:spPr>
          <a:xfrm>
            <a:off x="6858000" y="2120900"/>
            <a:ext cx="1778100" cy="825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User’s task</a:t>
            </a:r>
            <a:endParaRPr sz="1800">
              <a:solidFill>
                <a:srgbClr val="FFFFFF"/>
              </a:solidFill>
              <a:latin typeface="Poppins"/>
              <a:ea typeface="Poppins"/>
              <a:cs typeface="Poppins"/>
              <a:sym typeface="Poppins"/>
            </a:endParaRPr>
          </a:p>
          <a:p>
            <a:pPr indent="0" lvl="0" marL="0" marR="0" rtl="0" algn="ctr">
              <a:lnSpc>
                <a:spcPct val="110000"/>
              </a:lnSpc>
              <a:spcBef>
                <a:spcPts val="0"/>
              </a:spcBef>
              <a:spcAft>
                <a:spcPts val="0"/>
              </a:spcAft>
              <a:buNone/>
            </a:pPr>
            <a:r>
              <a:rPr lang="en" sz="1800">
                <a:solidFill>
                  <a:srgbClr val="FFFFFF"/>
                </a:solidFill>
                <a:latin typeface="Poppins"/>
                <a:ea typeface="Poppins"/>
                <a:cs typeface="Poppins"/>
                <a:sym typeface="Poppins"/>
              </a:rPr>
              <a:t>completed</a:t>
            </a:r>
            <a:endParaRPr sz="1800">
              <a:solidFill>
                <a:srgbClr val="FFFFFF"/>
              </a:solidFill>
              <a:latin typeface="Poppins"/>
              <a:ea typeface="Poppins"/>
              <a:cs typeface="Poppins"/>
              <a:sym typeface="Poppins"/>
            </a:endParaRPr>
          </a:p>
        </p:txBody>
      </p:sp>
      <p:sp>
        <p:nvSpPr>
          <p:cNvPr id="417" name="Google Shape;417;p43"/>
          <p:cNvSpPr/>
          <p:nvPr/>
        </p:nvSpPr>
        <p:spPr>
          <a:xfrm>
            <a:off x="3492500" y="1155700"/>
            <a:ext cx="4635600" cy="4065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FFFFFF"/>
                </a:solidFill>
                <a:latin typeface="Poppins"/>
                <a:ea typeface="Poppins"/>
                <a:cs typeface="Poppins"/>
                <a:sym typeface="Poppins"/>
              </a:rPr>
              <a:t>No private help from the team</a:t>
            </a:r>
            <a:endParaRPr sz="1700">
              <a:solidFill>
                <a:srgbClr val="FFFFFF"/>
              </a:solidFill>
              <a:latin typeface="Poppins"/>
              <a:ea typeface="Poppins"/>
              <a:cs typeface="Poppins"/>
              <a:sym typeface="Poppins"/>
            </a:endParaRPr>
          </a:p>
        </p:txBody>
      </p:sp>
      <p:sp>
        <p:nvSpPr>
          <p:cNvPr id="418" name="Google Shape;418;p43"/>
          <p:cNvSpPr txBox="1"/>
          <p:nvPr/>
        </p:nvSpPr>
        <p:spPr>
          <a:xfrm>
            <a:off x="508000" y="1460500"/>
            <a:ext cx="3048000" cy="3810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2000">
                <a:solidFill>
                  <a:srgbClr val="06038D"/>
                </a:solidFill>
                <a:latin typeface="Poppins"/>
                <a:ea typeface="Poppins"/>
                <a:cs typeface="Poppins"/>
                <a:sym typeface="Poppins"/>
              </a:rPr>
              <a:t>Public handoff</a:t>
            </a:r>
            <a:endParaRPr b="1" sz="2000">
              <a:solidFill>
                <a:srgbClr val="06038D"/>
              </a:solidFill>
              <a:latin typeface="Poppins"/>
              <a:ea typeface="Poppins"/>
              <a:cs typeface="Poppins"/>
              <a:sym typeface="Poppins"/>
            </a:endParaRPr>
          </a:p>
        </p:txBody>
      </p:sp>
      <p:sp>
        <p:nvSpPr>
          <p:cNvPr id="419" name="Google Shape;419;p43"/>
          <p:cNvSpPr txBox="1"/>
          <p:nvPr/>
        </p:nvSpPr>
        <p:spPr>
          <a:xfrm>
            <a:off x="3975100" y="3149600"/>
            <a:ext cx="2336700" cy="7875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Their own keys</a:t>
            </a:r>
            <a:endParaRPr sz="1800">
              <a:solidFill>
                <a:srgbClr val="212121"/>
              </a:solidFill>
              <a:latin typeface="Poppins"/>
              <a:ea typeface="Poppins"/>
              <a:cs typeface="Poppins"/>
              <a:sym typeface="Poppins"/>
            </a:endParaRPr>
          </a:p>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and hosting</a:t>
            </a:r>
            <a:endParaRPr sz="1800">
              <a:solidFill>
                <a:srgbClr val="212121"/>
              </a:solidFill>
              <a:latin typeface="Poppins"/>
              <a:ea typeface="Poppins"/>
              <a:cs typeface="Poppins"/>
              <a:sym typeface="Poppins"/>
            </a:endParaRPr>
          </a:p>
        </p:txBody>
      </p:sp>
      <p:sp>
        <p:nvSpPr>
          <p:cNvPr id="420" name="Google Shape;420;p43"/>
          <p:cNvSpPr txBox="1"/>
          <p:nvPr/>
        </p:nvSpPr>
        <p:spPr>
          <a:xfrm>
            <a:off x="6642100" y="3149600"/>
            <a:ext cx="2209800" cy="7875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700">
                <a:solidFill>
                  <a:srgbClr val="212121"/>
                </a:solidFill>
                <a:latin typeface="Poppins"/>
                <a:ea typeface="Poppins"/>
                <a:cs typeface="Poppins"/>
                <a:sym typeface="Poppins"/>
              </a:rPr>
              <a:t>A working service</a:t>
            </a:r>
            <a:endParaRPr sz="1700">
              <a:solidFill>
                <a:srgbClr val="212121"/>
              </a:solidFill>
              <a:latin typeface="Poppins"/>
              <a:ea typeface="Poppins"/>
              <a:cs typeface="Poppins"/>
              <a:sym typeface="Poppins"/>
            </a:endParaRPr>
          </a:p>
          <a:p>
            <a:pPr indent="0" lvl="0" marL="0" marR="0" rtl="0" algn="ctr">
              <a:lnSpc>
                <a:spcPct val="110000"/>
              </a:lnSpc>
              <a:spcBef>
                <a:spcPts val="0"/>
              </a:spcBef>
              <a:spcAft>
                <a:spcPts val="0"/>
              </a:spcAft>
              <a:buNone/>
            </a:pPr>
            <a:r>
              <a:rPr lang="en" sz="1700">
                <a:solidFill>
                  <a:srgbClr val="212121"/>
                </a:solidFill>
                <a:latin typeface="Poppins"/>
                <a:ea typeface="Poppins"/>
                <a:cs typeface="Poppins"/>
                <a:sym typeface="Poppins"/>
              </a:rPr>
              <a:t>users can choose</a:t>
            </a:r>
            <a:endParaRPr sz="1700">
              <a:solidFill>
                <a:srgbClr val="212121"/>
              </a:solidFill>
              <a:latin typeface="Poppins"/>
              <a:ea typeface="Poppins"/>
              <a:cs typeface="Poppins"/>
              <a:sym typeface="Poppins"/>
            </a:endParaRPr>
          </a:p>
        </p:txBody>
      </p:sp>
      <p:sp>
        <p:nvSpPr>
          <p:cNvPr id="421" name="Google Shape;421;p43"/>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22" name="Google Shape;422;p43"/>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423" name="Google Shape;423;p43"/>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Give an outsider the docs. Can they run it</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and complete the task without contacting you?</a:t>
            </a:r>
            <a:endParaRPr sz="1600">
              <a:solidFill>
                <a:srgbClr val="FFFFFF"/>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 away test for your app</a:t>
            </a:r>
            <a:endParaRPr b="1" sz="2400">
              <a:solidFill>
                <a:srgbClr val="FFFFFF"/>
              </a:solidFill>
              <a:latin typeface="Poppins"/>
              <a:ea typeface="Poppins"/>
              <a:cs typeface="Poppins"/>
              <a:sym typeface="Poppins"/>
            </a:endParaRPr>
          </a:p>
        </p:txBody>
      </p:sp>
      <p:sp>
        <p:nvSpPr>
          <p:cNvPr id="429" name="Google Shape;429;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 away checklist</a:t>
            </a:r>
            <a:endParaRPr b="1" sz="3200">
              <a:solidFill>
                <a:srgbClr val="06038D"/>
              </a:solidFill>
              <a:latin typeface="Poppins"/>
              <a:ea typeface="Poppins"/>
              <a:cs typeface="Poppins"/>
              <a:sym typeface="Poppins"/>
            </a:endParaRPr>
          </a:p>
        </p:txBody>
      </p:sp>
      <p:sp>
        <p:nvSpPr>
          <p:cNvPr id="435" name="Google Shape;435;p45"/>
          <p:cNvSpPr txBox="1"/>
          <p:nvPr/>
        </p:nvSpPr>
        <p:spPr>
          <a:xfrm>
            <a:off x="571500" y="1346200"/>
            <a:ext cx="24639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06038D"/>
                </a:solidFill>
                <a:latin typeface="Poppins"/>
                <a:ea typeface="Poppins"/>
                <a:cs typeface="Poppins"/>
                <a:sym typeface="Poppins"/>
              </a:rPr>
              <a:t>Interface</a:t>
            </a:r>
            <a:endParaRPr b="1" sz="2200">
              <a:solidFill>
                <a:srgbClr val="06038D"/>
              </a:solidFill>
              <a:latin typeface="Poppins"/>
              <a:ea typeface="Poppins"/>
              <a:cs typeface="Poppins"/>
              <a:sym typeface="Poppins"/>
            </a:endParaRPr>
          </a:p>
        </p:txBody>
      </p:sp>
      <p:cxnSp>
        <p:nvCxnSpPr>
          <p:cNvPr id="436" name="Google Shape;436;p45"/>
          <p:cNvCxnSpPr/>
          <p:nvPr/>
        </p:nvCxnSpPr>
        <p:spPr>
          <a:xfrm>
            <a:off x="571500" y="1841500"/>
            <a:ext cx="2412900" cy="0"/>
          </a:xfrm>
          <a:prstGeom prst="straightConnector1">
            <a:avLst/>
          </a:prstGeom>
          <a:noFill/>
          <a:ln cap="flat" cmpd="sng" w="38100">
            <a:solidFill>
              <a:srgbClr val="FFAB40"/>
            </a:solidFill>
            <a:prstDash val="solid"/>
            <a:round/>
            <a:headEnd len="med" w="med" type="none"/>
            <a:tailEnd len="med" w="med" type="none"/>
          </a:ln>
        </p:spPr>
      </p:cxnSp>
      <p:sp>
        <p:nvSpPr>
          <p:cNvPr id="437" name="Google Shape;437;p45"/>
          <p:cNvSpPr txBox="1"/>
          <p:nvPr/>
        </p:nvSpPr>
        <p:spPr>
          <a:xfrm>
            <a:off x="571500" y="1981200"/>
            <a:ext cx="2463900" cy="21717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en" sz="1800">
                <a:solidFill>
                  <a:srgbClr val="212121"/>
                </a:solidFill>
                <a:latin typeface="Poppins"/>
                <a:ea typeface="Poppins"/>
                <a:cs typeface="Poppins"/>
                <a:sym typeface="Poppins"/>
              </a:rPr>
              <a:t>Open a saved release</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1200"/>
              </a:spcAft>
              <a:buNone/>
            </a:pPr>
            <a:r>
              <a:rPr lang="en" sz="1800">
                <a:solidFill>
                  <a:srgbClr val="212121"/>
                </a:solidFill>
                <a:latin typeface="Poppins"/>
                <a:ea typeface="Poppins"/>
                <a:cs typeface="Poppins"/>
                <a:sym typeface="Poppins"/>
              </a:rPr>
              <a:t>Recover access and keys</a:t>
            </a:r>
            <a:endParaRPr sz="1800">
              <a:solidFill>
                <a:srgbClr val="212121"/>
              </a:solidFill>
              <a:latin typeface="Poppins"/>
              <a:ea typeface="Poppins"/>
              <a:cs typeface="Poppins"/>
              <a:sym typeface="Poppins"/>
            </a:endParaRPr>
          </a:p>
        </p:txBody>
      </p:sp>
      <p:sp>
        <p:nvSpPr>
          <p:cNvPr id="438" name="Google Shape;438;p45"/>
          <p:cNvSpPr txBox="1"/>
          <p:nvPr/>
        </p:nvSpPr>
        <p:spPr>
          <a:xfrm>
            <a:off x="3340100" y="1346200"/>
            <a:ext cx="24639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06038D"/>
                </a:solidFill>
                <a:latin typeface="Poppins"/>
                <a:ea typeface="Poppins"/>
                <a:cs typeface="Poppins"/>
                <a:sym typeface="Poppins"/>
              </a:rPr>
              <a:t>Data</a:t>
            </a:r>
            <a:endParaRPr b="1" sz="2200">
              <a:solidFill>
                <a:srgbClr val="06038D"/>
              </a:solidFill>
              <a:latin typeface="Poppins"/>
              <a:ea typeface="Poppins"/>
              <a:cs typeface="Poppins"/>
              <a:sym typeface="Poppins"/>
            </a:endParaRPr>
          </a:p>
        </p:txBody>
      </p:sp>
      <p:cxnSp>
        <p:nvCxnSpPr>
          <p:cNvPr id="439" name="Google Shape;439;p45"/>
          <p:cNvCxnSpPr/>
          <p:nvPr/>
        </p:nvCxnSpPr>
        <p:spPr>
          <a:xfrm>
            <a:off x="3340100" y="1841500"/>
            <a:ext cx="2412900" cy="0"/>
          </a:xfrm>
          <a:prstGeom prst="straightConnector1">
            <a:avLst/>
          </a:prstGeom>
          <a:noFill/>
          <a:ln cap="flat" cmpd="sng" w="38100">
            <a:solidFill>
              <a:srgbClr val="06038D"/>
            </a:solidFill>
            <a:prstDash val="solid"/>
            <a:round/>
            <a:headEnd len="med" w="med" type="none"/>
            <a:tailEnd len="med" w="med" type="none"/>
          </a:ln>
        </p:spPr>
      </p:cxnSp>
      <p:sp>
        <p:nvSpPr>
          <p:cNvPr id="440" name="Google Shape;440;p45"/>
          <p:cNvSpPr txBox="1"/>
          <p:nvPr/>
        </p:nvSpPr>
        <p:spPr>
          <a:xfrm>
            <a:off x="3340100" y="1981200"/>
            <a:ext cx="2463900" cy="21717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en" sz="1800">
                <a:solidFill>
                  <a:srgbClr val="212121"/>
                </a:solidFill>
                <a:latin typeface="Poppins"/>
                <a:ea typeface="Poppins"/>
                <a:cs typeface="Poppins"/>
                <a:sym typeface="Poppins"/>
              </a:rPr>
              <a:t>Restore usable records</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0"/>
              </a:spcAft>
              <a:buNone/>
            </a:pPr>
            <a:r>
              <a:rPr lang="en" sz="1800">
                <a:solidFill>
                  <a:srgbClr val="212121"/>
                </a:solidFill>
                <a:latin typeface="Poppins"/>
                <a:ea typeface="Poppins"/>
                <a:cs typeface="Poppins"/>
                <a:sym typeface="Poppins"/>
              </a:rPr>
              <a:t>Switch clients and providers</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1200"/>
              </a:spcAft>
              <a:buNone/>
            </a:pPr>
            <a:r>
              <a:rPr lang="en" sz="1800">
                <a:solidFill>
                  <a:srgbClr val="212121"/>
                </a:solidFill>
                <a:latin typeface="Poppins"/>
                <a:ea typeface="Poppins"/>
                <a:cs typeface="Poppins"/>
                <a:sym typeface="Poppins"/>
              </a:rPr>
              <a:t>Run essential background jobs</a:t>
            </a:r>
            <a:endParaRPr sz="1800">
              <a:solidFill>
                <a:srgbClr val="212121"/>
              </a:solidFill>
              <a:latin typeface="Poppins"/>
              <a:ea typeface="Poppins"/>
              <a:cs typeface="Poppins"/>
              <a:sym typeface="Poppins"/>
            </a:endParaRPr>
          </a:p>
        </p:txBody>
      </p:sp>
      <p:sp>
        <p:nvSpPr>
          <p:cNvPr id="441" name="Google Shape;441;p45"/>
          <p:cNvSpPr txBox="1"/>
          <p:nvPr/>
        </p:nvSpPr>
        <p:spPr>
          <a:xfrm>
            <a:off x="6108700" y="1346200"/>
            <a:ext cx="2463900" cy="431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06038D"/>
                </a:solidFill>
                <a:latin typeface="Poppins"/>
                <a:ea typeface="Poppins"/>
                <a:cs typeface="Poppins"/>
                <a:sym typeface="Poppins"/>
              </a:rPr>
              <a:t>Rules</a:t>
            </a:r>
            <a:endParaRPr b="1" sz="2200">
              <a:solidFill>
                <a:srgbClr val="06038D"/>
              </a:solidFill>
              <a:latin typeface="Poppins"/>
              <a:ea typeface="Poppins"/>
              <a:cs typeface="Poppins"/>
              <a:sym typeface="Poppins"/>
            </a:endParaRPr>
          </a:p>
        </p:txBody>
      </p:sp>
      <p:cxnSp>
        <p:nvCxnSpPr>
          <p:cNvPr id="442" name="Google Shape;442;p45"/>
          <p:cNvCxnSpPr/>
          <p:nvPr/>
        </p:nvCxnSpPr>
        <p:spPr>
          <a:xfrm>
            <a:off x="6108700" y="1841500"/>
            <a:ext cx="2412900" cy="0"/>
          </a:xfrm>
          <a:prstGeom prst="straightConnector1">
            <a:avLst/>
          </a:prstGeom>
          <a:noFill/>
          <a:ln cap="flat" cmpd="sng" w="38100">
            <a:solidFill>
              <a:srgbClr val="FF3D94"/>
            </a:solidFill>
            <a:prstDash val="solid"/>
            <a:round/>
            <a:headEnd len="med" w="med" type="none"/>
            <a:tailEnd len="med" w="med" type="none"/>
          </a:ln>
        </p:spPr>
      </p:cxnSp>
      <p:sp>
        <p:nvSpPr>
          <p:cNvPr id="443" name="Google Shape;443;p45"/>
          <p:cNvSpPr txBox="1"/>
          <p:nvPr/>
        </p:nvSpPr>
        <p:spPr>
          <a:xfrm>
            <a:off x="6108700" y="1981200"/>
            <a:ext cx="2463900" cy="21717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None/>
            </a:pPr>
            <a:r>
              <a:rPr lang="en" sz="1800">
                <a:solidFill>
                  <a:srgbClr val="212121"/>
                </a:solidFill>
                <a:latin typeface="Poppins"/>
                <a:ea typeface="Poppins"/>
                <a:cs typeface="Poppins"/>
                <a:sym typeface="Poppins"/>
              </a:rPr>
              <a:t>Identify who can change rules</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0"/>
              </a:spcAft>
              <a:buNone/>
            </a:pPr>
            <a:r>
              <a:rPr lang="en" sz="1800">
                <a:solidFill>
                  <a:srgbClr val="212121"/>
                </a:solidFill>
                <a:latin typeface="Poppins"/>
                <a:ea typeface="Poppins"/>
                <a:cs typeface="Poppins"/>
                <a:sym typeface="Poppins"/>
              </a:rPr>
              <a:t>Keep using accepted rules</a:t>
            </a:r>
            <a:endParaRPr sz="1800">
              <a:solidFill>
                <a:srgbClr val="212121"/>
              </a:solidFill>
              <a:latin typeface="Poppins"/>
              <a:ea typeface="Poppins"/>
              <a:cs typeface="Poppins"/>
              <a:sym typeface="Poppins"/>
            </a:endParaRPr>
          </a:p>
          <a:p>
            <a:pPr indent="0" lvl="0" marL="0" marR="0" rtl="0" algn="l">
              <a:lnSpc>
                <a:spcPct val="112000"/>
              </a:lnSpc>
              <a:spcBef>
                <a:spcPts val="1200"/>
              </a:spcBef>
              <a:spcAft>
                <a:spcPts val="1200"/>
              </a:spcAft>
              <a:buNone/>
            </a:pPr>
            <a:r>
              <a:rPr lang="en" sz="1800">
                <a:solidFill>
                  <a:srgbClr val="212121"/>
                </a:solidFill>
                <a:latin typeface="Poppins"/>
                <a:ea typeface="Poppins"/>
                <a:cs typeface="Poppins"/>
                <a:sym typeface="Poppins"/>
              </a:rPr>
              <a:t>Try the chain’s outage or exit path</a:t>
            </a:r>
            <a:endParaRPr sz="1800">
              <a:solidFill>
                <a:srgbClr val="212121"/>
              </a:solidFill>
              <a:latin typeface="Poppins"/>
              <a:ea typeface="Poppins"/>
              <a:cs typeface="Poppins"/>
              <a:sym typeface="Poppins"/>
            </a:endParaRPr>
          </a:p>
        </p:txBody>
      </p:sp>
      <p:sp>
        <p:nvSpPr>
          <p:cNvPr id="444" name="Google Shape;444;p45"/>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45" name="Google Shape;445;p45"/>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446" name="Google Shape;446;p45"/>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Remove one team dependency. Repeat the user’s task.</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Improve what stops it, then try again.</a:t>
            </a:r>
            <a:endParaRPr sz="1600">
              <a:solidFill>
                <a:srgbClr val="FFFFFF"/>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walk away test in practice</a:t>
            </a:r>
            <a:endParaRPr b="1" sz="3000">
              <a:solidFill>
                <a:srgbClr val="06038D"/>
              </a:solidFill>
              <a:latin typeface="Poppins"/>
              <a:ea typeface="Poppins"/>
              <a:cs typeface="Poppins"/>
              <a:sym typeface="Poppins"/>
            </a:endParaRPr>
          </a:p>
        </p:txBody>
      </p:sp>
      <p:sp>
        <p:nvSpPr>
          <p:cNvPr id="452" name="Google Shape;452;p46"/>
          <p:cNvSpPr txBox="1"/>
          <p:nvPr/>
        </p:nvSpPr>
        <p:spPr>
          <a:xfrm>
            <a:off x="508000" y="1117600"/>
            <a:ext cx="81279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900">
                <a:solidFill>
                  <a:srgbClr val="212121"/>
                </a:solidFill>
                <a:latin typeface="Poppins"/>
                <a:ea typeface="Poppins"/>
                <a:cs typeface="Poppins"/>
                <a:sym typeface="Poppins"/>
              </a:rPr>
              <a:t>Test a saved export with the original app blocked.</a:t>
            </a:r>
            <a:endParaRPr sz="1900">
              <a:solidFill>
                <a:srgbClr val="212121"/>
              </a:solidFill>
              <a:latin typeface="Poppins"/>
              <a:ea typeface="Poppins"/>
              <a:cs typeface="Poppins"/>
              <a:sym typeface="Poppins"/>
            </a:endParaRPr>
          </a:p>
        </p:txBody>
      </p:sp>
      <p:sp>
        <p:nvSpPr>
          <p:cNvPr id="453" name="Google Shape;453;p46"/>
          <p:cNvSpPr/>
          <p:nvPr/>
        </p:nvSpPr>
        <p:spPr>
          <a:xfrm>
            <a:off x="508000" y="1676400"/>
            <a:ext cx="2412900" cy="40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600">
                <a:solidFill>
                  <a:srgbClr val="FFFFFF"/>
                </a:solidFill>
                <a:latin typeface="Poppins"/>
                <a:ea typeface="Poppins"/>
                <a:cs typeface="Poppins"/>
                <a:sym typeface="Poppins"/>
              </a:rPr>
              <a:t>1. Import saved data</a:t>
            </a:r>
            <a:endParaRPr b="1" sz="1600">
              <a:solidFill>
                <a:srgbClr val="FFFFFF"/>
              </a:solidFill>
              <a:latin typeface="Poppins"/>
              <a:ea typeface="Poppins"/>
              <a:cs typeface="Poppins"/>
              <a:sym typeface="Poppins"/>
            </a:endParaRPr>
          </a:p>
        </p:txBody>
      </p:sp>
      <p:sp>
        <p:nvSpPr>
          <p:cNvPr id="454" name="Google Shape;454;p46"/>
          <p:cNvSpPr/>
          <p:nvPr/>
        </p:nvSpPr>
        <p:spPr>
          <a:xfrm>
            <a:off x="508000" y="2082800"/>
            <a:ext cx="2412900" cy="20955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sp>
        <p:nvSpPr>
          <p:cNvPr id="455" name="Google Shape;455;p46"/>
          <p:cNvSpPr/>
          <p:nvPr/>
        </p:nvSpPr>
        <p:spPr>
          <a:xfrm>
            <a:off x="3365500" y="1676400"/>
            <a:ext cx="2412900" cy="4065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600">
                <a:solidFill>
                  <a:srgbClr val="06038D"/>
                </a:solidFill>
                <a:latin typeface="Poppins"/>
                <a:ea typeface="Poppins"/>
                <a:cs typeface="Poppins"/>
                <a:sym typeface="Poppins"/>
              </a:rPr>
              <a:t>2. Fix the export</a:t>
            </a:r>
            <a:endParaRPr b="1" sz="1600">
              <a:solidFill>
                <a:srgbClr val="06038D"/>
              </a:solidFill>
              <a:latin typeface="Poppins"/>
              <a:ea typeface="Poppins"/>
              <a:cs typeface="Poppins"/>
              <a:sym typeface="Poppins"/>
            </a:endParaRPr>
          </a:p>
        </p:txBody>
      </p:sp>
      <p:sp>
        <p:nvSpPr>
          <p:cNvPr id="456" name="Google Shape;456;p46"/>
          <p:cNvSpPr/>
          <p:nvPr/>
        </p:nvSpPr>
        <p:spPr>
          <a:xfrm>
            <a:off x="3365500" y="2082800"/>
            <a:ext cx="2412900" cy="20955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sp>
        <p:nvSpPr>
          <p:cNvPr id="457" name="Google Shape;457;p46"/>
          <p:cNvSpPr/>
          <p:nvPr/>
        </p:nvSpPr>
        <p:spPr>
          <a:xfrm>
            <a:off x="6223000" y="1676400"/>
            <a:ext cx="2412900" cy="40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1600">
                <a:solidFill>
                  <a:srgbClr val="FFFFFF"/>
                </a:solidFill>
                <a:latin typeface="Poppins"/>
                <a:ea typeface="Poppins"/>
                <a:cs typeface="Poppins"/>
                <a:sym typeface="Poppins"/>
              </a:rPr>
              <a:t>3. Import again</a:t>
            </a:r>
            <a:endParaRPr b="1" sz="1600">
              <a:solidFill>
                <a:srgbClr val="FFFFFF"/>
              </a:solidFill>
              <a:latin typeface="Poppins"/>
              <a:ea typeface="Poppins"/>
              <a:cs typeface="Poppins"/>
              <a:sym typeface="Poppins"/>
            </a:endParaRPr>
          </a:p>
        </p:txBody>
      </p:sp>
      <p:sp>
        <p:nvSpPr>
          <p:cNvPr id="458" name="Google Shape;458;p46"/>
          <p:cNvSpPr/>
          <p:nvPr/>
        </p:nvSpPr>
        <p:spPr>
          <a:xfrm>
            <a:off x="6223000" y="2082800"/>
            <a:ext cx="2412900" cy="2095500"/>
          </a:xfrm>
          <a:prstGeom prst="rect">
            <a:avLst/>
          </a:prstGeom>
          <a:solidFill>
            <a:srgbClr val="FFFFFF"/>
          </a:solidFill>
          <a:ln cap="flat" cmpd="sng" w="12700">
            <a:solidFill>
              <a:srgbClr val="D9D8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cxnSp>
        <p:nvCxnSpPr>
          <p:cNvPr id="459" name="Google Shape;459;p46"/>
          <p:cNvCxnSpPr/>
          <p:nvPr/>
        </p:nvCxnSpPr>
        <p:spPr>
          <a:xfrm>
            <a:off x="2971800" y="2984500"/>
            <a:ext cx="330300" cy="0"/>
          </a:xfrm>
          <a:prstGeom prst="straightConnector1">
            <a:avLst/>
          </a:prstGeom>
          <a:noFill/>
          <a:ln cap="flat" cmpd="sng" w="16500">
            <a:solidFill>
              <a:srgbClr val="06038D"/>
            </a:solidFill>
            <a:prstDash val="solid"/>
            <a:round/>
            <a:headEnd len="med" w="med" type="none"/>
            <a:tailEnd len="med" w="med" type="triangle"/>
          </a:ln>
        </p:spPr>
      </p:cxnSp>
      <p:cxnSp>
        <p:nvCxnSpPr>
          <p:cNvPr id="460" name="Google Shape;460;p46"/>
          <p:cNvCxnSpPr/>
          <p:nvPr/>
        </p:nvCxnSpPr>
        <p:spPr>
          <a:xfrm>
            <a:off x="5829300" y="2984500"/>
            <a:ext cx="330300" cy="0"/>
          </a:xfrm>
          <a:prstGeom prst="straightConnector1">
            <a:avLst/>
          </a:prstGeom>
          <a:noFill/>
          <a:ln cap="flat" cmpd="sng" w="16500">
            <a:solidFill>
              <a:srgbClr val="06038D"/>
            </a:solidFill>
            <a:prstDash val="solid"/>
            <a:round/>
            <a:headEnd len="med" w="med" type="none"/>
            <a:tailEnd len="med" w="med" type="triangle"/>
          </a:ln>
        </p:spPr>
      </p:cxnSp>
      <p:sp>
        <p:nvSpPr>
          <p:cNvPr id="461" name="Google Shape;461;p46"/>
          <p:cNvSpPr txBox="1"/>
          <p:nvPr/>
        </p:nvSpPr>
        <p:spPr>
          <a:xfrm>
            <a:off x="635000" y="2235200"/>
            <a:ext cx="21591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800">
                <a:solidFill>
                  <a:srgbClr val="212121"/>
                </a:solidFill>
                <a:latin typeface="Poppins"/>
                <a:ea typeface="Poppins"/>
                <a:cs typeface="Poppins"/>
                <a:sym typeface="Poppins"/>
              </a:rPr>
              <a:t>Meeting at 10</a:t>
            </a:r>
            <a:endParaRPr b="1" sz="1800">
              <a:solidFill>
                <a:srgbClr val="212121"/>
              </a:solidFill>
              <a:latin typeface="Poppins"/>
              <a:ea typeface="Poppins"/>
              <a:cs typeface="Poppins"/>
              <a:sym typeface="Poppins"/>
            </a:endParaRPr>
          </a:p>
        </p:txBody>
      </p:sp>
      <p:sp>
        <p:nvSpPr>
          <p:cNvPr id="462" name="Google Shape;462;p46"/>
          <p:cNvSpPr txBox="1"/>
          <p:nvPr/>
        </p:nvSpPr>
        <p:spPr>
          <a:xfrm>
            <a:off x="635000" y="2654300"/>
            <a:ext cx="21591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a:solidFill>
                  <a:srgbClr val="212121"/>
                </a:solidFill>
                <a:latin typeface="Poppins"/>
                <a:ea typeface="Poppins"/>
                <a:cs typeface="Poppins"/>
                <a:sym typeface="Poppins"/>
              </a:rPr>
              <a:t>Review proposals.</a:t>
            </a:r>
            <a:endParaRPr>
              <a:solidFill>
                <a:srgbClr val="212121"/>
              </a:solidFill>
              <a:latin typeface="Poppins"/>
              <a:ea typeface="Poppins"/>
              <a:cs typeface="Poppins"/>
              <a:sym typeface="Poppins"/>
            </a:endParaRPr>
          </a:p>
        </p:txBody>
      </p:sp>
      <p:sp>
        <p:nvSpPr>
          <p:cNvPr id="463" name="Google Shape;463;p46"/>
          <p:cNvSpPr/>
          <p:nvPr/>
        </p:nvSpPr>
        <p:spPr>
          <a:xfrm>
            <a:off x="635000" y="3136900"/>
            <a:ext cx="2159100" cy="571500"/>
          </a:xfrm>
          <a:prstGeom prst="rect">
            <a:avLst/>
          </a:prstGeom>
          <a:solidFill>
            <a:srgbClr val="FFE5EF"/>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a:solidFill>
                  <a:srgbClr val="981650"/>
                </a:solidFill>
                <a:latin typeface="Poppins"/>
                <a:ea typeface="Poppins"/>
                <a:cs typeface="Poppins"/>
                <a:sym typeface="Poppins"/>
              </a:rPr>
              <a:t>agenda.md</a:t>
            </a:r>
            <a:endParaRPr>
              <a:solidFill>
                <a:srgbClr val="981650"/>
              </a:solidFill>
              <a:latin typeface="Poppins"/>
              <a:ea typeface="Poppins"/>
              <a:cs typeface="Poppins"/>
              <a:sym typeface="Poppins"/>
            </a:endParaRPr>
          </a:p>
          <a:p>
            <a:pPr indent="0" lvl="0" marL="0" marR="0" rtl="0" algn="ctr">
              <a:lnSpc>
                <a:spcPct val="110000"/>
              </a:lnSpc>
              <a:spcBef>
                <a:spcPts val="0"/>
              </a:spcBef>
              <a:spcAft>
                <a:spcPts val="0"/>
              </a:spcAft>
              <a:buNone/>
            </a:pPr>
            <a:r>
              <a:rPr lang="en">
                <a:solidFill>
                  <a:srgbClr val="981650"/>
                </a:solidFill>
                <a:latin typeface="Poppins"/>
                <a:ea typeface="Poppins"/>
                <a:cs typeface="Poppins"/>
                <a:sym typeface="Poppins"/>
              </a:rPr>
              <a:t>Attachment missing</a:t>
            </a:r>
            <a:endParaRPr>
              <a:solidFill>
                <a:srgbClr val="981650"/>
              </a:solidFill>
              <a:latin typeface="Poppins"/>
              <a:ea typeface="Poppins"/>
              <a:cs typeface="Poppins"/>
              <a:sym typeface="Poppins"/>
            </a:endParaRPr>
          </a:p>
        </p:txBody>
      </p:sp>
      <p:sp>
        <p:nvSpPr>
          <p:cNvPr id="464" name="Google Shape;464;p46"/>
          <p:cNvSpPr txBox="1"/>
          <p:nvPr/>
        </p:nvSpPr>
        <p:spPr>
          <a:xfrm>
            <a:off x="635000" y="3784600"/>
            <a:ext cx="2159100" cy="2541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300">
                <a:solidFill>
                  <a:srgbClr val="981650"/>
                </a:solidFill>
                <a:latin typeface="Poppins"/>
                <a:ea typeface="Poppins"/>
                <a:cs typeface="Poppins"/>
                <a:sym typeface="Poppins"/>
              </a:rPr>
              <a:t>Task blocked</a:t>
            </a:r>
            <a:endParaRPr b="1" sz="1300">
              <a:solidFill>
                <a:srgbClr val="981650"/>
              </a:solidFill>
              <a:latin typeface="Poppins"/>
              <a:ea typeface="Poppins"/>
              <a:cs typeface="Poppins"/>
              <a:sym typeface="Poppins"/>
            </a:endParaRPr>
          </a:p>
        </p:txBody>
      </p:sp>
      <p:sp>
        <p:nvSpPr>
          <p:cNvPr id="465" name="Google Shape;465;p46"/>
          <p:cNvSpPr txBox="1"/>
          <p:nvPr/>
        </p:nvSpPr>
        <p:spPr>
          <a:xfrm>
            <a:off x="3492500" y="2222500"/>
            <a:ext cx="2159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700">
                <a:solidFill>
                  <a:srgbClr val="06038D"/>
                </a:solidFill>
                <a:latin typeface="Poppins"/>
                <a:ea typeface="Poppins"/>
                <a:cs typeface="Poppins"/>
                <a:sym typeface="Poppins"/>
              </a:rPr>
              <a:t>Complete export</a:t>
            </a:r>
            <a:endParaRPr b="1" sz="1700">
              <a:solidFill>
                <a:srgbClr val="06038D"/>
              </a:solidFill>
              <a:latin typeface="Poppins"/>
              <a:ea typeface="Poppins"/>
              <a:cs typeface="Poppins"/>
              <a:sym typeface="Poppins"/>
            </a:endParaRPr>
          </a:p>
        </p:txBody>
      </p:sp>
      <p:sp>
        <p:nvSpPr>
          <p:cNvPr id="466" name="Google Shape;466;p46"/>
          <p:cNvSpPr/>
          <p:nvPr/>
        </p:nvSpPr>
        <p:spPr>
          <a:xfrm>
            <a:off x="3492500" y="2692400"/>
            <a:ext cx="2159100" cy="7365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600">
                <a:solidFill>
                  <a:srgbClr val="06038D"/>
                </a:solidFill>
                <a:latin typeface="Poppins"/>
                <a:ea typeface="Poppins"/>
                <a:cs typeface="Poppins"/>
                <a:sym typeface="Poppins"/>
              </a:rPr>
              <a:t>notes.json</a:t>
            </a:r>
            <a:endParaRPr sz="1600">
              <a:solidFill>
                <a:srgbClr val="06038D"/>
              </a:solidFill>
              <a:latin typeface="Poppins"/>
              <a:ea typeface="Poppins"/>
              <a:cs typeface="Poppins"/>
              <a:sym typeface="Poppins"/>
            </a:endParaRPr>
          </a:p>
          <a:p>
            <a:pPr indent="0" lvl="0" marL="0" marR="0" rtl="0" algn="l">
              <a:lnSpc>
                <a:spcPct val="110000"/>
              </a:lnSpc>
              <a:spcBef>
                <a:spcPts val="0"/>
              </a:spcBef>
              <a:spcAft>
                <a:spcPts val="0"/>
              </a:spcAft>
              <a:buNone/>
            </a:pPr>
            <a:r>
              <a:rPr lang="en" sz="1600">
                <a:solidFill>
                  <a:srgbClr val="06038D"/>
                </a:solidFill>
                <a:latin typeface="Poppins"/>
                <a:ea typeface="Poppins"/>
                <a:cs typeface="Poppins"/>
                <a:sym typeface="Poppins"/>
              </a:rPr>
              <a:t>agenda.md</a:t>
            </a:r>
            <a:endParaRPr sz="1600">
              <a:solidFill>
                <a:srgbClr val="06038D"/>
              </a:solidFill>
              <a:latin typeface="Poppins"/>
              <a:ea typeface="Poppins"/>
              <a:cs typeface="Poppins"/>
              <a:sym typeface="Poppins"/>
            </a:endParaRPr>
          </a:p>
        </p:txBody>
      </p:sp>
      <p:sp>
        <p:nvSpPr>
          <p:cNvPr id="467" name="Google Shape;467;p46"/>
          <p:cNvSpPr txBox="1"/>
          <p:nvPr/>
        </p:nvSpPr>
        <p:spPr>
          <a:xfrm>
            <a:off x="3492500" y="3568700"/>
            <a:ext cx="2159100" cy="4827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1300">
                <a:solidFill>
                  <a:srgbClr val="212121"/>
                </a:solidFill>
                <a:latin typeface="Poppins"/>
                <a:ea typeface="Poppins"/>
                <a:cs typeface="Poppins"/>
                <a:sym typeface="Poppins"/>
              </a:rPr>
              <a:t>Reconnect. Save all files.</a:t>
            </a:r>
            <a:endParaRPr sz="1300">
              <a:solidFill>
                <a:srgbClr val="212121"/>
              </a:solidFill>
              <a:latin typeface="Poppins"/>
              <a:ea typeface="Poppins"/>
              <a:cs typeface="Poppins"/>
              <a:sym typeface="Poppins"/>
            </a:endParaRPr>
          </a:p>
          <a:p>
            <a:pPr indent="0" lvl="0" marL="0" marR="0" rtl="0" algn="l">
              <a:lnSpc>
                <a:spcPct val="110000"/>
              </a:lnSpc>
              <a:spcBef>
                <a:spcPts val="0"/>
              </a:spcBef>
              <a:spcAft>
                <a:spcPts val="0"/>
              </a:spcAft>
              <a:buNone/>
            </a:pPr>
            <a:r>
              <a:rPr lang="en" sz="1300">
                <a:solidFill>
                  <a:srgbClr val="212121"/>
                </a:solidFill>
                <a:latin typeface="Poppins"/>
                <a:ea typeface="Poppins"/>
                <a:cs typeface="Poppins"/>
                <a:sym typeface="Poppins"/>
              </a:rPr>
              <a:t>Block the app again.</a:t>
            </a:r>
            <a:endParaRPr sz="1300">
              <a:solidFill>
                <a:srgbClr val="212121"/>
              </a:solidFill>
              <a:latin typeface="Poppins"/>
              <a:ea typeface="Poppins"/>
              <a:cs typeface="Poppins"/>
              <a:sym typeface="Poppins"/>
            </a:endParaRPr>
          </a:p>
        </p:txBody>
      </p:sp>
      <p:sp>
        <p:nvSpPr>
          <p:cNvPr id="468" name="Google Shape;468;p46"/>
          <p:cNvSpPr txBox="1"/>
          <p:nvPr/>
        </p:nvSpPr>
        <p:spPr>
          <a:xfrm>
            <a:off x="6350000" y="2235200"/>
            <a:ext cx="21591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800">
                <a:solidFill>
                  <a:srgbClr val="212121"/>
                </a:solidFill>
                <a:latin typeface="Poppins"/>
                <a:ea typeface="Poppins"/>
                <a:cs typeface="Poppins"/>
                <a:sym typeface="Poppins"/>
              </a:rPr>
              <a:t>Meeting at 10</a:t>
            </a:r>
            <a:endParaRPr b="1" sz="1800">
              <a:solidFill>
                <a:srgbClr val="212121"/>
              </a:solidFill>
              <a:latin typeface="Poppins"/>
              <a:ea typeface="Poppins"/>
              <a:cs typeface="Poppins"/>
              <a:sym typeface="Poppins"/>
            </a:endParaRPr>
          </a:p>
        </p:txBody>
      </p:sp>
      <p:sp>
        <p:nvSpPr>
          <p:cNvPr id="469" name="Google Shape;469;p46"/>
          <p:cNvSpPr txBox="1"/>
          <p:nvPr/>
        </p:nvSpPr>
        <p:spPr>
          <a:xfrm>
            <a:off x="6350000" y="2654300"/>
            <a:ext cx="21591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a:solidFill>
                  <a:srgbClr val="212121"/>
                </a:solidFill>
                <a:latin typeface="Poppins"/>
                <a:ea typeface="Poppins"/>
                <a:cs typeface="Poppins"/>
                <a:sym typeface="Poppins"/>
              </a:rPr>
              <a:t>Review proposals.</a:t>
            </a:r>
            <a:endParaRPr>
              <a:solidFill>
                <a:srgbClr val="212121"/>
              </a:solidFill>
              <a:latin typeface="Poppins"/>
              <a:ea typeface="Poppins"/>
              <a:cs typeface="Poppins"/>
              <a:sym typeface="Poppins"/>
            </a:endParaRPr>
          </a:p>
        </p:txBody>
      </p:sp>
      <p:sp>
        <p:nvSpPr>
          <p:cNvPr id="470" name="Google Shape;470;p46"/>
          <p:cNvSpPr/>
          <p:nvPr/>
        </p:nvSpPr>
        <p:spPr>
          <a:xfrm>
            <a:off x="6350000" y="3136900"/>
            <a:ext cx="2159100" cy="571500"/>
          </a:xfrm>
          <a:prstGeom prst="rect">
            <a:avLst/>
          </a:prstGeom>
          <a:solidFill>
            <a:srgbClr val="E0F5EE"/>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a:solidFill>
                  <a:srgbClr val="006B5B"/>
                </a:solidFill>
                <a:latin typeface="Poppins"/>
                <a:ea typeface="Poppins"/>
                <a:cs typeface="Poppins"/>
                <a:sym typeface="Poppins"/>
              </a:rPr>
              <a:t>agenda.md opens</a:t>
            </a:r>
            <a:endParaRPr>
              <a:solidFill>
                <a:srgbClr val="006B5B"/>
              </a:solidFill>
              <a:latin typeface="Poppins"/>
              <a:ea typeface="Poppins"/>
              <a:cs typeface="Poppins"/>
              <a:sym typeface="Poppins"/>
            </a:endParaRPr>
          </a:p>
          <a:p>
            <a:pPr indent="0" lvl="0" marL="0" marR="0" rtl="0" algn="ctr">
              <a:lnSpc>
                <a:spcPct val="110000"/>
              </a:lnSpc>
              <a:spcBef>
                <a:spcPts val="0"/>
              </a:spcBef>
              <a:spcAft>
                <a:spcPts val="0"/>
              </a:spcAft>
              <a:buNone/>
            </a:pPr>
            <a:r>
              <a:rPr lang="en">
                <a:solidFill>
                  <a:srgbClr val="006B5B"/>
                </a:solidFill>
                <a:latin typeface="Poppins"/>
                <a:ea typeface="Poppins"/>
                <a:cs typeface="Poppins"/>
                <a:sym typeface="Poppins"/>
              </a:rPr>
              <a:t>Review proposals</a:t>
            </a:r>
            <a:endParaRPr>
              <a:solidFill>
                <a:srgbClr val="006B5B"/>
              </a:solidFill>
              <a:latin typeface="Poppins"/>
              <a:ea typeface="Poppins"/>
              <a:cs typeface="Poppins"/>
              <a:sym typeface="Poppins"/>
            </a:endParaRPr>
          </a:p>
        </p:txBody>
      </p:sp>
      <p:sp>
        <p:nvSpPr>
          <p:cNvPr id="471" name="Google Shape;471;p46"/>
          <p:cNvSpPr txBox="1"/>
          <p:nvPr/>
        </p:nvSpPr>
        <p:spPr>
          <a:xfrm>
            <a:off x="6350000" y="3784600"/>
            <a:ext cx="2159100" cy="254100"/>
          </a:xfrm>
          <a:prstGeom prst="rect">
            <a:avLst/>
          </a:prstGeom>
          <a:noFill/>
          <a:ln>
            <a:noFill/>
          </a:ln>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b="1" lang="en" sz="1300">
                <a:solidFill>
                  <a:srgbClr val="006B5B"/>
                </a:solidFill>
                <a:latin typeface="Poppins"/>
                <a:ea typeface="Poppins"/>
                <a:cs typeface="Poppins"/>
                <a:sym typeface="Poppins"/>
              </a:rPr>
              <a:t>Task completed</a:t>
            </a:r>
            <a:endParaRPr b="1" sz="1300">
              <a:solidFill>
                <a:srgbClr val="006B5B"/>
              </a:solidFill>
              <a:latin typeface="Poppins"/>
              <a:ea typeface="Poppins"/>
              <a:cs typeface="Poppins"/>
              <a:sym typeface="Poppins"/>
            </a:endParaRPr>
          </a:p>
        </p:txBody>
      </p:sp>
      <p:sp>
        <p:nvSpPr>
          <p:cNvPr id="472" name="Google Shape;472;p46"/>
          <p:cNvSpPr/>
          <p:nvPr/>
        </p:nvSpPr>
        <p:spPr>
          <a:xfrm>
            <a:off x="508000" y="4330700"/>
            <a:ext cx="8127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73" name="Google Shape;473;p46"/>
          <p:cNvSpPr/>
          <p:nvPr/>
        </p:nvSpPr>
        <p:spPr>
          <a:xfrm>
            <a:off x="508000" y="4330700"/>
            <a:ext cx="965100" cy="507900"/>
          </a:xfrm>
          <a:prstGeom prst="rect">
            <a:avLst/>
          </a:prstGeom>
          <a:solidFill>
            <a:srgbClr val="FFAB40"/>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06038D"/>
                </a:solidFill>
                <a:latin typeface="Poppins"/>
                <a:ea typeface="Poppins"/>
                <a:cs typeface="Poppins"/>
                <a:sym typeface="Poppins"/>
              </a:rPr>
              <a:t>TEST</a:t>
            </a:r>
            <a:endParaRPr b="1">
              <a:solidFill>
                <a:srgbClr val="06038D"/>
              </a:solidFill>
              <a:latin typeface="Poppins"/>
              <a:ea typeface="Poppins"/>
              <a:cs typeface="Poppins"/>
              <a:sym typeface="Poppins"/>
            </a:endParaRPr>
          </a:p>
        </p:txBody>
      </p:sp>
      <p:sp>
        <p:nvSpPr>
          <p:cNvPr id="474" name="Google Shape;474;p46"/>
          <p:cNvSpPr txBox="1"/>
          <p:nvPr/>
        </p:nvSpPr>
        <p:spPr>
          <a:xfrm>
            <a:off x="1600200" y="4356100"/>
            <a:ext cx="69087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Import a saved export into another app.</a:t>
            </a:r>
            <a:endParaRPr sz="1600">
              <a:solidFill>
                <a:srgbClr val="FFFFFF"/>
              </a:solidFill>
              <a:latin typeface="Poppins"/>
              <a:ea typeface="Poppins"/>
              <a:cs typeface="Poppins"/>
              <a:sym typeface="Poppins"/>
            </a:endParaRPr>
          </a:p>
          <a:p>
            <a:pPr indent="0" lvl="0" marL="0" marR="0" rtl="0" algn="l">
              <a:lnSpc>
                <a:spcPct val="105000"/>
              </a:lnSpc>
              <a:spcBef>
                <a:spcPts val="0"/>
              </a:spcBef>
              <a:spcAft>
                <a:spcPts val="0"/>
              </a:spcAft>
              <a:buNone/>
            </a:pPr>
            <a:r>
              <a:rPr lang="en" sz="1600">
                <a:solidFill>
                  <a:srgbClr val="FFFFFF"/>
                </a:solidFill>
                <a:latin typeface="Poppins"/>
                <a:ea typeface="Poppins"/>
                <a:cs typeface="Poppins"/>
                <a:sym typeface="Poppins"/>
              </a:rPr>
              <a:t>Can you open the note and its attachment?</a:t>
            </a:r>
            <a:endParaRPr sz="1600">
              <a:solidFill>
                <a:srgbClr val="FFFFFF"/>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7"/>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8"/>
          <p:cNvSpPr txBox="1"/>
          <p:nvPr>
            <p:ph type="title"/>
          </p:nvPr>
        </p:nvSpPr>
        <p:spPr>
          <a:xfrm>
            <a:off x="508000" y="635000"/>
            <a:ext cx="8127900" cy="812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3800">
                <a:solidFill>
                  <a:srgbClr val="FFFFFF"/>
                </a:solidFill>
                <a:latin typeface="Poppins"/>
                <a:ea typeface="Poppins"/>
                <a:cs typeface="Poppins"/>
                <a:sym typeface="Poppins"/>
              </a:rPr>
              <a:t>Thank you!</a:t>
            </a:r>
            <a:endParaRPr b="1" sz="3800">
              <a:solidFill>
                <a:srgbClr val="FFFFFF"/>
              </a:solidFill>
              <a:latin typeface="Poppins"/>
              <a:ea typeface="Poppins"/>
              <a:cs typeface="Poppins"/>
              <a:sym typeface="Poppins"/>
            </a:endParaRPr>
          </a:p>
        </p:txBody>
      </p:sp>
      <p:sp>
        <p:nvSpPr>
          <p:cNvPr id="485" name="Google Shape;485;p48"/>
          <p:cNvSpPr txBox="1"/>
          <p:nvPr/>
        </p:nvSpPr>
        <p:spPr>
          <a:xfrm>
            <a:off x="1397000" y="3340100"/>
            <a:ext cx="6350100" cy="1498500"/>
          </a:xfrm>
          <a:prstGeom prst="rect">
            <a:avLst/>
          </a:prstGeom>
          <a:solidFill>
            <a:srgbClr val="06038D"/>
          </a:solid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600">
                <a:solidFill>
                  <a:schemeClr val="lt1"/>
                </a:solidFill>
                <a:latin typeface="Poppins"/>
                <a:ea typeface="Poppins"/>
                <a:cs typeface="Poppins"/>
                <a:sym typeface="Poppins"/>
              </a:rPr>
              <a:t>James Carnley</a:t>
            </a:r>
            <a:endParaRPr sz="1600">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rPr lang="en" sz="1600">
                <a:solidFill>
                  <a:schemeClr val="lt1"/>
                </a:solidFill>
                <a:latin typeface="Poppins"/>
                <a:ea typeface="Poppins"/>
                <a:cs typeface="Poppins"/>
                <a:sym typeface="Poppins"/>
              </a:rPr>
              <a:t>Ethereum File System</a:t>
            </a:r>
            <a:endParaRPr sz="1600">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rPr lang="en" sz="1600" u="sng">
                <a:solidFill>
                  <a:schemeClr val="lt1"/>
                </a:solidFill>
                <a:latin typeface="Poppins"/>
                <a:ea typeface="Poppins"/>
                <a:cs typeface="Poppins"/>
                <a:sym typeface="Poppins"/>
                <a:hlinkClick r:id="rId3">
                  <a:extLst>
                    <a:ext uri="{A12FA001-AC4F-418D-AE19-62706E023703}">
                      <ahyp:hlinkClr val="tx"/>
                    </a:ext>
                  </a:extLst>
                </a:hlinkClick>
              </a:rPr>
              <a:t>efs.eth.limo</a:t>
            </a:r>
            <a:endParaRPr sz="1600" u="sng">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rPr lang="en" sz="1600">
                <a:solidFill>
                  <a:schemeClr val="lt1"/>
                </a:solidFill>
                <a:latin typeface="Poppins"/>
                <a:ea typeface="Poppins"/>
                <a:cs typeface="Poppins"/>
                <a:sym typeface="Poppins"/>
              </a:rPr>
              <a:t>JamesCarnley@gmail.com</a:t>
            </a:r>
            <a:endParaRPr sz="1600">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rPr lang="en" sz="1600">
                <a:solidFill>
                  <a:schemeClr val="lt1"/>
                </a:solidFill>
                <a:latin typeface="Poppins"/>
                <a:ea typeface="Poppins"/>
                <a:cs typeface="Poppins"/>
                <a:sym typeface="Poppins"/>
              </a:rPr>
              <a:t>@JamesCarnley</a:t>
            </a:r>
            <a:endParaRPr sz="1600">
              <a:solidFill>
                <a:schemeClr val="lt1"/>
              </a:solidFill>
              <a:latin typeface="Poppins"/>
              <a:ea typeface="Poppins"/>
              <a:cs typeface="Poppins"/>
              <a:sym typeface="Poppins"/>
            </a:endParaRPr>
          </a:p>
          <a:p>
            <a:pPr indent="0" lvl="0" marL="0" rtl="0" algn="ctr">
              <a:lnSpc>
                <a:spcPct val="105000"/>
              </a:lnSpc>
              <a:spcBef>
                <a:spcPts val="0"/>
              </a:spcBef>
              <a:spcAft>
                <a:spcPts val="0"/>
              </a:spcAft>
              <a:buNone/>
            </a:pPr>
            <a:r>
              <a:t/>
            </a:r>
            <a:endParaRPr sz="1600">
              <a:solidFill>
                <a:schemeClr val="lt1"/>
              </a:solidFill>
              <a:latin typeface="Poppins"/>
              <a:ea typeface="Poppins"/>
              <a:cs typeface="Poppins"/>
              <a:sym typeface="Poppins"/>
            </a:endParaRPr>
          </a:p>
        </p:txBody>
      </p:sp>
      <p:sp>
        <p:nvSpPr>
          <p:cNvPr id="486" name="Google Shape;486;p48"/>
          <p:cNvSpPr txBox="1"/>
          <p:nvPr/>
        </p:nvSpPr>
        <p:spPr>
          <a:xfrm>
            <a:off x="508000" y="1422400"/>
            <a:ext cx="8127900" cy="73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b="1" lang="en" sz="2100">
                <a:solidFill>
                  <a:srgbClr val="FFFFFF"/>
                </a:solidFill>
                <a:latin typeface="Poppins"/>
                <a:ea typeface="Poppins"/>
                <a:cs typeface="Poppins"/>
                <a:sym typeface="Poppins"/>
              </a:rPr>
              <a:t>Let’s build reliable and long lasting apps together</a:t>
            </a:r>
            <a:endParaRPr b="1" sz="2100">
              <a:solidFill>
                <a:srgbClr val="FFFFFF"/>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