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Thin"/>
      <p:regular r:id="rId36"/>
      <p:bold r:id="rId37"/>
      <p:italic r:id="rId38"/>
      <p:boldItalic r:id="rId39"/>
    </p:embeddedFont>
    <p:embeddedFont>
      <p:font typeface="Roboto Condensed ExtraBold"/>
      <p:bold r:id="rId40"/>
      <p:boldItalic r:id="rId41"/>
    </p:embeddedFont>
    <p:embeddedFont>
      <p:font typeface="Libre Franklin"/>
      <p:regular r:id="rId42"/>
      <p:bold r:id="rId43"/>
      <p:italic r:id="rId44"/>
      <p:boldItalic r:id="rId45"/>
    </p:embeddedFont>
    <p:embeddedFont>
      <p:font typeface="Roboto"/>
      <p:regular r:id="rId46"/>
      <p:bold r:id="rId47"/>
      <p:italic r:id="rId48"/>
      <p:boldItalic r:id="rId49"/>
    </p:embeddedFont>
    <p:embeddedFont>
      <p:font typeface="Poppins"/>
      <p:regular r:id="rId50"/>
      <p:bold r:id="rId51"/>
      <p:italic r:id="rId52"/>
      <p:boldItalic r:id="rId53"/>
    </p:embeddedFont>
    <p:embeddedFont>
      <p:font typeface="Roboto Condensed"/>
      <p:regular r:id="rId54"/>
      <p:bold r:id="rId55"/>
      <p:italic r:id="rId56"/>
      <p:boldItalic r:id="rId57"/>
    </p:embeddedFont>
    <p:embeddedFont>
      <p:font typeface="Libre Franklin Medium"/>
      <p:regular r:id="rId58"/>
      <p:bold r:id="rId59"/>
      <p:italic r:id="rId60"/>
      <p:boldItalic r:id="rId61"/>
    </p:embeddedFont>
    <p:embeddedFont>
      <p:font typeface="Poppins ExtraBold"/>
      <p:bold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ExtraBold-bold.fntdata"/><Relationship Id="rId42" Type="http://schemas.openxmlformats.org/officeDocument/2006/relationships/font" Target="fonts/LibreFranklin-regular.fntdata"/><Relationship Id="rId41" Type="http://schemas.openxmlformats.org/officeDocument/2006/relationships/font" Target="fonts/RobotoCondensedExtraBold-boldItalic.fntdata"/><Relationship Id="rId44" Type="http://schemas.openxmlformats.org/officeDocument/2006/relationships/font" Target="fonts/LibreFranklin-italic.fntdata"/><Relationship Id="rId43" Type="http://schemas.openxmlformats.org/officeDocument/2006/relationships/font" Target="fonts/LibreFranklin-bold.fntdata"/><Relationship Id="rId46" Type="http://schemas.openxmlformats.org/officeDocument/2006/relationships/font" Target="fonts/Roboto-regular.fntdata"/><Relationship Id="rId45" Type="http://schemas.openxmlformats.org/officeDocument/2006/relationships/font" Target="fonts/LibreFranklin-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RobotoThin-bold.fntdata"/><Relationship Id="rId36" Type="http://schemas.openxmlformats.org/officeDocument/2006/relationships/font" Target="fonts/RobotoThin-regular.fntdata"/><Relationship Id="rId39" Type="http://schemas.openxmlformats.org/officeDocument/2006/relationships/font" Target="fonts/RobotoThin-boldItalic.fntdata"/><Relationship Id="rId38" Type="http://schemas.openxmlformats.org/officeDocument/2006/relationships/font" Target="fonts/RobotoThin-italic.fntdata"/><Relationship Id="rId62" Type="http://schemas.openxmlformats.org/officeDocument/2006/relationships/font" Target="fonts/PoppinsExtraBold-bold.fntdata"/><Relationship Id="rId61" Type="http://schemas.openxmlformats.org/officeDocument/2006/relationships/font" Target="fonts/LibreFranklinMedium-boldItalic.fntdata"/><Relationship Id="rId20" Type="http://schemas.openxmlformats.org/officeDocument/2006/relationships/slide" Target="slides/slide15.xml"/><Relationship Id="rId63" Type="http://schemas.openxmlformats.org/officeDocument/2006/relationships/font" Target="fonts/PoppinsExtraBold-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ibreFranklinMedium-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oppins-bold.fntdata"/><Relationship Id="rId50" Type="http://schemas.openxmlformats.org/officeDocument/2006/relationships/font" Target="fonts/Poppins-regular.fntdata"/><Relationship Id="rId53" Type="http://schemas.openxmlformats.org/officeDocument/2006/relationships/font" Target="fonts/Poppins-boldItalic.fntdata"/><Relationship Id="rId52" Type="http://schemas.openxmlformats.org/officeDocument/2006/relationships/font" Target="fonts/Poppins-italic.fntdata"/><Relationship Id="rId11" Type="http://schemas.openxmlformats.org/officeDocument/2006/relationships/slide" Target="slides/slide6.xml"/><Relationship Id="rId55" Type="http://schemas.openxmlformats.org/officeDocument/2006/relationships/font" Target="fonts/RobotoCondensed-bold.fntdata"/><Relationship Id="rId10" Type="http://schemas.openxmlformats.org/officeDocument/2006/relationships/slide" Target="slides/slide5.xml"/><Relationship Id="rId54" Type="http://schemas.openxmlformats.org/officeDocument/2006/relationships/font" Target="fonts/RobotoCondensed-regular.fntdata"/><Relationship Id="rId13" Type="http://schemas.openxmlformats.org/officeDocument/2006/relationships/slide" Target="slides/slide8.xml"/><Relationship Id="rId57" Type="http://schemas.openxmlformats.org/officeDocument/2006/relationships/font" Target="fonts/RobotoCondensed-boldItalic.fntdata"/><Relationship Id="rId12" Type="http://schemas.openxmlformats.org/officeDocument/2006/relationships/slide" Target="slides/slide7.xml"/><Relationship Id="rId56" Type="http://schemas.openxmlformats.org/officeDocument/2006/relationships/font" Target="fonts/RobotoCondensed-italic.fntdata"/><Relationship Id="rId15" Type="http://schemas.openxmlformats.org/officeDocument/2006/relationships/slide" Target="slides/slide10.xml"/><Relationship Id="rId59" Type="http://schemas.openxmlformats.org/officeDocument/2006/relationships/font" Target="fonts/LibreFranklinMedium-bold.fntdata"/><Relationship Id="rId14" Type="http://schemas.openxmlformats.org/officeDocument/2006/relationships/slide" Target="slides/slide9.xml"/><Relationship Id="rId58" Type="http://schemas.openxmlformats.org/officeDocument/2006/relationships/font" Target="fonts/LibreFranklinMedium-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and I build Ethereum File System. I want the things we build to remain useful long after we are gone. Today we'll look at what that asks of the whole application.</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put the work into making an app people can keep using without you?</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0:20-1:05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years of notes, attachments and shared work inside an app. The company closes, or a new owner changes the deal. Your work still matters, but you lose the tools you need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built another app on that service, your users inherit the failure. This is why fragile apps make poor foundations for important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users to keep their work and builders to rely on each other. We can make choices now that give both a better future.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human stakes, not a customer testimonial. Shutdown and hostile changes create different recovery problems.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17e8cb53479d3c0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17e8cb53479d3c0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1:05-1:40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people to keep their work, choose better tools and trust software with important parts of their lives. And I want developers to build on useful capabilities without asking whether the original company will still exist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this work matters to me. Each dependable component gives the next builder somewhere to start. Over time, those components can support bigger shared projects and even the institutions our communities depend 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1:40-2:35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Hyperstructures give a name to this ambition: lasting public protocols that anyone can use and build on without depending on their creators.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teams provide membership, voting and treasury components. A DAO app combines them. Another team builds a social app using that DAO and a moderation module.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team adds a useful capability instead of rebuilding everything beneath it. Stable interfaces and dependable operation let their work accumulate.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future I want us to build. CROPS brings our values: censorship resistance, open source, privacy and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composition, not a deployed DAO or a claim that every module meets the full hyperstructure definition. Arrows point from a reusable capability to its consumer. Moderation changes an interface's selection, not all retained records or the DAO's shared rules. Jacob Horne's definition has additional economic conditions. Ethereum operation, storage, funding and participants remain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https://jacob.energy/hyperstructures.html</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2:35-3:10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walk-away test gives us a way to work toward that future. Choose a task your users already rely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your team disappears. Can users continue and can someone else operate what they need? Then, someone hostile gets your team's powers. What could they change, and what could users refuse?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each layer, we want to remove a single point of failure or control. Other operators can keep services running. Credibly neutral contracts can enforce shared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Absence and hostile control are separate scenarios. Several operators only help when they have the inputs and authority to act independently. Use test accounts and copied data for exercises.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https://vitalik.eth.limo/general/2024/09/28/alignment.html</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3:10-3:30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eight jobs to consider, grouped into three chapters: getting into the app, continuing the work, and keeping dependable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we'll look at an improvement you can make and something you can check. People, documentation and funding support the whole picture.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3:30-3:35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give people a dependable way into the app.</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3:35-3:45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need a way to find a release, run the software and recover their access. Those are three useful checks before we even reach the app's data.</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3:45-4:55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real names and lookup values. Ethereum dot org resolves to network addresses for a hosted website. That endpoint serves the page.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EFS dot eth points to an IPFS content identifier for a particular release. Different people can retain that same release and serve identical files. The lower drawing shows the arrangement we want: independent copies that other people can keep available.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People can open the name through dot limo or dot link, or use their own IPFS node. Those are ways to reach the release. Keeping the release with several operators gives those entrances something to serve.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Save the identifier and opening instructions. Then try an ordinary task without the usual website.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Lookup snapshot: 2026-10-26. ethereum.org returned A records 104.18.176.152 and 104.19.239.224 through both 1.1.1.1 and 8.8.8.8. These are Cloudflare network endpoints, not proof of one physical server; the slide groups the hosted service, not its internal machines. ENS mainnet at block 26279986 (hash 0xd812e26824d24b4ef54112803d47e0fdb7b6c5ffabe1631d624ab2cb1c349b0e, 22:54:35Z) resolved efs.eth through resolver 0xF29100983E058B709F3D539b0c765937B804AC15 to ipfs://bafybeicrisk74xwozdpx4v5kaqjmimzjqsrp74r5tsrgdyv5kju3dnp5ku. The shortened CID on the slide is explicitly an abbreviation. Three retained copies are an illustrative deployment pattern, not a measured EFS operator count. .link and .limo share the eth.limo operator; do not count them as independent retention. ENS controller, resolver and renewal powers and browser verification remain relevant.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https://docs.ens.domains/ensip/7/</a:t>
            </a:r>
            <a:endParaRPr/>
          </a:p>
          <a:p>
            <a:pPr indent="0" lvl="0" marL="0" rtl="0" algn="l">
              <a:spcBef>
                <a:spcPts val="0"/>
              </a:spcBef>
              <a:spcAft>
                <a:spcPts val="0"/>
              </a:spcAft>
              <a:buNone/>
            </a:pPr>
            <a:r>
              <a:rPr lang="en"/>
              <a:t>https://docs.ipfs.tech/concepts/content-addressing/</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https://developers.cloudflare.com/dns/proxy-status/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4:55-5:40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release is the application someone can actually open: HTML, JavaScript, styles, images and configuration, including code loaded later.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Keeping only the homepage can leave it waiting for a script from a vanished server. Publish the complete runnable bundle.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keep the source, locked dependencies and build instructions. A user can run the saved release. Another developer can rebuild and improve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Check both paths on a fresh machine. Can someone perform a useful task without your hosting or your build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Running a saved release and reproducing a build are separate checks. Inspect dynamic imports, remote configuration, wallet connectors and deep links. The Ledger Connect Kit compromise is an optional historical example of distribution becoming an attack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https://docs.ipfs.tech/how-to/websites-on-ipfs/single-page-website/</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5:40-6:25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app may survive while the user loses access to it. Think about a lost phone or a login service that closes.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a Safe configured for two of three signers, two remaining signers can replace the lost key. The person keeps the same account and its permissions.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Private files also need recoverable decryption keys. A replacement client needs a documented encryption format and the user's authorization to decrypt.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a lost-device recovery with a test account. Could the user return without your personal help?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Safe is a real Ethereum example; the signer arrangement is illustrative. Owners, threshold, modules and guards determine actual recovery. Key independence depends on the threat model. Account recovery does not reconstruct file-decryption keys. Standard encryption needs a compatible envelope, key derivation, algorithm version and user-controlled key recovery. Never expose production keys in a practice exercise.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https://docs.safe.global/advanced/smart-account-overview</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6:25-6:30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let's make the user's work useful beyond a single app.</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6:30-6:40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files, keep their meaning, and give another app or operator the information needed to continue the task.</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ositive_standard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positive_standard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6:40-7:40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app needs to understand what your data means. This small record has an identifier, an author, some text and an attachment. Its file reference selects the accepted version. Publish the field meanings and the rules for reading and changing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EAS, the Ethereum Attestation Service, makes this idea explicit through schemas for structured statements and a record of who made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existing database can benefit too. Export a documented format with stable identifiers and relationships. Include attachments and the encryption information an authorized reader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another developer to open one useful record. Their questions reveal what your format still leaves implicit.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displayed note is illustrative, not a deployed EAS schema or EAS/EFS integration. EAS has separate schema, attester and data fields and supports onchain and offchain attestations. An attester is not a proof of truth. Stable IDs, author identity, references, schema versions and permission rules must retain meaning across implementations. Export offers a migration/recovery path; ongoing shared writes additionally need agreed synchronization, conflict handling and authorization. A database does not have to move onchain for these improvements.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https://attest.org/</a:t>
            </a:r>
            <a:endParaRPr/>
          </a:p>
          <a:p>
            <a:pPr indent="0" lvl="0" marL="0" rtl="0" algn="l">
              <a:spcBef>
                <a:spcPts val="0"/>
              </a:spcBef>
              <a:spcAft>
                <a:spcPts val="0"/>
              </a:spcAft>
              <a:buNone/>
            </a:pPr>
            <a:r>
              <a:rPr lang="en"/>
              <a:t>https://github.com/ethereum-attestation-service/eas-contracts/blob/master/contracts/SchemaRegistry.sol</a:t>
            </a:r>
            <a:endParaRPr/>
          </a:p>
          <a:p>
            <a:pPr indent="0" lvl="0" marL="0" rtl="0" algn="l">
              <a:spcBef>
                <a:spcPts val="0"/>
              </a:spcBef>
              <a:spcAft>
                <a:spcPts val="0"/>
              </a:spcAft>
              <a:buNone/>
            </a:pPr>
            <a:r>
              <a:rPr lang="en"/>
              <a:t>https://github.com/ethereum-attestation-service/eas-contracts/blob/master/contracts/IEAS.sol</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7:40-8:30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two possible interfaces to the same record. One puts the note in an editor. Another shows it in a community feed. The author, content and attachment still mean the same thing.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gives users a useful choice and gives developers room to compete on the experience. Someone can build a better tool without asking people to abandon their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an existing app, begin with a second reader for an export. If clients will share ongoing work, agree on how they read and write the same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check is a real task in another client.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mockups, not screenshots of deployed products. note-17 and 0xA… are visibly abbreviated example identifiers. A copied export supports recovery/migration; two live clients sharing edits need common authority, synchronization and compatible versions. Neither path requires EAS or EFS. Private clients must preserve authorized access and compatible decryption.</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8:30-9:25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will a usable copy come from when the original provider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files and databases, arrange independently retained copies. That might mean storage operators, an independent database replica, or a user backup. Keep the attachments and format information needed to restore useful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onchain records, chain nodes already replicate the state. Your app needs a route to those nodes and any history it uses to rebuild views.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retention a budget and someone responsible for it. Then restore through an alternative and open the result. That tells you much more than an export button.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shows two storage arrangements, not a prescription to move every database to Ethereum. Offchain copies are illustrative and must be refreshed under a defined policy. A chain state commitment is not an archive of every historical state or offchain file. Rebuilding indexes may require retained event history and suitable node access. IPFS persistence requires providers to retain content. Backups alone do not preserve a live multiwriter service; independent deployment/sync and authorization may also be needed.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https://www.inkandswitch.com/essay/local-first/</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9:25-10:30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one job I built Ethereum File System to help with. A readable path leads to an onchain record describing a file. It includes metadata, which is information about the file, and a content fingerprint for checking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can read that public metadata. A client can retrieve a copy from IPFS or Arweave and compare its fingerprint with the expected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provider can serve the same file, and another app can understand the reference.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your app, ask what identifies the accepted version and how someone can obtain and check a replacement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/notes/meeting.md path is illustrative. The EFS Sepolia proof package supplies historical evidence for retrieving and checking the same artifact through IPFS and Arweave, not a fresh run in this revision. A digest is a cryptographic hash, called a content fingerprint in the spoken explanation. It checks byte integrity relative to an accepted reference, not semantic truth, freshness or retention. Onchain contracts read metadata; clients fetch offchain bytes. Include chain, deployment and exact revision in a stable reference. No public EFS version or new deployment promise.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10:30-11:40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two jobs here. An RPC is the app's connection to a node. It lets the app read chain state. Make that connection replaceable, including a route to your own node. For supported reads, a light client such as Helios can check responses against Ethereum.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index organizes records into the lists and searches people use. The Graph is an Ethereum example with independent indexers. Publish the recipe and preserve the inputs so another operator can rebuild your important views.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Show how far the view has synced. Then change providers and rebuild one list. Can the user still find the records they need?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Graph network is live; this is a mechanism example, not a blanket reliability assessment of every subgraph. Its normal gateway/API-key/billing path has its own dependencies. A replacement needs the subgraph definition, linked files, schema, chain history, RPC and database. Helios verifies supported Ethereum consensus/execution responses with checkpoint and RPC assumptions; it does not automatically verify arbitrary index queries or retain offchain files. Multiple RPCs offer alternatives, not verification by majority vote. For completeness checks, compare an expected set of known records as well as the indexed block height. No EFS light-client integration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https://thegraph.com/docs/en/indexing/overview/</a:t>
            </a:r>
            <a:endParaRPr/>
          </a:p>
          <a:p>
            <a:pPr indent="0" lvl="0" marL="0" rtl="0" algn="l">
              <a:spcBef>
                <a:spcPts val="0"/>
              </a:spcBef>
              <a:spcAft>
                <a:spcPts val="0"/>
              </a:spcAft>
              <a:buNone/>
            </a:pPr>
            <a:r>
              <a:rPr lang="en"/>
              <a:t>https://thegraph.com/docs/en/gateways/subgraphs/components/overview/</a:t>
            </a:r>
            <a:endParaRPr/>
          </a:p>
          <a:p>
            <a:pPr indent="0" lvl="0" marL="0" rtl="0" algn="l">
              <a:spcBef>
                <a:spcPts val="0"/>
              </a:spcBef>
              <a:spcAft>
                <a:spcPts val="0"/>
              </a:spcAft>
              <a:buNone/>
            </a:pPr>
            <a:r>
              <a:rPr lang="en"/>
              <a:t>https://thegraph.com/docs/en/subgraphs/providers/subgraph-studio/managing-api-keys/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11:40-12:35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still needs someone to submit a transaction. Many apps also need background services to supply inputs or do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Tornado Cash Classic gives one focused example. A relayer submits a user's withdrawal proof and pays the transaction's gas. The pool contract checks the proof. The user can choose another relayer and generate a proof for that choice.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the same question about your workers. Could another operator get the code and inputs, pay the costs and complete the job? Could the user take 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a replacement in a test environment before the original service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Technical mechanism only, not instructions to use the service or a current legal/availability claim. Classic pool withdrawal checks the proof, known root and unspent nullifier rather than a privileged caller allowlist. The proof binds recipient, relayer payment address, fee and refund; a replacement paid relayer may require a new proof. UI registry/listing rules are distinct from pool-level permissionless submission. Pool contracts, relayer registry and upgradeable governance are separate components. Oracles, provers, bundlers and paymasters have different inputs, economics and authorities; test the actual job instead of assuming every worker is interchangeable.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https://github.com/tornadocash/tornado-core/blob/master/contracts/Tornado.sol</a:t>
            </a:r>
            <a:endParaRPr/>
          </a:p>
          <a:p>
            <a:pPr indent="0" lvl="0" marL="0" rtl="0" algn="l">
              <a:spcBef>
                <a:spcPts val="0"/>
              </a:spcBef>
              <a:spcAft>
                <a:spcPts val="0"/>
              </a:spcAft>
              <a:buNone/>
            </a:pPr>
            <a:r>
              <a:rPr lang="en"/>
              <a:t>https://github.com/tornadocash/tornado-core/blob/master/contracts/ETHTornado.sol</a:t>
            </a:r>
            <a:endParaRPr/>
          </a:p>
          <a:p>
            <a:pPr indent="0" lvl="0" marL="0" rtl="0" algn="l">
              <a:spcBef>
                <a:spcPts val="0"/>
              </a:spcBef>
              <a:spcAft>
                <a:spcPts val="0"/>
              </a:spcAft>
              <a:buNone/>
            </a:pPr>
            <a:r>
              <a:rPr lang="en"/>
              <a:t>https://github.com/tornadocash/docs/blob/en/general/how-to-become-a-relayer.md</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12:35-12:40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let's give people rules they can build on.</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12:40-12:50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contracts give builders a foundation. User-chosen app upgrades let better tools grow around it. Shared systems need a clear agreement about how their rules evolve.</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12:50-14:15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to encourage immutable core contracts. When the logic at an address stays fixed, other developers can depend on it without asking what the original team will change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example. Other applications can call its fixed exchange logic. Zerion, for example, integrates Uniswap swaps through its API. That shows how a shared capability can become part of another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Developers can release new contract versions and let users choose to migrate. Keep the old version usable for people who stay.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most app software, I want that choice to belong to the user. Shared networks coordinate protocol changes, which is a different kind of decision.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Find a small core you can test carefully and keep stable. That can become someone else's foundation.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Fixed core code does not freeze external inputs, fees or all dependencies. v2 Factory has bounded feeTo/feeToSetter powers and no arbitrary core upgrade. Official docs describe v2/v3/v4 core as non-upgradeable; v4 hooks can introduce separate custom and upgradeable behavior. Use v2 as the simple slide example. A canonical v2 USDC/WETH Swap receipt was independently checked October 26, 2026: transaction 0xd5cc225a285adc402669af3930dca1e486e5508feb1289be447a3d1660aaa4f7, block 26280293, status 1. This establishes activity, not general safety. Zerion cites liquidity and execution benefits, not immutability as its selection motive; its API integration adds an offchain dependency. Immutability removes in-place repair, so scope/audit carefully and plan voluntary migration. No new EFS immutability verification.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https://developers.uniswap.org/docs/get-started/concepts/how-uniswap-works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rPr lang="en"/>
              <a:t>https://developers.uniswap.org/docs/protocols/v4/security</a:t>
            </a:r>
            <a:endParaRPr/>
          </a:p>
          <a:p>
            <a:pPr indent="0" lvl="0" marL="0" rtl="0" algn="l">
              <a:spcBef>
                <a:spcPts val="0"/>
              </a:spcBef>
              <a:spcAft>
                <a:spcPts val="0"/>
              </a:spcAft>
              <a:buNone/>
            </a:pPr>
            <a:r>
              <a:rPr lang="en"/>
              <a:t>https://zerion.io/blog/zerion-wallet-now-offers-swaps-powered-by-uniswap-api/</a:t>
            </a:r>
            <a:endParaRPr/>
          </a:p>
          <a:p>
            <a:pPr indent="0" lvl="0" marL="0" rtl="0" algn="l">
              <a:spcBef>
                <a:spcPts val="0"/>
              </a:spcBef>
              <a:spcAft>
                <a:spcPts val="0"/>
              </a:spcAft>
              <a:buNone/>
            </a:pPr>
            <a:r>
              <a:rPr lang="en"/>
              <a:t>https://etherscan.io/tx/0xd5cc225a285adc402669af3930dca1e486e5508feb1289be447a3d1660aaa4f7</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14:15-15:15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inherits the chain beneath it. Ethereum nodes and validators maintain shared state and agree on transactions. Preserve a usable connection and the history your app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find out who orders transactions, where the data is available and how results settle on L1. These choices affect what your users can do during an outage.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documentation, for example, describes submitting through L1 when the sequencer is unavailable.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Turn your network's recovery documentation into an exercise for your app's actual account and task. How long does it take, what does it cost, and can the user finish?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unavailable sequencer, a faulty prover, missing data and a hostile upgrade are distinct failure modes. OP Stack forced inclusion through OptimismPortal is not a universal exit guarantee or a cure for hostile upgrades. Withdrawal rules, bridges, security councils, upgrade controls and deployment configuration need separate inspection. Inherited token, oracle, bridge and other protocol dependencies can change an otherwise fixed application. Nodes need peer connectivity and required history. This is an app design check, not a performed recovery test.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15:15-15:55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People can carry the work forward when they have the materials and the instructions.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Publish the release, contract addresses, retained inputs and recipes for rebuilding services. Explain replacement endpoints and running costs.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give the handoff to people outside your team. Can they open the app, rebuild a view or run a worker?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Aim for several genuinely independent participants at important layers. Their questions will show you where your app still depends on knowledge or permission only your team has.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handoff, not a completed operator exercise. Three participants is James's resilience ambition, not a universal safety threshold. Shared cloud accounts, credentials, funders and undocumented privileges can defeat apparent redundancy. Include licenses, documentation, funding and compatible standards so a willing operator can act.</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15:55-16:00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to take back to your own app.</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16:00-16:45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to take back to your app. Choose one task whose loss would hurt a user.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 they run the software, recover access, restore useful data and use another client? Can someone else run the supporting services and explain the contract and network recovery paths?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the task without your team's services or personal help. Separately, inspect what a hostile holder of your remaining powers could do.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test accounts and copies. Fix the first dependency that stops the task, then try again.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practical exercise, not certification or a maintained scoring tool. Keep an explicit inventory of upgrade, pause, routing, account and data-writing powers. Record time, cost, privacy, required inputs and remaining assumptions. The next slide shows an illustrative index failure, not an observed EFS outage.</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concrete_walkthroug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concrete_walkthroug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16:45-17:45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one small example. The task is to find and open an existing note. Normally, the list shows the meeting note and its attachment.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a test environment, we stop the team's index. The list cannot load. The records still exist, but the app has no replacement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improvement is to publish the indexing recipe and let the app select another endpoint. An independent operator rebuilds the view from retained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next attempt, the same note appears and its attachment opens. We check both, along with how current the view 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failed task has told us what to improve.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before/failure/retest, not a live demo or measured outage. The first attempt exposes a missing replacement path. Publishing the recipe and endpoint selection is the improvement before the second attempt. Retained records/history and attachments are explicit prerequisites; they are not reconstructed from a blank response. An actual failure must appear as unavailable rather than a misleading empty list. A real drill records observed results and never disables production services. This checks one dependency, not the whole stack.</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17:45-18:30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a future where people can trust software with the important parts of their lives. Where their work remains theirs, better tools can use it, and developers keep adding to foundations everyone can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what draws me to Ethereum and what I am trying to contribute with EFS.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important task. Make it easier for someone else to keep it working. Every dependable piece gives the next person more to build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work can outlive us.</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part of your app would you most like to make independent of your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Q&amp;A and public contact slide. No live demo or new protocol deployment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efs.eth.lim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Why make an app you can walk away from?</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What happens when an app disappears?</a:t>
            </a:r>
            <a:endParaRPr/>
          </a:p>
          <a:p>
            <a:pPr indent="0" lvl="0" marL="0" rtl="0" algn="r">
              <a:spcBef>
                <a:spcPts val="0"/>
              </a:spcBef>
              <a:spcAft>
                <a:spcPts val="0"/>
              </a:spcAft>
              <a:buNone/>
            </a:pPr>
            <a:r>
              <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Users lose their work and trust</a:t>
            </a:r>
            <a:endParaRPr sz="2400">
              <a:solidFill>
                <a:schemeClr val="accent2"/>
              </a:solidFill>
            </a:endParaRPr>
          </a:p>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Other developers can’t rely on that functionality</a:t>
            </a:r>
            <a:endParaRPr sz="2400">
              <a:solidFill>
                <a:schemeClr val="accent2"/>
              </a:solidFill>
            </a:endParaRPr>
          </a:p>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Communities splinter</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people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years of useful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Choose better tools</a:t>
            </a:r>
            <a:endParaRPr sz="2400">
              <a:solidFill>
                <a:srgbClr val="212121"/>
              </a:solidFill>
            </a:endParaRPr>
          </a:p>
        </p:txBody>
      </p:sp>
      <p:sp>
        <p:nvSpPr>
          <p:cNvPr id="102" name="Google Shape;102;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builders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Reuse dependable capabilities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Build bigger things together</a:t>
            </a:r>
            <a:endParaRPr sz="2400">
              <a:solidFill>
                <a:srgbClr val="212121"/>
              </a:solidFill>
            </a:endParaRPr>
          </a:p>
        </p:txBody>
      </p:sp>
      <p:sp>
        <p:nvSpPr>
          <p:cNvPr id="103" name="Google Shape;103;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Software worth building on</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a:solidFill>
                  <a:srgbClr val="06038D"/>
                </a:solidFill>
                <a:latin typeface="Poppins"/>
                <a:ea typeface="Poppins"/>
                <a:cs typeface="Poppins"/>
                <a:sym typeface="Poppins"/>
              </a:rPr>
              <a:t>Hyperstructures: build on each other</a:t>
            </a:r>
            <a:endParaRPr b="1">
              <a:solidFill>
                <a:srgbClr val="06038D"/>
              </a:solidFill>
              <a:latin typeface="Poppins"/>
              <a:ea typeface="Poppins"/>
              <a:cs typeface="Poppins"/>
              <a:sym typeface="Poppins"/>
            </a:endParaRPr>
          </a:p>
        </p:txBody>
      </p:sp>
      <p:cxnSp>
        <p:nvCxnSpPr>
          <p:cNvPr id="109" name="Google Shape;109;p23"/>
          <p:cNvCxnSpPr/>
          <p:nvPr/>
        </p:nvCxnSpPr>
        <p:spPr>
          <a:xfrm rot="10800000">
            <a:off x="1651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0" name="Google Shape;110;p23"/>
          <p:cNvCxnSpPr/>
          <p:nvPr/>
        </p:nvCxnSpPr>
        <p:spPr>
          <a:xfrm rot="10800000">
            <a:off x="3810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1" name="Google Shape;111;p23"/>
          <p:cNvCxnSpPr/>
          <p:nvPr/>
        </p:nvCxnSpPr>
        <p:spPr>
          <a:xfrm rot="10800000">
            <a:off x="5969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2" name="Google Shape;112;p23"/>
          <p:cNvCxnSpPr/>
          <p:nvPr/>
        </p:nvCxnSpPr>
        <p:spPr>
          <a:xfrm>
            <a:off x="1651000" y="3111500"/>
            <a:ext cx="4317900" cy="0"/>
          </a:xfrm>
          <a:prstGeom prst="straightConnector1">
            <a:avLst/>
          </a:prstGeom>
          <a:noFill/>
          <a:ln cap="flat" cmpd="sng" w="17775">
            <a:solidFill>
              <a:srgbClr val="06038D"/>
            </a:solidFill>
            <a:prstDash val="solid"/>
            <a:round/>
            <a:headEnd len="med" w="med" type="none"/>
            <a:tailEnd len="med" w="med" type="none"/>
          </a:ln>
        </p:spPr>
      </p:cxnSp>
      <p:cxnSp>
        <p:nvCxnSpPr>
          <p:cNvPr id="113" name="Google Shape;113;p23"/>
          <p:cNvCxnSpPr/>
          <p:nvPr/>
        </p:nvCxnSpPr>
        <p:spPr>
          <a:xfrm rot="10800000">
            <a:off x="3810000" y="2857400"/>
            <a:ext cx="0" cy="254100"/>
          </a:xfrm>
          <a:prstGeom prst="straightConnector1">
            <a:avLst/>
          </a:prstGeom>
          <a:noFill/>
          <a:ln cap="flat" cmpd="sng" w="17775">
            <a:solidFill>
              <a:srgbClr val="06038D"/>
            </a:solidFill>
            <a:prstDash val="solid"/>
            <a:round/>
            <a:headEnd len="med" w="med" type="none"/>
            <a:tailEnd len="med" w="med" type="triangle"/>
          </a:ln>
        </p:spPr>
      </p:cxnSp>
      <p:cxnSp>
        <p:nvCxnSpPr>
          <p:cNvPr id="114" name="Google Shape;114;p23"/>
          <p:cNvCxnSpPr/>
          <p:nvPr/>
        </p:nvCxnSpPr>
        <p:spPr>
          <a:xfrm rot="10800000">
            <a:off x="381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5" name="Google Shape;115;p23"/>
          <p:cNvCxnSpPr/>
          <p:nvPr/>
        </p:nvCxnSpPr>
        <p:spPr>
          <a:xfrm rot="10800000">
            <a:off x="762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6" name="Google Shape;116;p23"/>
          <p:cNvCxnSpPr/>
          <p:nvPr/>
        </p:nvCxnSpPr>
        <p:spPr>
          <a:xfrm>
            <a:off x="3810000" y="1917700"/>
            <a:ext cx="3810000" cy="0"/>
          </a:xfrm>
          <a:prstGeom prst="straightConnector1">
            <a:avLst/>
          </a:prstGeom>
          <a:noFill/>
          <a:ln cap="flat" cmpd="sng" w="17775">
            <a:solidFill>
              <a:srgbClr val="06038D"/>
            </a:solidFill>
            <a:prstDash val="solid"/>
            <a:round/>
            <a:headEnd len="med" w="med" type="none"/>
            <a:tailEnd len="med" w="med" type="none"/>
          </a:ln>
        </p:spPr>
      </p:cxnSp>
      <p:cxnSp>
        <p:nvCxnSpPr>
          <p:cNvPr id="117" name="Google Shape;117;p23"/>
          <p:cNvCxnSpPr/>
          <p:nvPr/>
        </p:nvCxnSpPr>
        <p:spPr>
          <a:xfrm rot="10800000">
            <a:off x="5016500" y="1777900"/>
            <a:ext cx="0" cy="139800"/>
          </a:xfrm>
          <a:prstGeom prst="straightConnector1">
            <a:avLst/>
          </a:prstGeom>
          <a:noFill/>
          <a:ln cap="flat" cmpd="sng" w="17775">
            <a:solidFill>
              <a:srgbClr val="06038D"/>
            </a:solidFill>
            <a:prstDash val="solid"/>
            <a:round/>
            <a:headEnd len="med" w="med" type="none"/>
            <a:tailEnd len="med" w="med" type="triangle"/>
          </a:ln>
        </p:spPr>
      </p:cxnSp>
      <p:sp>
        <p:nvSpPr>
          <p:cNvPr id="118" name="Google Shape;118;p23"/>
          <p:cNvSpPr/>
          <p:nvPr/>
        </p:nvSpPr>
        <p:spPr>
          <a:xfrm>
            <a:off x="3365500" y="1155700"/>
            <a:ext cx="3302100" cy="622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Community social app</a:t>
            </a:r>
            <a:endParaRPr sz="19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Team F</a:t>
            </a:r>
            <a:endParaRPr sz="1900">
              <a:solidFill>
                <a:srgbClr val="FFFFFF"/>
              </a:solidFill>
              <a:latin typeface="Poppins"/>
              <a:ea typeface="Poppins"/>
              <a:cs typeface="Poppins"/>
              <a:sym typeface="Poppins"/>
            </a:endParaRPr>
          </a:p>
        </p:txBody>
      </p:sp>
      <p:sp>
        <p:nvSpPr>
          <p:cNvPr id="119" name="Google Shape;119;p23"/>
          <p:cNvSpPr/>
          <p:nvPr/>
        </p:nvSpPr>
        <p:spPr>
          <a:xfrm>
            <a:off x="1905000" y="2159000"/>
            <a:ext cx="38100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DAO app</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Team D</a:t>
            </a:r>
            <a:endParaRPr sz="2100">
              <a:solidFill>
                <a:srgbClr val="212121"/>
              </a:solidFill>
              <a:latin typeface="Poppins"/>
              <a:ea typeface="Poppins"/>
              <a:cs typeface="Poppins"/>
              <a:sym typeface="Poppins"/>
            </a:endParaRPr>
          </a:p>
        </p:txBody>
      </p:sp>
      <p:sp>
        <p:nvSpPr>
          <p:cNvPr id="120" name="Google Shape;120;p23"/>
          <p:cNvSpPr/>
          <p:nvPr/>
        </p:nvSpPr>
        <p:spPr>
          <a:xfrm>
            <a:off x="6731000" y="2159000"/>
            <a:ext cx="18414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Moderation</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Team E</a:t>
            </a:r>
            <a:endParaRPr sz="1800">
              <a:solidFill>
                <a:srgbClr val="212121"/>
              </a:solidFill>
              <a:latin typeface="Poppins"/>
              <a:ea typeface="Poppins"/>
              <a:cs typeface="Poppins"/>
              <a:sym typeface="Poppins"/>
            </a:endParaRPr>
          </a:p>
        </p:txBody>
      </p:sp>
      <p:sp>
        <p:nvSpPr>
          <p:cNvPr id="121" name="Google Shape;121;p23"/>
          <p:cNvSpPr/>
          <p:nvPr/>
        </p:nvSpPr>
        <p:spPr>
          <a:xfrm>
            <a:off x="698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Membership</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A</a:t>
            </a:r>
            <a:endParaRPr sz="2000">
              <a:solidFill>
                <a:srgbClr val="212121"/>
              </a:solidFill>
              <a:latin typeface="Poppins"/>
              <a:ea typeface="Poppins"/>
              <a:cs typeface="Poppins"/>
              <a:sym typeface="Poppins"/>
            </a:endParaRPr>
          </a:p>
        </p:txBody>
      </p:sp>
      <p:sp>
        <p:nvSpPr>
          <p:cNvPr id="122" name="Google Shape;122;p23"/>
          <p:cNvSpPr/>
          <p:nvPr/>
        </p:nvSpPr>
        <p:spPr>
          <a:xfrm>
            <a:off x="2857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Voting</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B</a:t>
            </a:r>
            <a:endParaRPr sz="2000">
              <a:solidFill>
                <a:srgbClr val="212121"/>
              </a:solidFill>
              <a:latin typeface="Poppins"/>
              <a:ea typeface="Poppins"/>
              <a:cs typeface="Poppins"/>
              <a:sym typeface="Poppins"/>
            </a:endParaRPr>
          </a:p>
        </p:txBody>
      </p:sp>
      <p:sp>
        <p:nvSpPr>
          <p:cNvPr id="123" name="Google Shape;123;p23"/>
          <p:cNvSpPr/>
          <p:nvPr/>
        </p:nvSpPr>
        <p:spPr>
          <a:xfrm>
            <a:off x="5016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Treasury</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C</a:t>
            </a:r>
            <a:endParaRPr sz="2000">
              <a:solidFill>
                <a:srgbClr val="212121"/>
              </a:solidFill>
              <a:latin typeface="Poppins"/>
              <a:ea typeface="Poppins"/>
              <a:cs typeface="Poppins"/>
              <a:sym typeface="Poppins"/>
            </a:endParaRPr>
          </a:p>
        </p:txBody>
      </p:sp>
      <p:sp>
        <p:nvSpPr>
          <p:cNvPr id="124" name="Google Shape;124;p23"/>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architecture: each team adds a dependable capability</a:t>
            </a:r>
            <a:endParaRPr sz="1600">
              <a:solidFill>
                <a:srgbClr val="06038D"/>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idx="1" type="body"/>
          </p:nvPr>
        </p:nvSpPr>
        <p:spPr>
          <a:xfrm>
            <a:off x="67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working?</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others run the services?</a:t>
            </a:r>
            <a:endParaRPr sz="2400">
              <a:solidFill>
                <a:srgbClr val="212121"/>
              </a:solidFill>
            </a:endParaRPr>
          </a:p>
        </p:txBody>
      </p:sp>
      <p:sp>
        <p:nvSpPr>
          <p:cNvPr id="130" name="Google Shape;130;p24"/>
          <p:cNvSpPr txBox="1"/>
          <p:nvPr>
            <p:ph idx="2" type="body"/>
          </p:nvPr>
        </p:nvSpPr>
        <p:spPr>
          <a:xfrm>
            <a:off x="4608575" y="1280150"/>
            <a:ext cx="40569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Control becomes hostile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their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they keep the rules they chose?</a:t>
            </a:r>
            <a:endParaRPr sz="2400">
              <a:solidFill>
                <a:srgbClr val="212121"/>
              </a:solidFill>
            </a:endParaRPr>
          </a:p>
        </p:txBody>
      </p:sp>
      <p:sp>
        <p:nvSpPr>
          <p:cNvPr id="131" name="Google Shape;131;p2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walk-away test</a:t>
            </a:r>
            <a:endParaRPr b="1" sz="3200">
              <a:solidFill>
                <a:srgbClr val="06038D"/>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4826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Interface</a:t>
            </a:r>
            <a:endParaRPr sz="1800"/>
          </a:p>
        </p:txBody>
      </p:sp>
      <p:sp>
        <p:nvSpPr>
          <p:cNvPr id="137" name="Google Shape;137;p25"/>
          <p:cNvSpPr txBox="1"/>
          <p:nvPr>
            <p:ph idx="4294967295" type="body"/>
          </p:nvPr>
        </p:nvSpPr>
        <p:spPr>
          <a:xfrm>
            <a:off x="609600" y="2603500"/>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Names and discovery</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Runnable software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Accounts and recovery</a:t>
            </a:r>
            <a:endParaRPr sz="1800">
              <a:solidFill>
                <a:srgbClr val="212121"/>
              </a:solidFill>
            </a:endParaRPr>
          </a:p>
        </p:txBody>
      </p:sp>
      <p:sp>
        <p:nvSpPr>
          <p:cNvPr id="138" name="Google Shape;138;p25"/>
          <p:cNvSpPr/>
          <p:nvPr/>
        </p:nvSpPr>
        <p:spPr>
          <a:xfrm>
            <a:off x="0" y="2303000"/>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5"/>
          <p:cNvSpPr txBox="1"/>
          <p:nvPr>
            <p:ph type="title"/>
          </p:nvPr>
        </p:nvSpPr>
        <p:spPr>
          <a:xfrm>
            <a:off x="33274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Data</a:t>
            </a:r>
            <a:endParaRPr sz="1800"/>
          </a:p>
        </p:txBody>
      </p:sp>
      <p:sp>
        <p:nvSpPr>
          <p:cNvPr id="140" name="Google Shape;140;p25"/>
          <p:cNvSpPr txBox="1"/>
          <p:nvPr>
            <p:ph idx="4294967295" type="body"/>
          </p:nvPr>
        </p:nvSpPr>
        <p:spPr>
          <a:xfrm>
            <a:off x="3454400" y="2603500"/>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Storage and formats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State and indexes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Background work</a:t>
            </a:r>
            <a:endParaRPr sz="1800">
              <a:solidFill>
                <a:srgbClr val="212121"/>
              </a:solidFill>
            </a:endParaRPr>
          </a:p>
        </p:txBody>
      </p:sp>
      <p:sp>
        <p:nvSpPr>
          <p:cNvPr id="141" name="Google Shape;141;p25"/>
          <p:cNvSpPr txBox="1"/>
          <p:nvPr>
            <p:ph type="title"/>
          </p:nvPr>
        </p:nvSpPr>
        <p:spPr>
          <a:xfrm>
            <a:off x="6312900" y="160115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Rules</a:t>
            </a:r>
            <a:endParaRPr sz="1800"/>
          </a:p>
        </p:txBody>
      </p:sp>
      <p:sp>
        <p:nvSpPr>
          <p:cNvPr id="142" name="Google Shape;142;p25"/>
          <p:cNvSpPr txBox="1"/>
          <p:nvPr>
            <p:ph idx="4294967295" type="body"/>
          </p:nvPr>
        </p:nvSpPr>
        <p:spPr>
          <a:xfrm>
            <a:off x="6299200" y="2603500"/>
            <a:ext cx="26091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Contracts and governance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Network and settlement</a:t>
            </a:r>
            <a:endParaRPr sz="1800">
              <a:solidFill>
                <a:srgbClr val="212121"/>
              </a:solidFill>
            </a:endParaRPr>
          </a:p>
        </p:txBody>
      </p:sp>
      <p:sp>
        <p:nvSpPr>
          <p:cNvPr id="143" name="Google Shape;143;p25"/>
          <p:cNvSpPr/>
          <p:nvPr/>
        </p:nvSpPr>
        <p:spPr>
          <a:xfrm>
            <a:off x="7474950" y="2229650"/>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5"/>
          <p:cNvSpPr/>
          <p:nvPr/>
        </p:nvSpPr>
        <p:spPr>
          <a:xfrm>
            <a:off x="1504050" y="22340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5"/>
          <p:cNvSpPr/>
          <p:nvPr/>
        </p:nvSpPr>
        <p:spPr>
          <a:xfrm>
            <a:off x="4489500" y="2234063"/>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5"/>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a:p>
            <a:pPr indent="0" lvl="0" marL="0" rtl="0" algn="ctr">
              <a:spcBef>
                <a:spcPts val="0"/>
              </a:spcBef>
              <a:spcAft>
                <a:spcPts val="0"/>
              </a:spcAft>
              <a:buNone/>
            </a:pPr>
            <a:r>
              <a:t/>
            </a:r>
            <a:endParaRPr b="1" sz="3200">
              <a:solidFill>
                <a:srgbClr val="06038D"/>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 and using the app</a:t>
            </a:r>
            <a:endParaRPr/>
          </a:p>
        </p:txBody>
      </p:sp>
      <p:sp>
        <p:nvSpPr>
          <p:cNvPr id="152" name="Google Shape;152;p26"/>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Interface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58" name="Google Shape;158;p27"/>
          <p:cNvSpPr txBox="1"/>
          <p:nvPr>
            <p:ph idx="1" type="body"/>
          </p:nvPr>
        </p:nvSpPr>
        <p:spPr>
          <a:xfrm>
            <a:off x="651850" y="617600"/>
            <a:ext cx="3733200" cy="401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Find a saved release</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Run it without your servers</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Recover access without your help</a:t>
            </a:r>
            <a:endParaRPr sz="2400">
              <a:solidFill>
                <a:schemeClr val="accen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More than one way into the app</a:t>
            </a:r>
            <a:endParaRPr b="1" sz="3000">
              <a:solidFill>
                <a:srgbClr val="06038D"/>
              </a:solidFill>
              <a:latin typeface="Poppins"/>
              <a:ea typeface="Poppins"/>
              <a:cs typeface="Poppins"/>
              <a:sym typeface="Poppins"/>
            </a:endParaRPr>
          </a:p>
        </p:txBody>
      </p:sp>
      <p:sp>
        <p:nvSpPr>
          <p:cNvPr id="164" name="Google Shape;164;p28"/>
          <p:cNvSpPr txBox="1"/>
          <p:nvPr/>
        </p:nvSpPr>
        <p:spPr>
          <a:xfrm>
            <a:off x="444500" y="11176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DNS + HTTP</a:t>
            </a:r>
            <a:endParaRPr b="1" sz="1700">
              <a:solidFill>
                <a:srgbClr val="06038D"/>
              </a:solidFill>
              <a:latin typeface="Poppins"/>
              <a:ea typeface="Poppins"/>
              <a:cs typeface="Poppins"/>
              <a:sym typeface="Poppins"/>
            </a:endParaRPr>
          </a:p>
        </p:txBody>
      </p:sp>
      <p:sp>
        <p:nvSpPr>
          <p:cNvPr id="165" name="Google Shape;165;p28"/>
          <p:cNvSpPr/>
          <p:nvPr/>
        </p:nvSpPr>
        <p:spPr>
          <a:xfrm>
            <a:off x="444500" y="1511300"/>
            <a:ext cx="21591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ethereum.org</a:t>
            </a:r>
            <a:endParaRPr sz="2000">
              <a:solidFill>
                <a:srgbClr val="212121"/>
              </a:solidFill>
              <a:latin typeface="Poppins"/>
              <a:ea typeface="Poppins"/>
              <a:cs typeface="Poppins"/>
              <a:sym typeface="Poppins"/>
            </a:endParaRPr>
          </a:p>
        </p:txBody>
      </p:sp>
      <p:cxnSp>
        <p:nvCxnSpPr>
          <p:cNvPr id="166" name="Google Shape;166;p28"/>
          <p:cNvCxnSpPr/>
          <p:nvPr/>
        </p:nvCxnSpPr>
        <p:spPr>
          <a:xfrm>
            <a:off x="2628900" y="1905000"/>
            <a:ext cx="482700" cy="0"/>
          </a:xfrm>
          <a:prstGeom prst="straightConnector1">
            <a:avLst/>
          </a:prstGeom>
          <a:noFill/>
          <a:ln cap="flat" cmpd="sng" w="17775">
            <a:solidFill>
              <a:srgbClr val="06038D"/>
            </a:solidFill>
            <a:prstDash val="solid"/>
            <a:round/>
            <a:headEnd len="med" w="med" type="none"/>
            <a:tailEnd len="med" w="med" type="triangle"/>
          </a:ln>
        </p:spPr>
      </p:cxnSp>
      <p:sp>
        <p:nvSpPr>
          <p:cNvPr id="167" name="Google Shape;167;p28"/>
          <p:cNvSpPr/>
          <p:nvPr/>
        </p:nvSpPr>
        <p:spPr>
          <a:xfrm>
            <a:off x="3136900" y="1511300"/>
            <a:ext cx="31116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Hosted website endpoint</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104.18.176.152</a:t>
            </a:r>
            <a:endParaRPr sz="1800">
              <a:solidFill>
                <a:srgbClr val="212121"/>
              </a:solidFill>
              <a:latin typeface="Poppins"/>
              <a:ea typeface="Poppins"/>
              <a:cs typeface="Poppins"/>
              <a:sym typeface="Poppins"/>
            </a:endParaRPr>
          </a:p>
        </p:txBody>
      </p:sp>
      <p:cxnSp>
        <p:nvCxnSpPr>
          <p:cNvPr id="168" name="Google Shape;168;p28"/>
          <p:cNvCxnSpPr/>
          <p:nvPr/>
        </p:nvCxnSpPr>
        <p:spPr>
          <a:xfrm>
            <a:off x="6273800" y="1905000"/>
            <a:ext cx="457200" cy="0"/>
          </a:xfrm>
          <a:prstGeom prst="straightConnector1">
            <a:avLst/>
          </a:prstGeom>
          <a:noFill/>
          <a:ln cap="flat" cmpd="sng" w="17775">
            <a:solidFill>
              <a:srgbClr val="06038D"/>
            </a:solidFill>
            <a:prstDash val="solid"/>
            <a:round/>
            <a:headEnd len="med" w="med" type="none"/>
            <a:tailEnd len="med" w="med" type="triangle"/>
          </a:ln>
        </p:spPr>
      </p:cxnSp>
      <p:sp>
        <p:nvSpPr>
          <p:cNvPr id="169" name="Google Shape;169;p28"/>
          <p:cNvSpPr/>
          <p:nvPr/>
        </p:nvSpPr>
        <p:spPr>
          <a:xfrm>
            <a:off x="6756400" y="1511300"/>
            <a:ext cx="1917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Page in</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your browser</a:t>
            </a:r>
            <a:endParaRPr sz="1800">
              <a:solidFill>
                <a:srgbClr val="FFFFFF"/>
              </a:solidFill>
              <a:latin typeface="Poppins"/>
              <a:ea typeface="Poppins"/>
              <a:cs typeface="Poppins"/>
              <a:sym typeface="Poppins"/>
            </a:endParaRPr>
          </a:p>
        </p:txBody>
      </p:sp>
      <p:sp>
        <p:nvSpPr>
          <p:cNvPr id="170" name="Google Shape;170;p28"/>
          <p:cNvSpPr txBox="1"/>
          <p:nvPr/>
        </p:nvSpPr>
        <p:spPr>
          <a:xfrm>
            <a:off x="444500" y="24511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ENS + IPFS</a:t>
            </a:r>
            <a:endParaRPr b="1" sz="1700">
              <a:solidFill>
                <a:srgbClr val="06038D"/>
              </a:solidFill>
              <a:latin typeface="Poppins"/>
              <a:ea typeface="Poppins"/>
              <a:cs typeface="Poppins"/>
              <a:sym typeface="Poppins"/>
            </a:endParaRPr>
          </a:p>
        </p:txBody>
      </p:sp>
      <p:sp>
        <p:nvSpPr>
          <p:cNvPr id="171" name="Google Shape;171;p28"/>
          <p:cNvSpPr/>
          <p:nvPr/>
        </p:nvSpPr>
        <p:spPr>
          <a:xfrm>
            <a:off x="444500" y="2870200"/>
            <a:ext cx="18162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efs.eth</a:t>
            </a:r>
            <a:endParaRPr sz="2000">
              <a:solidFill>
                <a:srgbClr val="212121"/>
              </a:solidFill>
              <a:latin typeface="Poppins"/>
              <a:ea typeface="Poppins"/>
              <a:cs typeface="Poppins"/>
              <a:sym typeface="Poppins"/>
            </a:endParaRPr>
          </a:p>
        </p:txBody>
      </p:sp>
      <p:cxnSp>
        <p:nvCxnSpPr>
          <p:cNvPr id="172" name="Google Shape;172;p28"/>
          <p:cNvCxnSpPr/>
          <p:nvPr/>
        </p:nvCxnSpPr>
        <p:spPr>
          <a:xfrm>
            <a:off x="2273300" y="3251200"/>
            <a:ext cx="304800" cy="0"/>
          </a:xfrm>
          <a:prstGeom prst="straightConnector1">
            <a:avLst/>
          </a:prstGeom>
          <a:noFill/>
          <a:ln cap="flat" cmpd="sng" w="17775">
            <a:solidFill>
              <a:srgbClr val="06038D"/>
            </a:solidFill>
            <a:prstDash val="solid"/>
            <a:round/>
            <a:headEnd len="med" w="med" type="none"/>
            <a:tailEnd len="med" w="med" type="triangle"/>
          </a:ln>
        </p:spPr>
      </p:cxnSp>
      <p:sp>
        <p:nvSpPr>
          <p:cNvPr id="173" name="Google Shape;173;p28"/>
          <p:cNvSpPr/>
          <p:nvPr/>
        </p:nvSpPr>
        <p:spPr>
          <a:xfrm>
            <a:off x="2603500" y="2870200"/>
            <a:ext cx="26034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IPFS release</a:t>
            </a:r>
            <a:endParaRPr sz="17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bafybeicrisk…p5ku</a:t>
            </a:r>
            <a:endParaRPr sz="1700">
              <a:solidFill>
                <a:srgbClr val="212121"/>
              </a:solidFill>
              <a:latin typeface="Poppins"/>
              <a:ea typeface="Poppins"/>
              <a:cs typeface="Poppins"/>
              <a:sym typeface="Poppins"/>
            </a:endParaRPr>
          </a:p>
        </p:txBody>
      </p:sp>
      <p:cxnSp>
        <p:nvCxnSpPr>
          <p:cNvPr id="174" name="Google Shape;174;p28"/>
          <p:cNvCxnSpPr/>
          <p:nvPr/>
        </p:nvCxnSpPr>
        <p:spPr>
          <a:xfrm>
            <a:off x="5232400" y="3251200"/>
            <a:ext cx="266700" cy="0"/>
          </a:xfrm>
          <a:prstGeom prst="straightConnector1">
            <a:avLst/>
          </a:prstGeom>
          <a:noFill/>
          <a:ln cap="flat" cmpd="sng" w="17775">
            <a:solidFill>
              <a:srgbClr val="06038D"/>
            </a:solidFill>
            <a:prstDash val="solid"/>
            <a:round/>
            <a:headEnd len="med" w="med" type="none"/>
            <a:tailEnd len="med" w="med" type="none"/>
          </a:ln>
        </p:spPr>
      </p:cxnSp>
      <p:cxnSp>
        <p:nvCxnSpPr>
          <p:cNvPr id="175" name="Google Shape;175;p28"/>
          <p:cNvCxnSpPr/>
          <p:nvPr/>
        </p:nvCxnSpPr>
        <p:spPr>
          <a:xfrm>
            <a:off x="5499100" y="2755900"/>
            <a:ext cx="0" cy="1066800"/>
          </a:xfrm>
          <a:prstGeom prst="straightConnector1">
            <a:avLst/>
          </a:prstGeom>
          <a:noFill/>
          <a:ln cap="flat" cmpd="sng" w="17775">
            <a:solidFill>
              <a:srgbClr val="06038D"/>
            </a:solidFill>
            <a:prstDash val="solid"/>
            <a:round/>
            <a:headEnd len="med" w="med" type="none"/>
            <a:tailEnd len="med" w="med" type="none"/>
          </a:ln>
        </p:spPr>
      </p:cxnSp>
      <p:cxnSp>
        <p:nvCxnSpPr>
          <p:cNvPr id="176" name="Google Shape;176;p28"/>
          <p:cNvCxnSpPr/>
          <p:nvPr/>
        </p:nvCxnSpPr>
        <p:spPr>
          <a:xfrm>
            <a:off x="5499100" y="27559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77" name="Google Shape;177;p28"/>
          <p:cNvSpPr/>
          <p:nvPr/>
        </p:nvSpPr>
        <p:spPr>
          <a:xfrm>
            <a:off x="5803900" y="2540000"/>
            <a:ext cx="2844900" cy="431700"/>
          </a:xfrm>
          <a:prstGeom prst="rect">
            <a:avLst/>
          </a:prstGeom>
          <a:solidFill>
            <a:srgbClr val="06038D"/>
          </a:solid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chemeClr val="lt1"/>
                </a:solidFill>
                <a:latin typeface="Poppins"/>
                <a:ea typeface="Poppins"/>
                <a:cs typeface="Poppins"/>
                <a:sym typeface="Poppins"/>
              </a:rPr>
              <a:t>Operator A copy</a:t>
            </a:r>
            <a:endParaRPr sz="1800">
              <a:solidFill>
                <a:schemeClr val="lt1"/>
              </a:solidFill>
              <a:latin typeface="Poppins"/>
              <a:ea typeface="Poppins"/>
              <a:cs typeface="Poppins"/>
              <a:sym typeface="Poppins"/>
            </a:endParaRPr>
          </a:p>
        </p:txBody>
      </p:sp>
      <p:cxnSp>
        <p:nvCxnSpPr>
          <p:cNvPr id="178" name="Google Shape;178;p28"/>
          <p:cNvCxnSpPr/>
          <p:nvPr/>
        </p:nvCxnSpPr>
        <p:spPr>
          <a:xfrm>
            <a:off x="5499100" y="32893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79" name="Google Shape;179;p28"/>
          <p:cNvSpPr/>
          <p:nvPr/>
        </p:nvSpPr>
        <p:spPr>
          <a:xfrm>
            <a:off x="5803900" y="30734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B copy</a:t>
            </a:r>
            <a:endParaRPr sz="1800">
              <a:solidFill>
                <a:srgbClr val="212121"/>
              </a:solidFill>
              <a:latin typeface="Poppins"/>
              <a:ea typeface="Poppins"/>
              <a:cs typeface="Poppins"/>
              <a:sym typeface="Poppins"/>
            </a:endParaRPr>
          </a:p>
        </p:txBody>
      </p:sp>
      <p:cxnSp>
        <p:nvCxnSpPr>
          <p:cNvPr id="180" name="Google Shape;180;p28"/>
          <p:cNvCxnSpPr/>
          <p:nvPr/>
        </p:nvCxnSpPr>
        <p:spPr>
          <a:xfrm>
            <a:off x="5499100" y="38227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1" name="Google Shape;181;p28"/>
          <p:cNvSpPr/>
          <p:nvPr/>
        </p:nvSpPr>
        <p:spPr>
          <a:xfrm>
            <a:off x="5803900" y="36068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C copy</a:t>
            </a:r>
            <a:endParaRPr sz="1800">
              <a:solidFill>
                <a:srgbClr val="212121"/>
              </a:solidFill>
              <a:latin typeface="Poppins"/>
              <a:ea typeface="Poppins"/>
              <a:cs typeface="Poppins"/>
              <a:sym typeface="Poppins"/>
            </a:endParaRPr>
          </a:p>
        </p:txBody>
      </p:sp>
      <p:sp>
        <p:nvSpPr>
          <p:cNvPr id="182" name="Google Shape;182;p28"/>
          <p:cNvSpPr txBox="1"/>
          <p:nvPr/>
        </p:nvSpPr>
        <p:spPr>
          <a:xfrm>
            <a:off x="444400" y="4216200"/>
            <a:ext cx="8255100" cy="3174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212121"/>
                </a:solidFill>
                <a:latin typeface="Poppins"/>
                <a:ea typeface="Poppins"/>
                <a:cs typeface="Poppins"/>
                <a:sym typeface="Poppins"/>
              </a:rPr>
              <a:t>IPFS gateways: efs.eth.limo (or .link) or your own IPFS node</a:t>
            </a:r>
            <a:endParaRPr sz="1600">
              <a:solidFill>
                <a:srgbClr val="212121"/>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release others can run</a:t>
            </a:r>
            <a:endParaRPr b="1" sz="3000">
              <a:solidFill>
                <a:srgbClr val="06038D"/>
              </a:solidFill>
              <a:latin typeface="Poppins"/>
              <a:ea typeface="Poppins"/>
              <a:cs typeface="Poppins"/>
              <a:sym typeface="Poppins"/>
            </a:endParaRPr>
          </a:p>
        </p:txBody>
      </p:sp>
      <p:sp>
        <p:nvSpPr>
          <p:cNvPr id="188" name="Google Shape;188;p29"/>
          <p:cNvSpPr txBox="1"/>
          <p:nvPr/>
        </p:nvSpPr>
        <p:spPr>
          <a:xfrm>
            <a:off x="508000" y="1130300"/>
            <a:ext cx="8127900" cy="4191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What if the page opens but its scripts are gone?</a:t>
            </a:r>
            <a:endParaRPr sz="2000">
              <a:solidFill>
                <a:srgbClr val="212121"/>
              </a:solidFill>
              <a:latin typeface="Poppins"/>
              <a:ea typeface="Poppins"/>
              <a:cs typeface="Poppins"/>
              <a:sym typeface="Poppins"/>
            </a:endParaRPr>
          </a:p>
        </p:txBody>
      </p:sp>
      <p:sp>
        <p:nvSpPr>
          <p:cNvPr id="189" name="Google Shape;189;p29"/>
          <p:cNvSpPr/>
          <p:nvPr/>
        </p:nvSpPr>
        <p:spPr>
          <a:xfrm>
            <a:off x="609600" y="1803400"/>
            <a:ext cx="3683100" cy="1790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Runnable release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HTML + JavaScript</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Styles + images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Config + loaded code</a:t>
            </a:r>
            <a:endParaRPr sz="2100">
              <a:solidFill>
                <a:srgbClr val="212121"/>
              </a:solidFill>
              <a:latin typeface="Poppins"/>
              <a:ea typeface="Poppins"/>
              <a:cs typeface="Poppins"/>
              <a:sym typeface="Poppins"/>
            </a:endParaRPr>
          </a:p>
        </p:txBody>
      </p:sp>
      <p:sp>
        <p:nvSpPr>
          <p:cNvPr id="190" name="Google Shape;190;p29"/>
          <p:cNvSpPr/>
          <p:nvPr/>
        </p:nvSpPr>
        <p:spPr>
          <a:xfrm>
            <a:off x="4851400" y="1803400"/>
            <a:ext cx="3683100" cy="1790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Build materials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Source code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Locked dependencies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Build instructions</a:t>
            </a:r>
            <a:endParaRPr sz="2100">
              <a:solidFill>
                <a:srgbClr val="212121"/>
              </a:solidFill>
              <a:latin typeface="Poppins"/>
              <a:ea typeface="Poppins"/>
              <a:cs typeface="Poppins"/>
              <a:sym typeface="Poppins"/>
            </a:endParaRPr>
          </a:p>
        </p:txBody>
      </p:sp>
      <p:cxnSp>
        <p:nvCxnSpPr>
          <p:cNvPr id="191" name="Google Shape;191;p29"/>
          <p:cNvCxnSpPr/>
          <p:nvPr/>
        </p:nvCxnSpPr>
        <p:spPr>
          <a:xfrm>
            <a:off x="2451100" y="3606800"/>
            <a:ext cx="0" cy="279300"/>
          </a:xfrm>
          <a:prstGeom prst="straightConnector1">
            <a:avLst/>
          </a:prstGeom>
          <a:noFill/>
          <a:ln cap="flat" cmpd="sng" w="17775">
            <a:solidFill>
              <a:srgbClr val="06038D"/>
            </a:solidFill>
            <a:prstDash val="solid"/>
            <a:round/>
            <a:headEnd len="med" w="med" type="none"/>
            <a:tailEnd len="med" w="med" type="triangle"/>
          </a:ln>
        </p:spPr>
      </p:cxnSp>
      <p:cxnSp>
        <p:nvCxnSpPr>
          <p:cNvPr id="192" name="Google Shape;192;p29"/>
          <p:cNvCxnSpPr/>
          <p:nvPr/>
        </p:nvCxnSpPr>
        <p:spPr>
          <a:xfrm>
            <a:off x="6692900" y="3606800"/>
            <a:ext cx="0" cy="279300"/>
          </a:xfrm>
          <a:prstGeom prst="straightConnector1">
            <a:avLst/>
          </a:prstGeom>
          <a:noFill/>
          <a:ln cap="flat" cmpd="sng" w="17775">
            <a:solidFill>
              <a:srgbClr val="06038D"/>
            </a:solidFill>
            <a:prstDash val="solid"/>
            <a:round/>
            <a:headEnd len="med" w="med" type="none"/>
            <a:tailEnd len="med" w="med" type="triangle"/>
          </a:ln>
        </p:spPr>
      </p:cxnSp>
      <p:sp>
        <p:nvSpPr>
          <p:cNvPr id="193" name="Google Shape;193;p29"/>
          <p:cNvSpPr/>
          <p:nvPr/>
        </p:nvSpPr>
        <p:spPr>
          <a:xfrm>
            <a:off x="609600" y="3924300"/>
            <a:ext cx="36831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A user opens the app</a:t>
            </a:r>
            <a:endParaRPr sz="2100">
              <a:solidFill>
                <a:srgbClr val="FFFFFF"/>
              </a:solidFill>
              <a:latin typeface="Poppins"/>
              <a:ea typeface="Poppins"/>
              <a:cs typeface="Poppins"/>
              <a:sym typeface="Poppins"/>
            </a:endParaRPr>
          </a:p>
        </p:txBody>
      </p:sp>
      <p:sp>
        <p:nvSpPr>
          <p:cNvPr id="194" name="Google Shape;194;p29"/>
          <p:cNvSpPr/>
          <p:nvPr/>
        </p:nvSpPr>
        <p:spPr>
          <a:xfrm>
            <a:off x="4851400" y="3924300"/>
            <a:ext cx="36831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 developer rebuilds it</a:t>
            </a:r>
            <a:endParaRPr sz="2000">
              <a:solidFill>
                <a:srgbClr val="FFFFFF"/>
              </a:solidFill>
              <a:latin typeface="Poppins"/>
              <a:ea typeface="Poppins"/>
              <a:cs typeface="Poppins"/>
              <a:sym typeface="Poppins"/>
            </a:endParaRPr>
          </a:p>
        </p:txBody>
      </p:sp>
      <p:sp>
        <p:nvSpPr>
          <p:cNvPr id="195" name="Google Shape;195;p29"/>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Check both paths on a fresh machine</a:t>
            </a:r>
            <a:endParaRPr sz="1600">
              <a:solidFill>
                <a:srgbClr val="06038D"/>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0"/>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Access people can recover</a:t>
            </a:r>
            <a:endParaRPr b="1" sz="3000">
              <a:solidFill>
                <a:srgbClr val="06038D"/>
              </a:solidFill>
              <a:latin typeface="Poppins"/>
              <a:ea typeface="Poppins"/>
              <a:cs typeface="Poppins"/>
              <a:sym typeface="Poppins"/>
            </a:endParaRPr>
          </a:p>
        </p:txBody>
      </p:sp>
      <p:sp>
        <p:nvSpPr>
          <p:cNvPr id="201" name="Google Shape;201;p30"/>
          <p:cNvSpPr txBox="1"/>
          <p:nvPr/>
        </p:nvSpPr>
        <p:spPr>
          <a:xfrm>
            <a:off x="635000" y="1155700"/>
            <a:ext cx="7874100" cy="3810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Safe example: two of three signers</a:t>
            </a:r>
            <a:endParaRPr sz="2100">
              <a:solidFill>
                <a:srgbClr val="212121"/>
              </a:solidFill>
              <a:latin typeface="Poppins"/>
              <a:ea typeface="Poppins"/>
              <a:cs typeface="Poppins"/>
              <a:sym typeface="Poppins"/>
            </a:endParaRPr>
          </a:p>
        </p:txBody>
      </p:sp>
      <p:sp>
        <p:nvSpPr>
          <p:cNvPr id="202" name="Google Shape;202;p30"/>
          <p:cNvSpPr/>
          <p:nvPr/>
        </p:nvSpPr>
        <p:spPr>
          <a:xfrm>
            <a:off x="571500" y="1828800"/>
            <a:ext cx="2412900" cy="8127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Lost phone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1 offline</a:t>
            </a:r>
            <a:endParaRPr sz="2000">
              <a:solidFill>
                <a:srgbClr val="212121"/>
              </a:solidFill>
              <a:latin typeface="Poppins"/>
              <a:ea typeface="Poppins"/>
              <a:cs typeface="Poppins"/>
              <a:sym typeface="Poppins"/>
            </a:endParaRPr>
          </a:p>
        </p:txBody>
      </p:sp>
      <p:sp>
        <p:nvSpPr>
          <p:cNvPr id="203" name="Google Shape;203;p30"/>
          <p:cNvSpPr/>
          <p:nvPr/>
        </p:nvSpPr>
        <p:spPr>
          <a:xfrm>
            <a:off x="3365500" y="1828800"/>
            <a:ext cx="2412900" cy="812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Backup signer</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2</a:t>
            </a:r>
            <a:endParaRPr sz="2000">
              <a:solidFill>
                <a:srgbClr val="212121"/>
              </a:solidFill>
              <a:latin typeface="Poppins"/>
              <a:ea typeface="Poppins"/>
              <a:cs typeface="Poppins"/>
              <a:sym typeface="Poppins"/>
            </a:endParaRPr>
          </a:p>
        </p:txBody>
      </p:sp>
      <p:sp>
        <p:nvSpPr>
          <p:cNvPr id="204" name="Google Shape;204;p30"/>
          <p:cNvSpPr/>
          <p:nvPr/>
        </p:nvSpPr>
        <p:spPr>
          <a:xfrm>
            <a:off x="6159500" y="1828800"/>
            <a:ext cx="2412900" cy="812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Recovery signer</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3</a:t>
            </a:r>
            <a:endParaRPr sz="2000">
              <a:solidFill>
                <a:srgbClr val="212121"/>
              </a:solidFill>
              <a:latin typeface="Poppins"/>
              <a:ea typeface="Poppins"/>
              <a:cs typeface="Poppins"/>
              <a:sym typeface="Poppins"/>
            </a:endParaRPr>
          </a:p>
        </p:txBody>
      </p:sp>
      <p:cxnSp>
        <p:nvCxnSpPr>
          <p:cNvPr id="205" name="Google Shape;205;p30"/>
          <p:cNvCxnSpPr/>
          <p:nvPr/>
        </p:nvCxnSpPr>
        <p:spPr>
          <a:xfrm>
            <a:off x="4572000" y="2654300"/>
            <a:ext cx="0" cy="266700"/>
          </a:xfrm>
          <a:prstGeom prst="straightConnector1">
            <a:avLst/>
          </a:prstGeom>
          <a:noFill/>
          <a:ln cap="flat" cmpd="sng" w="17775">
            <a:solidFill>
              <a:srgbClr val="06038D"/>
            </a:solidFill>
            <a:prstDash val="solid"/>
            <a:round/>
            <a:headEnd len="med" w="med" type="none"/>
            <a:tailEnd len="med" w="med" type="none"/>
          </a:ln>
        </p:spPr>
      </p:cxnSp>
      <p:cxnSp>
        <p:nvCxnSpPr>
          <p:cNvPr id="206" name="Google Shape;206;p30"/>
          <p:cNvCxnSpPr/>
          <p:nvPr/>
        </p:nvCxnSpPr>
        <p:spPr>
          <a:xfrm>
            <a:off x="7366000" y="2654300"/>
            <a:ext cx="0" cy="266700"/>
          </a:xfrm>
          <a:prstGeom prst="straightConnector1">
            <a:avLst/>
          </a:prstGeom>
          <a:noFill/>
          <a:ln cap="flat" cmpd="sng" w="17775">
            <a:solidFill>
              <a:srgbClr val="06038D"/>
            </a:solidFill>
            <a:prstDash val="solid"/>
            <a:round/>
            <a:headEnd len="med" w="med" type="none"/>
            <a:tailEnd len="med" w="med" type="none"/>
          </a:ln>
        </p:spPr>
      </p:cxnSp>
      <p:cxnSp>
        <p:nvCxnSpPr>
          <p:cNvPr id="207" name="Google Shape;207;p30"/>
          <p:cNvCxnSpPr/>
          <p:nvPr/>
        </p:nvCxnSpPr>
        <p:spPr>
          <a:xfrm>
            <a:off x="4572000" y="2921000"/>
            <a:ext cx="2793900" cy="0"/>
          </a:xfrm>
          <a:prstGeom prst="straightConnector1">
            <a:avLst/>
          </a:prstGeom>
          <a:noFill/>
          <a:ln cap="flat" cmpd="sng" w="17775">
            <a:solidFill>
              <a:srgbClr val="06038D"/>
            </a:solidFill>
            <a:prstDash val="solid"/>
            <a:round/>
            <a:headEnd len="med" w="med" type="none"/>
            <a:tailEnd len="med" w="med" type="none"/>
          </a:ln>
        </p:spPr>
      </p:cxnSp>
      <p:cxnSp>
        <p:nvCxnSpPr>
          <p:cNvPr id="208" name="Google Shape;208;p30"/>
          <p:cNvCxnSpPr/>
          <p:nvPr/>
        </p:nvCxnSpPr>
        <p:spPr>
          <a:xfrm>
            <a:off x="5969000" y="29210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209" name="Google Shape;209;p30"/>
          <p:cNvSpPr/>
          <p:nvPr/>
        </p:nvSpPr>
        <p:spPr>
          <a:xfrm>
            <a:off x="3200400" y="3200400"/>
            <a:ext cx="5435700" cy="571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Two signers replace the lost key</a:t>
            </a:r>
            <a:endParaRPr sz="2100">
              <a:solidFill>
                <a:srgbClr val="FFFFFF"/>
              </a:solidFill>
              <a:latin typeface="Poppins"/>
              <a:ea typeface="Poppins"/>
              <a:cs typeface="Poppins"/>
              <a:sym typeface="Poppins"/>
            </a:endParaRPr>
          </a:p>
        </p:txBody>
      </p:sp>
      <p:sp>
        <p:nvSpPr>
          <p:cNvPr id="210" name="Google Shape;210;p30"/>
          <p:cNvSpPr txBox="1"/>
          <p:nvPr/>
        </p:nvSpPr>
        <p:spPr>
          <a:xfrm>
            <a:off x="508000" y="3187700"/>
            <a:ext cx="2412900" cy="774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000">
                <a:solidFill>
                  <a:srgbClr val="06038D"/>
                </a:solidFill>
                <a:latin typeface="Poppins"/>
                <a:ea typeface="Poppins"/>
                <a:cs typeface="Poppins"/>
                <a:sym typeface="Poppins"/>
              </a:rPr>
              <a:t>Same account</a:t>
            </a:r>
            <a:endParaRPr b="1" sz="2000">
              <a:solidFill>
                <a:srgbClr val="06038D"/>
              </a:solidFill>
              <a:latin typeface="Poppins"/>
              <a:ea typeface="Poppins"/>
              <a:cs typeface="Poppins"/>
              <a:sym typeface="Poppins"/>
            </a:endParaRPr>
          </a:p>
          <a:p>
            <a:pPr indent="0" lvl="0" marL="0" marR="0" rtl="0" algn="ctr">
              <a:lnSpc>
                <a:spcPct val="105000"/>
              </a:lnSpc>
              <a:spcBef>
                <a:spcPts val="0"/>
              </a:spcBef>
              <a:spcAft>
                <a:spcPts val="0"/>
              </a:spcAft>
              <a:buNone/>
            </a:pPr>
            <a:r>
              <a:rPr b="1" lang="en" sz="2000">
                <a:solidFill>
                  <a:srgbClr val="06038D"/>
                </a:solidFill>
                <a:latin typeface="Poppins"/>
                <a:ea typeface="Poppins"/>
                <a:cs typeface="Poppins"/>
                <a:sym typeface="Poppins"/>
              </a:rPr>
              <a:t>Same permissions</a:t>
            </a:r>
            <a:endParaRPr b="1" sz="2000">
              <a:solidFill>
                <a:srgbClr val="06038D"/>
              </a:solidFill>
              <a:latin typeface="Poppins"/>
              <a:ea typeface="Poppins"/>
              <a:cs typeface="Poppins"/>
              <a:sym typeface="Poppins"/>
            </a:endParaRPr>
          </a:p>
        </p:txBody>
      </p:sp>
      <p:sp>
        <p:nvSpPr>
          <p:cNvPr id="211" name="Google Shape;211;p30"/>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Practice lost-device recovery. Back up private-file keys too.</a:t>
            </a:r>
            <a:endParaRPr sz="1600">
              <a:solidFill>
                <a:srgbClr val="06038D"/>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1"/>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217" name="Google Shape;217;p31"/>
          <p:cNvSpPr txBox="1"/>
          <p:nvPr/>
        </p:nvSpPr>
        <p:spPr>
          <a:xfrm>
            <a:off x="3232500" y="1821650"/>
            <a:ext cx="2679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Data</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223" name="Google Shape;223;p32"/>
          <p:cNvSpPr txBox="1"/>
          <p:nvPr>
            <p:ph idx="1" type="body"/>
          </p:nvPr>
        </p:nvSpPr>
        <p:spPr>
          <a:xfrm>
            <a:off x="4859150" y="694800"/>
            <a:ext cx="3693000" cy="383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Keep the files and their meaning</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 them through another app</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Let others run the supporting services</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Data another app can understand</a:t>
            </a:r>
            <a:endParaRPr b="1" sz="3000">
              <a:solidFill>
                <a:srgbClr val="06038D"/>
              </a:solidFill>
              <a:latin typeface="Poppins"/>
              <a:ea typeface="Poppins"/>
              <a:cs typeface="Poppins"/>
              <a:sym typeface="Poppins"/>
            </a:endParaRPr>
          </a:p>
        </p:txBody>
      </p:sp>
      <p:sp>
        <p:nvSpPr>
          <p:cNvPr id="229" name="Google Shape;229;p33"/>
          <p:cNvSpPr/>
          <p:nvPr/>
        </p:nvSpPr>
        <p:spPr>
          <a:xfrm>
            <a:off x="508000" y="1524000"/>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Example shared record</a:t>
            </a:r>
            <a:endParaRPr sz="2100">
              <a:solidFill>
                <a:srgbClr val="FFFFFF"/>
              </a:solidFill>
              <a:latin typeface="Poppins"/>
              <a:ea typeface="Poppins"/>
              <a:cs typeface="Poppins"/>
              <a:sym typeface="Poppins"/>
            </a:endParaRPr>
          </a:p>
        </p:txBody>
      </p:sp>
      <p:sp>
        <p:nvSpPr>
          <p:cNvPr id="230" name="Google Shape;230;p33"/>
          <p:cNvSpPr/>
          <p:nvPr/>
        </p:nvSpPr>
        <p:spPr>
          <a:xfrm>
            <a:off x="508000" y="2032000"/>
            <a:ext cx="3810000" cy="1879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id: note-17</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author: 0xA…</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text: Meeting at 10</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file: agenda.md (rev 2)</a:t>
            </a:r>
            <a:endParaRPr sz="1900">
              <a:solidFill>
                <a:srgbClr val="212121"/>
              </a:solidFill>
              <a:latin typeface="Poppins"/>
              <a:ea typeface="Poppins"/>
              <a:cs typeface="Poppins"/>
              <a:sym typeface="Poppins"/>
            </a:endParaRPr>
          </a:p>
        </p:txBody>
      </p:sp>
      <p:sp>
        <p:nvSpPr>
          <p:cNvPr id="231" name="Google Shape;231;p33"/>
          <p:cNvSpPr/>
          <p:nvPr/>
        </p:nvSpPr>
        <p:spPr>
          <a:xfrm>
            <a:off x="4826000" y="1524000"/>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Shared meaning</a:t>
            </a:r>
            <a:endParaRPr sz="2100">
              <a:solidFill>
                <a:srgbClr val="FFFFFF"/>
              </a:solidFill>
              <a:latin typeface="Poppins"/>
              <a:ea typeface="Poppins"/>
              <a:cs typeface="Poppins"/>
              <a:sym typeface="Poppins"/>
            </a:endParaRPr>
          </a:p>
        </p:txBody>
      </p:sp>
      <p:sp>
        <p:nvSpPr>
          <p:cNvPr id="232" name="Google Shape;232;p33"/>
          <p:cNvSpPr/>
          <p:nvPr/>
        </p:nvSpPr>
        <p:spPr>
          <a:xfrm>
            <a:off x="4826000" y="2032000"/>
            <a:ext cx="3810000" cy="1879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What each field means</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Who can change it</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How versions fit together</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How users decrypt it</a:t>
            </a:r>
            <a:endParaRPr sz="1900">
              <a:solidFill>
                <a:srgbClr val="212121"/>
              </a:solidFill>
              <a:latin typeface="Poppins"/>
              <a:ea typeface="Poppins"/>
              <a:cs typeface="Poppins"/>
              <a:sym typeface="Poppins"/>
            </a:endParaRPr>
          </a:p>
        </p:txBody>
      </p:sp>
      <p:sp>
        <p:nvSpPr>
          <p:cNvPr id="233" name="Google Shape;233;p33"/>
          <p:cNvSpPr txBox="1"/>
          <p:nvPr/>
        </p:nvSpPr>
        <p:spPr>
          <a:xfrm>
            <a:off x="508000" y="4191000"/>
            <a:ext cx="8127900" cy="5079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EAS uses schemas. Existing databases can offer documented exports.</a:t>
            </a:r>
            <a:endParaRPr sz="1700">
              <a:solidFill>
                <a:srgbClr val="06038D"/>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4"/>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Same data, different apps</a:t>
            </a:r>
            <a:endParaRPr b="1" sz="3000">
              <a:solidFill>
                <a:srgbClr val="06038D"/>
              </a:solidFill>
              <a:latin typeface="Poppins"/>
              <a:ea typeface="Poppins"/>
              <a:cs typeface="Poppins"/>
              <a:sym typeface="Poppins"/>
            </a:endParaRPr>
          </a:p>
        </p:txBody>
      </p:sp>
      <p:sp>
        <p:nvSpPr>
          <p:cNvPr id="239" name="Google Shape;239;p34"/>
          <p:cNvSpPr/>
          <p:nvPr/>
        </p:nvSpPr>
        <p:spPr>
          <a:xfrm>
            <a:off x="571500" y="1397000"/>
            <a:ext cx="37464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200">
                <a:solidFill>
                  <a:srgbClr val="FFFFFF"/>
                </a:solidFill>
                <a:latin typeface="Poppins"/>
                <a:ea typeface="Poppins"/>
                <a:cs typeface="Poppins"/>
                <a:sym typeface="Poppins"/>
              </a:rPr>
              <a:t>Notes app</a:t>
            </a:r>
            <a:endParaRPr b="1" sz="2200">
              <a:solidFill>
                <a:srgbClr val="FFFFFF"/>
              </a:solidFill>
              <a:latin typeface="Poppins"/>
              <a:ea typeface="Poppins"/>
              <a:cs typeface="Poppins"/>
              <a:sym typeface="Poppins"/>
            </a:endParaRPr>
          </a:p>
        </p:txBody>
      </p:sp>
      <p:sp>
        <p:nvSpPr>
          <p:cNvPr id="240" name="Google Shape;240;p34"/>
          <p:cNvSpPr/>
          <p:nvPr/>
        </p:nvSpPr>
        <p:spPr>
          <a:xfrm>
            <a:off x="4826000" y="1397000"/>
            <a:ext cx="37464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200">
                <a:solidFill>
                  <a:srgbClr val="FFFFFF"/>
                </a:solidFill>
                <a:latin typeface="Poppins"/>
                <a:ea typeface="Poppins"/>
                <a:cs typeface="Poppins"/>
                <a:sym typeface="Poppins"/>
              </a:rPr>
              <a:t>Community feed</a:t>
            </a:r>
            <a:endParaRPr b="1" sz="2200">
              <a:solidFill>
                <a:srgbClr val="FFFFFF"/>
              </a:solidFill>
              <a:latin typeface="Poppins"/>
              <a:ea typeface="Poppins"/>
              <a:cs typeface="Poppins"/>
              <a:sym typeface="Poppins"/>
            </a:endParaRPr>
          </a:p>
        </p:txBody>
      </p:sp>
      <p:sp>
        <p:nvSpPr>
          <p:cNvPr id="241" name="Google Shape;241;p34"/>
          <p:cNvSpPr/>
          <p:nvPr/>
        </p:nvSpPr>
        <p:spPr>
          <a:xfrm>
            <a:off x="825500" y="3886200"/>
            <a:ext cx="7493100" cy="495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Same record ID, author and attachment</a:t>
            </a:r>
            <a:endParaRPr sz="2100">
              <a:solidFill>
                <a:srgbClr val="FFFFFF"/>
              </a:solidFill>
              <a:latin typeface="Poppins"/>
              <a:ea typeface="Poppins"/>
              <a:cs typeface="Poppins"/>
              <a:sym typeface="Poppins"/>
            </a:endParaRPr>
          </a:p>
        </p:txBody>
      </p:sp>
      <p:sp>
        <p:nvSpPr>
          <p:cNvPr id="242" name="Google Shape;242;p34"/>
          <p:cNvSpPr txBox="1"/>
          <p:nvPr/>
        </p:nvSpPr>
        <p:spPr>
          <a:xfrm>
            <a:off x="571500" y="4406900"/>
            <a:ext cx="8001000" cy="3303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interfaces using the same documented data</a:t>
            </a:r>
            <a:endParaRPr sz="1600">
              <a:solidFill>
                <a:srgbClr val="06038D"/>
              </a:solidFill>
              <a:latin typeface="Poppins"/>
              <a:ea typeface="Poppins"/>
              <a:cs typeface="Poppins"/>
              <a:sym typeface="Poppins"/>
            </a:endParaRPr>
          </a:p>
        </p:txBody>
      </p:sp>
      <p:sp>
        <p:nvSpPr>
          <p:cNvPr id="243" name="Google Shape;243;p34"/>
          <p:cNvSpPr/>
          <p:nvPr/>
        </p:nvSpPr>
        <p:spPr>
          <a:xfrm>
            <a:off x="571500" y="1905000"/>
            <a:ext cx="3746400" cy="1676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44" name="Google Shape;244;p34"/>
          <p:cNvSpPr txBox="1"/>
          <p:nvPr/>
        </p:nvSpPr>
        <p:spPr>
          <a:xfrm>
            <a:off x="736600" y="2032000"/>
            <a:ext cx="34290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400">
                <a:solidFill>
                  <a:srgbClr val="212121"/>
                </a:solidFill>
                <a:latin typeface="Poppins"/>
                <a:ea typeface="Poppins"/>
                <a:cs typeface="Poppins"/>
                <a:sym typeface="Poppins"/>
              </a:rPr>
              <a:t>Meeting at 10</a:t>
            </a:r>
            <a:endParaRPr b="1" sz="2400">
              <a:solidFill>
                <a:srgbClr val="212121"/>
              </a:solidFill>
              <a:latin typeface="Poppins"/>
              <a:ea typeface="Poppins"/>
              <a:cs typeface="Poppins"/>
              <a:sym typeface="Poppins"/>
            </a:endParaRPr>
          </a:p>
        </p:txBody>
      </p:sp>
      <p:sp>
        <p:nvSpPr>
          <p:cNvPr id="245" name="Google Shape;245;p34"/>
          <p:cNvSpPr txBox="1"/>
          <p:nvPr/>
        </p:nvSpPr>
        <p:spPr>
          <a:xfrm>
            <a:off x="736600" y="2552700"/>
            <a:ext cx="3429000" cy="3555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note-17 by 0xA…</a:t>
            </a:r>
            <a:endParaRPr sz="1800">
              <a:solidFill>
                <a:srgbClr val="212121"/>
              </a:solidFill>
              <a:latin typeface="Poppins"/>
              <a:ea typeface="Poppins"/>
              <a:cs typeface="Poppins"/>
              <a:sym typeface="Poppins"/>
            </a:endParaRPr>
          </a:p>
        </p:txBody>
      </p:sp>
      <p:sp>
        <p:nvSpPr>
          <p:cNvPr id="246" name="Google Shape;246;p34"/>
          <p:cNvSpPr txBox="1"/>
          <p:nvPr/>
        </p:nvSpPr>
        <p:spPr>
          <a:xfrm>
            <a:off x="736600" y="3022600"/>
            <a:ext cx="34290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agenda.md (rev 2)</a:t>
            </a:r>
            <a:endParaRPr sz="1800">
              <a:solidFill>
                <a:srgbClr val="212121"/>
              </a:solidFill>
              <a:latin typeface="Poppins"/>
              <a:ea typeface="Poppins"/>
              <a:cs typeface="Poppins"/>
              <a:sym typeface="Poppins"/>
            </a:endParaRPr>
          </a:p>
        </p:txBody>
      </p:sp>
      <p:sp>
        <p:nvSpPr>
          <p:cNvPr id="247" name="Google Shape;247;p34"/>
          <p:cNvSpPr/>
          <p:nvPr/>
        </p:nvSpPr>
        <p:spPr>
          <a:xfrm>
            <a:off x="4826000" y="1905000"/>
            <a:ext cx="3746400" cy="1676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48" name="Google Shape;248;p34"/>
          <p:cNvSpPr txBox="1"/>
          <p:nvPr/>
        </p:nvSpPr>
        <p:spPr>
          <a:xfrm>
            <a:off x="4991100" y="2032000"/>
            <a:ext cx="3429000" cy="3555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note-17 by 0xA…</a:t>
            </a:r>
            <a:endParaRPr sz="1800">
              <a:solidFill>
                <a:srgbClr val="212121"/>
              </a:solidFill>
              <a:latin typeface="Poppins"/>
              <a:ea typeface="Poppins"/>
              <a:cs typeface="Poppins"/>
              <a:sym typeface="Poppins"/>
            </a:endParaRPr>
          </a:p>
        </p:txBody>
      </p:sp>
      <p:sp>
        <p:nvSpPr>
          <p:cNvPr id="249" name="Google Shape;249;p34"/>
          <p:cNvSpPr txBox="1"/>
          <p:nvPr/>
        </p:nvSpPr>
        <p:spPr>
          <a:xfrm>
            <a:off x="4991100" y="2527300"/>
            <a:ext cx="34290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2400">
                <a:solidFill>
                  <a:srgbClr val="212121"/>
                </a:solidFill>
                <a:latin typeface="Poppins"/>
                <a:ea typeface="Poppins"/>
                <a:cs typeface="Poppins"/>
                <a:sym typeface="Poppins"/>
              </a:rPr>
              <a:t>Meeting at 10</a:t>
            </a:r>
            <a:endParaRPr sz="2400">
              <a:solidFill>
                <a:srgbClr val="212121"/>
              </a:solidFill>
              <a:latin typeface="Poppins"/>
              <a:ea typeface="Poppins"/>
              <a:cs typeface="Poppins"/>
              <a:sym typeface="Poppins"/>
            </a:endParaRPr>
          </a:p>
        </p:txBody>
      </p:sp>
      <p:sp>
        <p:nvSpPr>
          <p:cNvPr id="250" name="Google Shape;250;p34"/>
          <p:cNvSpPr txBox="1"/>
          <p:nvPr/>
        </p:nvSpPr>
        <p:spPr>
          <a:xfrm>
            <a:off x="4991100" y="3073400"/>
            <a:ext cx="34290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06038D"/>
                </a:solidFill>
                <a:latin typeface="Poppins"/>
                <a:ea typeface="Poppins"/>
                <a:cs typeface="Poppins"/>
                <a:sym typeface="Poppins"/>
              </a:rPr>
              <a:t>Open agenda.md (rev 2)</a:t>
            </a:r>
            <a:endParaRPr sz="1800">
              <a:solidFill>
                <a:srgbClr val="06038D"/>
              </a:solidFill>
              <a:latin typeface="Poppins"/>
              <a:ea typeface="Poppins"/>
              <a:cs typeface="Poppins"/>
              <a:sym typeface="Poppins"/>
            </a:endParaRPr>
          </a:p>
        </p:txBody>
      </p:sp>
      <p:cxnSp>
        <p:nvCxnSpPr>
          <p:cNvPr id="251" name="Google Shape;251;p34"/>
          <p:cNvCxnSpPr/>
          <p:nvPr/>
        </p:nvCxnSpPr>
        <p:spPr>
          <a:xfrm rot="10800000">
            <a:off x="2451100" y="3606800"/>
            <a:ext cx="0" cy="266700"/>
          </a:xfrm>
          <a:prstGeom prst="straightConnector1">
            <a:avLst/>
          </a:prstGeom>
          <a:noFill/>
          <a:ln cap="flat" cmpd="sng" w="16500">
            <a:solidFill>
              <a:srgbClr val="06038D"/>
            </a:solidFill>
            <a:prstDash val="solid"/>
            <a:round/>
            <a:headEnd len="med" w="med" type="none"/>
            <a:tailEnd len="med" w="med" type="triangle"/>
          </a:ln>
        </p:spPr>
      </p:cxnSp>
      <p:cxnSp>
        <p:nvCxnSpPr>
          <p:cNvPr id="252" name="Google Shape;252;p34"/>
          <p:cNvCxnSpPr/>
          <p:nvPr/>
        </p:nvCxnSpPr>
        <p:spPr>
          <a:xfrm rot="10800000">
            <a:off x="6705600" y="3606800"/>
            <a:ext cx="0" cy="26670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5"/>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keeps a usable copy?</a:t>
            </a:r>
            <a:endParaRPr b="1" sz="3000">
              <a:solidFill>
                <a:srgbClr val="06038D"/>
              </a:solidFill>
              <a:latin typeface="Poppins"/>
              <a:ea typeface="Poppins"/>
              <a:cs typeface="Poppins"/>
              <a:sym typeface="Poppins"/>
            </a:endParaRPr>
          </a:p>
        </p:txBody>
      </p:sp>
      <p:sp>
        <p:nvSpPr>
          <p:cNvPr id="258" name="Google Shape;258;p35"/>
          <p:cNvSpPr txBox="1"/>
          <p:nvPr/>
        </p:nvSpPr>
        <p:spPr>
          <a:xfrm>
            <a:off x="508000" y="1181100"/>
            <a:ext cx="36831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Files and databases</a:t>
            </a:r>
            <a:endParaRPr b="1" sz="2100">
              <a:solidFill>
                <a:srgbClr val="06038D"/>
              </a:solidFill>
              <a:latin typeface="Poppins"/>
              <a:ea typeface="Poppins"/>
              <a:cs typeface="Poppins"/>
              <a:sym typeface="Poppins"/>
            </a:endParaRPr>
          </a:p>
        </p:txBody>
      </p:sp>
      <p:sp>
        <p:nvSpPr>
          <p:cNvPr id="259" name="Google Shape;259;p35"/>
          <p:cNvSpPr/>
          <p:nvPr/>
        </p:nvSpPr>
        <p:spPr>
          <a:xfrm>
            <a:off x="508000" y="1993900"/>
            <a:ext cx="31116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Files + attachments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Database export</a:t>
            </a:r>
            <a:endParaRPr sz="2000">
              <a:solidFill>
                <a:srgbClr val="212121"/>
              </a:solidFill>
              <a:latin typeface="Poppins"/>
              <a:ea typeface="Poppins"/>
              <a:cs typeface="Poppins"/>
              <a:sym typeface="Poppins"/>
            </a:endParaRPr>
          </a:p>
        </p:txBody>
      </p:sp>
      <p:sp>
        <p:nvSpPr>
          <p:cNvPr id="260" name="Google Shape;260;p35"/>
          <p:cNvSpPr/>
          <p:nvPr/>
        </p:nvSpPr>
        <p:spPr>
          <a:xfrm>
            <a:off x="4635500" y="14986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Storage operator A</a:t>
            </a:r>
            <a:endParaRPr sz="2000">
              <a:solidFill>
                <a:srgbClr val="212121"/>
              </a:solidFill>
              <a:latin typeface="Poppins"/>
              <a:ea typeface="Poppins"/>
              <a:cs typeface="Poppins"/>
              <a:sym typeface="Poppins"/>
            </a:endParaRPr>
          </a:p>
        </p:txBody>
      </p:sp>
      <p:sp>
        <p:nvSpPr>
          <p:cNvPr id="261" name="Google Shape;261;p35"/>
          <p:cNvSpPr/>
          <p:nvPr/>
        </p:nvSpPr>
        <p:spPr>
          <a:xfrm>
            <a:off x="4635500" y="20955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Storage operator B</a:t>
            </a:r>
            <a:endParaRPr sz="2000">
              <a:solidFill>
                <a:srgbClr val="212121"/>
              </a:solidFill>
              <a:latin typeface="Poppins"/>
              <a:ea typeface="Poppins"/>
              <a:cs typeface="Poppins"/>
              <a:sym typeface="Poppins"/>
            </a:endParaRPr>
          </a:p>
        </p:txBody>
      </p:sp>
      <p:sp>
        <p:nvSpPr>
          <p:cNvPr id="262" name="Google Shape;262;p35"/>
          <p:cNvSpPr/>
          <p:nvPr/>
        </p:nvSpPr>
        <p:spPr>
          <a:xfrm>
            <a:off x="4635500" y="26924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User backup</a:t>
            </a:r>
            <a:endParaRPr sz="2000">
              <a:solidFill>
                <a:srgbClr val="212121"/>
              </a:solidFill>
              <a:latin typeface="Poppins"/>
              <a:ea typeface="Poppins"/>
              <a:cs typeface="Poppins"/>
              <a:sym typeface="Poppins"/>
            </a:endParaRPr>
          </a:p>
        </p:txBody>
      </p:sp>
      <p:sp>
        <p:nvSpPr>
          <p:cNvPr id="263" name="Google Shape;263;p35"/>
          <p:cNvSpPr txBox="1"/>
          <p:nvPr/>
        </p:nvSpPr>
        <p:spPr>
          <a:xfrm>
            <a:off x="508000" y="4381500"/>
            <a:ext cx="8127900" cy="3684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restore useful work through an alternative</a:t>
            </a:r>
            <a:endParaRPr sz="1700">
              <a:solidFill>
                <a:srgbClr val="06038D"/>
              </a:solidFill>
              <a:latin typeface="Poppins"/>
              <a:ea typeface="Poppins"/>
              <a:cs typeface="Poppins"/>
              <a:sym typeface="Poppins"/>
            </a:endParaRPr>
          </a:p>
        </p:txBody>
      </p:sp>
      <p:cxnSp>
        <p:nvCxnSpPr>
          <p:cNvPr id="264" name="Google Shape;264;p35"/>
          <p:cNvCxnSpPr/>
          <p:nvPr/>
        </p:nvCxnSpPr>
        <p:spPr>
          <a:xfrm>
            <a:off x="3644900" y="2413000"/>
            <a:ext cx="457200" cy="0"/>
          </a:xfrm>
          <a:prstGeom prst="straightConnector1">
            <a:avLst/>
          </a:prstGeom>
          <a:noFill/>
          <a:ln cap="flat" cmpd="sng" w="16500">
            <a:solidFill>
              <a:srgbClr val="06038D"/>
            </a:solidFill>
            <a:prstDash val="solid"/>
            <a:round/>
            <a:headEnd len="med" w="med" type="none"/>
            <a:tailEnd len="med" w="med" type="none"/>
          </a:ln>
        </p:spPr>
      </p:cxnSp>
      <p:cxnSp>
        <p:nvCxnSpPr>
          <p:cNvPr id="265" name="Google Shape;265;p35"/>
          <p:cNvCxnSpPr/>
          <p:nvPr/>
        </p:nvCxnSpPr>
        <p:spPr>
          <a:xfrm>
            <a:off x="4102100" y="1752600"/>
            <a:ext cx="0" cy="1193700"/>
          </a:xfrm>
          <a:prstGeom prst="straightConnector1">
            <a:avLst/>
          </a:prstGeom>
          <a:noFill/>
          <a:ln cap="flat" cmpd="sng" w="16500">
            <a:solidFill>
              <a:srgbClr val="06038D"/>
            </a:solidFill>
            <a:prstDash val="solid"/>
            <a:round/>
            <a:headEnd len="med" w="med" type="none"/>
            <a:tailEnd len="med" w="med" type="none"/>
          </a:ln>
        </p:spPr>
      </p:cxnSp>
      <p:cxnSp>
        <p:nvCxnSpPr>
          <p:cNvPr id="266" name="Google Shape;266;p35"/>
          <p:cNvCxnSpPr/>
          <p:nvPr/>
        </p:nvCxnSpPr>
        <p:spPr>
          <a:xfrm>
            <a:off x="4102100" y="17526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267" name="Google Shape;267;p35"/>
          <p:cNvCxnSpPr/>
          <p:nvPr/>
        </p:nvCxnSpPr>
        <p:spPr>
          <a:xfrm>
            <a:off x="4102100" y="23495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268" name="Google Shape;268;p35"/>
          <p:cNvCxnSpPr/>
          <p:nvPr/>
        </p:nvCxnSpPr>
        <p:spPr>
          <a:xfrm>
            <a:off x="4102100" y="2946400"/>
            <a:ext cx="507900" cy="0"/>
          </a:xfrm>
          <a:prstGeom prst="straightConnector1">
            <a:avLst/>
          </a:prstGeom>
          <a:noFill/>
          <a:ln cap="flat" cmpd="sng" w="16500">
            <a:solidFill>
              <a:srgbClr val="06038D"/>
            </a:solidFill>
            <a:prstDash val="solid"/>
            <a:round/>
            <a:headEnd len="med" w="med" type="none"/>
            <a:tailEnd len="med" w="med" type="triangle"/>
          </a:ln>
        </p:spPr>
      </p:cxnSp>
      <p:sp>
        <p:nvSpPr>
          <p:cNvPr id="269" name="Google Shape;269;p35"/>
          <p:cNvSpPr txBox="1"/>
          <p:nvPr/>
        </p:nvSpPr>
        <p:spPr>
          <a:xfrm>
            <a:off x="508000" y="3340100"/>
            <a:ext cx="36831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Onchain records</a:t>
            </a:r>
            <a:endParaRPr b="1" sz="2100">
              <a:solidFill>
                <a:srgbClr val="06038D"/>
              </a:solidFill>
              <a:latin typeface="Poppins"/>
              <a:ea typeface="Poppins"/>
              <a:cs typeface="Poppins"/>
              <a:sym typeface="Poppins"/>
            </a:endParaRPr>
          </a:p>
        </p:txBody>
      </p:sp>
      <p:sp>
        <p:nvSpPr>
          <p:cNvPr id="270" name="Google Shape;270;p35"/>
          <p:cNvSpPr/>
          <p:nvPr/>
        </p:nvSpPr>
        <p:spPr>
          <a:xfrm>
            <a:off x="508000" y="3759200"/>
            <a:ext cx="31116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Contract state</a:t>
            </a:r>
            <a:endParaRPr sz="2000">
              <a:solidFill>
                <a:srgbClr val="212121"/>
              </a:solidFill>
              <a:latin typeface="Poppins"/>
              <a:ea typeface="Poppins"/>
              <a:cs typeface="Poppins"/>
              <a:sym typeface="Poppins"/>
            </a:endParaRPr>
          </a:p>
        </p:txBody>
      </p:sp>
      <p:cxnSp>
        <p:nvCxnSpPr>
          <p:cNvPr id="271" name="Google Shape;271;p35"/>
          <p:cNvCxnSpPr/>
          <p:nvPr/>
        </p:nvCxnSpPr>
        <p:spPr>
          <a:xfrm>
            <a:off x="3644900" y="4025900"/>
            <a:ext cx="965100" cy="0"/>
          </a:xfrm>
          <a:prstGeom prst="straightConnector1">
            <a:avLst/>
          </a:prstGeom>
          <a:noFill/>
          <a:ln cap="flat" cmpd="sng" w="16500">
            <a:solidFill>
              <a:srgbClr val="06038D"/>
            </a:solidFill>
            <a:prstDash val="solid"/>
            <a:round/>
            <a:headEnd len="med" w="med" type="none"/>
            <a:tailEnd len="med" w="med" type="triangle"/>
          </a:ln>
        </p:spPr>
      </p:cxnSp>
      <p:sp>
        <p:nvSpPr>
          <p:cNvPr id="272" name="Google Shape;272;p35"/>
          <p:cNvSpPr/>
          <p:nvPr/>
        </p:nvSpPr>
        <p:spPr>
          <a:xfrm>
            <a:off x="4635500" y="3759200"/>
            <a:ext cx="40005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Replicated by chain nodes</a:t>
            </a:r>
            <a:endParaRPr sz="2000">
              <a:solidFill>
                <a:srgbClr val="21212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EFS: find a file and check a copy</a:t>
            </a:r>
            <a:endParaRPr b="1" sz="3000">
              <a:solidFill>
                <a:srgbClr val="06038D"/>
              </a:solidFill>
              <a:latin typeface="Poppins"/>
              <a:ea typeface="Poppins"/>
              <a:cs typeface="Poppins"/>
              <a:sym typeface="Poppins"/>
            </a:endParaRPr>
          </a:p>
        </p:txBody>
      </p:sp>
      <p:sp>
        <p:nvSpPr>
          <p:cNvPr id="278" name="Google Shape;278;p36"/>
          <p:cNvSpPr txBox="1"/>
          <p:nvPr/>
        </p:nvSpPr>
        <p:spPr>
          <a:xfrm>
            <a:off x="571500" y="1117600"/>
            <a:ext cx="80010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Example path: /notes/meeting.md</a:t>
            </a:r>
            <a:endParaRPr sz="2200">
              <a:solidFill>
                <a:srgbClr val="212121"/>
              </a:solidFill>
              <a:latin typeface="Poppins"/>
              <a:ea typeface="Poppins"/>
              <a:cs typeface="Poppins"/>
              <a:sym typeface="Poppins"/>
            </a:endParaRPr>
          </a:p>
        </p:txBody>
      </p:sp>
      <p:cxnSp>
        <p:nvCxnSpPr>
          <p:cNvPr id="279" name="Google Shape;279;p36"/>
          <p:cNvCxnSpPr/>
          <p:nvPr/>
        </p:nvCxnSpPr>
        <p:spPr>
          <a:xfrm>
            <a:off x="2692400" y="16002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280" name="Google Shape;280;p36"/>
          <p:cNvSpPr/>
          <p:nvPr/>
        </p:nvSpPr>
        <p:spPr>
          <a:xfrm>
            <a:off x="571500" y="1879600"/>
            <a:ext cx="4191000" cy="1206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Onchain file record</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 details + fingerprint</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Retrieval references</a:t>
            </a:r>
            <a:endParaRPr sz="2000">
              <a:solidFill>
                <a:srgbClr val="212121"/>
              </a:solidFill>
              <a:latin typeface="Poppins"/>
              <a:ea typeface="Poppins"/>
              <a:cs typeface="Poppins"/>
              <a:sym typeface="Poppins"/>
            </a:endParaRPr>
          </a:p>
        </p:txBody>
      </p:sp>
      <p:cxnSp>
        <p:nvCxnSpPr>
          <p:cNvPr id="281" name="Google Shape;281;p36"/>
          <p:cNvCxnSpPr/>
          <p:nvPr/>
        </p:nvCxnSpPr>
        <p:spPr>
          <a:xfrm>
            <a:off x="4787900" y="2476500"/>
            <a:ext cx="635100" cy="0"/>
          </a:xfrm>
          <a:prstGeom prst="straightConnector1">
            <a:avLst/>
          </a:prstGeom>
          <a:noFill/>
          <a:ln cap="flat" cmpd="sng" w="17775">
            <a:solidFill>
              <a:srgbClr val="06038D"/>
            </a:solidFill>
            <a:prstDash val="solid"/>
            <a:round/>
            <a:headEnd len="med" w="med" type="none"/>
            <a:tailEnd len="med" w="med" type="triangle"/>
          </a:ln>
        </p:spPr>
      </p:cxnSp>
      <p:sp>
        <p:nvSpPr>
          <p:cNvPr id="282" name="Google Shape;282;p36"/>
          <p:cNvSpPr/>
          <p:nvPr/>
        </p:nvSpPr>
        <p:spPr>
          <a:xfrm>
            <a:off x="5461000" y="2044700"/>
            <a:ext cx="3111600" cy="863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Contract reads</a:t>
            </a:r>
            <a:endParaRPr sz="21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file details</a:t>
            </a:r>
            <a:endParaRPr sz="2100">
              <a:solidFill>
                <a:srgbClr val="FFFFFF"/>
              </a:solidFill>
              <a:latin typeface="Poppins"/>
              <a:ea typeface="Poppins"/>
              <a:cs typeface="Poppins"/>
              <a:sym typeface="Poppins"/>
            </a:endParaRPr>
          </a:p>
        </p:txBody>
      </p:sp>
      <p:cxnSp>
        <p:nvCxnSpPr>
          <p:cNvPr id="283" name="Google Shape;283;p36"/>
          <p:cNvCxnSpPr/>
          <p:nvPr/>
        </p:nvCxnSpPr>
        <p:spPr>
          <a:xfrm>
            <a:off x="2667000" y="3111500"/>
            <a:ext cx="0" cy="368400"/>
          </a:xfrm>
          <a:prstGeom prst="straightConnector1">
            <a:avLst/>
          </a:prstGeom>
          <a:noFill/>
          <a:ln cap="flat" cmpd="sng" w="17775">
            <a:solidFill>
              <a:srgbClr val="06038D"/>
            </a:solidFill>
            <a:prstDash val="solid"/>
            <a:round/>
            <a:headEnd len="med" w="med" type="none"/>
            <a:tailEnd len="med" w="med" type="triangle"/>
          </a:ln>
        </p:spPr>
      </p:cxnSp>
      <p:sp>
        <p:nvSpPr>
          <p:cNvPr id="284" name="Google Shape;284;p36"/>
          <p:cNvSpPr/>
          <p:nvPr/>
        </p:nvSpPr>
        <p:spPr>
          <a:xfrm>
            <a:off x="571500" y="3517900"/>
            <a:ext cx="4191000" cy="812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Client retrieves a copy</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and checks its fingerprint</a:t>
            </a:r>
            <a:endParaRPr sz="2000">
              <a:solidFill>
                <a:srgbClr val="FFFFFF"/>
              </a:solidFill>
              <a:latin typeface="Poppins"/>
              <a:ea typeface="Poppins"/>
              <a:cs typeface="Poppins"/>
              <a:sym typeface="Poppins"/>
            </a:endParaRPr>
          </a:p>
        </p:txBody>
      </p:sp>
      <p:cxnSp>
        <p:nvCxnSpPr>
          <p:cNvPr id="285" name="Google Shape;285;p36"/>
          <p:cNvCxnSpPr/>
          <p:nvPr/>
        </p:nvCxnSpPr>
        <p:spPr>
          <a:xfrm rot="10800000">
            <a:off x="5130800" y="35814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86" name="Google Shape;286;p36"/>
          <p:cNvCxnSpPr/>
          <p:nvPr/>
        </p:nvCxnSpPr>
        <p:spPr>
          <a:xfrm rot="10800000">
            <a:off x="5130800" y="42037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87" name="Google Shape;287;p36"/>
          <p:cNvCxnSpPr/>
          <p:nvPr/>
        </p:nvCxnSpPr>
        <p:spPr>
          <a:xfrm>
            <a:off x="5130800" y="3581400"/>
            <a:ext cx="0" cy="622200"/>
          </a:xfrm>
          <a:prstGeom prst="straightConnector1">
            <a:avLst/>
          </a:prstGeom>
          <a:noFill/>
          <a:ln cap="flat" cmpd="sng" w="17775">
            <a:solidFill>
              <a:srgbClr val="06038D"/>
            </a:solidFill>
            <a:prstDash val="solid"/>
            <a:round/>
            <a:headEnd len="med" w="med" type="none"/>
            <a:tailEnd len="med" w="med" type="none"/>
          </a:ln>
        </p:spPr>
      </p:cxnSp>
      <p:cxnSp>
        <p:nvCxnSpPr>
          <p:cNvPr id="288" name="Google Shape;288;p36"/>
          <p:cNvCxnSpPr/>
          <p:nvPr/>
        </p:nvCxnSpPr>
        <p:spPr>
          <a:xfrm rot="10800000">
            <a:off x="4787900" y="39243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289" name="Google Shape;289;p36"/>
          <p:cNvSpPr/>
          <p:nvPr/>
        </p:nvSpPr>
        <p:spPr>
          <a:xfrm>
            <a:off x="5461000" y="33020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IPFS copy</a:t>
            </a:r>
            <a:endParaRPr sz="2100">
              <a:solidFill>
                <a:srgbClr val="212121"/>
              </a:solidFill>
              <a:latin typeface="Poppins"/>
              <a:ea typeface="Poppins"/>
              <a:cs typeface="Poppins"/>
              <a:sym typeface="Poppins"/>
            </a:endParaRPr>
          </a:p>
        </p:txBody>
      </p:sp>
      <p:sp>
        <p:nvSpPr>
          <p:cNvPr id="290" name="Google Shape;290;p36"/>
          <p:cNvSpPr/>
          <p:nvPr/>
        </p:nvSpPr>
        <p:spPr>
          <a:xfrm>
            <a:off x="5461000" y="38862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Arweave copy</a:t>
            </a:r>
            <a:endParaRPr sz="2100">
              <a:solidFill>
                <a:srgbClr val="212121"/>
              </a:solidFill>
              <a:latin typeface="Poppins"/>
              <a:ea typeface="Poppins"/>
              <a:cs typeface="Poppins"/>
              <a:sym typeface="Poppins"/>
            </a:endParaRPr>
          </a:p>
        </p:txBody>
      </p:sp>
      <p:sp>
        <p:nvSpPr>
          <p:cNvPr id="291" name="Google Shape;291;p36"/>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Same accepted file. A different provider or app can use it.</a:t>
            </a:r>
            <a:endParaRPr sz="1700">
              <a:solidFill>
                <a:srgbClr val="06038D"/>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7"/>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Reading and finding shared data</a:t>
            </a:r>
            <a:endParaRPr b="1" sz="3000">
              <a:solidFill>
                <a:srgbClr val="06038D"/>
              </a:solidFill>
              <a:latin typeface="Poppins"/>
              <a:ea typeface="Poppins"/>
              <a:cs typeface="Poppins"/>
              <a:sym typeface="Poppins"/>
            </a:endParaRPr>
          </a:p>
        </p:txBody>
      </p:sp>
      <p:sp>
        <p:nvSpPr>
          <p:cNvPr id="297" name="Google Shape;297;p37"/>
          <p:cNvSpPr txBox="1"/>
          <p:nvPr/>
        </p:nvSpPr>
        <p:spPr>
          <a:xfrm>
            <a:off x="508000" y="11811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000">
                <a:solidFill>
                  <a:srgbClr val="06038D"/>
                </a:solidFill>
                <a:latin typeface="Poppins"/>
                <a:ea typeface="Poppins"/>
                <a:cs typeface="Poppins"/>
                <a:sym typeface="Poppins"/>
              </a:rPr>
              <a:t>Read chain state</a:t>
            </a:r>
            <a:endParaRPr b="1" sz="2000">
              <a:solidFill>
                <a:srgbClr val="06038D"/>
              </a:solidFill>
              <a:latin typeface="Poppins"/>
              <a:ea typeface="Poppins"/>
              <a:cs typeface="Poppins"/>
              <a:sym typeface="Poppins"/>
            </a:endParaRPr>
          </a:p>
        </p:txBody>
      </p:sp>
      <p:sp>
        <p:nvSpPr>
          <p:cNvPr id="298" name="Google Shape;298;p37"/>
          <p:cNvSpPr/>
          <p:nvPr/>
        </p:nvSpPr>
        <p:spPr>
          <a:xfrm>
            <a:off x="508000" y="16891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Chain state</a:t>
            </a:r>
            <a:endParaRPr sz="2000">
              <a:solidFill>
                <a:srgbClr val="212121"/>
              </a:solidFill>
              <a:latin typeface="Poppins"/>
              <a:ea typeface="Poppins"/>
              <a:cs typeface="Poppins"/>
              <a:sym typeface="Poppins"/>
            </a:endParaRPr>
          </a:p>
        </p:txBody>
      </p:sp>
      <p:sp>
        <p:nvSpPr>
          <p:cNvPr id="299" name="Google Shape;299;p37"/>
          <p:cNvSpPr/>
          <p:nvPr/>
        </p:nvSpPr>
        <p:spPr>
          <a:xfrm>
            <a:off x="3365500" y="16891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RPC / own node</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Light client: Helios</a:t>
            </a:r>
            <a:endParaRPr sz="1800">
              <a:solidFill>
                <a:srgbClr val="212121"/>
              </a:solidFill>
              <a:latin typeface="Poppins"/>
              <a:ea typeface="Poppins"/>
              <a:cs typeface="Poppins"/>
              <a:sym typeface="Poppins"/>
            </a:endParaRPr>
          </a:p>
        </p:txBody>
      </p:sp>
      <p:sp>
        <p:nvSpPr>
          <p:cNvPr id="300" name="Google Shape;300;p37"/>
          <p:cNvSpPr/>
          <p:nvPr/>
        </p:nvSpPr>
        <p:spPr>
          <a:xfrm>
            <a:off x="6667500" y="16891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App reads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state</a:t>
            </a:r>
            <a:endParaRPr sz="2000">
              <a:solidFill>
                <a:srgbClr val="FFFFFF"/>
              </a:solidFill>
              <a:latin typeface="Poppins"/>
              <a:ea typeface="Poppins"/>
              <a:cs typeface="Poppins"/>
              <a:sym typeface="Poppins"/>
            </a:endParaRPr>
          </a:p>
        </p:txBody>
      </p:sp>
      <p:sp>
        <p:nvSpPr>
          <p:cNvPr id="301" name="Google Shape;301;p37"/>
          <p:cNvSpPr txBox="1"/>
          <p:nvPr/>
        </p:nvSpPr>
        <p:spPr>
          <a:xfrm>
            <a:off x="508000" y="27178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000">
                <a:solidFill>
                  <a:srgbClr val="06038D"/>
                </a:solidFill>
                <a:latin typeface="Poppins"/>
                <a:ea typeface="Poppins"/>
                <a:cs typeface="Poppins"/>
                <a:sym typeface="Poppins"/>
              </a:rPr>
              <a:t>Find records in lists and searches</a:t>
            </a:r>
            <a:endParaRPr b="1" sz="2000">
              <a:solidFill>
                <a:srgbClr val="06038D"/>
              </a:solidFill>
              <a:latin typeface="Poppins"/>
              <a:ea typeface="Poppins"/>
              <a:cs typeface="Poppins"/>
              <a:sym typeface="Poppins"/>
            </a:endParaRPr>
          </a:p>
        </p:txBody>
      </p:sp>
      <p:sp>
        <p:nvSpPr>
          <p:cNvPr id="302" name="Google Shape;302;p37"/>
          <p:cNvSpPr txBox="1"/>
          <p:nvPr/>
        </p:nvSpPr>
        <p:spPr>
          <a:xfrm>
            <a:off x="508000" y="42799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change providers, rebuild a view and check its freshness</a:t>
            </a:r>
            <a:endParaRPr sz="1700">
              <a:solidFill>
                <a:srgbClr val="06038D"/>
              </a:solidFill>
              <a:latin typeface="Poppins"/>
              <a:ea typeface="Poppins"/>
              <a:cs typeface="Poppins"/>
              <a:sym typeface="Poppins"/>
            </a:endParaRPr>
          </a:p>
        </p:txBody>
      </p:sp>
      <p:cxnSp>
        <p:nvCxnSpPr>
          <p:cNvPr id="303" name="Google Shape;303;p37"/>
          <p:cNvCxnSpPr/>
          <p:nvPr/>
        </p:nvCxnSpPr>
        <p:spPr>
          <a:xfrm>
            <a:off x="2946400" y="20828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04" name="Google Shape;304;p37"/>
          <p:cNvCxnSpPr/>
          <p:nvPr/>
        </p:nvCxnSpPr>
        <p:spPr>
          <a:xfrm>
            <a:off x="6248400" y="2082800"/>
            <a:ext cx="393600" cy="0"/>
          </a:xfrm>
          <a:prstGeom prst="straightConnector1">
            <a:avLst/>
          </a:prstGeom>
          <a:noFill/>
          <a:ln cap="flat" cmpd="sng" w="16500">
            <a:solidFill>
              <a:srgbClr val="06038D"/>
            </a:solidFill>
            <a:prstDash val="solid"/>
            <a:round/>
            <a:headEnd len="med" w="med" type="none"/>
            <a:tailEnd len="med" w="med" type="triangle"/>
          </a:ln>
        </p:spPr>
      </p:cxnSp>
      <p:sp>
        <p:nvSpPr>
          <p:cNvPr id="305" name="Google Shape;305;p37"/>
          <p:cNvSpPr/>
          <p:nvPr/>
        </p:nvSpPr>
        <p:spPr>
          <a:xfrm>
            <a:off x="508000" y="32258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Published</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records + history</a:t>
            </a:r>
            <a:endParaRPr sz="1900">
              <a:solidFill>
                <a:srgbClr val="212121"/>
              </a:solidFill>
              <a:latin typeface="Poppins"/>
              <a:ea typeface="Poppins"/>
              <a:cs typeface="Poppins"/>
              <a:sym typeface="Poppins"/>
            </a:endParaRPr>
          </a:p>
        </p:txBody>
      </p:sp>
      <p:sp>
        <p:nvSpPr>
          <p:cNvPr id="306" name="Google Shape;306;p37"/>
          <p:cNvSpPr/>
          <p:nvPr/>
        </p:nvSpPr>
        <p:spPr>
          <a:xfrm>
            <a:off x="3365500" y="32258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Independent indexers</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Example: The Graph</a:t>
            </a:r>
            <a:endParaRPr sz="1800">
              <a:solidFill>
                <a:srgbClr val="212121"/>
              </a:solidFill>
              <a:latin typeface="Poppins"/>
              <a:ea typeface="Poppins"/>
              <a:cs typeface="Poppins"/>
              <a:sym typeface="Poppins"/>
            </a:endParaRPr>
          </a:p>
        </p:txBody>
      </p:sp>
      <p:sp>
        <p:nvSpPr>
          <p:cNvPr id="307" name="Google Shape;307;p37"/>
          <p:cNvSpPr/>
          <p:nvPr/>
        </p:nvSpPr>
        <p:spPr>
          <a:xfrm>
            <a:off x="6667500" y="32258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App lists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and searches</a:t>
            </a:r>
            <a:endParaRPr sz="2000">
              <a:solidFill>
                <a:srgbClr val="FFFFFF"/>
              </a:solidFill>
              <a:latin typeface="Poppins"/>
              <a:ea typeface="Poppins"/>
              <a:cs typeface="Poppins"/>
              <a:sym typeface="Poppins"/>
            </a:endParaRPr>
          </a:p>
        </p:txBody>
      </p:sp>
      <p:cxnSp>
        <p:nvCxnSpPr>
          <p:cNvPr id="308" name="Google Shape;308;p37"/>
          <p:cNvCxnSpPr/>
          <p:nvPr/>
        </p:nvCxnSpPr>
        <p:spPr>
          <a:xfrm>
            <a:off x="2946400" y="36195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09" name="Google Shape;309;p37"/>
          <p:cNvCxnSpPr/>
          <p:nvPr/>
        </p:nvCxnSpPr>
        <p:spPr>
          <a:xfrm>
            <a:off x="6248400" y="3619500"/>
            <a:ext cx="393600" cy="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sends the next transaction?</a:t>
            </a:r>
            <a:endParaRPr b="1" sz="3000">
              <a:solidFill>
                <a:srgbClr val="06038D"/>
              </a:solidFill>
              <a:latin typeface="Poppins"/>
              <a:ea typeface="Poppins"/>
              <a:cs typeface="Poppins"/>
              <a:sym typeface="Poppins"/>
            </a:endParaRPr>
          </a:p>
        </p:txBody>
      </p:sp>
      <p:sp>
        <p:nvSpPr>
          <p:cNvPr id="315" name="Google Shape;315;p38"/>
          <p:cNvSpPr txBox="1"/>
          <p:nvPr/>
        </p:nvSpPr>
        <p:spPr>
          <a:xfrm>
            <a:off x="508000" y="11430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Tornado Cash Classic: replaceable relayers</a:t>
            </a:r>
            <a:endParaRPr sz="2200">
              <a:solidFill>
                <a:srgbClr val="212121"/>
              </a:solidFill>
              <a:latin typeface="Poppins"/>
              <a:ea typeface="Poppins"/>
              <a:cs typeface="Poppins"/>
              <a:sym typeface="Poppins"/>
            </a:endParaRPr>
          </a:p>
        </p:txBody>
      </p:sp>
      <p:sp>
        <p:nvSpPr>
          <p:cNvPr id="316" name="Google Shape;316;p38"/>
          <p:cNvSpPr/>
          <p:nvPr/>
        </p:nvSpPr>
        <p:spPr>
          <a:xfrm>
            <a:off x="3581400" y="1816100"/>
            <a:ext cx="2412900" cy="7494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A</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Offline</a:t>
            </a:r>
            <a:endParaRPr sz="2000">
              <a:solidFill>
                <a:srgbClr val="212121"/>
              </a:solidFill>
              <a:latin typeface="Poppins"/>
              <a:ea typeface="Poppins"/>
              <a:cs typeface="Poppins"/>
              <a:sym typeface="Poppins"/>
            </a:endParaRPr>
          </a:p>
        </p:txBody>
      </p:sp>
      <p:sp>
        <p:nvSpPr>
          <p:cNvPr id="317" name="Google Shape;317;p38"/>
          <p:cNvSpPr/>
          <p:nvPr/>
        </p:nvSpPr>
        <p:spPr>
          <a:xfrm>
            <a:off x="3581400" y="3073400"/>
            <a:ext cx="24129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B</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Submits proof</a:t>
            </a:r>
            <a:endParaRPr sz="2000">
              <a:solidFill>
                <a:srgbClr val="212121"/>
              </a:solidFill>
              <a:latin typeface="Poppins"/>
              <a:ea typeface="Poppins"/>
              <a:cs typeface="Poppins"/>
              <a:sym typeface="Poppins"/>
            </a:endParaRPr>
          </a:p>
        </p:txBody>
      </p:sp>
      <p:sp>
        <p:nvSpPr>
          <p:cNvPr id="318" name="Google Shape;318;p38"/>
          <p:cNvSpPr/>
          <p:nvPr/>
        </p:nvSpPr>
        <p:spPr>
          <a:xfrm>
            <a:off x="6540500" y="2692400"/>
            <a:ext cx="2095500" cy="1092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Pool contract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Checks the proof</a:t>
            </a:r>
            <a:endParaRPr sz="2000">
              <a:solidFill>
                <a:srgbClr val="FFFFFF"/>
              </a:solidFill>
              <a:latin typeface="Poppins"/>
              <a:ea typeface="Poppins"/>
              <a:cs typeface="Poppins"/>
              <a:sym typeface="Poppins"/>
            </a:endParaRPr>
          </a:p>
        </p:txBody>
      </p:sp>
      <p:sp>
        <p:nvSpPr>
          <p:cNvPr id="319" name="Google Shape;319;p38"/>
          <p:cNvSpPr/>
          <p:nvPr/>
        </p:nvSpPr>
        <p:spPr>
          <a:xfrm>
            <a:off x="508000" y="2692400"/>
            <a:ext cx="2540100" cy="1092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User authorizes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 withdrawal</a:t>
            </a:r>
            <a:endParaRPr sz="2000">
              <a:solidFill>
                <a:srgbClr val="212121"/>
              </a:solidFill>
              <a:latin typeface="Poppins"/>
              <a:ea typeface="Poppins"/>
              <a:cs typeface="Poppins"/>
              <a:sym typeface="Poppins"/>
            </a:endParaRPr>
          </a:p>
        </p:txBody>
      </p:sp>
      <p:sp>
        <p:nvSpPr>
          <p:cNvPr id="320" name="Google Shape;320;p38"/>
          <p:cNvSpPr txBox="1"/>
          <p:nvPr/>
        </p:nvSpPr>
        <p:spPr>
          <a:xfrm>
            <a:off x="508000" y="42799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could another operator complete your background job?</a:t>
            </a:r>
            <a:endParaRPr sz="1700">
              <a:solidFill>
                <a:srgbClr val="06038D"/>
              </a:solidFill>
              <a:latin typeface="Poppins"/>
              <a:ea typeface="Poppins"/>
              <a:cs typeface="Poppins"/>
              <a:sym typeface="Poppins"/>
            </a:endParaRPr>
          </a:p>
        </p:txBody>
      </p:sp>
      <p:cxnSp>
        <p:nvCxnSpPr>
          <p:cNvPr id="321" name="Google Shape;321;p38"/>
          <p:cNvCxnSpPr/>
          <p:nvPr/>
        </p:nvCxnSpPr>
        <p:spPr>
          <a:xfrm>
            <a:off x="3073400" y="3238500"/>
            <a:ext cx="241200" cy="0"/>
          </a:xfrm>
          <a:prstGeom prst="straightConnector1">
            <a:avLst/>
          </a:prstGeom>
          <a:noFill/>
          <a:ln cap="flat" cmpd="sng" w="16500">
            <a:solidFill>
              <a:srgbClr val="06038D"/>
            </a:solidFill>
            <a:prstDash val="solid"/>
            <a:round/>
            <a:headEnd len="med" w="med" type="none"/>
            <a:tailEnd len="med" w="med" type="none"/>
          </a:ln>
        </p:spPr>
      </p:cxnSp>
      <p:cxnSp>
        <p:nvCxnSpPr>
          <p:cNvPr id="322" name="Google Shape;322;p38"/>
          <p:cNvCxnSpPr/>
          <p:nvPr/>
        </p:nvCxnSpPr>
        <p:spPr>
          <a:xfrm>
            <a:off x="3314700" y="2209800"/>
            <a:ext cx="0" cy="1282800"/>
          </a:xfrm>
          <a:prstGeom prst="straightConnector1">
            <a:avLst/>
          </a:prstGeom>
          <a:noFill/>
          <a:ln cap="flat" cmpd="sng" w="16500">
            <a:solidFill>
              <a:srgbClr val="06038D"/>
            </a:solidFill>
            <a:prstDash val="solid"/>
            <a:round/>
            <a:headEnd len="med" w="med" type="none"/>
            <a:tailEnd len="med" w="med" type="none"/>
          </a:ln>
        </p:spPr>
      </p:cxnSp>
      <p:cxnSp>
        <p:nvCxnSpPr>
          <p:cNvPr id="323" name="Google Shape;323;p38"/>
          <p:cNvCxnSpPr/>
          <p:nvPr/>
        </p:nvCxnSpPr>
        <p:spPr>
          <a:xfrm>
            <a:off x="3314700" y="22098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24" name="Google Shape;324;p38"/>
          <p:cNvCxnSpPr/>
          <p:nvPr/>
        </p:nvCxnSpPr>
        <p:spPr>
          <a:xfrm>
            <a:off x="3314700" y="34925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25" name="Google Shape;325;p38"/>
          <p:cNvCxnSpPr/>
          <p:nvPr/>
        </p:nvCxnSpPr>
        <p:spPr>
          <a:xfrm flipH="1" rot="10800000">
            <a:off x="6019800" y="3238400"/>
            <a:ext cx="495300" cy="25410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9"/>
          <p:cNvSpPr txBox="1"/>
          <p:nvPr>
            <p:ph type="title"/>
          </p:nvPr>
        </p:nvSpPr>
        <p:spPr>
          <a:xfrm>
            <a:off x="457200" y="2150850"/>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Keeping dependable rules</a:t>
            </a:r>
            <a:endParaRPr b="1">
              <a:solidFill>
                <a:srgbClr val="FFFFFF"/>
              </a:solidFill>
              <a:latin typeface="Poppins"/>
              <a:ea typeface="Poppins"/>
              <a:cs typeface="Poppins"/>
              <a:sym typeface="Poppins"/>
            </a:endParaRPr>
          </a:p>
        </p:txBody>
      </p:sp>
      <p:sp>
        <p:nvSpPr>
          <p:cNvPr id="331" name="Google Shape;331;p39"/>
          <p:cNvSpPr txBox="1"/>
          <p:nvPr/>
        </p:nvSpPr>
        <p:spPr>
          <a:xfrm>
            <a:off x="2998200" y="1794850"/>
            <a:ext cx="31476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Rules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0"/>
          <p:cNvSpPr txBox="1"/>
          <p:nvPr>
            <p:ph type="title"/>
          </p:nvPr>
        </p:nvSpPr>
        <p:spPr>
          <a:xfrm>
            <a:off x="4837000" y="768000"/>
            <a:ext cx="3733200" cy="36075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Who chooses the changes?</a:t>
            </a:r>
            <a:endParaRPr b="1">
              <a:solidFill>
                <a:srgbClr val="FFFFFF"/>
              </a:solidFill>
              <a:latin typeface="Poppins"/>
              <a:ea typeface="Poppins"/>
              <a:cs typeface="Poppins"/>
              <a:sym typeface="Poppins"/>
            </a:endParaRPr>
          </a:p>
        </p:txBody>
      </p:sp>
      <p:sp>
        <p:nvSpPr>
          <p:cNvPr id="337" name="Google Shape;337;p40"/>
          <p:cNvSpPr txBox="1"/>
          <p:nvPr>
            <p:ph idx="1" type="body"/>
          </p:nvPr>
        </p:nvSpPr>
        <p:spPr>
          <a:xfrm>
            <a:off x="651850" y="617600"/>
            <a:ext cx="3733200" cy="401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Stable core contracts</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User-chosen app upgrades</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Clear rules for shared governance</a:t>
            </a:r>
            <a:endParaRPr sz="2400">
              <a:solidFill>
                <a:schemeClr val="accent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1"/>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A stable core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the contract code fixed</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other apps build on it</a:t>
            </a:r>
            <a:endParaRPr sz="2400">
              <a:solidFill>
                <a:srgbClr val="212121"/>
              </a:solidFill>
            </a:endParaRPr>
          </a:p>
        </p:txBody>
      </p:sp>
      <p:sp>
        <p:nvSpPr>
          <p:cNvPr id="343" name="Google Shape;343;p41"/>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Room to improve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Deploy a new version</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users choose to migrate</a:t>
            </a:r>
            <a:endParaRPr sz="2400">
              <a:solidFill>
                <a:srgbClr val="212121"/>
              </a:solidFill>
            </a:endParaRPr>
          </a:p>
        </p:txBody>
      </p:sp>
      <p:sp>
        <p:nvSpPr>
          <p:cNvPr id="344" name="Google Shape;344;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Immutable contracts</a:t>
            </a:r>
            <a:endParaRPr b="1" sz="3200">
              <a:solidFill>
                <a:srgbClr val="06038D"/>
              </a:solidFill>
              <a:latin typeface="Poppins"/>
              <a:ea typeface="Poppins"/>
              <a:cs typeface="Poppins"/>
              <a:sym typeface="Poppins"/>
            </a:endParaRPr>
          </a:p>
        </p:txBody>
      </p:sp>
      <p:sp>
        <p:nvSpPr>
          <p:cNvPr id="345" name="Google Shape;345;p41"/>
          <p:cNvSpPr txBox="1"/>
          <p:nvPr/>
        </p:nvSpPr>
        <p:spPr>
          <a:xfrm>
            <a:off x="889000" y="4305300"/>
            <a:ext cx="7365900" cy="4317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Uniswap v2 core: fixed code, shared exchange logic</a:t>
            </a:r>
            <a:endParaRPr sz="1800">
              <a:solidFill>
                <a:srgbClr val="06038D"/>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Ethereum and L1</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Keep a working node route</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Retain the history you need</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Understand inclusion and finality</a:t>
            </a:r>
            <a:endParaRPr sz="2200">
              <a:solidFill>
                <a:srgbClr val="212121"/>
              </a:solidFill>
            </a:endParaRPr>
          </a:p>
        </p:txBody>
      </p:sp>
      <p:sp>
        <p:nvSpPr>
          <p:cNvPr id="351" name="Google Shape;351;p4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L2 and settlement</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Know who orders and proves</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Find the required chain data</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Practice the recovery route</a:t>
            </a:r>
            <a:endParaRPr sz="2200">
              <a:solidFill>
                <a:srgbClr val="212121"/>
              </a:solidFill>
            </a:endParaRPr>
          </a:p>
        </p:txBody>
      </p:sp>
      <p:sp>
        <p:nvSpPr>
          <p:cNvPr id="352" name="Google Shape;352;p4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community can carry it forward</a:t>
            </a:r>
            <a:endParaRPr b="1" sz="3000">
              <a:solidFill>
                <a:srgbClr val="06038D"/>
              </a:solidFill>
              <a:latin typeface="Poppins"/>
              <a:ea typeface="Poppins"/>
              <a:cs typeface="Poppins"/>
              <a:sym typeface="Poppins"/>
            </a:endParaRPr>
          </a:p>
        </p:txBody>
      </p:sp>
      <p:sp>
        <p:nvSpPr>
          <p:cNvPr id="358" name="Google Shape;358;p43"/>
          <p:cNvSpPr/>
          <p:nvPr/>
        </p:nvSpPr>
        <p:spPr>
          <a:xfrm>
            <a:off x="508000" y="1485900"/>
            <a:ext cx="4508400" cy="23622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Public handoff</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Release + contract addresses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Retained data + index recipe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Worker code + running costs</a:t>
            </a:r>
            <a:endParaRPr sz="2100">
              <a:solidFill>
                <a:srgbClr val="212121"/>
              </a:solidFill>
              <a:latin typeface="Poppins"/>
              <a:ea typeface="Poppins"/>
              <a:cs typeface="Poppins"/>
              <a:sym typeface="Poppins"/>
            </a:endParaRPr>
          </a:p>
        </p:txBody>
      </p:sp>
      <p:cxnSp>
        <p:nvCxnSpPr>
          <p:cNvPr id="359" name="Google Shape;359;p43"/>
          <p:cNvCxnSpPr/>
          <p:nvPr/>
        </p:nvCxnSpPr>
        <p:spPr>
          <a:xfrm>
            <a:off x="5041900" y="2641600"/>
            <a:ext cx="393600" cy="0"/>
          </a:xfrm>
          <a:prstGeom prst="straightConnector1">
            <a:avLst/>
          </a:prstGeom>
          <a:noFill/>
          <a:ln cap="flat" cmpd="sng" w="17775">
            <a:solidFill>
              <a:srgbClr val="06038D"/>
            </a:solidFill>
            <a:prstDash val="solid"/>
            <a:round/>
            <a:headEnd len="med" w="med" type="none"/>
            <a:tailEnd len="med" w="med" type="none"/>
          </a:ln>
        </p:spPr>
      </p:cxnSp>
      <p:cxnSp>
        <p:nvCxnSpPr>
          <p:cNvPr id="360" name="Google Shape;360;p43"/>
          <p:cNvCxnSpPr/>
          <p:nvPr/>
        </p:nvCxnSpPr>
        <p:spPr>
          <a:xfrm>
            <a:off x="5435600" y="1803400"/>
            <a:ext cx="0" cy="1676400"/>
          </a:xfrm>
          <a:prstGeom prst="straightConnector1">
            <a:avLst/>
          </a:prstGeom>
          <a:noFill/>
          <a:ln cap="flat" cmpd="sng" w="17775">
            <a:solidFill>
              <a:srgbClr val="06038D"/>
            </a:solidFill>
            <a:prstDash val="solid"/>
            <a:round/>
            <a:headEnd len="med" w="med" type="none"/>
            <a:tailEnd len="med" w="med" type="none"/>
          </a:ln>
        </p:spPr>
      </p:cxnSp>
      <p:cxnSp>
        <p:nvCxnSpPr>
          <p:cNvPr id="361" name="Google Shape;361;p43"/>
          <p:cNvCxnSpPr/>
          <p:nvPr/>
        </p:nvCxnSpPr>
        <p:spPr>
          <a:xfrm>
            <a:off x="5435600" y="18034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62" name="Google Shape;362;p43"/>
          <p:cNvSpPr/>
          <p:nvPr/>
        </p:nvSpPr>
        <p:spPr>
          <a:xfrm>
            <a:off x="5803900" y="14732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Volunteer A opens the app</a:t>
            </a:r>
            <a:endParaRPr sz="1800">
              <a:solidFill>
                <a:srgbClr val="FFFFFF"/>
              </a:solidFill>
              <a:latin typeface="Poppins"/>
              <a:ea typeface="Poppins"/>
              <a:cs typeface="Poppins"/>
              <a:sym typeface="Poppins"/>
            </a:endParaRPr>
          </a:p>
        </p:txBody>
      </p:sp>
      <p:cxnSp>
        <p:nvCxnSpPr>
          <p:cNvPr id="363" name="Google Shape;363;p43"/>
          <p:cNvCxnSpPr/>
          <p:nvPr/>
        </p:nvCxnSpPr>
        <p:spPr>
          <a:xfrm>
            <a:off x="5435600" y="26416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64" name="Google Shape;364;p43"/>
          <p:cNvSpPr/>
          <p:nvPr/>
        </p:nvSpPr>
        <p:spPr>
          <a:xfrm>
            <a:off x="5803900" y="23114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Volunteer B rebuilds the list</a:t>
            </a:r>
            <a:endParaRPr sz="1800">
              <a:solidFill>
                <a:srgbClr val="FFFFFF"/>
              </a:solidFill>
              <a:latin typeface="Poppins"/>
              <a:ea typeface="Poppins"/>
              <a:cs typeface="Poppins"/>
              <a:sym typeface="Poppins"/>
            </a:endParaRPr>
          </a:p>
        </p:txBody>
      </p:sp>
      <p:cxnSp>
        <p:nvCxnSpPr>
          <p:cNvPr id="365" name="Google Shape;365;p43"/>
          <p:cNvCxnSpPr/>
          <p:nvPr/>
        </p:nvCxnSpPr>
        <p:spPr>
          <a:xfrm>
            <a:off x="5435600" y="34798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66" name="Google Shape;366;p43"/>
          <p:cNvSpPr/>
          <p:nvPr/>
        </p:nvSpPr>
        <p:spPr>
          <a:xfrm>
            <a:off x="5803900" y="31496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Volunteer C runs a worker</a:t>
            </a:r>
            <a:endParaRPr sz="1800">
              <a:solidFill>
                <a:srgbClr val="FFFFFF"/>
              </a:solidFill>
              <a:latin typeface="Poppins"/>
              <a:ea typeface="Poppins"/>
              <a:cs typeface="Poppins"/>
              <a:sym typeface="Poppins"/>
            </a:endParaRPr>
          </a:p>
        </p:txBody>
      </p:sp>
      <p:sp>
        <p:nvSpPr>
          <p:cNvPr id="367" name="Google Shape;367;p43"/>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handoff: let people outside your team follow the instructions</a:t>
            </a:r>
            <a:endParaRPr sz="1600">
              <a:solidFill>
                <a:srgbClr val="06038D"/>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4"/>
          <p:cNvSpPr txBox="1"/>
          <p:nvPr>
            <p:ph type="title"/>
          </p:nvPr>
        </p:nvSpPr>
        <p:spPr>
          <a:xfrm>
            <a:off x="457200" y="2415175"/>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400">
                <a:solidFill>
                  <a:srgbClr val="FFFFFF"/>
                </a:solidFill>
                <a:latin typeface="Poppins"/>
                <a:ea typeface="Poppins"/>
                <a:cs typeface="Poppins"/>
                <a:sym typeface="Poppins"/>
              </a:rPr>
              <a:t>A walk-away test for your app</a:t>
            </a:r>
            <a:endParaRPr b="1" sz="2400">
              <a:solidFill>
                <a:srgbClr val="FFFFFF"/>
              </a:solidFill>
              <a:latin typeface="Poppins"/>
              <a:ea typeface="Poppins"/>
              <a:cs typeface="Poppins"/>
              <a:sym typeface="Poppins"/>
            </a:endParaRPr>
          </a:p>
        </p:txBody>
      </p:sp>
      <p:sp>
        <p:nvSpPr>
          <p:cNvPr id="373" name="Google Shape;373;p44"/>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Your walk-away checklist</a:t>
            </a:r>
            <a:endParaRPr b="1" sz="3200">
              <a:solidFill>
                <a:srgbClr val="06038D"/>
              </a:solidFill>
              <a:latin typeface="Poppins"/>
              <a:ea typeface="Poppins"/>
              <a:cs typeface="Poppins"/>
              <a:sym typeface="Poppins"/>
            </a:endParaRPr>
          </a:p>
        </p:txBody>
      </p:sp>
      <p:sp>
        <p:nvSpPr>
          <p:cNvPr id="379" name="Google Shape;379;p45"/>
          <p:cNvSpPr txBox="1"/>
          <p:nvPr>
            <p:ph idx="1" type="body"/>
          </p:nvPr>
        </p:nvSpPr>
        <p:spPr>
          <a:xfrm>
            <a:off x="635000" y="1333500"/>
            <a:ext cx="3810000" cy="28575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rPr>
              <a:t>A user can:</a:t>
            </a:r>
            <a:endParaRPr b="1"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Run a saved app release</a:t>
            </a:r>
            <a:endParaRPr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Recover access and keys</a:t>
            </a:r>
            <a:endParaRPr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Restore usable data</a:t>
            </a:r>
            <a:endParaRPr sz="2100">
              <a:solidFill>
                <a:srgbClr val="212121"/>
              </a:solidFill>
            </a:endParaRPr>
          </a:p>
          <a:p>
            <a:pPr indent="0" lvl="0" marL="0" marR="0" rtl="0" algn="l">
              <a:lnSpc>
                <a:spcPct val="110000"/>
              </a:lnSpc>
              <a:spcBef>
                <a:spcPts val="1000"/>
              </a:spcBef>
              <a:spcAft>
                <a:spcPts val="1000"/>
              </a:spcAft>
              <a:buNone/>
            </a:pPr>
            <a:r>
              <a:rPr lang="en" sz="2100">
                <a:solidFill>
                  <a:srgbClr val="212121"/>
                </a:solidFill>
              </a:rPr>
              <a:t>Choose another client</a:t>
            </a:r>
            <a:endParaRPr sz="2100">
              <a:solidFill>
                <a:srgbClr val="212121"/>
              </a:solidFill>
            </a:endParaRPr>
          </a:p>
        </p:txBody>
      </p:sp>
      <p:sp>
        <p:nvSpPr>
          <p:cNvPr id="380" name="Google Shape;380;p45"/>
          <p:cNvSpPr txBox="1"/>
          <p:nvPr/>
        </p:nvSpPr>
        <p:spPr>
          <a:xfrm>
            <a:off x="4826000" y="1333500"/>
            <a:ext cx="3746400" cy="2857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latin typeface="Poppins"/>
                <a:ea typeface="Poppins"/>
                <a:cs typeface="Poppins"/>
                <a:sym typeface="Poppins"/>
              </a:rPr>
              <a:t>Another operator can:</a:t>
            </a:r>
            <a:endParaRPr b="1"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Switch RPCs; rebuild views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Run workers; keep copies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Inspect admin powers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1000"/>
              </a:spcAft>
              <a:buNone/>
            </a:pPr>
            <a:r>
              <a:rPr lang="en" sz="2100">
                <a:solidFill>
                  <a:srgbClr val="212121"/>
                </a:solidFill>
                <a:latin typeface="Poppins"/>
                <a:ea typeface="Poppins"/>
                <a:cs typeface="Poppins"/>
                <a:sym typeface="Poppins"/>
              </a:rPr>
              <a:t>Use network recovery</a:t>
            </a:r>
            <a:endParaRPr sz="2100">
              <a:solidFill>
                <a:srgbClr val="212121"/>
              </a:solidFill>
              <a:latin typeface="Poppins"/>
              <a:ea typeface="Poppins"/>
              <a:cs typeface="Poppins"/>
              <a:sym typeface="Poppins"/>
            </a:endParaRPr>
          </a:p>
        </p:txBody>
      </p:sp>
      <p:sp>
        <p:nvSpPr>
          <p:cNvPr id="381" name="Google Shape;381;p45"/>
          <p:cNvSpPr txBox="1"/>
          <p:nvPr/>
        </p:nvSpPr>
        <p:spPr>
          <a:xfrm>
            <a:off x="571500" y="4330700"/>
            <a:ext cx="80010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Try it without your team. Improve one dependency.</a:t>
            </a:r>
            <a:endParaRPr sz="1800">
              <a:solidFill>
                <a:srgbClr val="06038D"/>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walk-away test in practice</a:t>
            </a:r>
            <a:endParaRPr b="1" sz="3000">
              <a:solidFill>
                <a:srgbClr val="06038D"/>
              </a:solidFill>
              <a:latin typeface="Poppins"/>
              <a:ea typeface="Poppins"/>
              <a:cs typeface="Poppins"/>
              <a:sym typeface="Poppins"/>
            </a:endParaRPr>
          </a:p>
        </p:txBody>
      </p:sp>
      <p:sp>
        <p:nvSpPr>
          <p:cNvPr id="387" name="Google Shape;387;p46"/>
          <p:cNvSpPr txBox="1"/>
          <p:nvPr/>
        </p:nvSpPr>
        <p:spPr>
          <a:xfrm>
            <a:off x="508000" y="1117600"/>
            <a:ext cx="81279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Find an existing note and open its attachment</a:t>
            </a:r>
            <a:endParaRPr sz="2100">
              <a:solidFill>
                <a:srgbClr val="212121"/>
              </a:solidFill>
              <a:latin typeface="Poppins"/>
              <a:ea typeface="Poppins"/>
              <a:cs typeface="Poppins"/>
              <a:sym typeface="Poppins"/>
            </a:endParaRPr>
          </a:p>
        </p:txBody>
      </p:sp>
      <p:sp>
        <p:nvSpPr>
          <p:cNvPr id="388" name="Google Shape;388;p46"/>
          <p:cNvSpPr/>
          <p:nvPr/>
        </p:nvSpPr>
        <p:spPr>
          <a:xfrm>
            <a:off x="508000" y="1765300"/>
            <a:ext cx="2412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900">
                <a:solidFill>
                  <a:srgbClr val="FFFFFF"/>
                </a:solidFill>
                <a:latin typeface="Poppins"/>
                <a:ea typeface="Poppins"/>
                <a:cs typeface="Poppins"/>
                <a:sym typeface="Poppins"/>
              </a:rPr>
              <a:t>1. Before</a:t>
            </a:r>
            <a:endParaRPr b="1" sz="1900">
              <a:solidFill>
                <a:srgbClr val="FFFFFF"/>
              </a:solidFill>
              <a:latin typeface="Poppins"/>
              <a:ea typeface="Poppins"/>
              <a:cs typeface="Poppins"/>
              <a:sym typeface="Poppins"/>
            </a:endParaRPr>
          </a:p>
        </p:txBody>
      </p:sp>
      <p:sp>
        <p:nvSpPr>
          <p:cNvPr id="389" name="Google Shape;389;p46"/>
          <p:cNvSpPr/>
          <p:nvPr/>
        </p:nvSpPr>
        <p:spPr>
          <a:xfrm>
            <a:off x="508000" y="2273300"/>
            <a:ext cx="2412900" cy="1130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Meeting at 10</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agenda.md</a:t>
            </a:r>
            <a:endParaRPr sz="1900">
              <a:solidFill>
                <a:srgbClr val="212121"/>
              </a:solidFill>
              <a:latin typeface="Poppins"/>
              <a:ea typeface="Poppins"/>
              <a:cs typeface="Poppins"/>
              <a:sym typeface="Poppins"/>
            </a:endParaRPr>
          </a:p>
        </p:txBody>
      </p:sp>
      <p:sp>
        <p:nvSpPr>
          <p:cNvPr id="390" name="Google Shape;390;p46"/>
          <p:cNvSpPr/>
          <p:nvPr/>
        </p:nvSpPr>
        <p:spPr>
          <a:xfrm>
            <a:off x="3365500" y="1765300"/>
            <a:ext cx="2412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900">
                <a:solidFill>
                  <a:srgbClr val="FFFFFF"/>
                </a:solidFill>
                <a:latin typeface="Poppins"/>
                <a:ea typeface="Poppins"/>
                <a:cs typeface="Poppins"/>
                <a:sym typeface="Poppins"/>
              </a:rPr>
              <a:t>2. Index offline</a:t>
            </a:r>
            <a:endParaRPr b="1" sz="1900">
              <a:solidFill>
                <a:srgbClr val="FFFFFF"/>
              </a:solidFill>
              <a:latin typeface="Poppins"/>
              <a:ea typeface="Poppins"/>
              <a:cs typeface="Poppins"/>
              <a:sym typeface="Poppins"/>
            </a:endParaRPr>
          </a:p>
        </p:txBody>
      </p:sp>
      <p:sp>
        <p:nvSpPr>
          <p:cNvPr id="391" name="Google Shape;391;p46"/>
          <p:cNvSpPr/>
          <p:nvPr/>
        </p:nvSpPr>
        <p:spPr>
          <a:xfrm>
            <a:off x="3365500" y="2273300"/>
            <a:ext cx="2412900" cy="1130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Cannot load list</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Index unavailable</a:t>
            </a:r>
            <a:endParaRPr sz="1900">
              <a:solidFill>
                <a:srgbClr val="212121"/>
              </a:solidFill>
              <a:latin typeface="Poppins"/>
              <a:ea typeface="Poppins"/>
              <a:cs typeface="Poppins"/>
              <a:sym typeface="Poppins"/>
            </a:endParaRPr>
          </a:p>
        </p:txBody>
      </p:sp>
      <p:sp>
        <p:nvSpPr>
          <p:cNvPr id="392" name="Google Shape;392;p46"/>
          <p:cNvSpPr/>
          <p:nvPr/>
        </p:nvSpPr>
        <p:spPr>
          <a:xfrm>
            <a:off x="6223000" y="1765300"/>
            <a:ext cx="2412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900">
                <a:solidFill>
                  <a:srgbClr val="FFFFFF"/>
                </a:solidFill>
                <a:latin typeface="Poppins"/>
                <a:ea typeface="Poppins"/>
                <a:cs typeface="Poppins"/>
                <a:sym typeface="Poppins"/>
              </a:rPr>
              <a:t>3. After repair</a:t>
            </a:r>
            <a:endParaRPr b="1" sz="1900">
              <a:solidFill>
                <a:srgbClr val="FFFFFF"/>
              </a:solidFill>
              <a:latin typeface="Poppins"/>
              <a:ea typeface="Poppins"/>
              <a:cs typeface="Poppins"/>
              <a:sym typeface="Poppins"/>
            </a:endParaRPr>
          </a:p>
        </p:txBody>
      </p:sp>
      <p:sp>
        <p:nvSpPr>
          <p:cNvPr id="393" name="Google Shape;393;p46"/>
          <p:cNvSpPr/>
          <p:nvPr/>
        </p:nvSpPr>
        <p:spPr>
          <a:xfrm>
            <a:off x="6223000" y="2273300"/>
            <a:ext cx="2412900" cy="1130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Meeting at 10</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agenda.md</a:t>
            </a:r>
            <a:endParaRPr sz="1900">
              <a:solidFill>
                <a:srgbClr val="212121"/>
              </a:solidFill>
              <a:latin typeface="Poppins"/>
              <a:ea typeface="Poppins"/>
              <a:cs typeface="Poppins"/>
              <a:sym typeface="Poppins"/>
            </a:endParaRPr>
          </a:p>
        </p:txBody>
      </p:sp>
      <p:sp>
        <p:nvSpPr>
          <p:cNvPr id="394" name="Google Shape;394;p46"/>
          <p:cNvSpPr/>
          <p:nvPr/>
        </p:nvSpPr>
        <p:spPr>
          <a:xfrm>
            <a:off x="508000" y="3657600"/>
            <a:ext cx="8127900" cy="5079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Repair: publish the index recipe and allow endpoint switching</a:t>
            </a:r>
            <a:endParaRPr sz="1800">
              <a:solidFill>
                <a:srgbClr val="212121"/>
              </a:solidFill>
              <a:latin typeface="Poppins"/>
              <a:ea typeface="Poppins"/>
              <a:cs typeface="Poppins"/>
              <a:sym typeface="Poppins"/>
            </a:endParaRPr>
          </a:p>
        </p:txBody>
      </p:sp>
      <p:sp>
        <p:nvSpPr>
          <p:cNvPr id="395" name="Google Shape;395;p46"/>
          <p:cNvSpPr txBox="1"/>
          <p:nvPr/>
        </p:nvSpPr>
        <p:spPr>
          <a:xfrm>
            <a:off x="508000" y="4165600"/>
            <a:ext cx="8127900" cy="406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06038D"/>
                </a:solidFill>
                <a:latin typeface="Poppins"/>
                <a:ea typeface="Poppins"/>
                <a:cs typeface="Poppins"/>
                <a:sym typeface="Poppins"/>
              </a:rPr>
              <a:t>Rebuild from retained records. Retry and open the attachment.</a:t>
            </a:r>
            <a:endParaRPr sz="1800">
              <a:solidFill>
                <a:srgbClr val="06038D"/>
              </a:solidFill>
              <a:latin typeface="Poppins"/>
              <a:ea typeface="Poppins"/>
              <a:cs typeface="Poppins"/>
              <a:sym typeface="Poppins"/>
            </a:endParaRPr>
          </a:p>
        </p:txBody>
      </p:sp>
      <p:sp>
        <p:nvSpPr>
          <p:cNvPr id="396" name="Google Shape;396;p46"/>
          <p:cNvSpPr txBox="1"/>
          <p:nvPr/>
        </p:nvSpPr>
        <p:spPr>
          <a:xfrm>
            <a:off x="508000" y="4559300"/>
            <a:ext cx="8127900" cy="228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300">
                <a:solidFill>
                  <a:srgbClr val="06038D"/>
                </a:solidFill>
                <a:latin typeface="Poppins"/>
                <a:ea typeface="Poppins"/>
                <a:cs typeface="Poppins"/>
                <a:sym typeface="Poppins"/>
              </a:rPr>
              <a:t>Illustrative test, not a recorded outage</a:t>
            </a:r>
            <a:endParaRPr sz="1300">
              <a:solidFill>
                <a:srgbClr val="06038D"/>
              </a:solidFill>
              <a:latin typeface="Poppins"/>
              <a:ea typeface="Poppins"/>
              <a:cs typeface="Poppins"/>
              <a:sym typeface="Poppins"/>
            </a:endParaRPr>
          </a:p>
        </p:txBody>
      </p:sp>
      <p:cxnSp>
        <p:nvCxnSpPr>
          <p:cNvPr id="397" name="Google Shape;397;p46"/>
          <p:cNvCxnSpPr/>
          <p:nvPr/>
        </p:nvCxnSpPr>
        <p:spPr>
          <a:xfrm>
            <a:off x="2946400" y="2819400"/>
            <a:ext cx="381000" cy="0"/>
          </a:xfrm>
          <a:prstGeom prst="straightConnector1">
            <a:avLst/>
          </a:prstGeom>
          <a:noFill/>
          <a:ln cap="flat" cmpd="sng" w="16500">
            <a:solidFill>
              <a:srgbClr val="06038D"/>
            </a:solidFill>
            <a:prstDash val="solid"/>
            <a:round/>
            <a:headEnd len="med" w="med" type="none"/>
            <a:tailEnd len="med" w="med" type="triangle"/>
          </a:ln>
        </p:spPr>
      </p:cxnSp>
      <p:cxnSp>
        <p:nvCxnSpPr>
          <p:cNvPr id="398" name="Google Shape;398;p46"/>
          <p:cNvCxnSpPr/>
          <p:nvPr/>
        </p:nvCxnSpPr>
        <p:spPr>
          <a:xfrm>
            <a:off x="5803900" y="2819400"/>
            <a:ext cx="381000" cy="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7"/>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8"/>
          <p:cNvSpPr txBox="1"/>
          <p:nvPr>
            <p:ph type="title"/>
          </p:nvPr>
        </p:nvSpPr>
        <p:spPr>
          <a:xfrm>
            <a:off x="457200" y="304800"/>
            <a:ext cx="8229600" cy="1074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409" name="Google Shape;409;p48"/>
          <p:cNvSpPr txBox="1"/>
          <p:nvPr/>
        </p:nvSpPr>
        <p:spPr>
          <a:xfrm>
            <a:off x="1397000" y="3340100"/>
            <a:ext cx="6350100" cy="1498500"/>
          </a:xfrm>
          <a:prstGeom prst="rect">
            <a:avLst/>
          </a:prstGeom>
          <a:no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 sz="2000">
                <a:solidFill>
                  <a:schemeClr val="lt1"/>
                </a:solidFill>
                <a:latin typeface="Roboto Condensed"/>
                <a:ea typeface="Roboto Condensed"/>
                <a:cs typeface="Roboto Condensed"/>
                <a:sym typeface="Roboto Condensed"/>
              </a:rPr>
              <a:t>James Carnley</a:t>
            </a:r>
            <a:endParaRPr b="1" sz="2000">
              <a:solidFill>
                <a:schemeClr val="lt1"/>
              </a:solidFill>
              <a:latin typeface="Roboto Condensed"/>
              <a:ea typeface="Roboto Condensed"/>
              <a:cs typeface="Roboto Condensed"/>
              <a:sym typeface="Roboto Condensed"/>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Ethereum File System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u="sng">
                <a:solidFill>
                  <a:schemeClr val="lt1"/>
                </a:solidFill>
                <a:latin typeface="Roboto"/>
                <a:ea typeface="Roboto"/>
                <a:cs typeface="Roboto"/>
                <a:sym typeface="Roboto"/>
                <a:hlinkClick r:id="rId3">
                  <a:extLst>
                    <a:ext uri="{A12FA001-AC4F-418D-AE19-62706E023703}">
                      <ahyp:hlinkClr val="tx"/>
                    </a:ext>
                  </a:extLst>
                </a:hlinkClick>
              </a:rPr>
              <a:t>efs.eth.limo</a:t>
            </a:r>
            <a:endParaRPr sz="1700" u="sng">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JamesCarnley@gmail.com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t/>
            </a:r>
            <a:endParaRPr sz="1300">
              <a:solidFill>
                <a:schemeClr val="lt1"/>
              </a:solidFill>
              <a:latin typeface="Libre Franklin"/>
              <a:ea typeface="Libre Franklin"/>
              <a:cs typeface="Libre Franklin"/>
              <a:sym typeface="Libre Franklin"/>
            </a:endParaRPr>
          </a:p>
        </p:txBody>
      </p:sp>
      <p:sp>
        <p:nvSpPr>
          <p:cNvPr id="410" name="Google Shape;410;p48"/>
          <p:cNvSpPr txBox="1"/>
          <p:nvPr/>
        </p:nvSpPr>
        <p:spPr>
          <a:xfrm>
            <a:off x="1206500" y="1778000"/>
            <a:ext cx="6731100" cy="12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05068D"/>
                </a:solidFill>
                <a:latin typeface="Poppins"/>
                <a:ea typeface="Poppins"/>
                <a:cs typeface="Poppins"/>
                <a:sym typeface="Poppins"/>
              </a:rPr>
              <a:t>Let’s build reliable and long-lasting apps together</a:t>
            </a:r>
            <a:endParaRPr b="1" sz="2200">
              <a:solidFill>
                <a:srgbClr val="05068D"/>
              </a:solidFill>
              <a:latin typeface="Poppins"/>
              <a:ea typeface="Poppins"/>
              <a:cs typeface="Poppins"/>
              <a:sym typeface="Poppins"/>
            </a:endParaRPr>
          </a:p>
          <a:p>
            <a:pPr indent="0" lvl="0" marL="0" rtl="0" algn="ctr">
              <a:spcBef>
                <a:spcPts val="0"/>
              </a:spcBef>
              <a:spcAft>
                <a:spcPts val="0"/>
              </a:spcAft>
              <a:buNone/>
            </a:pPr>
            <a:r>
              <a:t/>
            </a:r>
            <a:endParaRPr b="1" sz="2200">
              <a:solidFill>
                <a:srgbClr val="05068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