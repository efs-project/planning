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Lst>
  <p:sldSz cy="5143500" cx="9144000"/>
  <p:notesSz cx="6858000" cy="9144000"/>
  <p:embeddedFontLst>
    <p:embeddedFont>
      <p:font typeface="Roboto Thin"/>
      <p:regular r:id="rId33"/>
      <p:bold r:id="rId34"/>
      <p:italic r:id="rId35"/>
      <p:boldItalic r:id="rId36"/>
    </p:embeddedFont>
    <p:embeddedFont>
      <p:font typeface="Roboto Condensed ExtraBold"/>
      <p:bold r:id="rId37"/>
      <p:boldItalic r:id="rId38"/>
    </p:embeddedFont>
    <p:embeddedFont>
      <p:font typeface="Libre Franklin"/>
      <p:regular r:id="rId39"/>
      <p:bold r:id="rId40"/>
      <p:italic r:id="rId41"/>
      <p:boldItalic r:id="rId42"/>
    </p:embeddedFont>
    <p:embeddedFont>
      <p:font typeface="Poppins"/>
      <p:regular r:id="rId43"/>
      <p:bold r:id="rId44"/>
      <p:italic r:id="rId45"/>
      <p:boldItalic r:id="rId46"/>
    </p:embeddedFont>
    <p:embeddedFont>
      <p:font typeface="Poppins ExtraBold"/>
      <p:bold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LibreFranklin-bold.fntdata"/><Relationship Id="rId20" Type="http://schemas.openxmlformats.org/officeDocument/2006/relationships/slide" Target="slides/slide15.xml"/><Relationship Id="rId42" Type="http://schemas.openxmlformats.org/officeDocument/2006/relationships/font" Target="fonts/LibreFranklin-boldItalic.fntdata"/><Relationship Id="rId41" Type="http://schemas.openxmlformats.org/officeDocument/2006/relationships/font" Target="fonts/LibreFranklin-italic.fntdata"/><Relationship Id="rId22" Type="http://schemas.openxmlformats.org/officeDocument/2006/relationships/slide" Target="slides/slide17.xml"/><Relationship Id="rId44" Type="http://schemas.openxmlformats.org/officeDocument/2006/relationships/font" Target="fonts/Poppins-bold.fntdata"/><Relationship Id="rId21" Type="http://schemas.openxmlformats.org/officeDocument/2006/relationships/slide" Target="slides/slide16.xml"/><Relationship Id="rId43" Type="http://schemas.openxmlformats.org/officeDocument/2006/relationships/font" Target="fonts/Poppins-regular.fntdata"/><Relationship Id="rId24" Type="http://schemas.openxmlformats.org/officeDocument/2006/relationships/slide" Target="slides/slide19.xml"/><Relationship Id="rId46" Type="http://schemas.openxmlformats.org/officeDocument/2006/relationships/font" Target="fonts/Poppins-boldItalic.fntdata"/><Relationship Id="rId23" Type="http://schemas.openxmlformats.org/officeDocument/2006/relationships/slide" Target="slides/slide18.xml"/><Relationship Id="rId45" Type="http://schemas.openxmlformats.org/officeDocument/2006/relationships/font" Target="fonts/Poppi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48" Type="http://schemas.openxmlformats.org/officeDocument/2006/relationships/font" Target="fonts/PoppinsExtraBold-boldItalic.fntdata"/><Relationship Id="rId25" Type="http://schemas.openxmlformats.org/officeDocument/2006/relationships/slide" Target="slides/slide20.xml"/><Relationship Id="rId47" Type="http://schemas.openxmlformats.org/officeDocument/2006/relationships/font" Target="fonts/PoppinsExtraBold-bold.fntdata"/><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RobotoThin-regular.fntdata"/><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RobotoThin-italic.fntdata"/><Relationship Id="rId12" Type="http://schemas.openxmlformats.org/officeDocument/2006/relationships/slide" Target="slides/slide7.xml"/><Relationship Id="rId34" Type="http://schemas.openxmlformats.org/officeDocument/2006/relationships/font" Target="fonts/RobotoThin-bold.fntdata"/><Relationship Id="rId15" Type="http://schemas.openxmlformats.org/officeDocument/2006/relationships/slide" Target="slides/slide10.xml"/><Relationship Id="rId37" Type="http://schemas.openxmlformats.org/officeDocument/2006/relationships/font" Target="fonts/RobotoCondensedExtraBold-bold.fntdata"/><Relationship Id="rId14" Type="http://schemas.openxmlformats.org/officeDocument/2006/relationships/slide" Target="slides/slide9.xml"/><Relationship Id="rId36" Type="http://schemas.openxmlformats.org/officeDocument/2006/relationships/font" Target="fonts/RobotoThin-boldItalic.fntdata"/><Relationship Id="rId17" Type="http://schemas.openxmlformats.org/officeDocument/2006/relationships/slide" Target="slides/slide12.xml"/><Relationship Id="rId39" Type="http://schemas.openxmlformats.org/officeDocument/2006/relationships/font" Target="fonts/LibreFranklin-regular.fntdata"/><Relationship Id="rId16" Type="http://schemas.openxmlformats.org/officeDocument/2006/relationships/slide" Target="slides/slide11.xml"/><Relationship Id="rId38" Type="http://schemas.openxmlformats.org/officeDocument/2006/relationships/font" Target="fonts/RobotoCondensedExtraBold-boldItalic.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 name="Shape 77"/>
        <p:cNvGrpSpPr/>
        <p:nvPr/>
      </p:nvGrpSpPr>
      <p:grpSpPr>
        <a:xfrm>
          <a:off x="0" y="0"/>
          <a:ext cx="0" cy="0"/>
          <a:chOff x="0" y="0"/>
          <a:chExt cx="0" cy="0"/>
        </a:xfrm>
      </p:grpSpPr>
      <p:sp>
        <p:nvSpPr>
          <p:cNvPr id="78" name="Google Shape;78;efs_rehearsal_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9" name="Google Shape;79;efs_rehearsal_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0:00-0:15 (15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 James Carnley. I build Ethereum File System. I want the things people build with my software to have a future that doesn't depend on me being there. This is a talk about what it takes to make that possible.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efs_rehearsal_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efs_rehearsal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0:15-0:50 (35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Imagine a community building an archive over years. Someone returns because they need a file they put there. The person who built the app has died, burned out, or stopped answering. This is an imagined user, not an EFS customer story. The work still matters to them. If I disappear, I don't want their work to disappear with me. Now imagine I'm still here, but somebody else has my keys. What happens to their work then?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efs_rehearsal_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efs_rehearsal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0:50-1:15 (25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Those are the two tests we'll keep using. Absence asks whether someone can continue without us. Hostile control asks whether they can refuse someone acting as us. Redundancy helps with an outage. It can still leave one person able to redirect every alternative. We'll follow one task through the stack and ask both questions.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efs_rehearsal_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efs_rehearsal_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1:15-2:30 (75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 built Ethereum File System because I want public infrastructure where the maintainer is optional. EFS gives files shared paths and onchain records describing their provenance and references. The bytes can live on different storage networks. A file reference connects what you want with what you retrieve. That separation gives us a useful task to follow: find one file, retrieve it, and check it against an accepted public reference. The public web client uses ENS and IPFS. The example for this talk uses Sepolia. My design goal is stable rules and users who can carry on without me. We'll inspect the actual powers and dependencies of any deployment we demonstrate. Onchain records help preserve shared facts, while storage still needs people retaining the bytes. This is also a way to think about your app, even if it never uses EFS.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efs_rehearsal_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efs_rehearsal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2:30-3:15 (45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Uniswap gives us a familiar example. Labs explicitly distinguishes its interfaces from the protocol and describes restrictions it applies through those interfaces. That shows why a contract staying available and a user's normal workflow staying available are different achievements. This is a comparison of layers, not a judgment about the team or every related contract. For our archive user, the question is whether another entrance actually lets them finish the same task. A different URL is only useful if it reaches the right rules and data safely.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https://support.uniswap.org/hc/en-us/articles/18783694078989-Unsupported-Token-Policy</a:t>
            </a:r>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efs_rehearsal_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efs_rehearsal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3:15-4:15 (60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user needs to open the app they trusted. That means retaining the runnable release, as well as source, dependency versions and build instructions. Try it on a fresh device, without the founder's caches. Check the browser and operating system assumptions too. In the December 2023 Ledger Connect Kit incident, compromised package distribution supplied malicious code to integrating apps at runtime. Those apps' own repositories did not need to change. Your release boundary includes code loaded later. Retaining reviewed dependencies and making updates deliberate reduces that moving target. It also leaves you responsible for security updates and compatibility. Running an old release and rebuilding it from source are different checks. Neither proves the code is safe on a compromised device.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efs_rehearsal_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efs_rehearsal_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4:15-5:15 (60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public EFS client uses ENS and IPFS. ENS helps someone find content, and the familiar eth.limo address lets a conventional browser reach it through a gateway. There are still servers in that access path, even without my own web server. Inspect the name's controller, resolver and renewal requirements. A mutable name is convenient because it can point to a new release. That same authority can redirect users. Keep an accepted release reference and test a route that doesn't depend on the original gateway. Then ask how a newcomer discovers which reference to trust after the name changes. Pinning bytes helps preserve an app. It doesn't automatically preserve discovery, security updates or the behavior of its contracts.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efs_rehearsal_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efs_rehearsal_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5:15-6:15 (60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the archive user needs to find the records and reach the bytes. Two gateways can serve the same retained copy. If that copy is gone, changing gateways won't create another one. IPFS addressing and retention solve different parts of the problem. An RPC supplies state, while an index helps discover it. Graph Node is a useful outside example: rebuilding an index needs definitions, storage and suitable chain history, sometimes archive or trace capabilities. Open code alone isn't the recovery plan. Test a query on a replacement setup. Record its chain basis and check freshness and completeness for the task. Comparing providers can expose a discrepancy, but agreement isn't independent validation. Rebuilding has real costs in storage, bandwidth and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efs_rehearsal_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efs_rehearsal_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6:15-7:15 (60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our public file, reading can be much easier than publishing a new record. A private archive adds another requirement: the authorized user must still have a way to decrypt it. Available ciphertext can become useless when the only key service or device disappears. A wallet, login service, guardian or recovery module can also stop someone from acting. Test device and provider loss separately from file retrieval. Recovery helps availability, but extra recovery parties can gain takeover power or access to private data. Keep the recovery material appropriate to the user and rehearse with test accounts, never real funds. EFS file references don't by themselves solve private-key recovery. Success at reading one public file tells us nothing about every write path.</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efs_rehearsal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efs_rehearsal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7:15-8:20 (65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inspect authority. Start with the actual deployed contracts, not the label in a README. Follow proxies, implementation addresses, pause roles, configuration powers and dependencies. Include the account that calls them. Safe modules illustrate why a multisig threshold is only part of the permission model: enabled modules can execute through their own logic. That can support recovery and automation, and also introduce another path to control. Limiting powers makes the promise clearer. Immutability can give users stable rules after I leave, but it also means I can't repair a bug in place. Make any migration or upgrade consent explicit. An old frontend can't undo a change to shared contract behavior. The useful question is what a user can preserve or refuse.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efs_rehearsal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efs_rehearsal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8:20-9:00 (40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healthy chain doesn't guarantee the rest of the work happens. A keeper, prover, relayer or paymaster may be essential. Can another operator get the inputs, do the work and submit it? Does the user have funds when a subsidy ends? Inputs need suitable freshness too. Chainlink documents timestamp checks for feeds. A successful call can return an input that's too old for the operation. Define a safe degraded mode. Sometimes keeping reads available and pausing sensitive writes protects users better than switching to an unreviewed fallback.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https://docs.chain.link/data-feeds</a:t>
            </a:r>
            <a:endParaRPr/>
          </a:p>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efs_rehearsal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efs_rehearsal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9:00-10:20 (80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EFS task ultimately inherits the network and blockchain underneath its records. An execution client checks computation. A consensus client helps follow the accepted chain. Peers and validators still have to exist, and a transaction still needs inclusion and finality. Running a node can replace an RPC vendor. It still needs connectivity, resources and a functioning network. Check the history your recovery task needs. A testnet example also depends on the testnet's lifetime. Internet routing, cloud accounts and bootstrapping can make apparently separate paths fail together. Trace the operator and the funding, not just the URLs. For apps that require proofs, the recent ISA discussion adds a long-term question: can another operator still perform the computation when tooling changes? That's exploratory research, not an activated Ethereum feature or an EFS mechanism. More decentralization changes the dependency choices. It doesn't remove physics, upkeep or every network assumption.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https://ethresear.ch/t/exposing-an-isa-for-post-quantum-proofs-on-ethereum/26136</a:t>
            </a:r>
            <a:endParaRPr/>
          </a:p>
          <a:p>
            <a:pPr indent="0" lvl="0" marL="0" rtl="0" algn="l">
              <a:spcBef>
                <a:spcPts val="0"/>
              </a:spcBef>
              <a:spcAft>
                <a:spcPts val="0"/>
              </a:spcAft>
              <a:buNone/>
            </a:pPr>
            <a:r>
              <a:rPr lang="en"/>
              <a:t>https://eips.ethereum.org/EIPS/eip-8288</a:t>
            </a:r>
            <a:endParaRPr/>
          </a:p>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efs_rehearsal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efs_rehearsal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10:20-11:30 (70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your app is on an L2, keep following the dependencies. Ask about its sequencer, available data, settlement, bridge and upgrade powers. OP Stack documents a way to submit through L1 when its sequencer is unavailable. That is a useful recovery mechanism. It also has conditions, including timing and account behavior. Test the chosen chain's actual route with the account your user has. Retain the inputs and enough funds for L1 fees. Forced inclusion and withdrawing an asset are separate questions. Other L2s can have different mechanisms. The point is to turn 'there is an escape hatch' into a task an ordinary user can actually finish. A mechanism that needs a specialist, a missing index or an unaffordable fee may not meet your recovery goal.</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efs_rehearsal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efs_rehearsal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11:30-12:10 (40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the planned demonstration sequence. I haven't rerun and recorded it for this talk yet. We start with one known file and an accepted public reference. The expected value must come from something we already trust, rather than just the endpoint serving the file. We identify the chain basis, records and remaining RPC and gateway inputs. The archived proof package contains the original fixture and verifier. For this rehearsal, I'm describing the checks, not showing a fresh deployment result.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efs_rehearsal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efs_rehearsal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12:10-13:30 (80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First we retrieve the file through IPFS and compare its bytes with the accepted reference. The planned result is a match. Then we make that selected retrieval path unavailable and use Arweave for the same file. We use the same expected reference. That would establish a replacement route for this artifact, rather than trusting a new server's assertion that it returned the right file. It would not simulate every IPFS provider disappearing. It would not establish that the RPC view is independently validated. Someone must retain a usable copy on the second carrier. During this rehearsal, reserve the full eighty seconds for these two steps. A quick explanation doesn't establish the final recording's timing.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efs_rehearsal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efs_rehearsal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13:30-15:00 (90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Next we deliberately change a local copy. That's an injected test, not a real network incident. The planned verifier outcome is INVALID because those bytes fail the expected check. Separately, we simulate no usable response from the selected source. That outcome is UNAVAILABLE. Missing evidence isn't evidence that the bytes are corrupt or gone everywhere. Finally we state exactly what the completed demonstration would show: recovering one artifact through another carrier and checking it against the accepted records. It would not prove every app operation survives, or that no one needs to keep the data. Before the stage version, this needs recorded outputs, an offline video and a second-machine run. For practice, use the rest of this ninety-second slot to explain the distinction without rushing.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efs_rehearsal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efs_rehearsal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15:00-16:30 (90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Now change the threat. The attacker has a key that the system recognizes. They publish a different app or point the record at new bytes. The new bytes can have a perfectly valid hash. A content check tells us that bytes match a reference. It can't decide whether we wanted that authorized change. Keep the release or reference the user accepted, make changes visible, and give them a meaningful way to refuse. That helps only if the old release's required state and contracts still support the task. If the attacker upgrades the shared contract, keeping an old frontend doesn't restore its old rules. This is a threat illustration, separate from the file retrieval demonstration. The actual deployment needs its own authority inventory and takeover tests. Absence asks who will keep the path alive. Hostile control asks who can change the path underneath the user.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efs_rehearsal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 name="Google Shape;188;efs_rehearsal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16:30-17:45 (75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You don't need a new scoring system or EFS to do this. Pick one essential task in your own app. Start with the harm if someone loses it. Trace the code, data, keys, services and chain assumptions needed to finish it. Remove your team's services, accounts and help. Give a fresh person the public instructions and see whether they can finish. Then repeat with the team's authority in hostile hands. What can the user refuse, retain or move? Write down what worked, what failed, the time and resources, and the remaining trust. This can be a paragraph in your existing README or an issue. Choose the smallest improvement that protects the task, then retest it. A read-only gateway can be a reasonable convenience if replacement works. The only decryption key is a very different dependency.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efs_rehearsal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efs_rehearsal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17:45-18:30 (45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Git bundles give a familiar positive example: a self-contained bundle can carry Git objects and references into a new repository. It doesn't include every hosted platform feature. That's the right question for an app export too. Can someone reopen the work and continue the task elsewhere, with its relationships and keys? Someone still has to keep copies, run nodes and maintain tools. Two providers paid by the same account can disappear together. Decide which costs and assumptions your users can accept. Test recovery time and who can afford it. A path that only I know how to use still depends on 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https://git-scm.com/docs/git-bundle</a:t>
            </a:r>
            <a:endParaRPr/>
          </a:p>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efs_rehearsal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efs_rehearsal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Planned 18:30-19:00 (30 seconds). Timing not measured.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Someone still has to do the work. The question is whether it has to be you, and whether users need your permission to carry on. Pick one thing your users should never lose because you stopped answering. Try it without your team. Then try it with your team's keys in the wrong hands. I want people to build things with EFS that outlive me. Whatever you're building, your users deserve that chance too.</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efs_rehearsal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efs_rehearsal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Q&amp;A begins here. Website: https://efs.eth.limo/</a:t>
            </a:r>
            <a:endParaRPr/>
          </a:p>
          <a:p>
            <a:pPr indent="0" lvl="0" marL="0" rtl="0" algn="l">
              <a:spcBef>
                <a:spcPts val="0"/>
              </a:spcBef>
              <a:spcAft>
                <a:spcPts val="0"/>
              </a:spcAft>
              <a:buNone/>
            </a:pPr>
            <a:r>
              <a:rPr lang="en"/>
              <a:t>App: https://app.efs.eth.limo/</a:t>
            </a:r>
            <a:endParaRPr/>
          </a:p>
          <a:p>
            <a:pPr indent="0" lvl="0" marL="0" rtl="0" algn="l">
              <a:spcBef>
                <a:spcPts val="0"/>
              </a:spcBef>
              <a:spcAft>
                <a:spcPts val="0"/>
              </a:spcAft>
              <a:buNone/>
            </a:pPr>
            <a:r>
              <a:rPr lang="en"/>
              <a:t>Overview video: https://youtu.be/gZl711IriSM</a:t>
            </a:r>
            <a:endParaRPr/>
          </a:p>
          <a:p>
            <a:pPr indent="0" lvl="0" marL="0" rtl="0" algn="l">
              <a:spcBef>
                <a:spcPts val="0"/>
              </a:spcBef>
              <a:spcAft>
                <a:spcPts val="0"/>
              </a:spcAft>
              <a:buNone/>
            </a:pPr>
            <a:r>
              <a:rPr lang="en"/>
              <a:t>The source bank and full layer inventory are retained in the planning repository. This deck is a rehearsal draft, with planned demo checks rather than a fresh recorded demonstration.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https://efs.eth.limo/</a:t>
            </a:r>
            <a:endParaRPr/>
          </a:p>
          <a:p>
            <a:pPr indent="0" lvl="0" marL="0" rtl="0" algn="l">
              <a:spcBef>
                <a:spcPts val="0"/>
              </a:spcBef>
              <a:spcAft>
                <a:spcPts val="0"/>
              </a:spcAft>
              <a:buNone/>
            </a:pPr>
            <a:r>
              <a:rPr lang="en"/>
              <a:t>https://app.efs.eth.limo/</a:t>
            </a:r>
            <a:endParaRPr/>
          </a:p>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efs_rehearsal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efs_rehearsal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Reserve material. Each line needs a job, recognizable failure, improvement and cost. Retain a runnable release and test it without founder caches. Trace the name and runtime dependencies. Rebuild a meaningful index from sufficient history. An honest incomplete result is preferable to a confident partial view.</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https://www.ledger.com/blog/security-incident-report</a:t>
            </a:r>
            <a:endParaRPr/>
          </a:p>
          <a:p>
            <a:pPr indent="0" lvl="0" marL="0" rtl="0" algn="l">
              <a:spcBef>
                <a:spcPts val="0"/>
              </a:spcBef>
              <a:spcAft>
                <a:spcPts val="0"/>
              </a:spcAft>
              <a:buNone/>
            </a:pPr>
            <a:r>
              <a:rPr lang="en"/>
              <a:t>https://docs.ens.domains/dweb/intro/</a:t>
            </a:r>
            <a:endParaRPr/>
          </a:p>
          <a:p>
            <a:pPr indent="0" lvl="0" marL="0" rtl="0" algn="l">
              <a:spcBef>
                <a:spcPts val="0"/>
              </a:spcBef>
              <a:spcAft>
                <a:spcPts val="0"/>
              </a:spcAft>
              <a:buNone/>
            </a:pPr>
            <a:r>
              <a:rPr lang="en"/>
              <a:t>https://docs.ipfs.tech/concepts/persistence/</a:t>
            </a:r>
            <a:endParaRPr/>
          </a:p>
          <a:p>
            <a:pPr indent="0" lvl="0" marL="0" rtl="0" algn="l">
              <a:spcBef>
                <a:spcPts val="0"/>
              </a:spcBef>
              <a:spcAft>
                <a:spcPts val="0"/>
              </a:spcAft>
              <a:buNone/>
            </a:pPr>
            <a:r>
              <a:rPr lang="en"/>
              <a:t>https://thegraph.com/docs/en/indexing/tooling/graph-node/</a:t>
            </a:r>
            <a:endParaRPr/>
          </a:p>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efs_rehearsal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efs_rehearsal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Reserve material. Separate reading from signing and decryption. Follow authority beyond the visible owner list. Test replacement computation and a safe degraded mode. These are inspection questions, not claims that EFS implements every defense.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https://docs.safe.global/advanced/smart-account-modules</a:t>
            </a:r>
            <a:endParaRPr/>
          </a:p>
          <a:p>
            <a:pPr indent="0" lvl="0" marL="0" rtl="0" algn="l">
              <a:spcBef>
                <a:spcPts val="0"/>
              </a:spcBef>
              <a:spcAft>
                <a:spcPts val="0"/>
              </a:spcAft>
              <a:buNone/>
            </a:pPr>
            <a:r>
              <a:rPr lang="en"/>
              <a:t>https://docs.chain.link/data-feeds</a:t>
            </a:r>
            <a:endParaRPr/>
          </a:p>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efs_rehearsal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efs_rehearsal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Reserve material. A node replaces a vendor, not the entire network. Forced inclusion and withdrawal need separate evaluation. Preserve interpretation and useful operations in an export. Check the user's affordable recovery time and data loss.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https://ethereum.org/developers/docs/nodes-and-clients/</a:t>
            </a:r>
            <a:endParaRPr/>
          </a:p>
          <a:p>
            <a:pPr indent="0" lvl="0" marL="0" rtl="0" algn="l">
              <a:spcBef>
                <a:spcPts val="0"/>
              </a:spcBef>
              <a:spcAft>
                <a:spcPts val="0"/>
              </a:spcAft>
              <a:buNone/>
            </a:pPr>
            <a:r>
              <a:rPr lang="en"/>
              <a:t>https://docs.optimism.io/op-stack/protocol/outages</a:t>
            </a:r>
            <a:endParaRPr/>
          </a:p>
          <a:p>
            <a:pPr indent="0" lvl="0" marL="0" rtl="0" algn="l">
              <a:spcBef>
                <a:spcPts val="0"/>
              </a:spcBef>
              <a:spcAft>
                <a:spcPts val="0"/>
              </a:spcAft>
              <a:buNone/>
            </a:pPr>
            <a:r>
              <a:rPr lang="en"/>
              <a:t>https://git-scm.com/docs/git-bundle</a:t>
            </a:r>
            <a:endParaRPr/>
          </a:p>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efs_rehearsal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efs_rehearsal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Reserve Q&amp;A. The ethresear.ch post describes the risk of an immutable privacy pool pinning a proof-system verification key permanently. It proposes identifying a program and versioned interpretation instead. Maintained compatible provers remain necessary. This is exploratory research and a Draft EIP, not an activated feature or an EFS file-verifier dependency. In the main talk, keep only the operator and compatibility question.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https://ethresear.ch/t/exposing-an-isa-for-post-quantum-proofs-on-ethereum/26136</a:t>
            </a:r>
            <a:endParaRPr/>
          </a:p>
          <a:p>
            <a:pPr indent="0" lvl="0" marL="0" rtl="0" algn="l">
              <a:spcBef>
                <a:spcPts val="0"/>
              </a:spcBef>
              <a:spcAft>
                <a:spcPts val="0"/>
              </a:spcAft>
              <a:buNone/>
            </a:pPr>
            <a:r>
              <a:rPr lang="en"/>
              <a:t>https://eips.ethereum.org/EIPS/eip-8288</a:t>
            </a:r>
            <a:endParaRPr/>
          </a:p>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efs_rehearsal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efs_rehearsal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Reserve Q&amp;A. Exact source commit: e86e6e77fcb5cda31374e07c5f582b502455ba80. Proof artifact: efs-sepolia-deployment-reference-v0.tar.gz. Expected SHA-256: 9c5bbda410deea8714a37b5ab82d3e22982cee79d1d1320cd43a91d562f34d39. This draft uses the documented historical fixture. Source inspection is not a fresh run. Needed before delivery: retained runtime/dependency versions, chain and block basis, inputs, outputs, remaining operators, video, failure fixtures and second-machine reproduction. Immutability is a design goal. Inspect the exact deployed authority graph before making a deployment claim.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Sources:</a:t>
            </a:r>
            <a:endParaRPr/>
          </a:p>
          <a:p>
            <a:pPr indent="0" lvl="0" marL="0" rtl="0" algn="l">
              <a:spcBef>
                <a:spcPts val="0"/>
              </a:spcBef>
              <a:spcAft>
                <a:spcPts val="0"/>
              </a:spcAft>
              <a:buNone/>
            </a:pPr>
            <a:r>
              <a:rPr lang="en"/>
              <a:t>https://github.com/efs-project/contracts/tree/e86e6e77fcb5cda31374e07c5f582b502455ba80/packages/walk-away-proof</a:t>
            </a:r>
            <a:endParaRPr/>
          </a:p>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efs_rehearsal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efs_rehearsal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Q&amp;A reserve. Outside the 20-minute talk.</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Answer with the task and observed scope. Name the remaining dependency and the next test that would establish the claim. For a small team, prioritize the dependency whose failure hurts users most, then make its replacement path usable. Fixed code trades in-place repair for stable rules. Never equate a valid signature with a desirable update or a retrievable file with a complete exit.</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idx="1" type="subTitle"/>
          </p:nvPr>
        </p:nvSpPr>
        <p:spPr>
          <a:xfrm>
            <a:off x="457200" y="2413125"/>
            <a:ext cx="8229600" cy="792600"/>
          </a:xfrm>
          <a:prstGeom prst="rect">
            <a:avLst/>
          </a:prstGeom>
          <a:effectLst>
            <a:outerShdw blurRad="257175" rotWithShape="0" algn="bl">
              <a:schemeClr val="lt1"/>
            </a:outerShdw>
          </a:effectLst>
        </p:spPr>
        <p:txBody>
          <a:bodyPr anchorCtr="0" anchor="t" bIns="91425" lIns="91425" spcFirstLastPara="1" rIns="91425" wrap="square" tIns="91425">
            <a:normAutofit/>
          </a:bodyPr>
          <a:lstStyle>
            <a:lvl1pPr lvl="0" algn="ctr">
              <a:lnSpc>
                <a:spcPct val="100000"/>
              </a:lnSpc>
              <a:spcBef>
                <a:spcPts val="0"/>
              </a:spcBef>
              <a:spcAft>
                <a:spcPts val="0"/>
              </a:spcAft>
              <a:buClr>
                <a:srgbClr val="06038D"/>
              </a:buClr>
              <a:buSzPts val="1800"/>
              <a:buFont typeface="Poppins ExtraBold"/>
              <a:buNone/>
              <a:defRPr sz="1800">
                <a:solidFill>
                  <a:srgbClr val="06038D"/>
                </a:solidFill>
                <a:latin typeface="Poppins ExtraBold"/>
                <a:ea typeface="Poppins ExtraBold"/>
                <a:cs typeface="Poppins ExtraBold"/>
                <a:sym typeface="Poppins ExtraBold"/>
              </a:defRPr>
            </a:lvl1pPr>
            <a:lvl2pPr lvl="1" algn="ctr">
              <a:lnSpc>
                <a:spcPct val="100000"/>
              </a:lnSpc>
              <a:spcBef>
                <a:spcPts val="0"/>
              </a:spcBef>
              <a:spcAft>
                <a:spcPts val="0"/>
              </a:spcAft>
              <a:buClr>
                <a:schemeClr val="lt1"/>
              </a:buClr>
              <a:buSzPts val="2600"/>
              <a:buNone/>
              <a:defRPr sz="2600">
                <a:solidFill>
                  <a:schemeClr val="lt1"/>
                </a:solidFill>
              </a:defRPr>
            </a:lvl2pPr>
            <a:lvl3pPr lvl="2" algn="ctr">
              <a:lnSpc>
                <a:spcPct val="100000"/>
              </a:lnSpc>
              <a:spcBef>
                <a:spcPts val="0"/>
              </a:spcBef>
              <a:spcAft>
                <a:spcPts val="0"/>
              </a:spcAft>
              <a:buClr>
                <a:schemeClr val="lt1"/>
              </a:buClr>
              <a:buSzPts val="2600"/>
              <a:buNone/>
              <a:defRPr sz="2600">
                <a:solidFill>
                  <a:schemeClr val="lt1"/>
                </a:solidFill>
              </a:defRPr>
            </a:lvl3pPr>
            <a:lvl4pPr lvl="3" algn="ctr">
              <a:lnSpc>
                <a:spcPct val="100000"/>
              </a:lnSpc>
              <a:spcBef>
                <a:spcPts val="0"/>
              </a:spcBef>
              <a:spcAft>
                <a:spcPts val="0"/>
              </a:spcAft>
              <a:buClr>
                <a:schemeClr val="lt1"/>
              </a:buClr>
              <a:buSzPts val="2600"/>
              <a:buNone/>
              <a:defRPr sz="2600">
                <a:solidFill>
                  <a:schemeClr val="lt1"/>
                </a:solidFill>
              </a:defRPr>
            </a:lvl4pPr>
            <a:lvl5pPr lvl="4" algn="ctr">
              <a:lnSpc>
                <a:spcPct val="100000"/>
              </a:lnSpc>
              <a:spcBef>
                <a:spcPts val="0"/>
              </a:spcBef>
              <a:spcAft>
                <a:spcPts val="0"/>
              </a:spcAft>
              <a:buClr>
                <a:schemeClr val="lt1"/>
              </a:buClr>
              <a:buSzPts val="2600"/>
              <a:buNone/>
              <a:defRPr sz="2600">
                <a:solidFill>
                  <a:schemeClr val="lt1"/>
                </a:solidFill>
              </a:defRPr>
            </a:lvl5pPr>
            <a:lvl6pPr lvl="5" algn="ctr">
              <a:lnSpc>
                <a:spcPct val="100000"/>
              </a:lnSpc>
              <a:spcBef>
                <a:spcPts val="0"/>
              </a:spcBef>
              <a:spcAft>
                <a:spcPts val="0"/>
              </a:spcAft>
              <a:buClr>
                <a:schemeClr val="lt1"/>
              </a:buClr>
              <a:buSzPts val="2600"/>
              <a:buNone/>
              <a:defRPr sz="2600">
                <a:solidFill>
                  <a:schemeClr val="lt1"/>
                </a:solidFill>
              </a:defRPr>
            </a:lvl6pPr>
            <a:lvl7pPr lvl="6" algn="ctr">
              <a:lnSpc>
                <a:spcPct val="100000"/>
              </a:lnSpc>
              <a:spcBef>
                <a:spcPts val="0"/>
              </a:spcBef>
              <a:spcAft>
                <a:spcPts val="0"/>
              </a:spcAft>
              <a:buClr>
                <a:schemeClr val="lt1"/>
              </a:buClr>
              <a:buSzPts val="2600"/>
              <a:buNone/>
              <a:defRPr sz="2600">
                <a:solidFill>
                  <a:schemeClr val="lt1"/>
                </a:solidFill>
              </a:defRPr>
            </a:lvl7pPr>
            <a:lvl8pPr lvl="7" algn="ctr">
              <a:lnSpc>
                <a:spcPct val="100000"/>
              </a:lnSpc>
              <a:spcBef>
                <a:spcPts val="0"/>
              </a:spcBef>
              <a:spcAft>
                <a:spcPts val="0"/>
              </a:spcAft>
              <a:buClr>
                <a:schemeClr val="lt1"/>
              </a:buClr>
              <a:buSzPts val="2600"/>
              <a:buNone/>
              <a:defRPr sz="2600">
                <a:solidFill>
                  <a:schemeClr val="lt1"/>
                </a:solidFill>
              </a:defRPr>
            </a:lvl8pPr>
            <a:lvl9pPr lvl="8" algn="ctr">
              <a:lnSpc>
                <a:spcPct val="100000"/>
              </a:lnSpc>
              <a:spcBef>
                <a:spcPts val="0"/>
              </a:spcBef>
              <a:spcAft>
                <a:spcPts val="0"/>
              </a:spcAft>
              <a:buClr>
                <a:schemeClr val="lt1"/>
              </a:buClr>
              <a:buSzPts val="2600"/>
              <a:buNone/>
              <a:defRPr sz="2600">
                <a:solidFill>
                  <a:schemeClr val="lt1"/>
                </a:solidFill>
              </a:defRPr>
            </a:lvl9pPr>
          </a:lstStyle>
          <a:p/>
        </p:txBody>
      </p:sp>
      <p:sp>
        <p:nvSpPr>
          <p:cNvPr id="11" name="Google Shape;11;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type="title"/>
          </p:nvPr>
        </p:nvSpPr>
        <p:spPr>
          <a:xfrm>
            <a:off x="457200" y="304800"/>
            <a:ext cx="8229600" cy="2076900"/>
          </a:xfrm>
          <a:prstGeom prst="rect">
            <a:avLst/>
          </a:prstGeom>
          <a:effectLst>
            <a:outerShdw blurRad="257175" rotWithShape="0" algn="bl">
              <a:schemeClr val="lt1"/>
            </a:outerShdw>
          </a:effectLst>
        </p:spPr>
        <p:txBody>
          <a:bodyPr anchorCtr="0" anchor="b" bIns="91425" lIns="91425" spcFirstLastPara="1" rIns="91425" wrap="square" tIns="91425">
            <a:normAutofit/>
          </a:bodyPr>
          <a:lstStyle>
            <a:lvl1pPr lvl="0" algn="ctr">
              <a:spcBef>
                <a:spcPts val="0"/>
              </a:spcBef>
              <a:spcAft>
                <a:spcPts val="0"/>
              </a:spcAft>
              <a:buClr>
                <a:srgbClr val="06038D"/>
              </a:buClr>
              <a:buSzPts val="3400"/>
              <a:buNone/>
              <a:defRPr sz="3400">
                <a:solidFill>
                  <a:srgbClr val="06038D"/>
                </a:solidFill>
              </a:defRPr>
            </a:lvl1pPr>
            <a:lvl2pPr lvl="1"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2pPr>
            <a:lvl3pPr lvl="2"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3pPr>
            <a:lvl4pPr lvl="3"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4pPr>
            <a:lvl5pPr lvl="4"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5pPr>
            <a:lvl6pPr lvl="5"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6pPr>
            <a:lvl7pPr lvl="6"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7pPr>
            <a:lvl8pPr lvl="7"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8pPr>
            <a:lvl9pPr lvl="8" algn="ctr">
              <a:spcBef>
                <a:spcPts val="0"/>
              </a:spcBef>
              <a:spcAft>
                <a:spcPts val="0"/>
              </a:spcAft>
              <a:buSzPts val="2800"/>
              <a:buFont typeface="Roboto Condensed ExtraBold"/>
              <a:buNone/>
              <a:defRPr sz="2800">
                <a:latin typeface="Roboto Condensed ExtraBold"/>
                <a:ea typeface="Roboto Condensed ExtraBold"/>
                <a:cs typeface="Roboto Condensed ExtraBold"/>
                <a:sym typeface="Roboto Condensed ExtraBold"/>
              </a:defRPr>
            </a:lvl9pPr>
          </a:lstStyle>
          <a:p/>
        </p:txBody>
      </p:sp>
      <p:pic>
        <p:nvPicPr>
          <p:cNvPr id="13" name="Google Shape;13;p2"/>
          <p:cNvPicPr preferRelativeResize="0"/>
          <p:nvPr/>
        </p:nvPicPr>
        <p:blipFill>
          <a:blip r:embed="rId3">
            <a:alphaModFix/>
          </a:blip>
          <a:stretch>
            <a:fillRect/>
          </a:stretch>
        </p:blipFill>
        <p:spPr>
          <a:xfrm>
            <a:off x="0" y="2771763"/>
            <a:ext cx="9144000" cy="23717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type="secHead">
  <p:cSld name="SECTION_HEADER">
    <p:bg>
      <p:bgPr>
        <a:blipFill>
          <a:blip r:embed="rId2">
            <a:alphaModFix/>
          </a:blip>
          <a:stretch>
            <a:fillRect/>
          </a:stretch>
        </a:blip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3000"/>
              <a:buNone/>
              <a:defRPr sz="30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4"/>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SECTION_HEADER_1_1">
    <p:bg>
      <p:bgPr>
        <a:blipFill>
          <a:blip r:embed="rId2">
            <a:alphaModFix/>
          </a:blip>
          <a:stretch>
            <a:fillRect/>
          </a:stretch>
        </a:blipFill>
      </p:bgPr>
    </p:bg>
    <p:spTree>
      <p:nvGrpSpPr>
        <p:cNvPr id="20" name="Shape 20"/>
        <p:cNvGrpSpPr/>
        <p:nvPr/>
      </p:nvGrpSpPr>
      <p:grpSpPr>
        <a:xfrm>
          <a:off x="0" y="0"/>
          <a:ext cx="0" cy="0"/>
          <a:chOff x="0" y="0"/>
          <a:chExt cx="0" cy="0"/>
        </a:xfrm>
      </p:grpSpPr>
      <p:sp>
        <p:nvSpPr>
          <p:cNvPr id="21" name="Google Shape;21;p5"/>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22" name="Google Shape;22;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4">
  <p:cSld name="SECTION_HEADER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6"/>
          <p:cNvSpPr txBox="1"/>
          <p:nvPr>
            <p:ph type="title"/>
          </p:nvPr>
        </p:nvSpPr>
        <p:spPr>
          <a:xfrm>
            <a:off x="457200" y="2150850"/>
            <a:ext cx="8229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Clr>
                <a:schemeClr val="lt1"/>
              </a:buClr>
              <a:buSzPts val="3000"/>
              <a:buNone/>
              <a:defRPr sz="3000">
                <a:solidFill>
                  <a:schemeClr val="lt1"/>
                </a:solidFill>
              </a:defRPr>
            </a:lvl1pPr>
            <a:lvl2pPr lvl="1" rtl="0" algn="ctr">
              <a:spcBef>
                <a:spcPts val="0"/>
              </a:spcBef>
              <a:spcAft>
                <a:spcPts val="0"/>
              </a:spcAft>
              <a:buClr>
                <a:srgbClr val="36364C"/>
              </a:buClr>
              <a:buSzPts val="3600"/>
              <a:buNone/>
              <a:defRPr sz="3600">
                <a:solidFill>
                  <a:srgbClr val="36364C"/>
                </a:solidFill>
              </a:defRPr>
            </a:lvl2pPr>
            <a:lvl3pPr lvl="2" rtl="0" algn="ctr">
              <a:spcBef>
                <a:spcPts val="0"/>
              </a:spcBef>
              <a:spcAft>
                <a:spcPts val="0"/>
              </a:spcAft>
              <a:buClr>
                <a:srgbClr val="36364C"/>
              </a:buClr>
              <a:buSzPts val="3600"/>
              <a:buNone/>
              <a:defRPr sz="3600">
                <a:solidFill>
                  <a:srgbClr val="36364C"/>
                </a:solidFill>
              </a:defRPr>
            </a:lvl3pPr>
            <a:lvl4pPr lvl="3" rtl="0" algn="ctr">
              <a:spcBef>
                <a:spcPts val="0"/>
              </a:spcBef>
              <a:spcAft>
                <a:spcPts val="0"/>
              </a:spcAft>
              <a:buClr>
                <a:srgbClr val="36364C"/>
              </a:buClr>
              <a:buSzPts val="3600"/>
              <a:buNone/>
              <a:defRPr sz="3600">
                <a:solidFill>
                  <a:srgbClr val="36364C"/>
                </a:solidFill>
              </a:defRPr>
            </a:lvl4pPr>
            <a:lvl5pPr lvl="4" rtl="0" algn="ctr">
              <a:spcBef>
                <a:spcPts val="0"/>
              </a:spcBef>
              <a:spcAft>
                <a:spcPts val="0"/>
              </a:spcAft>
              <a:buClr>
                <a:srgbClr val="36364C"/>
              </a:buClr>
              <a:buSzPts val="3600"/>
              <a:buNone/>
              <a:defRPr sz="3600">
                <a:solidFill>
                  <a:srgbClr val="36364C"/>
                </a:solidFill>
              </a:defRPr>
            </a:lvl5pPr>
            <a:lvl6pPr lvl="5" rtl="0" algn="ctr">
              <a:spcBef>
                <a:spcPts val="0"/>
              </a:spcBef>
              <a:spcAft>
                <a:spcPts val="0"/>
              </a:spcAft>
              <a:buClr>
                <a:srgbClr val="36364C"/>
              </a:buClr>
              <a:buSzPts val="3600"/>
              <a:buNone/>
              <a:defRPr sz="3600">
                <a:solidFill>
                  <a:srgbClr val="36364C"/>
                </a:solidFill>
              </a:defRPr>
            </a:lvl6pPr>
            <a:lvl7pPr lvl="6" rtl="0" algn="ctr">
              <a:spcBef>
                <a:spcPts val="0"/>
              </a:spcBef>
              <a:spcAft>
                <a:spcPts val="0"/>
              </a:spcAft>
              <a:buClr>
                <a:srgbClr val="36364C"/>
              </a:buClr>
              <a:buSzPts val="3600"/>
              <a:buNone/>
              <a:defRPr sz="3600">
                <a:solidFill>
                  <a:srgbClr val="36364C"/>
                </a:solidFill>
              </a:defRPr>
            </a:lvl7pPr>
            <a:lvl8pPr lvl="7" rtl="0" algn="ctr">
              <a:spcBef>
                <a:spcPts val="0"/>
              </a:spcBef>
              <a:spcAft>
                <a:spcPts val="0"/>
              </a:spcAft>
              <a:buClr>
                <a:srgbClr val="36364C"/>
              </a:buClr>
              <a:buSzPts val="3600"/>
              <a:buNone/>
              <a:defRPr sz="3600">
                <a:solidFill>
                  <a:srgbClr val="36364C"/>
                </a:solidFill>
              </a:defRPr>
            </a:lvl8pPr>
            <a:lvl9pPr lvl="8" rtl="0" algn="ctr">
              <a:spcBef>
                <a:spcPts val="0"/>
              </a:spcBef>
              <a:spcAft>
                <a:spcPts val="0"/>
              </a:spcAft>
              <a:buClr>
                <a:srgbClr val="36364C"/>
              </a:buClr>
              <a:buSzPts val="3600"/>
              <a:buNone/>
              <a:defRPr sz="3600">
                <a:solidFill>
                  <a:srgbClr val="36364C"/>
                </a:solidFill>
              </a:defRPr>
            </a:lvl9pPr>
          </a:lstStyle>
          <a:p/>
        </p:txBody>
      </p:sp>
      <p:sp>
        <p:nvSpPr>
          <p:cNvPr id="25" name="Google Shape;25;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6" name="Shape 26"/>
        <p:cNvGrpSpPr/>
        <p:nvPr/>
      </p:nvGrpSpPr>
      <p:grpSpPr>
        <a:xfrm>
          <a:off x="0" y="0"/>
          <a:ext cx="0" cy="0"/>
          <a:chOff x="0" y="0"/>
          <a:chExt cx="0" cy="0"/>
        </a:xfrm>
      </p:grpSpPr>
      <p:sp>
        <p:nvSpPr>
          <p:cNvPr id="27" name="Google Shape;27;p7"/>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
        <p:nvSpPr>
          <p:cNvPr id="28" name="Google Shape;28;p7"/>
          <p:cNvSpPr txBox="1"/>
          <p:nvPr>
            <p:ph idx="1" type="body"/>
          </p:nvPr>
        </p:nvSpPr>
        <p:spPr>
          <a:xfrm>
            <a:off x="651925" y="1304875"/>
            <a:ext cx="7840200" cy="3416400"/>
          </a:xfrm>
          <a:prstGeom prst="rect">
            <a:avLst/>
          </a:prstGeom>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Char char="●"/>
              <a:defRPr>
                <a:solidFill>
                  <a:srgbClr val="36364C"/>
                </a:solidFill>
              </a:defRPr>
            </a:lvl1pPr>
            <a:lvl2pPr indent="-311150" lvl="1" marL="914400">
              <a:lnSpc>
                <a:spcPct val="130000"/>
              </a:lnSpc>
              <a:spcBef>
                <a:spcPts val="0"/>
              </a:spcBef>
              <a:spcAft>
                <a:spcPts val="0"/>
              </a:spcAft>
              <a:buClr>
                <a:srgbClr val="36364C"/>
              </a:buClr>
              <a:buSzPts val="1300"/>
              <a:buChar char="○"/>
              <a:defRPr sz="1300">
                <a:solidFill>
                  <a:srgbClr val="36364C"/>
                </a:solidFill>
              </a:defRPr>
            </a:lvl2pPr>
            <a:lvl3pPr indent="-311150" lvl="2" marL="1371600">
              <a:lnSpc>
                <a:spcPct val="130000"/>
              </a:lnSpc>
              <a:spcBef>
                <a:spcPts val="0"/>
              </a:spcBef>
              <a:spcAft>
                <a:spcPts val="0"/>
              </a:spcAft>
              <a:buClr>
                <a:srgbClr val="36364C"/>
              </a:buClr>
              <a:buSzPts val="1300"/>
              <a:buChar char="■"/>
              <a:defRPr sz="1300">
                <a:solidFill>
                  <a:srgbClr val="36364C"/>
                </a:solidFill>
              </a:defRPr>
            </a:lvl3pPr>
            <a:lvl4pPr indent="-304800" lvl="3" marL="1828800">
              <a:lnSpc>
                <a:spcPct val="130000"/>
              </a:lnSpc>
              <a:spcBef>
                <a:spcPts val="0"/>
              </a:spcBef>
              <a:spcAft>
                <a:spcPts val="0"/>
              </a:spcAft>
              <a:buClr>
                <a:srgbClr val="36364C"/>
              </a:buClr>
              <a:buSzPts val="1200"/>
              <a:buChar char="●"/>
              <a:defRPr sz="1200">
                <a:solidFill>
                  <a:srgbClr val="36364C"/>
                </a:solidFill>
              </a:defRPr>
            </a:lvl4pPr>
            <a:lvl5pPr indent="-304800" lvl="4" marL="2286000">
              <a:lnSpc>
                <a:spcPct val="130000"/>
              </a:lnSpc>
              <a:spcBef>
                <a:spcPts val="0"/>
              </a:spcBef>
              <a:spcAft>
                <a:spcPts val="0"/>
              </a:spcAft>
              <a:buClr>
                <a:srgbClr val="36364C"/>
              </a:buClr>
              <a:buSzPts val="1200"/>
              <a:buChar char="○"/>
              <a:defRPr sz="1200">
                <a:solidFill>
                  <a:srgbClr val="36364C"/>
                </a:solidFill>
              </a:defRPr>
            </a:lvl5pPr>
            <a:lvl6pPr indent="-304800" lvl="5" marL="2743200">
              <a:lnSpc>
                <a:spcPct val="130000"/>
              </a:lnSpc>
              <a:spcBef>
                <a:spcPts val="0"/>
              </a:spcBef>
              <a:spcAft>
                <a:spcPts val="0"/>
              </a:spcAft>
              <a:buClr>
                <a:srgbClr val="36364C"/>
              </a:buClr>
              <a:buSzPts val="1200"/>
              <a:buChar char="■"/>
              <a:defRPr sz="1200">
                <a:solidFill>
                  <a:srgbClr val="36364C"/>
                </a:solidFill>
              </a:defRPr>
            </a:lvl6pPr>
            <a:lvl7pPr indent="-304800" lvl="6" marL="3200400">
              <a:lnSpc>
                <a:spcPct val="130000"/>
              </a:lnSpc>
              <a:spcBef>
                <a:spcPts val="0"/>
              </a:spcBef>
              <a:spcAft>
                <a:spcPts val="0"/>
              </a:spcAft>
              <a:buClr>
                <a:srgbClr val="36364C"/>
              </a:buClr>
              <a:buSzPts val="1200"/>
              <a:buChar char="●"/>
              <a:defRPr sz="1200">
                <a:solidFill>
                  <a:srgbClr val="36364C"/>
                </a:solidFill>
              </a:defRPr>
            </a:lvl7pPr>
            <a:lvl8pPr indent="-304800" lvl="7" marL="3657600">
              <a:lnSpc>
                <a:spcPct val="130000"/>
              </a:lnSpc>
              <a:spcBef>
                <a:spcPts val="0"/>
              </a:spcBef>
              <a:spcAft>
                <a:spcPts val="0"/>
              </a:spcAft>
              <a:buClr>
                <a:srgbClr val="36364C"/>
              </a:buClr>
              <a:buSzPts val="1200"/>
              <a:buChar char="○"/>
              <a:defRPr sz="1200">
                <a:solidFill>
                  <a:srgbClr val="36364C"/>
                </a:solidFill>
              </a:defRPr>
            </a:lvl8pPr>
            <a:lvl9pPr indent="-304800" lvl="8" marL="4114800">
              <a:lnSpc>
                <a:spcPct val="130000"/>
              </a:lnSpc>
              <a:spcBef>
                <a:spcPts val="0"/>
              </a:spcBef>
              <a:spcAft>
                <a:spcPts val="0"/>
              </a:spcAft>
              <a:buClr>
                <a:srgbClr val="36364C"/>
              </a:buClr>
              <a:buSzPts val="1200"/>
              <a:buChar char="■"/>
              <a:defRPr sz="1200">
                <a:solidFill>
                  <a:srgbClr val="36364C"/>
                </a:solidFill>
              </a:defRPr>
            </a:lvl9pPr>
          </a:lstStyle>
          <a:p/>
        </p:txBody>
      </p:sp>
      <p:sp>
        <p:nvSpPr>
          <p:cNvPr id="29" name="Google Shape;29;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0" name="Shape 30"/>
        <p:cNvGrpSpPr/>
        <p:nvPr/>
      </p:nvGrpSpPr>
      <p:grpSpPr>
        <a:xfrm>
          <a:off x="0" y="0"/>
          <a:ext cx="0" cy="0"/>
          <a:chOff x="0" y="0"/>
          <a:chExt cx="0" cy="0"/>
        </a:xfrm>
      </p:grpSpPr>
      <p:sp>
        <p:nvSpPr>
          <p:cNvPr id="31" name="Google Shape;31;p8"/>
          <p:cNvSpPr txBox="1"/>
          <p:nvPr>
            <p:ph idx="1" type="body"/>
          </p:nvPr>
        </p:nvSpPr>
        <p:spPr>
          <a:xfrm>
            <a:off x="720549" y="1280150"/>
            <a:ext cx="37527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8"/>
          <p:cNvSpPr txBox="1"/>
          <p:nvPr>
            <p:ph idx="2" type="body"/>
          </p:nvPr>
        </p:nvSpPr>
        <p:spPr>
          <a:xfrm>
            <a:off x="4680000" y="1280150"/>
            <a:ext cx="3792300" cy="3416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3" name="Google Shape;33;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4" name="Google Shape;34;p8"/>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5" name="Shape 35"/>
        <p:cNvGrpSpPr/>
        <p:nvPr/>
      </p:nvGrpSpPr>
      <p:grpSpPr>
        <a:xfrm>
          <a:off x="0" y="0"/>
          <a:ext cx="0" cy="0"/>
          <a:chOff x="0" y="0"/>
          <a:chExt cx="0" cy="0"/>
        </a:xfrm>
      </p:grpSpPr>
      <p:sp>
        <p:nvSpPr>
          <p:cNvPr id="36" name="Google Shape;36;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9"/>
          <p:cNvSpPr txBox="1"/>
          <p:nvPr>
            <p:ph type="title"/>
          </p:nvPr>
        </p:nvSpPr>
        <p:spPr>
          <a:xfrm>
            <a:off x="874950" y="533400"/>
            <a:ext cx="7394100" cy="598800"/>
          </a:xfrm>
          <a:prstGeom prst="rect">
            <a:avLst/>
          </a:prstGeom>
        </p:spPr>
        <p:txBody>
          <a:bodyPr anchorCtr="0" anchor="t" bIns="91425" lIns="91425" spcFirstLastPara="1" rIns="91425" wrap="square" tIns="91425">
            <a:normAutofit/>
          </a:bodyPr>
          <a:lstStyle>
            <a:lvl1pPr lvl="0">
              <a:spcBef>
                <a:spcPts val="0"/>
              </a:spcBef>
              <a:spcAft>
                <a:spcPts val="0"/>
              </a:spcAft>
              <a:buClr>
                <a:srgbClr val="36364C"/>
              </a:buClr>
              <a:buSzPts val="2800"/>
              <a:buNone/>
              <a:defRPr sz="2800">
                <a:solidFill>
                  <a:srgbClr val="36364C"/>
                </a:solidFill>
              </a:defRPr>
            </a:lvl1pPr>
            <a:lvl2pPr lvl="1">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2pPr>
            <a:lvl3pPr lvl="2">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3pPr>
            <a:lvl4pPr lvl="3">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4pPr>
            <a:lvl5pPr lvl="4">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5pPr>
            <a:lvl6pPr lvl="5">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6pPr>
            <a:lvl7pPr lvl="6">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7pPr>
            <a:lvl8pPr lvl="7">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8pPr>
            <a:lvl9pPr lvl="8">
              <a:spcBef>
                <a:spcPts val="0"/>
              </a:spcBef>
              <a:spcAft>
                <a:spcPts val="0"/>
              </a:spcAft>
              <a:buClr>
                <a:schemeClr val="lt1"/>
              </a:buClr>
              <a:buSzPts val="2800"/>
              <a:buFont typeface="Poppins ExtraBold"/>
              <a:buNone/>
              <a:defRPr sz="2800">
                <a:solidFill>
                  <a:schemeClr val="lt1"/>
                </a:solidFill>
                <a:latin typeface="Poppins ExtraBold"/>
                <a:ea typeface="Poppins ExtraBold"/>
                <a:cs typeface="Poppins ExtraBold"/>
                <a:sym typeface="Poppins ExtraBold"/>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left">
  <p:cSld name="ONE_COLUMN_TEXT">
    <p:spTree>
      <p:nvGrpSpPr>
        <p:cNvPr id="38" name="Shape 38"/>
        <p:cNvGrpSpPr/>
        <p:nvPr/>
      </p:nvGrpSpPr>
      <p:grpSpPr>
        <a:xfrm>
          <a:off x="0" y="0"/>
          <a:ext cx="0" cy="0"/>
          <a:chOff x="0" y="0"/>
          <a:chExt cx="0" cy="0"/>
        </a:xfrm>
      </p:grpSpPr>
      <p:sp>
        <p:nvSpPr>
          <p:cNvPr id="39" name="Google Shape;39;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10"/>
          <p:cNvSpPr/>
          <p:nvPr>
            <p:ph idx="2" type="pic"/>
          </p:nvPr>
        </p:nvSpPr>
        <p:spPr>
          <a:xfrm>
            <a:off x="0" y="0"/>
            <a:ext cx="4562100" cy="5143500"/>
          </a:xfrm>
          <a:prstGeom prst="rect">
            <a:avLst/>
          </a:prstGeom>
          <a:noFill/>
          <a:ln>
            <a:noFill/>
          </a:ln>
        </p:spPr>
      </p:sp>
      <p:sp>
        <p:nvSpPr>
          <p:cNvPr id="41" name="Google Shape;41;p10"/>
          <p:cNvSpPr txBox="1"/>
          <p:nvPr>
            <p:ph type="title"/>
          </p:nvPr>
        </p:nvSpPr>
        <p:spPr>
          <a:xfrm>
            <a:off x="4859150" y="631325"/>
            <a:ext cx="37188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10"/>
          <p:cNvSpPr txBox="1"/>
          <p:nvPr>
            <p:ph idx="1" type="body"/>
          </p:nvPr>
        </p:nvSpPr>
        <p:spPr>
          <a:xfrm>
            <a:off x="4859150" y="1888700"/>
            <a:ext cx="37188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n image right">
  <p:cSld name="ONE_COLUMN_TEXT_1">
    <p:spTree>
      <p:nvGrpSpPr>
        <p:cNvPr id="43" name="Shape 43"/>
        <p:cNvGrpSpPr/>
        <p:nvPr/>
      </p:nvGrpSpPr>
      <p:grpSpPr>
        <a:xfrm>
          <a:off x="0" y="0"/>
          <a:ext cx="0" cy="0"/>
          <a:chOff x="0" y="0"/>
          <a:chExt cx="0" cy="0"/>
        </a:xfrm>
      </p:grpSpPr>
      <p:sp>
        <p:nvSpPr>
          <p:cNvPr id="44" name="Google Shape;44;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11"/>
          <p:cNvSpPr/>
          <p:nvPr>
            <p:ph idx="2" type="pic"/>
          </p:nvPr>
        </p:nvSpPr>
        <p:spPr>
          <a:xfrm>
            <a:off x="4582100" y="0"/>
            <a:ext cx="4562100" cy="5143500"/>
          </a:xfrm>
          <a:prstGeom prst="rect">
            <a:avLst/>
          </a:prstGeom>
          <a:noFill/>
          <a:ln>
            <a:noFill/>
          </a:ln>
        </p:spPr>
      </p:sp>
      <p:sp>
        <p:nvSpPr>
          <p:cNvPr id="46" name="Google Shape;46;p11"/>
          <p:cNvSpPr txBox="1"/>
          <p:nvPr>
            <p:ph type="title"/>
          </p:nvPr>
        </p:nvSpPr>
        <p:spPr>
          <a:xfrm>
            <a:off x="660500" y="631325"/>
            <a:ext cx="3724500" cy="1212600"/>
          </a:xfrm>
          <a:prstGeom prst="rect">
            <a:avLst/>
          </a:prstGeom>
        </p:spPr>
        <p:txBody>
          <a:bodyPr anchorCtr="0" anchor="b" bIns="91425" lIns="91425" spcFirstLastPara="1" rIns="91425" wrap="square" tIns="91425">
            <a:normAutofit/>
          </a:bodyPr>
          <a:lstStyle>
            <a:lvl1pPr lvl="0" algn="l">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7" name="Google Shape;47;p11"/>
          <p:cNvSpPr txBox="1"/>
          <p:nvPr>
            <p:ph idx="1" type="body"/>
          </p:nvPr>
        </p:nvSpPr>
        <p:spPr>
          <a:xfrm>
            <a:off x="660549" y="1888700"/>
            <a:ext cx="3724500" cy="2743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p:cSld name="ONE_COLUMN_TEXT_2">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0" name="Google Shape;50;p12"/>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1" name="Google Shape;51;p12" title="Devcon-8-India-slides-template-1-7.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52" name="Google Shape;52;p12"/>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p:cSld name="ONE_COLUMN_TEXT_1_1">
    <p:spTree>
      <p:nvGrpSpPr>
        <p:cNvPr id="53" name="Shape 53"/>
        <p:cNvGrpSpPr/>
        <p:nvPr/>
      </p:nvGrpSpPr>
      <p:grpSpPr>
        <a:xfrm>
          <a:off x="0" y="0"/>
          <a:ext cx="0" cy="0"/>
          <a:chOff x="0" y="0"/>
          <a:chExt cx="0" cy="0"/>
        </a:xfrm>
      </p:grpSpPr>
      <p:sp>
        <p:nvSpPr>
          <p:cNvPr id="54" name="Google Shape;54;p1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56" name="Google Shape;56;p13" title="Devcon-8-India-slides-template-1-8.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57" name="Google Shape;57;p13"/>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left 1">
  <p:cSld name="ONE_COLUMN_TEXT_2_1">
    <p:spTree>
      <p:nvGrpSpPr>
        <p:cNvPr id="58" name="Shape 58"/>
        <p:cNvGrpSpPr/>
        <p:nvPr/>
      </p:nvGrpSpPr>
      <p:grpSpPr>
        <a:xfrm>
          <a:off x="0" y="0"/>
          <a:ext cx="0" cy="0"/>
          <a:chOff x="0" y="0"/>
          <a:chExt cx="0" cy="0"/>
        </a:xfrm>
      </p:grpSpPr>
      <p:sp>
        <p:nvSpPr>
          <p:cNvPr id="59" name="Google Shape;59;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1" type="body"/>
          </p:nvPr>
        </p:nvSpPr>
        <p:spPr>
          <a:xfrm>
            <a:off x="4859150" y="694800"/>
            <a:ext cx="3693000" cy="383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1" name="Google Shape;61;p14" title="Devcon-8-India-slides-template-1-9.jpg"/>
          <p:cNvPicPr preferRelativeResize="0"/>
          <p:nvPr/>
        </p:nvPicPr>
        <p:blipFill rotWithShape="1">
          <a:blip r:embed="rId2">
            <a:alphaModFix/>
          </a:blip>
          <a:srcRect b="0" l="0" r="0" t="0"/>
          <a:stretch/>
        </p:blipFill>
        <p:spPr>
          <a:xfrm>
            <a:off x="0" y="0"/>
            <a:ext cx="4572000" cy="5143500"/>
          </a:xfrm>
          <a:prstGeom prst="rect">
            <a:avLst/>
          </a:prstGeom>
          <a:noFill/>
          <a:ln>
            <a:noFill/>
          </a:ln>
        </p:spPr>
      </p:pic>
      <p:sp>
        <p:nvSpPr>
          <p:cNvPr id="62" name="Google Shape;62;p14"/>
          <p:cNvSpPr txBox="1"/>
          <p:nvPr>
            <p:ph type="title"/>
          </p:nvPr>
        </p:nvSpPr>
        <p:spPr>
          <a:xfrm>
            <a:off x="587375" y="694800"/>
            <a:ext cx="3693000" cy="3753900"/>
          </a:xfrm>
          <a:prstGeom prst="rect">
            <a:avLst/>
          </a:prstGeom>
        </p:spPr>
        <p:txBody>
          <a:bodyPr anchorCtr="0" anchor="ctr" bIns="91425" lIns="91425" spcFirstLastPara="1" rIns="91425" wrap="square" tIns="91425">
            <a:normAutofit/>
          </a:bodyPr>
          <a:lstStyle>
            <a:lvl1pPr lvl="0" algn="r">
              <a:spcBef>
                <a:spcPts val="0"/>
              </a:spcBef>
              <a:spcAft>
                <a:spcPts val="0"/>
              </a:spcAft>
              <a:buClr>
                <a:schemeClr val="lt1"/>
              </a:buClr>
              <a:buSzPts val="2400"/>
              <a:buNone/>
              <a:defRPr sz="2400">
                <a:solidFill>
                  <a:schemeClr val="lt1"/>
                </a:solidFill>
              </a:defRPr>
            </a:lvl1pPr>
            <a:lvl2pPr lvl="1" algn="r">
              <a:spcBef>
                <a:spcPts val="0"/>
              </a:spcBef>
              <a:spcAft>
                <a:spcPts val="0"/>
              </a:spcAft>
              <a:buSzPts val="2400"/>
              <a:buNone/>
              <a:defRPr sz="2400"/>
            </a:lvl2pPr>
            <a:lvl3pPr lvl="2" algn="r">
              <a:spcBef>
                <a:spcPts val="0"/>
              </a:spcBef>
              <a:spcAft>
                <a:spcPts val="0"/>
              </a:spcAft>
              <a:buSzPts val="2400"/>
              <a:buNone/>
              <a:defRPr sz="2400"/>
            </a:lvl3pPr>
            <a:lvl4pPr lvl="3" algn="r">
              <a:spcBef>
                <a:spcPts val="0"/>
              </a:spcBef>
              <a:spcAft>
                <a:spcPts val="0"/>
              </a:spcAft>
              <a:buSzPts val="2400"/>
              <a:buNone/>
              <a:defRPr sz="2400"/>
            </a:lvl4pPr>
            <a:lvl5pPr lvl="4" algn="r">
              <a:spcBef>
                <a:spcPts val="0"/>
              </a:spcBef>
              <a:spcAft>
                <a:spcPts val="0"/>
              </a:spcAft>
              <a:buSzPts val="2400"/>
              <a:buNone/>
              <a:defRPr sz="2400"/>
            </a:lvl5pPr>
            <a:lvl6pPr lvl="5" algn="r">
              <a:spcBef>
                <a:spcPts val="0"/>
              </a:spcBef>
              <a:spcAft>
                <a:spcPts val="0"/>
              </a:spcAft>
              <a:buSzPts val="2400"/>
              <a:buNone/>
              <a:defRPr sz="2400"/>
            </a:lvl6pPr>
            <a:lvl7pPr lvl="6" algn="r">
              <a:spcBef>
                <a:spcPts val="0"/>
              </a:spcBef>
              <a:spcAft>
                <a:spcPts val="0"/>
              </a:spcAft>
              <a:buSzPts val="2400"/>
              <a:buNone/>
              <a:defRPr sz="2400"/>
            </a:lvl7pPr>
            <a:lvl8pPr lvl="7" algn="r">
              <a:spcBef>
                <a:spcPts val="0"/>
              </a:spcBef>
              <a:spcAft>
                <a:spcPts val="0"/>
              </a:spcAft>
              <a:buSzPts val="2400"/>
              <a:buNone/>
              <a:defRPr sz="2400"/>
            </a:lvl8pPr>
            <a:lvl9pPr lvl="8" algn="r">
              <a:spcBef>
                <a:spcPts val="0"/>
              </a:spcBef>
              <a:spcAft>
                <a:spcPts val="0"/>
              </a:spcAft>
              <a:buSzPts val="2400"/>
              <a:buNone/>
              <a:defRPr sz="24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with a main point right 1">
  <p:cSld name="ONE_COLUMN_TEXT_1_1_1">
    <p:spTree>
      <p:nvGrpSpPr>
        <p:cNvPr id="63" name="Shape 63"/>
        <p:cNvGrpSpPr/>
        <p:nvPr/>
      </p:nvGrpSpPr>
      <p:grpSpPr>
        <a:xfrm>
          <a:off x="0" y="0"/>
          <a:ext cx="0" cy="0"/>
          <a:chOff x="0" y="0"/>
          <a:chExt cx="0" cy="0"/>
        </a:xfrm>
      </p:grpSpPr>
      <p:sp>
        <p:nvSpPr>
          <p:cNvPr id="64" name="Google Shape;64;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5" name="Google Shape;65;p15"/>
          <p:cNvSpPr txBox="1"/>
          <p:nvPr>
            <p:ph idx="1" type="body"/>
          </p:nvPr>
        </p:nvSpPr>
        <p:spPr>
          <a:xfrm>
            <a:off x="651850" y="617600"/>
            <a:ext cx="3733200" cy="4014300"/>
          </a:xfrm>
          <a:prstGeom prst="rect">
            <a:avLst/>
          </a:prstGeom>
        </p:spPr>
        <p:txBody>
          <a:bodyPr anchorCtr="0" anchor="ctr" bIns="91425" lIns="91425" spcFirstLastPara="1" rIns="91425" wrap="square" tIns="91425">
            <a:normAutofit/>
          </a:bodyPr>
          <a:lstStyle>
            <a:lvl1pPr indent="-311150" lvl="0" marL="457200">
              <a:spcBef>
                <a:spcPts val="0"/>
              </a:spcBef>
              <a:spcAft>
                <a:spcPts val="0"/>
              </a:spcAft>
              <a:buSzPts val="1300"/>
              <a:buChar char="●"/>
              <a:defRPr sz="1300"/>
            </a:lvl1pPr>
            <a:lvl2pPr indent="-304800" lvl="1" marL="914400">
              <a:spcBef>
                <a:spcPts val="0"/>
              </a:spcBef>
              <a:spcAft>
                <a:spcPts val="0"/>
              </a:spcAft>
              <a:buSzPts val="1200"/>
              <a:buChar char="○"/>
              <a:defRPr sz="1200"/>
            </a:lvl2pPr>
            <a:lvl3pPr indent="-298450" lvl="2" marL="1371600">
              <a:spcBef>
                <a:spcPts val="0"/>
              </a:spcBef>
              <a:spcAft>
                <a:spcPts val="0"/>
              </a:spcAft>
              <a:buSzPts val="1100"/>
              <a:buChar char="■"/>
              <a:defRPr sz="11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pic>
        <p:nvPicPr>
          <p:cNvPr id="66" name="Google Shape;66;p15" title="Devcon-8-India-slides-template-1-10.jpg"/>
          <p:cNvPicPr preferRelativeResize="0"/>
          <p:nvPr/>
        </p:nvPicPr>
        <p:blipFill rotWithShape="1">
          <a:blip r:embed="rId2">
            <a:alphaModFix/>
          </a:blip>
          <a:srcRect b="0" l="0" r="0" t="0"/>
          <a:stretch/>
        </p:blipFill>
        <p:spPr>
          <a:xfrm>
            <a:off x="4572000" y="0"/>
            <a:ext cx="4572000" cy="5143500"/>
          </a:xfrm>
          <a:prstGeom prst="rect">
            <a:avLst/>
          </a:prstGeom>
          <a:noFill/>
          <a:ln>
            <a:noFill/>
          </a:ln>
        </p:spPr>
      </p:pic>
      <p:sp>
        <p:nvSpPr>
          <p:cNvPr id="67" name="Google Shape;67;p15"/>
          <p:cNvSpPr txBox="1"/>
          <p:nvPr>
            <p:ph type="title"/>
          </p:nvPr>
        </p:nvSpPr>
        <p:spPr>
          <a:xfrm>
            <a:off x="4837000" y="768000"/>
            <a:ext cx="3733200" cy="3607500"/>
          </a:xfrm>
          <a:prstGeom prst="rect">
            <a:avLst/>
          </a:prstGeom>
        </p:spPr>
        <p:txBody>
          <a:bodyPr anchorCtr="0" anchor="ctr" bIns="91425" lIns="91425" spcFirstLastPara="1" rIns="91425" wrap="square" tIns="91425">
            <a:normAutofit/>
          </a:bodyPr>
          <a:lstStyle>
            <a:lvl1pPr lvl="0" algn="l">
              <a:spcBef>
                <a:spcPts val="0"/>
              </a:spcBef>
              <a:spcAft>
                <a:spcPts val="0"/>
              </a:spcAft>
              <a:buClr>
                <a:schemeClr val="lt1"/>
              </a:buClr>
              <a:buSzPts val="2400"/>
              <a:buNone/>
              <a:defRPr sz="2400">
                <a:solidFill>
                  <a:schemeClr val="lt1"/>
                </a:solidFill>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68" name="Shape 68"/>
        <p:cNvGrpSpPr/>
        <p:nvPr/>
      </p:nvGrpSpPr>
      <p:grpSpPr>
        <a:xfrm>
          <a:off x="0" y="0"/>
          <a:ext cx="0" cy="0"/>
          <a:chOff x="0" y="0"/>
          <a:chExt cx="0" cy="0"/>
        </a:xfrm>
      </p:grpSpPr>
      <p:sp>
        <p:nvSpPr>
          <p:cNvPr id="69" name="Google Shape;69;p16"/>
          <p:cNvSpPr txBox="1"/>
          <p:nvPr>
            <p:ph type="title"/>
          </p:nvPr>
        </p:nvSpPr>
        <p:spPr>
          <a:xfrm>
            <a:off x="703375" y="935400"/>
            <a:ext cx="7737300" cy="32727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000"/>
              <a:buNone/>
              <a:defRPr sz="3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0" name="Google Shape;70;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71" name="Shape 71"/>
        <p:cNvGrpSpPr/>
        <p:nvPr/>
      </p:nvGrpSpPr>
      <p:grpSpPr>
        <a:xfrm>
          <a:off x="0" y="0"/>
          <a:ext cx="0" cy="0"/>
          <a:chOff x="0" y="0"/>
          <a:chExt cx="0" cy="0"/>
        </a:xfrm>
      </p:grpSpPr>
      <p:sp>
        <p:nvSpPr>
          <p:cNvPr id="72" name="Google Shape;72;p17"/>
          <p:cNvSpPr txBox="1"/>
          <p:nvPr>
            <p:ph hasCustomPrompt="1" type="title"/>
          </p:nvPr>
        </p:nvSpPr>
        <p:spPr>
          <a:xfrm>
            <a:off x="1371615" y="1106125"/>
            <a:ext cx="64008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9000"/>
              <a:buNone/>
              <a:defRPr sz="9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73" name="Google Shape;73;p17"/>
          <p:cNvSpPr txBox="1"/>
          <p:nvPr>
            <p:ph idx="1" type="body"/>
          </p:nvPr>
        </p:nvSpPr>
        <p:spPr>
          <a:xfrm>
            <a:off x="1371587" y="3152225"/>
            <a:ext cx="6400800" cy="1300800"/>
          </a:xfrm>
          <a:prstGeom prst="rect">
            <a:avLst/>
          </a:prstGeom>
        </p:spPr>
        <p:txBody>
          <a:bodyPr anchorCtr="0" anchor="t" bIns="91425" lIns="91425" spcFirstLastPara="1" rIns="91425" wrap="square" tIns="91425">
            <a:normAutofit/>
          </a:bodyPr>
          <a:lstStyle>
            <a:lvl1pPr indent="-317500" lvl="0" marL="457200" algn="ctr">
              <a:spcBef>
                <a:spcPts val="0"/>
              </a:spcBef>
              <a:spcAft>
                <a:spcPts val="0"/>
              </a:spcAft>
              <a:buSzPts val="1400"/>
              <a:buChar char="●"/>
              <a:defRPr/>
            </a:lvl1pPr>
            <a:lvl2pPr indent="-311150" lvl="1" marL="914400" algn="ctr">
              <a:spcBef>
                <a:spcPts val="0"/>
              </a:spcBef>
              <a:spcAft>
                <a:spcPts val="0"/>
              </a:spcAft>
              <a:buSzPts val="1300"/>
              <a:buChar char="○"/>
              <a:defRPr/>
            </a:lvl2pPr>
            <a:lvl3pPr indent="-311150" lvl="2" marL="1371600" algn="ctr">
              <a:spcBef>
                <a:spcPts val="0"/>
              </a:spcBef>
              <a:spcAft>
                <a:spcPts val="0"/>
              </a:spcAft>
              <a:buSzPts val="13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
        <p:nvSpPr>
          <p:cNvPr id="74" name="Google Shape;7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5" name="Shape 75"/>
        <p:cNvGrpSpPr/>
        <p:nvPr/>
      </p:nvGrpSpPr>
      <p:grpSpPr>
        <a:xfrm>
          <a:off x="0" y="0"/>
          <a:ext cx="0" cy="0"/>
          <a:chOff x="0" y="0"/>
          <a:chExt cx="0" cy="0"/>
        </a:xfrm>
      </p:grpSpPr>
      <p:sp>
        <p:nvSpPr>
          <p:cNvPr id="76" name="Google Shape;7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8.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74950" y="533400"/>
            <a:ext cx="7394100" cy="598800"/>
          </a:xfrm>
          <a:prstGeom prst="rect">
            <a:avLst/>
          </a:prstGeom>
          <a:noFill/>
          <a:ln>
            <a:noFill/>
          </a:ln>
        </p:spPr>
        <p:txBody>
          <a:bodyPr anchorCtr="0" anchor="t" bIns="91425" lIns="91425" spcFirstLastPara="1" rIns="91425" wrap="square" tIns="91425">
            <a:normAutofit/>
          </a:bodyPr>
          <a:lstStyle>
            <a:lvl1pPr lvl="0" algn="ctr">
              <a:spcBef>
                <a:spcPts val="0"/>
              </a:spcBef>
              <a:spcAft>
                <a:spcPts val="0"/>
              </a:spcAft>
              <a:buClr>
                <a:srgbClr val="36364C"/>
              </a:buClr>
              <a:buSzPts val="2800"/>
              <a:buFont typeface="Poppins ExtraBold"/>
              <a:buNone/>
              <a:defRPr sz="2800">
                <a:solidFill>
                  <a:srgbClr val="36364C"/>
                </a:solidFill>
                <a:latin typeface="Poppins ExtraBold"/>
                <a:ea typeface="Poppins ExtraBold"/>
                <a:cs typeface="Poppins ExtraBold"/>
                <a:sym typeface="Poppins ExtraBold"/>
              </a:defRPr>
            </a:lvl1pPr>
            <a:lvl2pPr lvl="1">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2pPr>
            <a:lvl3pPr lvl="2">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3pPr>
            <a:lvl4pPr lvl="3">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4pPr>
            <a:lvl5pPr lvl="4">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5pPr>
            <a:lvl6pPr lvl="5">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6pPr>
            <a:lvl7pPr lvl="6">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7pPr>
            <a:lvl8pPr lvl="7">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8pPr>
            <a:lvl9pPr lvl="8">
              <a:spcBef>
                <a:spcPts val="0"/>
              </a:spcBef>
              <a:spcAft>
                <a:spcPts val="0"/>
              </a:spcAft>
              <a:buClr>
                <a:schemeClr val="lt1"/>
              </a:buClr>
              <a:buSzPts val="2800"/>
              <a:buFont typeface="Roboto Thin"/>
              <a:buNone/>
              <a:defRPr sz="2800">
                <a:solidFill>
                  <a:schemeClr val="lt1"/>
                </a:solidFill>
                <a:latin typeface="Roboto Thin"/>
                <a:ea typeface="Roboto Thin"/>
                <a:cs typeface="Roboto Thin"/>
                <a:sym typeface="Roboto Thin"/>
              </a:defRPr>
            </a:lvl9pPr>
          </a:lstStyle>
          <a:p/>
        </p:txBody>
      </p:sp>
      <p:sp>
        <p:nvSpPr>
          <p:cNvPr id="7" name="Google Shape;7;p1"/>
          <p:cNvSpPr txBox="1"/>
          <p:nvPr>
            <p:ph idx="1" type="body"/>
          </p:nvPr>
        </p:nvSpPr>
        <p:spPr>
          <a:xfrm>
            <a:off x="651925" y="1304875"/>
            <a:ext cx="7840200" cy="3416400"/>
          </a:xfrm>
          <a:prstGeom prst="rect">
            <a:avLst/>
          </a:prstGeom>
          <a:noFill/>
          <a:ln>
            <a:noFill/>
          </a:ln>
        </p:spPr>
        <p:txBody>
          <a:bodyPr anchorCtr="0" anchor="t" bIns="91425" lIns="91425" spcFirstLastPara="1" rIns="91425" wrap="square" tIns="91425">
            <a:normAutofit/>
          </a:bodyPr>
          <a:lstStyle>
            <a:lvl1pPr indent="-317500" lvl="0" marL="457200">
              <a:lnSpc>
                <a:spcPct val="130000"/>
              </a:lnSpc>
              <a:spcBef>
                <a:spcPts val="0"/>
              </a:spcBef>
              <a:spcAft>
                <a:spcPts val="0"/>
              </a:spcAft>
              <a:buClr>
                <a:srgbClr val="36364C"/>
              </a:buClr>
              <a:buSzPts val="1400"/>
              <a:buFont typeface="Poppins"/>
              <a:buChar char="●"/>
              <a:defRPr>
                <a:solidFill>
                  <a:srgbClr val="36364C"/>
                </a:solidFill>
                <a:latin typeface="Poppins"/>
                <a:ea typeface="Poppins"/>
                <a:cs typeface="Poppins"/>
                <a:sym typeface="Poppins"/>
              </a:defRPr>
            </a:lvl1pPr>
            <a:lvl2pPr indent="-311150" lvl="1" marL="9144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2pPr>
            <a:lvl3pPr indent="-311150" lvl="2" marL="1371600">
              <a:lnSpc>
                <a:spcPct val="130000"/>
              </a:lnSpc>
              <a:spcBef>
                <a:spcPts val="0"/>
              </a:spcBef>
              <a:spcAft>
                <a:spcPts val="0"/>
              </a:spcAft>
              <a:buClr>
                <a:srgbClr val="36364C"/>
              </a:buClr>
              <a:buSzPts val="1300"/>
              <a:buFont typeface="Poppins"/>
              <a:buChar char="■"/>
              <a:defRPr sz="1300">
                <a:solidFill>
                  <a:srgbClr val="36364C"/>
                </a:solidFill>
                <a:latin typeface="Poppins"/>
                <a:ea typeface="Poppins"/>
                <a:cs typeface="Poppins"/>
                <a:sym typeface="Poppins"/>
              </a:defRPr>
            </a:lvl3pPr>
            <a:lvl4pPr indent="-304800" lvl="3" marL="1828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4pPr>
            <a:lvl5pPr indent="-304800" lvl="4" marL="22860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5pPr>
            <a:lvl6pPr indent="-304800" lvl="5" marL="27432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6pPr>
            <a:lvl7pPr indent="-304800" lvl="6" marL="32004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7pPr>
            <a:lvl8pPr indent="-304800" lvl="7" marL="36576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8pPr>
            <a:lvl9pPr indent="-304800" lvl="8" marL="4114800">
              <a:lnSpc>
                <a:spcPct val="130000"/>
              </a:lnSpc>
              <a:spcBef>
                <a:spcPts val="0"/>
              </a:spcBef>
              <a:spcAft>
                <a:spcPts val="0"/>
              </a:spcAft>
              <a:buClr>
                <a:srgbClr val="36364C"/>
              </a:buClr>
              <a:buSzPts val="1200"/>
              <a:buFont typeface="Poppins"/>
              <a:buChar char="■"/>
              <a:defRPr sz="1200">
                <a:solidFill>
                  <a:srgbClr val="36364C"/>
                </a:solidFill>
                <a:latin typeface="Poppins"/>
                <a:ea typeface="Poppins"/>
                <a:cs typeface="Poppins"/>
                <a:sym typeface="Poppins"/>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Lst>
  <mc:AlternateContent>
    <mc:Choice Requires="p14">
      <p:transition p14:dur="200">
        <p:fade/>
      </p:transition>
    </mc:Choice>
    <mc:Fallback>
      <p:transition>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pic>
        <p:nvPicPr>
          <p:cNvPr id="81" name="Google Shape;81;p19" title="logo.png"/>
          <p:cNvPicPr preferRelativeResize="0"/>
          <p:nvPr/>
        </p:nvPicPr>
        <p:blipFill>
          <a:blip r:embed="rId3">
            <a:alphaModFix/>
          </a:blip>
          <a:stretch>
            <a:fillRect/>
          </a:stretch>
        </p:blipFill>
        <p:spPr>
          <a:xfrm>
            <a:off x="2594904" y="32075"/>
            <a:ext cx="3954193" cy="2076900"/>
          </a:xfrm>
          <a:prstGeom prst="rect">
            <a:avLst/>
          </a:prstGeom>
          <a:noFill/>
          <a:ln>
            <a:noFill/>
          </a:ln>
        </p:spPr>
      </p:pic>
      <p:sp>
        <p:nvSpPr>
          <p:cNvPr id="82" name="Google Shape;82;p19"/>
          <p:cNvSpPr txBox="1"/>
          <p:nvPr>
            <p:ph type="title"/>
          </p:nvPr>
        </p:nvSpPr>
        <p:spPr>
          <a:xfrm>
            <a:off x="457200" y="1536700"/>
            <a:ext cx="8229600" cy="1740000"/>
          </a:xfrm>
          <a:prstGeom prst="rect">
            <a:avLst/>
          </a:prstGeom>
          <a:solidFill>
            <a:srgbClr val="06038D"/>
          </a:solid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Who Can Turn Off</a:t>
            </a:r>
            <a:endParaRPr>
              <a:solidFill>
                <a:srgbClr val="FFFFFF"/>
              </a:solidFill>
            </a:endParaRPr>
          </a:p>
          <a:p>
            <a:pPr indent="0" lvl="0" marL="0" rtl="0" algn="ctr">
              <a:spcBef>
                <a:spcPts val="0"/>
              </a:spcBef>
              <a:spcAft>
                <a:spcPts val="0"/>
              </a:spcAft>
              <a:buNone/>
            </a:pPr>
            <a:r>
              <a:rPr lang="en">
                <a:solidFill>
                  <a:srgbClr val="FFFFFF"/>
                </a:solidFill>
              </a:rPr>
              <a:t>Your Ethereum App?</a:t>
            </a:r>
            <a:endParaRPr>
              <a:solidFill>
                <a:srgbClr val="FFFFFF"/>
              </a:solidFill>
            </a:endParaRPr>
          </a:p>
        </p:txBody>
      </p:sp>
      <p:sp>
        <p:nvSpPr>
          <p:cNvPr id="83" name="Google Shape;83;p19"/>
          <p:cNvSpPr txBox="1"/>
          <p:nvPr/>
        </p:nvSpPr>
        <p:spPr>
          <a:xfrm>
            <a:off x="2398500" y="4026092"/>
            <a:ext cx="4347000" cy="977700"/>
          </a:xfrm>
          <a:prstGeom prst="rect">
            <a:avLst/>
          </a:prstGeom>
          <a:noFill/>
          <a:ln>
            <a:noFill/>
          </a:ln>
        </p:spPr>
        <p:txBody>
          <a:bodyPr anchorCtr="0" anchor="ctr" bIns="91425" lIns="91425" spcFirstLastPara="1" rIns="91425" wrap="square" tIns="91425">
            <a:noAutofit/>
          </a:bodyPr>
          <a:lstStyle/>
          <a:p>
            <a:pPr indent="0" lvl="0" marL="0" rtl="0" algn="ctr">
              <a:lnSpc>
                <a:spcPct val="115000"/>
              </a:lnSpc>
              <a:spcBef>
                <a:spcPts val="0"/>
              </a:spcBef>
              <a:spcAft>
                <a:spcPts val="0"/>
              </a:spcAft>
              <a:buNone/>
            </a:pPr>
            <a:r>
              <a:rPr lang="en" sz="1800">
                <a:solidFill>
                  <a:srgbClr val="FFFFFF"/>
                </a:solidFill>
                <a:latin typeface="Roboto Condensed ExtraBold"/>
                <a:ea typeface="Roboto Condensed ExtraBold"/>
                <a:cs typeface="Roboto Condensed ExtraBold"/>
                <a:sym typeface="Roboto Condensed ExtraBold"/>
              </a:rPr>
              <a:t>James Carnley</a:t>
            </a:r>
            <a:endParaRPr sz="1800">
              <a:solidFill>
                <a:srgbClr val="FFFFFF"/>
              </a:solidFill>
              <a:latin typeface="Roboto Condensed ExtraBold"/>
              <a:ea typeface="Roboto Condensed ExtraBold"/>
              <a:cs typeface="Roboto Condensed ExtraBold"/>
              <a:sym typeface="Roboto Condensed ExtraBold"/>
            </a:endParaRPr>
          </a:p>
          <a:p>
            <a:pPr indent="0" lvl="0" marL="0" rtl="0" algn="ctr">
              <a:lnSpc>
                <a:spcPct val="115000"/>
              </a:lnSpc>
              <a:spcBef>
                <a:spcPts val="0"/>
              </a:spcBef>
              <a:spcAft>
                <a:spcPts val="0"/>
              </a:spcAft>
              <a:buNone/>
            </a:pPr>
            <a:r>
              <a:rPr lang="en" sz="1300">
                <a:solidFill>
                  <a:srgbClr val="FFFFFF"/>
                </a:solidFill>
                <a:latin typeface="Libre Franklin"/>
                <a:ea typeface="Libre Franklin"/>
                <a:cs typeface="Libre Franklin"/>
                <a:sym typeface="Libre Franklin"/>
              </a:rPr>
              <a:t>Ethereum File System</a:t>
            </a:r>
            <a:endParaRPr sz="1300">
              <a:solidFill>
                <a:srgbClr val="FFFFFF"/>
              </a:solidFill>
              <a:latin typeface="Libre Franklin"/>
              <a:ea typeface="Libre Franklin"/>
              <a:cs typeface="Libre Franklin"/>
              <a:sym typeface="Libre Franklin"/>
            </a:endParaRPr>
          </a:p>
        </p:txBody>
      </p:sp>
      <p:sp>
        <p:nvSpPr>
          <p:cNvPr id="84" name="Google Shape;84;p19"/>
          <p:cNvSpPr txBox="1"/>
          <p:nvPr>
            <p:ph idx="1" type="subTitle"/>
          </p:nvPr>
        </p:nvSpPr>
        <p:spPr>
          <a:xfrm>
            <a:off x="457200" y="2736700"/>
            <a:ext cx="8229600" cy="540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a:solidFill>
                  <a:srgbClr val="FFFFFF"/>
                </a:solidFill>
              </a:rPr>
              <a:t>A Full-Stack Walk-Away Test</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06038D"/>
                </a:solidFill>
              </a:rPr>
              <a:t>The archive</a:t>
            </a:r>
            <a:endParaRPr>
              <a:solidFill>
                <a:srgbClr val="06038D"/>
              </a:solidFill>
            </a:endParaRPr>
          </a:p>
          <a:p>
            <a:pPr indent="0" lvl="0" marL="0" rtl="0" algn="r">
              <a:spcBef>
                <a:spcPts val="0"/>
              </a:spcBef>
              <a:spcAft>
                <a:spcPts val="0"/>
              </a:spcAft>
              <a:buNone/>
            </a:pPr>
            <a:r>
              <a:rPr lang="en">
                <a:solidFill>
                  <a:srgbClr val="06038D"/>
                </a:solidFill>
              </a:rPr>
              <a:t>is still theirs</a:t>
            </a:r>
            <a:endParaRPr>
              <a:solidFill>
                <a:srgbClr val="06038D"/>
              </a:solidFill>
            </a:endParaRPr>
          </a:p>
        </p:txBody>
      </p:sp>
      <p:sp>
        <p:nvSpPr>
          <p:cNvPr id="90" name="Google Shape;90;p20"/>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rgbClr val="212121"/>
                </a:solidFill>
              </a:rPr>
              <a:t>A community spends years building an archive.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Someone returns for a file.</a:t>
            </a:r>
            <a:endParaRPr>
              <a:solidFill>
                <a:srgbClr val="212121"/>
              </a:solidFill>
            </a:endParaRPr>
          </a:p>
          <a:p>
            <a:pPr indent="0" lvl="0" marL="0" marR="0" rtl="0" algn="l">
              <a:spcBef>
                <a:spcPts val="0"/>
              </a:spcBef>
              <a:spcAft>
                <a:spcPts val="0"/>
              </a:spcAft>
              <a:buNone/>
            </a:pPr>
            <a:r>
              <a:rPr lang="en">
                <a:solidFill>
                  <a:srgbClr val="212121"/>
                </a:solidFill>
              </a:rPr>
              <a:t>The builder is gone.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Can they still find it, open it and trust it?</a:t>
            </a:r>
            <a:endParaRPr>
              <a:solidFill>
                <a:srgbClr val="212121"/>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The maintainer disappears</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Can users continue without the team's services, accounts or help?</a:t>
            </a:r>
            <a:endParaRPr>
              <a:solidFill>
                <a:srgbClr val="212121"/>
              </a:solidFill>
            </a:endParaRPr>
          </a:p>
        </p:txBody>
      </p:sp>
      <p:sp>
        <p:nvSpPr>
          <p:cNvPr id="96" name="Google Shape;96;p21"/>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The maintainer's keys are hostile</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Can users refuse a change and continue with what they trusted?</a:t>
            </a:r>
            <a:endParaRPr>
              <a:solidFill>
                <a:srgbClr val="212121"/>
              </a:solidFill>
            </a:endParaRPr>
          </a:p>
        </p:txBody>
      </p:sp>
      <p:sp>
        <p:nvSpPr>
          <p:cNvPr id="97" name="Google Shape;97;p2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Absence and hostile control</a:t>
            </a:r>
            <a:endParaRPr sz="2520">
              <a:solidFill>
                <a:srgbClr val="06038D"/>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Ethereum File System</a:t>
            </a:r>
            <a:endParaRPr sz="2520">
              <a:solidFill>
                <a:srgbClr val="06038D"/>
              </a:solidFill>
            </a:endParaRPr>
          </a:p>
        </p:txBody>
      </p:sp>
      <p:sp>
        <p:nvSpPr>
          <p:cNvPr id="103" name="Google Shape;103;p2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An open-source public good for file names and onchain records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Paths, provenance and verifiable file references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File bytes can live on different storage networks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Sepolia is the working example in this talk</a:t>
            </a:r>
            <a:endParaRPr>
              <a:solidFill>
                <a:srgbClr val="21212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Uniswap Labs interface</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Labs documents restrictions through its interfaces.</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The usual entrance has its own controls.</a:t>
            </a:r>
            <a:endParaRPr>
              <a:solidFill>
                <a:srgbClr val="212121"/>
              </a:solidFill>
            </a:endParaRPr>
          </a:p>
        </p:txBody>
      </p:sp>
      <p:sp>
        <p:nvSpPr>
          <p:cNvPr id="109" name="Google Shape;109;p2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Underlying protocol</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A different access layer.</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A user still needs a compatible client and a safe way to use it.</a:t>
            </a:r>
            <a:endParaRPr>
              <a:solidFill>
                <a:srgbClr val="212121"/>
              </a:solidFill>
            </a:endParaRPr>
          </a:p>
        </p:txBody>
      </p:sp>
      <p:sp>
        <p:nvSpPr>
          <p:cNvPr id="110" name="Google Shape;110;p2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The interface and the protocol</a:t>
            </a:r>
            <a:endParaRPr sz="2520">
              <a:solidFill>
                <a:srgbClr val="06038D"/>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The code the user actually runs</a:t>
            </a:r>
            <a:endParaRPr sz="2520">
              <a:solidFill>
                <a:srgbClr val="06038D"/>
              </a:solidFill>
            </a:endParaRPr>
          </a:p>
        </p:txBody>
      </p:sp>
      <p:sp>
        <p:nvSpPr>
          <p:cNvPr id="116" name="Google Shape;116;p2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Retain the runnable release and its dependencies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Inspect scripts loaded after the app starts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Test an old release on a fresh device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Rebuilding from source is a separate check</a:t>
            </a:r>
            <a:endParaRPr>
              <a:solidFill>
                <a:srgbClr val="21212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25"/>
          <p:cNvSpPr txBox="1"/>
          <p:nvPr>
            <p:ph type="title"/>
          </p:nvPr>
        </p:nvSpPr>
        <p:spPr>
          <a:xfrm>
            <a:off x="4837000" y="768000"/>
            <a:ext cx="3733200" cy="360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6038D"/>
                </a:solidFill>
              </a:rPr>
              <a:t>A familiar name</a:t>
            </a:r>
            <a:endParaRPr>
              <a:solidFill>
                <a:srgbClr val="06038D"/>
              </a:solidFill>
            </a:endParaRPr>
          </a:p>
          <a:p>
            <a:pPr indent="0" lvl="0" marL="0" rtl="0" algn="l">
              <a:spcBef>
                <a:spcPts val="0"/>
              </a:spcBef>
              <a:spcAft>
                <a:spcPts val="0"/>
              </a:spcAft>
              <a:buNone/>
            </a:pPr>
            <a:r>
              <a:rPr lang="en">
                <a:solidFill>
                  <a:srgbClr val="06038D"/>
                </a:solidFill>
              </a:rPr>
              <a:t>can change</a:t>
            </a:r>
            <a:endParaRPr>
              <a:solidFill>
                <a:srgbClr val="06038D"/>
              </a:solidFill>
            </a:endParaRPr>
          </a:p>
        </p:txBody>
      </p:sp>
      <p:sp>
        <p:nvSpPr>
          <p:cNvPr id="122" name="Google Shape;122;p25"/>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rgbClr val="212121"/>
                </a:solidFill>
              </a:rPr>
              <a:t>ENS names point to content.</a:t>
            </a:r>
            <a:endParaRPr>
              <a:solidFill>
                <a:srgbClr val="212121"/>
              </a:solidFill>
            </a:endParaRPr>
          </a:p>
          <a:p>
            <a:pPr indent="0" lvl="0" marL="0" marR="0" rtl="0" algn="l">
              <a:spcBef>
                <a:spcPts val="0"/>
              </a:spcBef>
              <a:spcAft>
                <a:spcPts val="0"/>
              </a:spcAft>
              <a:buNone/>
            </a:pPr>
            <a:r>
              <a:rPr lang="en">
                <a:solidFill>
                  <a:srgbClr val="212121"/>
                </a:solidFill>
              </a:rPr>
              <a:t>A browser gateway provides an access route.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Retain the accepted release reference.</a:t>
            </a:r>
            <a:endParaRPr>
              <a:solidFill>
                <a:srgbClr val="212121"/>
              </a:solidFill>
            </a:endParaRPr>
          </a:p>
          <a:p>
            <a:pPr indent="0" lvl="0" marL="0" marR="0" rtl="0" algn="l">
              <a:spcBef>
                <a:spcPts val="0"/>
              </a:spcBef>
              <a:spcAft>
                <a:spcPts val="0"/>
              </a:spcAft>
              <a:buNone/>
            </a:pPr>
            <a:r>
              <a:rPr lang="en">
                <a:solidFill>
                  <a:srgbClr val="212121"/>
                </a:solidFill>
              </a:rPr>
              <a:t>Test another route.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Who chooses the next reference?</a:t>
            </a:r>
            <a:endParaRPr>
              <a:solidFill>
                <a:srgbClr val="21212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Finding and checking the records</a:t>
            </a:r>
            <a:endParaRPr sz="2520">
              <a:solidFill>
                <a:srgbClr val="06038D"/>
              </a:solidFill>
            </a:endParaRPr>
          </a:p>
        </p:txBody>
      </p:sp>
      <p:sp>
        <p:nvSpPr>
          <p:cNvPr id="128" name="Google Shape;128;p2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Storage needs retained copies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RPC responses need a known chain and block basis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Indexes need definitions and sufficient history</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A correct result may still be stale or incomplete</a:t>
            </a:r>
            <a:endParaRPr>
              <a:solidFill>
                <a:srgbClr val="21212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7"/>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Public file retrieval</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Bytes and a trusted reference may be enough to read.</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Our EFS task follows this path.</a:t>
            </a:r>
            <a:endParaRPr>
              <a:solidFill>
                <a:srgbClr val="212121"/>
              </a:solidFill>
            </a:endParaRPr>
          </a:p>
        </p:txBody>
      </p:sp>
      <p:sp>
        <p:nvSpPr>
          <p:cNvPr id="134" name="Google Shape;134;p27"/>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Private work or new writes</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Decryption, signing and account recovery add dependencies.</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Test them separately with test accounts.</a:t>
            </a:r>
            <a:endParaRPr>
              <a:solidFill>
                <a:srgbClr val="212121"/>
              </a:solidFill>
            </a:endParaRPr>
          </a:p>
        </p:txBody>
      </p:sp>
      <p:sp>
        <p:nvSpPr>
          <p:cNvPr id="135" name="Google Shape;135;p2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Recovery needs the right keys</a:t>
            </a:r>
            <a:endParaRPr sz="2520">
              <a:solidFill>
                <a:srgbClr val="06038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8"/>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Who can change the rules?</a:t>
            </a:r>
            <a:endParaRPr sz="2520">
              <a:solidFill>
                <a:srgbClr val="06038D"/>
              </a:solidFill>
            </a:endParaRPr>
          </a:p>
        </p:txBody>
      </p:sp>
      <p:sp>
        <p:nvSpPr>
          <p:cNvPr id="141" name="Google Shape;141;p28"/>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Contract upgrades, pauses and configuration roles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Account modules and recovery powers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External contracts and their controllers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Fixed code still needs a plan for bugs</a:t>
            </a:r>
            <a:endParaRPr>
              <a:solidFill>
                <a:srgbClr val="21212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Work that happens offchain</a:t>
            </a:r>
            <a:endParaRPr sz="2520">
              <a:solidFill>
                <a:srgbClr val="06038D"/>
              </a:solidFill>
            </a:endParaRPr>
          </a:p>
        </p:txBody>
      </p:sp>
      <p:sp>
        <p:nvSpPr>
          <p:cNvPr id="147" name="Google Shape;147;p2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Keepers, provers, relayers and sponsored transactions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Fresh oracle inputs and inherited protocols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Replacement operators need inputs, permission and funds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Some failures call for a safe read-only mode</a:t>
            </a:r>
            <a:endParaRPr>
              <a:solidFill>
                <a:srgbClr val="21212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3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The network underneath the app</a:t>
            </a:r>
            <a:endParaRPr sz="2520">
              <a:solidFill>
                <a:srgbClr val="06038D"/>
              </a:solidFill>
            </a:endParaRPr>
          </a:p>
        </p:txBody>
      </p:sp>
      <p:sp>
        <p:nvSpPr>
          <p:cNvPr id="153" name="Google Shape;153;p3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Internet access and reachable peers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Execution and consensus clients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Validators, transaction inclusion and finality</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Required history and network lifetime</a:t>
            </a:r>
            <a:endParaRPr>
              <a:solidFill>
                <a:srgbClr val="21212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1"/>
          <p:cNvSpPr txBox="1"/>
          <p:nvPr>
            <p:ph type="title"/>
          </p:nvPr>
        </p:nvSpPr>
        <p:spPr>
          <a:xfrm>
            <a:off x="587375" y="694800"/>
            <a:ext cx="3693000" cy="37539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r>
              <a:rPr lang="en">
                <a:solidFill>
                  <a:srgbClr val="FFFFFF"/>
                </a:solidFill>
              </a:rPr>
              <a:t>An L2 recovery path</a:t>
            </a:r>
            <a:endParaRPr>
              <a:solidFill>
                <a:srgbClr val="FFFFFF"/>
              </a:solidFill>
            </a:endParaRPr>
          </a:p>
          <a:p>
            <a:pPr indent="0" lvl="0" marL="0" rtl="0" algn="r">
              <a:spcBef>
                <a:spcPts val="0"/>
              </a:spcBef>
              <a:spcAft>
                <a:spcPts val="0"/>
              </a:spcAft>
              <a:buNone/>
            </a:pPr>
            <a:r>
              <a:rPr lang="en">
                <a:solidFill>
                  <a:srgbClr val="FFFFFF"/>
                </a:solidFill>
              </a:rPr>
              <a:t>has conditions</a:t>
            </a:r>
            <a:endParaRPr>
              <a:solidFill>
                <a:srgbClr val="FFFFFF"/>
              </a:solidFill>
            </a:endParaRPr>
          </a:p>
        </p:txBody>
      </p:sp>
      <p:sp>
        <p:nvSpPr>
          <p:cNvPr id="159" name="Google Shape;159;p31"/>
          <p:cNvSpPr txBox="1"/>
          <p:nvPr>
            <p:ph idx="1" type="body"/>
          </p:nvPr>
        </p:nvSpPr>
        <p:spPr>
          <a:xfrm>
            <a:off x="4859150" y="694800"/>
            <a:ext cx="3693000" cy="3834300"/>
          </a:xfrm>
          <a:prstGeom prst="rect">
            <a:avLst/>
          </a:prstGeom>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rgbClr val="212121"/>
                </a:solidFill>
              </a:rPr>
              <a:t>OP Stack documents an L1 route during sequencer outages.</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Check the chosen chain and account type.</a:t>
            </a:r>
            <a:endParaRPr>
              <a:solidFill>
                <a:srgbClr val="212121"/>
              </a:solidFill>
            </a:endParaRPr>
          </a:p>
          <a:p>
            <a:pPr indent="0" lvl="0" marL="0" marR="0" rtl="0" algn="l">
              <a:spcBef>
                <a:spcPts val="0"/>
              </a:spcBef>
              <a:spcAft>
                <a:spcPts val="0"/>
              </a:spcAft>
              <a:buNone/>
            </a:pPr>
            <a:r>
              <a:rPr lang="en">
                <a:solidFill>
                  <a:srgbClr val="212121"/>
                </a:solidFill>
              </a:rPr>
              <a:t>Budget fees and delay.</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Forced inclusion and withdrawal are separate tests.</a:t>
            </a:r>
            <a:endParaRPr>
              <a:solidFill>
                <a:srgbClr val="212121"/>
              </a:solidFill>
            </a:endParaRPr>
          </a:p>
        </p:txBody>
      </p:sp>
    </p:spTree>
  </p:cSld>
  <p:clrMapOvr>
    <a:masterClrMapping/>
  </p:clrMapOvr>
  <mc:AlternateContent>
    <mc:Choice Requires="p14">
      <p:transition p14:dur="20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One file and an accepted reference</a:t>
            </a:r>
            <a:endParaRPr sz="2520">
              <a:solidFill>
                <a:srgbClr val="06038D"/>
              </a:solidFill>
            </a:endParaRPr>
          </a:p>
        </p:txBody>
      </p:sp>
      <p:sp>
        <p:nvSpPr>
          <p:cNvPr id="165" name="Google Shape;165;p3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Rehearsal walkthrough: planned checks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File identity and public records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Expected content reference accepted in advance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Remaining inputs: RPC, gateway and retained bytes</a:t>
            </a:r>
            <a:endParaRPr>
              <a:solidFill>
                <a:srgbClr val="21212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First retrieval</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Fetch through IPFS.</a:t>
            </a:r>
            <a:endParaRPr>
              <a:solidFill>
                <a:srgbClr val="212121"/>
              </a:solidFill>
            </a:endParaRPr>
          </a:p>
          <a:p>
            <a:pPr indent="0" lvl="0" marL="0" marR="0" rtl="0" algn="l">
              <a:spcBef>
                <a:spcPts val="0"/>
              </a:spcBef>
              <a:spcAft>
                <a:spcPts val="0"/>
              </a:spcAft>
              <a:buNone/>
            </a:pPr>
            <a:r>
              <a:rPr lang="en">
                <a:solidFill>
                  <a:srgbClr val="212121"/>
                </a:solidFill>
              </a:rPr>
              <a:t>Compare against the accepted reference.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Planned check</a:t>
            </a:r>
            <a:endParaRPr>
              <a:solidFill>
                <a:srgbClr val="212121"/>
              </a:solidFill>
            </a:endParaRPr>
          </a:p>
        </p:txBody>
      </p:sp>
      <p:sp>
        <p:nvSpPr>
          <p:cNvPr id="171" name="Google Shape;171;p3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Replacement retrieval</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Disable the selected IPFS path.</a:t>
            </a:r>
            <a:endParaRPr>
              <a:solidFill>
                <a:srgbClr val="212121"/>
              </a:solidFill>
            </a:endParaRPr>
          </a:p>
          <a:p>
            <a:pPr indent="0" lvl="0" marL="0" marR="0" rtl="0" algn="l">
              <a:spcBef>
                <a:spcPts val="0"/>
              </a:spcBef>
              <a:spcAft>
                <a:spcPts val="0"/>
              </a:spcAft>
              <a:buNone/>
            </a:pPr>
            <a:r>
              <a:rPr lang="en">
                <a:solidFill>
                  <a:srgbClr val="212121"/>
                </a:solidFill>
              </a:rPr>
              <a:t>Fetch through Arweave.</a:t>
            </a:r>
            <a:endParaRPr>
              <a:solidFill>
                <a:srgbClr val="212121"/>
              </a:solidFill>
            </a:endParaRPr>
          </a:p>
          <a:p>
            <a:pPr indent="0" lvl="0" marL="0" marR="0" rtl="0" algn="l">
              <a:spcBef>
                <a:spcPts val="0"/>
              </a:spcBef>
              <a:spcAft>
                <a:spcPts val="0"/>
              </a:spcAft>
              <a:buNone/>
            </a:pPr>
            <a:r>
              <a:rPr lang="en">
                <a:solidFill>
                  <a:srgbClr val="212121"/>
                </a:solidFill>
              </a:rPr>
              <a:t>Check the same reference.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Planned check</a:t>
            </a:r>
            <a:endParaRPr>
              <a:solidFill>
                <a:srgbClr val="212121"/>
              </a:solidFill>
            </a:endParaRPr>
          </a:p>
        </p:txBody>
      </p:sp>
      <p:sp>
        <p:nvSpPr>
          <p:cNvPr id="172" name="Google Shape;172;p3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A different route to the same file</a:t>
            </a:r>
            <a:endParaRPr sz="2520">
              <a:solidFill>
                <a:srgbClr val="06038D"/>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4"/>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INVALID</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Retrieved bytes fail the expected check.</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Inject a changed local fixture.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Planned check</a:t>
            </a:r>
            <a:endParaRPr>
              <a:solidFill>
                <a:srgbClr val="212121"/>
              </a:solidFill>
            </a:endParaRPr>
          </a:p>
        </p:txBody>
      </p:sp>
      <p:sp>
        <p:nvSpPr>
          <p:cNvPr id="178" name="Google Shape;178;p34"/>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UNAVAILABLE</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The selected source returns no usable response.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That says nothing about every other copy.</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Planned check</a:t>
            </a:r>
            <a:endParaRPr>
              <a:solidFill>
                <a:srgbClr val="212121"/>
              </a:solidFill>
            </a:endParaRPr>
          </a:p>
        </p:txBody>
      </p:sp>
      <p:sp>
        <p:nvSpPr>
          <p:cNvPr id="179" name="Google Shape;179;p3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Bad bytes and a missing response</a:t>
            </a:r>
            <a:endParaRPr sz="2520">
              <a:solidFill>
                <a:srgbClr val="06038D"/>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5"/>
          <p:cNvSpPr txBox="1"/>
          <p:nvPr>
            <p:ph type="title"/>
          </p:nvPr>
        </p:nvSpPr>
        <p:spPr>
          <a:xfrm>
            <a:off x="4837000" y="768000"/>
            <a:ext cx="3733200" cy="36075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solidFill>
                  <a:srgbClr val="06038D"/>
                </a:solidFill>
              </a:rPr>
              <a:t>The attacker has</a:t>
            </a:r>
            <a:endParaRPr>
              <a:solidFill>
                <a:srgbClr val="06038D"/>
              </a:solidFill>
            </a:endParaRPr>
          </a:p>
          <a:p>
            <a:pPr indent="0" lvl="0" marL="0" rtl="0" algn="l">
              <a:spcBef>
                <a:spcPts val="0"/>
              </a:spcBef>
              <a:spcAft>
                <a:spcPts val="0"/>
              </a:spcAft>
              <a:buNone/>
            </a:pPr>
            <a:r>
              <a:rPr lang="en">
                <a:solidFill>
                  <a:srgbClr val="06038D"/>
                </a:solidFill>
              </a:rPr>
              <a:t>the right key</a:t>
            </a:r>
            <a:endParaRPr>
              <a:solidFill>
                <a:srgbClr val="06038D"/>
              </a:solidFill>
            </a:endParaRPr>
          </a:p>
        </p:txBody>
      </p:sp>
      <p:sp>
        <p:nvSpPr>
          <p:cNvPr id="185" name="Google Shape;185;p35"/>
          <p:cNvSpPr txBox="1"/>
          <p:nvPr>
            <p:ph idx="1" type="body"/>
          </p:nvPr>
        </p:nvSpPr>
        <p:spPr>
          <a:xfrm>
            <a:off x="651850" y="617600"/>
            <a:ext cx="3733200" cy="4014300"/>
          </a:xfrm>
          <a:prstGeom prst="rect">
            <a:avLst/>
          </a:prstGeom>
        </p:spPr>
        <p:txBody>
          <a:bodyPr anchorCtr="0" anchor="ctr" bIns="91425" lIns="91425" spcFirstLastPara="1" rIns="91425" wrap="square" tIns="91425">
            <a:noAutofit/>
          </a:bodyPr>
          <a:lstStyle/>
          <a:p>
            <a:pPr indent="0" lvl="0" marL="0" marR="0" rtl="0" algn="l">
              <a:spcBef>
                <a:spcPts val="0"/>
              </a:spcBef>
              <a:spcAft>
                <a:spcPts val="0"/>
              </a:spcAft>
              <a:buNone/>
            </a:pPr>
            <a:r>
              <a:rPr lang="en">
                <a:solidFill>
                  <a:srgbClr val="212121"/>
                </a:solidFill>
              </a:rPr>
              <a:t>You accepted release A.</a:t>
            </a:r>
            <a:endParaRPr>
              <a:solidFill>
                <a:srgbClr val="212121"/>
              </a:solidFill>
            </a:endParaRPr>
          </a:p>
          <a:p>
            <a:pPr indent="0" lvl="0" marL="0" marR="0" rtl="0" algn="l">
              <a:spcBef>
                <a:spcPts val="0"/>
              </a:spcBef>
              <a:spcAft>
                <a:spcPts val="0"/>
              </a:spcAft>
              <a:buNone/>
            </a:pPr>
            <a:r>
              <a:rPr lang="en">
                <a:solidFill>
                  <a:srgbClr val="212121"/>
                </a:solidFill>
              </a:rPr>
              <a:t>The controller publishes release B.</a:t>
            </a:r>
            <a:endParaRPr>
              <a:solidFill>
                <a:srgbClr val="212121"/>
              </a:solidFill>
            </a:endParaRPr>
          </a:p>
          <a:p>
            <a:pPr indent="0" lvl="0" marL="0" marR="0" rtl="0" algn="l">
              <a:spcBef>
                <a:spcPts val="0"/>
              </a:spcBef>
              <a:spcAft>
                <a:spcPts val="0"/>
              </a:spcAft>
              <a:buNone/>
            </a:pPr>
            <a:r>
              <a:rPr lang="en">
                <a:solidFill>
                  <a:srgbClr val="212121"/>
                </a:solidFill>
              </a:rPr>
              <a:t>Both have valid hashes.</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Can you keep using A?</a:t>
            </a:r>
            <a:endParaRPr>
              <a:solidFill>
                <a:srgbClr val="212121"/>
              </a:solidFill>
            </a:endParaRPr>
          </a:p>
          <a:p>
            <a:pPr indent="0" lvl="0" marL="0" marR="0" rtl="0" algn="l">
              <a:spcBef>
                <a:spcPts val="0"/>
              </a:spcBef>
              <a:spcAft>
                <a:spcPts val="0"/>
              </a:spcAft>
              <a:buNone/>
            </a:pPr>
            <a:r>
              <a:rPr lang="en">
                <a:solidFill>
                  <a:srgbClr val="212121"/>
                </a:solidFill>
              </a:rPr>
              <a:t>What shared state can still change?</a:t>
            </a:r>
            <a:endParaRPr>
              <a:solidFill>
                <a:srgbClr val="21212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36"/>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One essential task in your app</a:t>
            </a:r>
            <a:endParaRPr sz="2520">
              <a:solidFill>
                <a:srgbClr val="06038D"/>
              </a:solidFill>
            </a:endParaRPr>
          </a:p>
        </p:txBody>
      </p:sp>
      <p:sp>
        <p:nvSpPr>
          <p:cNvPr id="191" name="Google Shape;191;p36"/>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Choose the task users cannot afford to lose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Trace what it needs and who controls it</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Remove the team's services, credentials and help</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Repeat with the team's authority in hostile hands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Record the recovery path, effort and remaining trust</a:t>
            </a:r>
            <a:endParaRPr>
              <a:solidFill>
                <a:srgbClr val="21212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7"/>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Recovery has to be usable</a:t>
            </a:r>
            <a:endParaRPr sz="2520">
              <a:solidFill>
                <a:srgbClr val="06038D"/>
              </a:solidFill>
            </a:endParaRPr>
          </a:p>
        </p:txBody>
      </p:sp>
      <p:sp>
        <p:nvSpPr>
          <p:cNvPr id="197" name="Google Shape;197;p37"/>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An export needs a working importer</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Copies need people and funding</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Recovery needs affordable time, fees and tools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The user has to recognize when to switch</a:t>
            </a:r>
            <a:endParaRPr>
              <a:solidFill>
                <a:srgbClr val="21212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8"/>
          <p:cNvSpPr txBox="1"/>
          <p:nvPr>
            <p:ph type="title"/>
          </p:nvPr>
        </p:nvSpPr>
        <p:spPr>
          <a:xfrm>
            <a:off x="703375" y="935400"/>
            <a:ext cx="7737300" cy="3272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solidFill>
                  <a:srgbClr val="06038D"/>
                </a:solidFill>
              </a:rPr>
              <a:t>Let their work outlive yours</a:t>
            </a:r>
            <a:endParaRPr>
              <a:solidFill>
                <a:srgbClr val="06038D"/>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9"/>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Resources and discussion</a:t>
            </a:r>
            <a:endParaRPr sz="2520">
              <a:solidFill>
                <a:srgbClr val="06038D"/>
              </a:solidFill>
            </a:endParaRPr>
          </a:p>
        </p:txBody>
      </p:sp>
      <p:sp>
        <p:nvSpPr>
          <p:cNvPr id="208" name="Google Shape;208;p39"/>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Ethereum File System: efs.eth.limo</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Working Sepolia app: app.efs.eth.limo</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EFS overview video: youtu.be/gZl711IriSM</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Take-home exercise: one task, absence, hostile control</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Sources and deployment limits are in the speaker notes</a:t>
            </a:r>
            <a:endParaRPr>
              <a:solidFill>
                <a:srgbClr val="21212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2" name="Shape 212"/>
        <p:cNvGrpSpPr/>
        <p:nvPr/>
      </p:nvGrpSpPr>
      <p:grpSpPr>
        <a:xfrm>
          <a:off x="0" y="0"/>
          <a:ext cx="0" cy="0"/>
          <a:chOff x="0" y="0"/>
          <a:chExt cx="0" cy="0"/>
        </a:xfrm>
      </p:grpSpPr>
      <p:sp>
        <p:nvSpPr>
          <p:cNvPr id="213" name="Google Shape;213;p40"/>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App and data recovery checks</a:t>
            </a:r>
            <a:endParaRPr sz="2520">
              <a:solidFill>
                <a:srgbClr val="06038D"/>
              </a:solidFill>
            </a:endParaRPr>
          </a:p>
        </p:txBody>
      </p:sp>
      <p:sp>
        <p:nvSpPr>
          <p:cNvPr id="214" name="Google Shape;214;p40"/>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Release, source, dependency versions and runtime scripts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Device, browser, local state and signing interface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Name controllers, resolver, renewal and accepted reference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Storage copies, gateways and retention funding</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RPC basis, index definitions, freshness and completeness</a:t>
            </a:r>
            <a:endParaRPr>
              <a:solidFill>
                <a:srgbClr val="21212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8" name="Shape 218"/>
        <p:cNvGrpSpPr/>
        <p:nvPr/>
      </p:nvGrpSpPr>
      <p:grpSpPr>
        <a:xfrm>
          <a:off x="0" y="0"/>
          <a:ext cx="0" cy="0"/>
          <a:chOff x="0" y="0"/>
          <a:chExt cx="0" cy="0"/>
        </a:xfrm>
      </p:grpSpPr>
      <p:sp>
        <p:nvSpPr>
          <p:cNvPr id="219" name="Google Shape;219;p41"/>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Authority and computation checks</a:t>
            </a:r>
            <a:endParaRPr sz="2520">
              <a:solidFill>
                <a:srgbClr val="06038D"/>
              </a:solidFill>
            </a:endParaRPr>
          </a:p>
        </p:txBody>
      </p:sp>
      <p:sp>
        <p:nvSpPr>
          <p:cNvPr id="220" name="Google Shape;220;p41"/>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Login, signer transport, recovery and decryption keys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Proxy, pause, configuration and account-module powers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Keepers, provers, relayers, bundlers and paymasters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Oracle freshness, tokens, bridges and inherited upgrades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Permission, inputs and funding for replacement operators</a:t>
            </a:r>
            <a:endParaRPr>
              <a:solidFill>
                <a:srgbClr val="21212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24" name="Shape 224"/>
        <p:cNvGrpSpPr/>
        <p:nvPr/>
      </p:nvGrpSpPr>
      <p:grpSpPr>
        <a:xfrm>
          <a:off x="0" y="0"/>
          <a:ext cx="0" cy="0"/>
          <a:chOff x="0" y="0"/>
          <a:chExt cx="0" cy="0"/>
        </a:xfrm>
      </p:grpSpPr>
      <p:sp>
        <p:nvSpPr>
          <p:cNvPr id="225" name="Google Shape;225;p42"/>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Network, chain and exit checks</a:t>
            </a:r>
            <a:endParaRPr sz="2520">
              <a:solidFill>
                <a:srgbClr val="06038D"/>
              </a:solidFill>
            </a:endParaRPr>
          </a:p>
        </p:txBody>
      </p:sp>
      <p:sp>
        <p:nvSpPr>
          <p:cNvPr id="226" name="Google Shape;226;p42"/>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Internet paths, cloud accounts, peers and bootstrapping</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Execution, consensus, validators, inclusion and finality</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Required history and testnet lifetime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L2 data, settlement, upgrade powers and recovery routes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Usable import, continued work, shared operators and cost</a:t>
            </a:r>
            <a:endParaRPr>
              <a:solidFill>
                <a:srgbClr val="212121"/>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0" name="Shape 230"/>
        <p:cNvGrpSpPr/>
        <p:nvPr/>
      </p:nvGrpSpPr>
      <p:grpSpPr>
        <a:xfrm>
          <a:off x="0" y="0"/>
          <a:ext cx="0" cy="0"/>
          <a:chOff x="0" y="0"/>
          <a:chExt cx="0" cy="0"/>
        </a:xfrm>
      </p:grpSpPr>
      <p:sp>
        <p:nvSpPr>
          <p:cNvPr id="231" name="Google Shape;231;p43"/>
          <p:cNvSpPr txBox="1"/>
          <p:nvPr>
            <p:ph idx="1" type="body"/>
          </p:nvPr>
        </p:nvSpPr>
        <p:spPr>
          <a:xfrm>
            <a:off x="720549" y="1280150"/>
            <a:ext cx="37527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Exploratory proposal</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Retain a program and versioned execution rules while proving tools evolve.</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EIP-8288 is Draft.</a:t>
            </a:r>
            <a:endParaRPr>
              <a:solidFill>
                <a:srgbClr val="212121"/>
              </a:solidFill>
            </a:endParaRPr>
          </a:p>
        </p:txBody>
      </p:sp>
      <p:sp>
        <p:nvSpPr>
          <p:cNvPr id="232" name="Google Shape;232;p43"/>
          <p:cNvSpPr txBox="1"/>
          <p:nvPr>
            <p:ph idx="2" type="body"/>
          </p:nvPr>
        </p:nvSpPr>
        <p:spPr>
          <a:xfrm>
            <a:off x="4680000" y="1280150"/>
            <a:ext cx="3792300" cy="3416400"/>
          </a:xfrm>
          <a:prstGeom prst="rect">
            <a:avLst/>
          </a:prstGeom>
        </p:spPr>
        <p:txBody>
          <a:bodyPr anchorCtr="0" anchor="t" bIns="91425" lIns="91425" spcFirstLastPara="1" rIns="91425" wrap="square" tIns="91425">
            <a:noAutofit/>
          </a:bodyPr>
          <a:lstStyle/>
          <a:p>
            <a:pPr indent="0" lvl="0" marL="0" marR="0" rtl="0" algn="l">
              <a:spcBef>
                <a:spcPts val="0"/>
              </a:spcBef>
              <a:spcAft>
                <a:spcPts val="0"/>
              </a:spcAft>
              <a:buNone/>
            </a:pPr>
            <a:r>
              <a:rPr b="1" lang="en">
                <a:solidFill>
                  <a:srgbClr val="212121"/>
                </a:solidFill>
              </a:rPr>
              <a:t>Application question</a:t>
            </a:r>
            <a:endParaRPr b="1">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Can a replacement operator still perform every required computation?</a:t>
            </a:r>
            <a:endParaRPr>
              <a:solidFill>
                <a:srgbClr val="212121"/>
              </a:solidFill>
            </a:endParaRPr>
          </a:p>
          <a:p>
            <a:pPr indent="0" lvl="0" marL="0" marR="0" rtl="0" algn="l">
              <a:spcBef>
                <a:spcPts val="0"/>
              </a:spcBef>
              <a:spcAft>
                <a:spcPts val="0"/>
              </a:spcAft>
              <a:buNone/>
            </a:pPr>
            <a:r>
              <a:t/>
            </a:r>
            <a:endParaRPr>
              <a:solidFill>
                <a:srgbClr val="212121"/>
              </a:solidFill>
            </a:endParaRPr>
          </a:p>
          <a:p>
            <a:pPr indent="0" lvl="0" marL="0" marR="0" rtl="0" algn="l">
              <a:spcBef>
                <a:spcPts val="0"/>
              </a:spcBef>
              <a:spcAft>
                <a:spcPts val="0"/>
              </a:spcAft>
              <a:buNone/>
            </a:pPr>
            <a:r>
              <a:rPr lang="en">
                <a:solidFill>
                  <a:srgbClr val="212121"/>
                </a:solidFill>
              </a:rPr>
              <a:t>Compatibility has a maintenance cost.</a:t>
            </a:r>
            <a:endParaRPr>
              <a:solidFill>
                <a:srgbClr val="212121"/>
              </a:solidFill>
            </a:endParaRPr>
          </a:p>
        </p:txBody>
      </p:sp>
      <p:sp>
        <p:nvSpPr>
          <p:cNvPr id="233" name="Google Shape;233;p43"/>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Immutable programs and changing tools</a:t>
            </a:r>
            <a:endParaRPr sz="2520">
              <a:solidFill>
                <a:srgbClr val="06038D"/>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37" name="Shape 237"/>
        <p:cNvGrpSpPr/>
        <p:nvPr/>
      </p:nvGrpSpPr>
      <p:grpSpPr>
        <a:xfrm>
          <a:off x="0" y="0"/>
          <a:ext cx="0" cy="0"/>
          <a:chOff x="0" y="0"/>
          <a:chExt cx="0" cy="0"/>
        </a:xfrm>
      </p:grpSpPr>
      <p:sp>
        <p:nvSpPr>
          <p:cNvPr id="238" name="Google Shape;238;p44"/>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What the EFS demonstration establishes</a:t>
            </a:r>
            <a:endParaRPr sz="2520">
              <a:solidFill>
                <a:srgbClr val="06038D"/>
              </a:solidFill>
            </a:endParaRPr>
          </a:p>
        </p:txBody>
      </p:sp>
      <p:sp>
        <p:nvSpPr>
          <p:cNvPr id="239" name="Google Shape;239;p44"/>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One accepted reference and one artifact</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Alternate carrier retrieval, mismatch and unavailable-path checks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Separate authority analysis for authorized malicious changes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Still to verify: fresh outputs, deployed powers and cold recovery</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Reading one file does not establish every write or discovery path</a:t>
            </a:r>
            <a:endParaRPr>
              <a:solidFill>
                <a:srgbClr val="21212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43" name="Shape 243"/>
        <p:cNvGrpSpPr/>
        <p:nvPr/>
      </p:nvGrpSpPr>
      <p:grpSpPr>
        <a:xfrm>
          <a:off x="0" y="0"/>
          <a:ext cx="0" cy="0"/>
          <a:chOff x="0" y="0"/>
          <a:chExt cx="0" cy="0"/>
        </a:xfrm>
      </p:grpSpPr>
      <p:sp>
        <p:nvSpPr>
          <p:cNvPr id="244" name="Google Shape;244;p45"/>
          <p:cNvSpPr txBox="1"/>
          <p:nvPr>
            <p:ph type="title"/>
          </p:nvPr>
        </p:nvSpPr>
        <p:spPr>
          <a:xfrm>
            <a:off x="874950" y="533400"/>
            <a:ext cx="7394100" cy="598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520">
                <a:solidFill>
                  <a:srgbClr val="06038D"/>
                </a:solidFill>
              </a:rPr>
              <a:t>Questions worth practicing</a:t>
            </a:r>
            <a:endParaRPr sz="2520">
              <a:solidFill>
                <a:srgbClr val="06038D"/>
              </a:solidFill>
            </a:endParaRPr>
          </a:p>
        </p:txBody>
      </p:sp>
      <p:sp>
        <p:nvSpPr>
          <p:cNvPr id="245" name="Google Shape;245;p45"/>
          <p:cNvSpPr txBox="1"/>
          <p:nvPr>
            <p:ph idx="1" type="body"/>
          </p:nvPr>
        </p:nvSpPr>
        <p:spPr>
          <a:xfrm>
            <a:off x="651925" y="1304875"/>
            <a:ext cx="7840200" cy="3416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Clr>
                <a:srgbClr val="212121"/>
              </a:buClr>
              <a:buSzPts val="1400"/>
              <a:buChar char="●"/>
            </a:pPr>
            <a:r>
              <a:rPr lang="en">
                <a:solidFill>
                  <a:srgbClr val="212121"/>
                </a:solidFill>
              </a:rPr>
              <a:t>What survives if an RPC, gateway or sequencer disappears?</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What can a compromised controller still change?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How does a newcomer find the accepted reference?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What did the demonstration actually prove?</a:t>
            </a:r>
            <a:endParaRPr>
              <a:solidFill>
                <a:srgbClr val="212121"/>
              </a:solidFill>
            </a:endParaRPr>
          </a:p>
          <a:p>
            <a:pPr indent="-317500" lvl="0" marL="457200" rtl="0" algn="l">
              <a:spcBef>
                <a:spcPts val="0"/>
              </a:spcBef>
              <a:spcAft>
                <a:spcPts val="0"/>
              </a:spcAft>
              <a:buClr>
                <a:srgbClr val="212121"/>
              </a:buClr>
              <a:buSzPts val="1400"/>
              <a:buChar char="●"/>
            </a:pPr>
            <a:r>
              <a:rPr lang="en">
                <a:solidFill>
                  <a:srgbClr val="212121"/>
                </a:solidFill>
              </a:rPr>
              <a:t>What should a small team improve first?</a:t>
            </a:r>
            <a:endParaRPr>
              <a:solidFill>
                <a:srgbClr val="21212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vcon 8 India Slides Key Visual">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