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Roboto Thin"/>
      <p:regular r:id="rId25"/>
      <p:bold r:id="rId26"/>
      <p:italic r:id="rId27"/>
      <p:boldItalic r:id="rId28"/>
    </p:embeddedFont>
    <p:embeddedFont>
      <p:font typeface="Roboto Condensed ExtraBold"/>
      <p:bold r:id="rId29"/>
      <p:boldItalic r:id="rId30"/>
    </p:embeddedFont>
    <p:embeddedFont>
      <p:font typeface="Libre Franklin"/>
      <p:regular r:id="rId31"/>
      <p:bold r:id="rId32"/>
      <p:italic r:id="rId33"/>
      <p:boldItalic r:id="rId34"/>
    </p:embeddedFont>
    <p:embeddedFont>
      <p:font typeface="Poppins"/>
      <p:regular r:id="rId35"/>
      <p:bold r:id="rId36"/>
      <p:italic r:id="rId37"/>
      <p:boldItalic r:id="rId38"/>
    </p:embeddedFont>
    <p:embeddedFont>
      <p:font typeface="Roboto Condensed"/>
      <p:regular r:id="rId39"/>
      <p:bold r:id="rId40"/>
      <p:italic r:id="rId41"/>
      <p:boldItalic r:id="rId42"/>
    </p:embeddedFont>
    <p:embeddedFont>
      <p:font typeface="Poppins ExtraBold"/>
      <p:bold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Condensed-bold.fntdata"/><Relationship Id="rId20" Type="http://schemas.openxmlformats.org/officeDocument/2006/relationships/slide" Target="slides/slide15.xml"/><Relationship Id="rId42" Type="http://schemas.openxmlformats.org/officeDocument/2006/relationships/font" Target="fonts/RobotoCondensed-boldItalic.fntdata"/><Relationship Id="rId41" Type="http://schemas.openxmlformats.org/officeDocument/2006/relationships/font" Target="fonts/RobotoCondensed-italic.fntdata"/><Relationship Id="rId22" Type="http://schemas.openxmlformats.org/officeDocument/2006/relationships/slide" Target="slides/slide17.xml"/><Relationship Id="rId44" Type="http://schemas.openxmlformats.org/officeDocument/2006/relationships/font" Target="fonts/PoppinsExtraBold-boldItalic.fntdata"/><Relationship Id="rId21" Type="http://schemas.openxmlformats.org/officeDocument/2006/relationships/slide" Target="slides/slide16.xml"/><Relationship Id="rId43" Type="http://schemas.openxmlformats.org/officeDocument/2006/relationships/font" Target="fonts/PoppinsExtraBold-bold.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Thin-bold.fntdata"/><Relationship Id="rId25" Type="http://schemas.openxmlformats.org/officeDocument/2006/relationships/font" Target="fonts/RobotoThin-regular.fntdata"/><Relationship Id="rId28" Type="http://schemas.openxmlformats.org/officeDocument/2006/relationships/font" Target="fonts/RobotoThin-boldItalic.fntdata"/><Relationship Id="rId27" Type="http://schemas.openxmlformats.org/officeDocument/2006/relationships/font" Target="fonts/RobotoThin-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CondensedExtraBold-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ibreFranklin-regular.fntdata"/><Relationship Id="rId30" Type="http://schemas.openxmlformats.org/officeDocument/2006/relationships/font" Target="fonts/RobotoCondensedExtraBold-boldItalic.fntdata"/><Relationship Id="rId11" Type="http://schemas.openxmlformats.org/officeDocument/2006/relationships/slide" Target="slides/slide6.xml"/><Relationship Id="rId33" Type="http://schemas.openxmlformats.org/officeDocument/2006/relationships/font" Target="fonts/LibreFranklin-italic.fntdata"/><Relationship Id="rId10" Type="http://schemas.openxmlformats.org/officeDocument/2006/relationships/slide" Target="slides/slide5.xml"/><Relationship Id="rId32" Type="http://schemas.openxmlformats.org/officeDocument/2006/relationships/font" Target="fonts/LibreFranklin-bold.fntdata"/><Relationship Id="rId13" Type="http://schemas.openxmlformats.org/officeDocument/2006/relationships/slide" Target="slides/slide8.xml"/><Relationship Id="rId35" Type="http://schemas.openxmlformats.org/officeDocument/2006/relationships/font" Target="fonts/Poppins-regular.fntdata"/><Relationship Id="rId12" Type="http://schemas.openxmlformats.org/officeDocument/2006/relationships/slide" Target="slides/slide7.xml"/><Relationship Id="rId34" Type="http://schemas.openxmlformats.org/officeDocument/2006/relationships/font" Target="fonts/LibreFranklin-boldItalic.fntdata"/><Relationship Id="rId15" Type="http://schemas.openxmlformats.org/officeDocument/2006/relationships/slide" Target="slides/slide10.xml"/><Relationship Id="rId37" Type="http://schemas.openxmlformats.org/officeDocument/2006/relationships/font" Target="fonts/Poppins-italic.fntdata"/><Relationship Id="rId14" Type="http://schemas.openxmlformats.org/officeDocument/2006/relationships/slide" Target="slides/slide9.xml"/><Relationship Id="rId36" Type="http://schemas.openxmlformats.org/officeDocument/2006/relationships/font" Target="fonts/Poppins-bold.fntdata"/><Relationship Id="rId17" Type="http://schemas.openxmlformats.org/officeDocument/2006/relationships/slide" Target="slides/slide12.xml"/><Relationship Id="rId39" Type="http://schemas.openxmlformats.org/officeDocument/2006/relationships/font" Target="fonts/RobotoCondensed-regular.fntdata"/><Relationship Id="rId16" Type="http://schemas.openxmlformats.org/officeDocument/2006/relationships/slide" Target="slides/slide11.xml"/><Relationship Id="rId38" Type="http://schemas.openxmlformats.org/officeDocument/2006/relationships/font" Target="fonts/Poppins-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efs_flow_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efs_flow_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 James Carnley, the creator of Ethereum File System. I want the things people build with my software to have a future that doesn't depend on me. Today we'll look at what that asks of the whole application.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efs_flow_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efs_flow_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Think about what people put into an app. A reading library built over years. A community's shared archive. The records they need to keep an organization running. The company can close long before that work stops mattering.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Pocket closed in 2025. Users had a limited window to export their saves. The export contained article links and metadata, but not the article text. Keeping a useful reading library became a migration project, with a deadline somebody else chose.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harm goes beyond a missing website. People lose time, context and the ability to continue a familiar task. Other apps inherit the same problem when they depend on that service. A shutdown exposes a dependency that was there all along. We can design for a different outcome.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https://support.mozilla.org/en-US/kb/future-of-pocket</a:t>
            </a:r>
            <a:endParaRPr/>
          </a:p>
          <a:p>
            <a:pPr indent="0" lvl="0" marL="0" rtl="0" algn="l">
              <a:spcBef>
                <a:spcPts val="0"/>
              </a:spcBef>
              <a:spcAft>
                <a:spcPts val="0"/>
              </a:spcAft>
              <a:buNone/>
            </a:pPr>
            <a:r>
              <a:rPr lang="en"/>
              <a:t>https://support.mozilla.org/en-US/kb/exporting-your-pocket-list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efs_flow_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efs_flow_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Imagine a community archive whose creator retires. Someone else can keep it useful. Imagine an organization changing software without leaving its history behind. Imagine another developer building a new app on shared public records without needing a deal with the company that published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That's the cypherpunk future I want to help build. Users have choices because the software gives them the means to act. Important workflows can become something we maintain together, instead of something we rent until one provider changes its mind.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hyperstructures idea gives us a useful ambition: shared protocols that outlast their creators. To make that real for a user, we also need the interface, data and recovery paths around the protocol. People will still maintain infrastructure. The design should let those people change.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https://jacob.energy/hyperstructures.html</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efs_flow_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efs_flow_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There are two different situations to test. First, the team disappears. The founder dies, the company closes, or the storage bill stops getting paid. Can people keep doing the task?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Second, somebody hostile gets the team's authority. That might mean a compromised publishing account, an upgrade key, or control of a name. The service can remain online while working against its users. Can they refuse the change?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More servers can help with the first problem and do nothing about the second. We'll keep both questions in view, and judge recovery by whether a person can actually continue. We can test this safely using copies and test accounts.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efs_flow_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efs_flow_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Here's the map. These are eight jobs an application needs, grouped into three chapters. First we enter the app. Then we do useful work. Underneath both are the rules and the network enforcing them. A dependency can affect more than one chapter.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 use Ethereum File System, or EFS, where it makes these questions concrete. It's an open-source public good for shared file paths, onchain metadata and verifiable file references. The file bytes can live on different storage networks. Our small example is recovering a file and checking that it's the one we expected.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your app, follow whichever task your users most need to preserve. At every layer, ask what it does, what can fail, and what a usable alternative would cost.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rPr lang="en"/>
              <a:t>https://app.efs.eth.limo/</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efs_flow_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efs_flow_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first job is reaching the software. EFS's public web client uses ENS and IPFS. The name points to content, and an HTTPS gateway makes it convenient to open in an ordinary browser.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separates the app release from my own web server, but the gateway still has an operator. There's a useful catch: eth.link and eth.limo share the eth.limo service. Two addresses don't necessarily give us two independent alternatives.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check is to retain the accepted release reference and actually open it through an independent path. Then inspect the name's controller, resolver and renewal requirements. A mutable name helps people find updates, but somebody can change where it points. A fixed reference preserves a choice, while making discovery and deliberate updates our responsibility.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https://docs.ens.domains/dweb/intro/</a:t>
            </a:r>
            <a:endParaRPr/>
          </a:p>
          <a:p>
            <a:pPr indent="0" lvl="0" marL="0" rtl="0" algn="l">
              <a:spcBef>
                <a:spcPts val="0"/>
              </a:spcBef>
              <a:spcAft>
                <a:spcPts val="0"/>
              </a:spcAft>
              <a:buNone/>
            </a:pPr>
            <a:r>
              <a:rPr lang="en"/>
              <a:t>https://discuss.ens.domains/t/eth-limo-update/19707</a:t>
            </a:r>
            <a:endParaRPr/>
          </a:p>
          <a:p>
            <a:pPr indent="0" lvl="0" marL="0" rtl="0" algn="l">
              <a:spcBef>
                <a:spcPts val="0"/>
              </a:spcBef>
              <a:spcAft>
                <a:spcPts val="0"/>
              </a:spcAft>
              <a:buNone/>
            </a:pPr>
            <a:r>
              <a:rPr lang="en"/>
              <a:t>https://app.efs.eth.limo/</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efs_flow_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efs_flow_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the user has reached a page. What code will it execute?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December 2023, attackers compromised the distribution of Ledger Connect Kit. Apps loaded malicious connector code, and users were tricked into signing transactions that drained assets. Those apps' own repositories didn't need to change. Their runtime dependency was another publishing channel into the app.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keep the runnable release and inspect everything it loads later. Separately, retain the source, dependency versions, build tools and instructions needed to recreate it. Open it on a fresh setup without the founder's cache. Then try rebuilding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Keeping reviewed code together and making updates deliberate reduces surprise changes. It also leaves real maintenance work: security fixes, browser compatibility and supported devices. Retaining the code gives another maintainer something they can carry forward.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https://www.ledger.com/blog/security-incident-report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efs_flow_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efs_flow_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app and file can survive while the owner loses the ability to use them. Reading public data, decrypting private content and signing a change require different capabilities.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hosted login might disappear. A wallet connection service might fail. The only decryption key might be on a lost device. These are separate recovery tests. Ask what the person needs, who can help them recover it, and who gains power through that help.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Safe provides a useful authority example. Enabled modules can authorize operations through their own logic, so the visible owner threshold doesn't describe every path into the account.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Rehearse provider and device loss with test accounts. Check signing and decryption separately. Recovery can reduce lockout while adding takeover or privacy risks. Those are choices to make explicitly, not reasons to leave recovery untested.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https://docs.safe.global/advanced/smart-account-modules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efs_flow_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efs_flow_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second chapter is continuing the work. Storage has a straightforward job: keep the bytes someone will need. A content address identifies data, but somebody still has to retain it. Two gateways may be two routes to the same remaining copy.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EFS, the onchain reference and the file's storage are separate dependencies. For another app, the missing piece might be an attachment, a database history or a decryption key.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Test retrieval from a genuinely retained alternative copy. Know who pays for retention and how another operator takes over. Replication costs resources. Private information also needs an appropriate retention policy. Publishing everything permanently is rarely a sensible recovery plan.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https://docs.ipfs.tech/concepts/persistence/</a:t>
            </a:r>
            <a:endParaRPr/>
          </a:p>
          <a:p>
            <a:pPr indent="0" lvl="0" marL="0" rtl="0" algn="l">
              <a:spcBef>
                <a:spcPts val="0"/>
              </a:spcBef>
              <a:spcAft>
                <a:spcPts val="0"/>
              </a:spcAft>
              <a:buNone/>
            </a:pPr>
            <a:r>
              <a:rPr lang="en"/>
              <a:t>https://efs.eth.limo/</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efs_flow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efs_flow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Here's the verification sequence for our EFS example. Begin with an accepted public file reference, including which chain state supplied it. That reference gives us the expected digest. Retrieve a candidate copy through IPFS and check its bytes.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that path fails, try the Arweave copy against the same reference. Matching bytes support the integrity check. Altered bytes fail it. No usable response means this retrieval path was unavailable. It doesn't tell us the file is gone everywhere.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are the checks we're explaining here, rather than a live retrieval. The useful distinction is between changing the route and changing what you accept. The same test also exposes its limits: somebody must retain a copy, and we still need a basis for trusting the public record. A hash alone cannot choose that reference for us.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https://github.com/efs-project/contracts/tree/e86e6e77fcb5cda31374e07c5f582b502455ba80/packages/walk-away-proof</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efs_flow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efs_flow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check a file this way, how do we establish its reference? This is the job of RPCs, indexes and the queries using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Multiple RPCs can help when one provider stops answering. Agreement between them doesn't independently establish correctness. Light clients such as Helios can validate supported data against a chain basis, while still needing providers to serve it. They don't retain our files for us.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Freshness and completeness are additional questions. A valid old record may be useless for the current task. A correct result can omit other records the user needs. Graph Node illustrates why rebuilding an index needs its definition, suitable chain access and enough history.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Specify what state the task needs. Test a replacement query and validate the evidence it supports. Keep missing or stale results visible. Verification and rebuilding cost time and resources, but they let users make informed choices.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https://ethereum.org/developers/docs/nodes-and-clients/light-clients/</a:t>
            </a:r>
            <a:endParaRPr/>
          </a:p>
          <a:p>
            <a:pPr indent="0" lvl="0" marL="0" rtl="0" algn="l">
              <a:spcBef>
                <a:spcPts val="0"/>
              </a:spcBef>
              <a:spcAft>
                <a:spcPts val="0"/>
              </a:spcAft>
              <a:buNone/>
            </a:pPr>
            <a:r>
              <a:rPr lang="en"/>
              <a:t>https://github.com/a16z/helios</a:t>
            </a:r>
            <a:endParaRPr/>
          </a:p>
          <a:p>
            <a:pPr indent="0" lvl="0" marL="0" rtl="0" algn="l">
              <a:spcBef>
                <a:spcPts val="0"/>
              </a:spcBef>
              <a:spcAft>
                <a:spcPts val="0"/>
              </a:spcAft>
              <a:buNone/>
            </a:pPr>
            <a:r>
              <a:rPr lang="en"/>
              <a:t>https://thegraph.com/docs/en/indexing/tooling/graph-node/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efs_flow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efs_flow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healthy chain doesn't mean the application can finish its work. A keeper may trigger an operation. A relayer may submit it. A prover may be required before the contract accepts it. A paymaster may be paying fees the user can't currently pay another way.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Follow one operation and list the work that happens before and after the transaction. Then stop the required service in a test environment. Can another operator get the code and inputs, have the necessary permission without new approval from the original team, and afford to complete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Oracles add another dependence. Chainlink's documentation makes freshness part of the consumer's responsibility. A replacement source can have different meaning or trust assumptions. Sometimes the safe outcome is to pause a sensitive operation rather than continue with an unexamined fallback. Recovery needs usable inputs and incentives as well as open code.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https://docs.chain.link/data-feeds/overview#check-the-timestamp-of-the-latest-answer</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efs_flow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efs_flow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third chapter asks what rules the user can rely on. An application may have an upgrade key, a pause role, configurable addresses, governance, or permissions in a protocol it calls. Draw the powers as they exist in the deployed system, rather than stopping at the word decentralized.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give one of those powers to a hostile actor. What can they change? Can the user detect it and refuse? Keeping an old interface preserves its code, but it cannot reverse an upgrade to the shared contract underneath.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why I care about immutable public infrastructure. Fixed rules can let other people build without depending on my future decisions. EFS is an expression of that goal. The meaningful technical claim still concerns the exact contracts and dependencies people use.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are tradeoffs. Fixed buggy code loses in-place repair. Upgradeable code keeps repair power and the possibility of abuse. A multisig distributes a power without removing it. A timelock buys useful time only if someone can notice the change and complete an exit.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Uniswap's distinction between its interface and underlying protocol helps illustrate the layers. We should inspect authority at both. An unchanged application can also inherit a token freeze, an oracle change or an upgrade in another protocol. The user's actual choices define the recovery path.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https://support.uniswap.org/hc/en-us/articles/18783694078989-Unsupported-Token-Policy</a:t>
            </a:r>
            <a:endParaRPr/>
          </a:p>
          <a:p>
            <a:pPr indent="0" lvl="0" marL="0" rtl="0" algn="l">
              <a:spcBef>
                <a:spcPts val="0"/>
              </a:spcBef>
              <a:spcAft>
                <a:spcPts val="0"/>
              </a:spcAft>
              <a:buNone/>
            </a:pPr>
            <a:r>
              <a:rPr lang="en"/>
              <a:t>https://docs.safe.global/advanced/smart-account-modules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efs_flow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efs_flow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application inherits the network underneath it. Users need internet access. Nodes need peers and working clients. Transactions need inclusion, and the task needs an appropriate view of finality. Replacing an RPC vendor with your own node changes the dependence, but doesn't remove connectivity, hardware or network assumptions.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 L2 introduces another set of questions. Who orders transactions? Who publishes the data needed to reconstruct state? What happens if the sequencer, proposer or prover stops? Which contracts can still change, including the bridge?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OP Stack documentation gives a specific recovery example for sequencer outages through an L1 submission route. Forced inclusion and withdrawal are different operations. A documented mechanism still has to work for the user's account, available data and intended task. Other chains have different rules.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Test the route your app actually depends on. Record the delay and fees, and check whether an ordinary user can use it without your backend. Chain data availability for reconstruction is also different from retaining application files for years.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don't need every developer to build a chain. We do need to choose inherited assumptions deliberately and explain what happens when they fail. The EFS example here uses Sepolia, so testnet lifetime is another assumption, not a promise of permanent production availability.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https://ethereum.org/developers/docs/nodes-and-clients/</a:t>
            </a:r>
            <a:endParaRPr/>
          </a:p>
          <a:p>
            <a:pPr indent="0" lvl="0" marL="0" rtl="0" algn="l">
              <a:spcBef>
                <a:spcPts val="0"/>
              </a:spcBef>
              <a:spcAft>
                <a:spcPts val="0"/>
              </a:spcAft>
              <a:buNone/>
            </a:pPr>
            <a:r>
              <a:rPr lang="en"/>
              <a:t>https://docs.optimism.io/op-stack/protocol/outages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efs_flow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efs_flow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Across every layer, ask who controls the alternatives and who keeps them useful. Several services can share one cloud account, one credential or one person paying the bills. That person leaving can remove every apparent fallback at once.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community can take over only if it has the means. That includes the code, the necessary data, permission to run it and instructions that make sense without the founder. It also needs a reason and a viable budget to keep operating.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Trace the shared dependencies, and give the recovery instructions to somebody outside the team. Ask where they get stuck. Decentralized infrastructure still involves work. Making that work transferable gives the application more possible futures.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efs_flow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efs_flow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 export is useful when somebody can continue with it. Return to the task we chose at the start. Can the user reopen the archive and read the file? Can they also publish, collaborate or decrypt, if that was the promise?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self-contained Git bundle is a useful example of retained data with a compatible importer. It can preserve repository history and let someone clone it elsewhere. It doesn't reproduce every hosted service around that repository.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Try the recovery from a fresh setup. Keep the relationships, formats and keys the task needs. Measure the time and missing features. A path that only the founder understands still depends on the founder.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https://git-scm.com/docs/git-bundle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efs_flow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efs_flow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start this week without creating a new framework or redesigning your whole product.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Choose one task whose loss would hurt a user. Trace the components it needs and who controls them. Give another developer the retained inputs and instructions, then remove your services and personal help from the test. Use a safe environment, not real users' funds or only copies of their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Repeat the reasoning with the team's authority in hostile hands. Which changes can the user refuse? Which ones change shared state for everybody?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Write down what happened: the time, cost, missing information and remaining trust. Then choose the improvement with the greatest benefit to your users. You might remove an unnecessary power, make a service replaceable or preserve a usable exit. You may also accept a dependency for a good reason. The important step is knowing what that choice means before your users discover it during a crisis.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efs_flow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efs_flow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want people to trust software with work that matters to them, and I want other developers to build on it with confidence.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community can gain a new maintainer. A shared record can support an app its original author never imagined. People still need to retain data and run infrastructure, but the original team needn't control the future.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users' work may matter long after we're gone. We can give it a way to continue.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efs_flow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efs_flow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 I'd like to hear which dependency in your app would be hardest for a user to replace, and what a realistic recovery path would look like.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rPr lang="en"/>
              <a:t>https://app.efs.eth.limo/</a:t>
            </a:r>
            <a:endParaRPr/>
          </a:p>
          <a:p>
            <a:pPr indent="0" lvl="0" marL="0" rtl="0" algn="l">
              <a:spcBef>
                <a:spcPts val="0"/>
              </a:spcBef>
              <a:spcAft>
                <a:spcPts val="0"/>
              </a:spcAft>
              <a:buNone/>
            </a:pPr>
            <a:r>
              <a:rPr lang="en"/>
              <a:t>https://youtu.be/gZl711IriSM</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idx="1" type="subTitle"/>
          </p:nvPr>
        </p:nvSpPr>
        <p:spPr>
          <a:xfrm>
            <a:off x="457200" y="2413125"/>
            <a:ext cx="8229600" cy="792600"/>
          </a:xfrm>
          <a:prstGeom prst="rect">
            <a:avLst/>
          </a:prstGeom>
          <a:effectLst>
            <a:outerShdw blurRad="257175" rotWithShape="0" algn="bl">
              <a:schemeClr val="lt1"/>
            </a:outerShdw>
          </a:effectLst>
        </p:spPr>
        <p:txBody>
          <a:bodyPr anchorCtr="0" anchor="t" bIns="91425" lIns="91425" spcFirstLastPara="1" rIns="91425" wrap="square" tIns="91425">
            <a:normAutofit/>
          </a:bodyPr>
          <a:lstStyle>
            <a:lvl1pPr lvl="0" algn="ctr">
              <a:lnSpc>
                <a:spcPct val="100000"/>
              </a:lnSpc>
              <a:spcBef>
                <a:spcPts val="0"/>
              </a:spcBef>
              <a:spcAft>
                <a:spcPts val="0"/>
              </a:spcAft>
              <a:buClr>
                <a:srgbClr val="06038D"/>
              </a:buClr>
              <a:buSzPts val="1800"/>
              <a:buFont typeface="Poppins ExtraBold"/>
              <a:buNone/>
              <a:defRPr sz="1800">
                <a:solidFill>
                  <a:srgbClr val="06038D"/>
                </a:solidFill>
                <a:latin typeface="Poppins ExtraBold"/>
                <a:ea typeface="Poppins ExtraBold"/>
                <a:cs typeface="Poppins ExtraBold"/>
                <a:sym typeface="Poppins ExtraBold"/>
              </a:defRPr>
            </a:lvl1pPr>
            <a:lvl2pPr lvl="1" algn="ctr">
              <a:lnSpc>
                <a:spcPct val="100000"/>
              </a:lnSpc>
              <a:spcBef>
                <a:spcPts val="0"/>
              </a:spcBef>
              <a:spcAft>
                <a:spcPts val="0"/>
              </a:spcAft>
              <a:buClr>
                <a:schemeClr val="lt1"/>
              </a:buClr>
              <a:buSzPts val="2600"/>
              <a:buNone/>
              <a:defRPr sz="2600">
                <a:solidFill>
                  <a:schemeClr val="lt1"/>
                </a:solidFill>
              </a:defRPr>
            </a:lvl2pPr>
            <a:lvl3pPr lvl="2" algn="ctr">
              <a:lnSpc>
                <a:spcPct val="100000"/>
              </a:lnSpc>
              <a:spcBef>
                <a:spcPts val="0"/>
              </a:spcBef>
              <a:spcAft>
                <a:spcPts val="0"/>
              </a:spcAft>
              <a:buClr>
                <a:schemeClr val="lt1"/>
              </a:buClr>
              <a:buSzPts val="2600"/>
              <a:buNone/>
              <a:defRPr sz="2600">
                <a:solidFill>
                  <a:schemeClr val="lt1"/>
                </a:solidFill>
              </a:defRPr>
            </a:lvl3pPr>
            <a:lvl4pPr lvl="3" algn="ctr">
              <a:lnSpc>
                <a:spcPct val="100000"/>
              </a:lnSpc>
              <a:spcBef>
                <a:spcPts val="0"/>
              </a:spcBef>
              <a:spcAft>
                <a:spcPts val="0"/>
              </a:spcAft>
              <a:buClr>
                <a:schemeClr val="lt1"/>
              </a:buClr>
              <a:buSzPts val="2600"/>
              <a:buNone/>
              <a:defRPr sz="2600">
                <a:solidFill>
                  <a:schemeClr val="lt1"/>
                </a:solidFill>
              </a:defRPr>
            </a:lvl4pPr>
            <a:lvl5pPr lvl="4" algn="ctr">
              <a:lnSpc>
                <a:spcPct val="100000"/>
              </a:lnSpc>
              <a:spcBef>
                <a:spcPts val="0"/>
              </a:spcBef>
              <a:spcAft>
                <a:spcPts val="0"/>
              </a:spcAft>
              <a:buClr>
                <a:schemeClr val="lt1"/>
              </a:buClr>
              <a:buSzPts val="2600"/>
              <a:buNone/>
              <a:defRPr sz="2600">
                <a:solidFill>
                  <a:schemeClr val="lt1"/>
                </a:solidFill>
              </a:defRPr>
            </a:lvl5pPr>
            <a:lvl6pPr lvl="5" algn="ctr">
              <a:lnSpc>
                <a:spcPct val="100000"/>
              </a:lnSpc>
              <a:spcBef>
                <a:spcPts val="0"/>
              </a:spcBef>
              <a:spcAft>
                <a:spcPts val="0"/>
              </a:spcAft>
              <a:buClr>
                <a:schemeClr val="lt1"/>
              </a:buClr>
              <a:buSzPts val="2600"/>
              <a:buNone/>
              <a:defRPr sz="2600">
                <a:solidFill>
                  <a:schemeClr val="lt1"/>
                </a:solidFill>
              </a:defRPr>
            </a:lvl6pPr>
            <a:lvl7pPr lvl="6" algn="ctr">
              <a:lnSpc>
                <a:spcPct val="100000"/>
              </a:lnSpc>
              <a:spcBef>
                <a:spcPts val="0"/>
              </a:spcBef>
              <a:spcAft>
                <a:spcPts val="0"/>
              </a:spcAft>
              <a:buClr>
                <a:schemeClr val="lt1"/>
              </a:buClr>
              <a:buSzPts val="2600"/>
              <a:buNone/>
              <a:defRPr sz="2600">
                <a:solidFill>
                  <a:schemeClr val="lt1"/>
                </a:solidFill>
              </a:defRPr>
            </a:lvl7pPr>
            <a:lvl8pPr lvl="7" algn="ctr">
              <a:lnSpc>
                <a:spcPct val="100000"/>
              </a:lnSpc>
              <a:spcBef>
                <a:spcPts val="0"/>
              </a:spcBef>
              <a:spcAft>
                <a:spcPts val="0"/>
              </a:spcAft>
              <a:buClr>
                <a:schemeClr val="lt1"/>
              </a:buClr>
              <a:buSzPts val="2600"/>
              <a:buNone/>
              <a:defRPr sz="2600">
                <a:solidFill>
                  <a:schemeClr val="lt1"/>
                </a:solidFill>
              </a:defRPr>
            </a:lvl8pPr>
            <a:lvl9pPr lvl="8" algn="ctr">
              <a:lnSpc>
                <a:spcPct val="100000"/>
              </a:lnSpc>
              <a:spcBef>
                <a:spcPts val="0"/>
              </a:spcBef>
              <a:spcAft>
                <a:spcPts val="0"/>
              </a:spcAft>
              <a:buClr>
                <a:schemeClr val="lt1"/>
              </a:buClr>
              <a:buSzPts val="2600"/>
              <a:buNone/>
              <a:defRPr sz="2600">
                <a:solidFill>
                  <a:schemeClr val="lt1"/>
                </a:solidFill>
              </a:defRPr>
            </a:lvl9pPr>
          </a:lstStyle>
          <a:p/>
        </p:txBody>
      </p:sp>
      <p:sp>
        <p:nvSpPr>
          <p:cNvPr id="11" name="Google Shape;11;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 name="Google Shape;12;p2"/>
          <p:cNvSpPr txBox="1"/>
          <p:nvPr>
            <p:ph type="title"/>
          </p:nvPr>
        </p:nvSpPr>
        <p:spPr>
          <a:xfrm>
            <a:off x="457200" y="304800"/>
            <a:ext cx="8229600" cy="2076900"/>
          </a:xfrm>
          <a:prstGeom prst="rect">
            <a:avLst/>
          </a:prstGeom>
          <a:effectLst>
            <a:outerShdw blurRad="257175" rotWithShape="0" algn="bl">
              <a:schemeClr val="lt1"/>
            </a:outerShdw>
          </a:effectLst>
        </p:spPr>
        <p:txBody>
          <a:bodyPr anchorCtr="0" anchor="b" bIns="91425" lIns="91425" spcFirstLastPara="1" rIns="91425" wrap="square" tIns="91425">
            <a:normAutofit/>
          </a:bodyPr>
          <a:lstStyle>
            <a:lvl1pPr lvl="0" algn="ctr">
              <a:spcBef>
                <a:spcPts val="0"/>
              </a:spcBef>
              <a:spcAft>
                <a:spcPts val="0"/>
              </a:spcAft>
              <a:buClr>
                <a:srgbClr val="06038D"/>
              </a:buClr>
              <a:buSzPts val="3400"/>
              <a:buNone/>
              <a:defRPr sz="3400">
                <a:solidFill>
                  <a:srgbClr val="06038D"/>
                </a:solidFill>
              </a:defRPr>
            </a:lvl1pPr>
            <a:lvl2pPr lvl="1"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2pPr>
            <a:lvl3pPr lvl="2"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3pPr>
            <a:lvl4pPr lvl="3"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4pPr>
            <a:lvl5pPr lvl="4"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5pPr>
            <a:lvl6pPr lvl="5"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6pPr>
            <a:lvl7pPr lvl="6"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7pPr>
            <a:lvl8pPr lvl="7"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8pPr>
            <a:lvl9pPr lvl="8"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9pPr>
          </a:lstStyle>
          <a:p/>
        </p:txBody>
      </p:sp>
      <p:pic>
        <p:nvPicPr>
          <p:cNvPr id="13" name="Google Shape;13;p2"/>
          <p:cNvPicPr preferRelativeResize="0"/>
          <p:nvPr/>
        </p:nvPicPr>
        <p:blipFill>
          <a:blip r:embed="rId3">
            <a:alphaModFix/>
          </a:blip>
          <a:stretch>
            <a:fillRect/>
          </a:stretch>
        </p:blipFill>
        <p:spPr>
          <a:xfrm>
            <a:off x="0" y="2771763"/>
            <a:ext cx="9144000" cy="23717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type="secHead">
  <p:cSld name="SECTION_HEADER">
    <p:bg>
      <p:bgPr>
        <a:blipFill>
          <a:blip r:embed="rId2">
            <a:alphaModFix/>
          </a:blip>
          <a:stretch>
            <a:fillRect/>
          </a:stretch>
        </a:blip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000"/>
              <a:buNone/>
              <a:defRPr sz="3000">
                <a:solidFill>
                  <a:schemeClr val="l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4"/>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_HEADER_1_1">
    <p:bg>
      <p:bgPr>
        <a:blipFill>
          <a:blip r:embed="rId2">
            <a:alphaModFix/>
          </a:blip>
          <a:stretch>
            <a:fillRect/>
          </a:stretch>
        </a:blipFill>
      </p:bgPr>
    </p:bg>
    <p:spTree>
      <p:nvGrpSpPr>
        <p:cNvPr id="20" name="Shape 20"/>
        <p:cNvGrpSpPr/>
        <p:nvPr/>
      </p:nvGrpSpPr>
      <p:grpSpPr>
        <a:xfrm>
          <a:off x="0" y="0"/>
          <a:ext cx="0" cy="0"/>
          <a:chOff x="0" y="0"/>
          <a:chExt cx="0" cy="0"/>
        </a:xfrm>
      </p:grpSpPr>
      <p:sp>
        <p:nvSpPr>
          <p:cNvPr id="21" name="Google Shape;21;p5"/>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2" name="Google Shape;2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SECTION_HEADER_1_1_1">
    <p:bg>
      <p:bgPr>
        <a:blipFill>
          <a:blip r:embed="rId2">
            <a:alphaModFix/>
          </a:blip>
          <a:stretch>
            <a:fillRect/>
          </a:stretch>
        </a:blipFill>
      </p:bgPr>
    </p:bg>
    <p:spTree>
      <p:nvGrpSpPr>
        <p:cNvPr id="23" name="Shape 23"/>
        <p:cNvGrpSpPr/>
        <p:nvPr/>
      </p:nvGrpSpPr>
      <p:grpSpPr>
        <a:xfrm>
          <a:off x="0" y="0"/>
          <a:ext cx="0" cy="0"/>
          <a:chOff x="0" y="0"/>
          <a:chExt cx="0" cy="0"/>
        </a:xfrm>
      </p:grpSpPr>
      <p:sp>
        <p:nvSpPr>
          <p:cNvPr id="24" name="Google Shape;24;p6"/>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Clr>
                <a:srgbClr val="36364C"/>
              </a:buClr>
              <a:buSzPts val="3600"/>
              <a:buNone/>
              <a:defRPr sz="3600">
                <a:solidFill>
                  <a:srgbClr val="36364C"/>
                </a:solidFill>
              </a:defRPr>
            </a:lvl2pPr>
            <a:lvl3pPr lvl="2" rtl="0" algn="ctr">
              <a:spcBef>
                <a:spcPts val="0"/>
              </a:spcBef>
              <a:spcAft>
                <a:spcPts val="0"/>
              </a:spcAft>
              <a:buClr>
                <a:srgbClr val="36364C"/>
              </a:buClr>
              <a:buSzPts val="3600"/>
              <a:buNone/>
              <a:defRPr sz="3600">
                <a:solidFill>
                  <a:srgbClr val="36364C"/>
                </a:solidFill>
              </a:defRPr>
            </a:lvl3pPr>
            <a:lvl4pPr lvl="3" rtl="0" algn="ctr">
              <a:spcBef>
                <a:spcPts val="0"/>
              </a:spcBef>
              <a:spcAft>
                <a:spcPts val="0"/>
              </a:spcAft>
              <a:buClr>
                <a:srgbClr val="36364C"/>
              </a:buClr>
              <a:buSzPts val="3600"/>
              <a:buNone/>
              <a:defRPr sz="3600">
                <a:solidFill>
                  <a:srgbClr val="36364C"/>
                </a:solidFill>
              </a:defRPr>
            </a:lvl4pPr>
            <a:lvl5pPr lvl="4" rtl="0" algn="ctr">
              <a:spcBef>
                <a:spcPts val="0"/>
              </a:spcBef>
              <a:spcAft>
                <a:spcPts val="0"/>
              </a:spcAft>
              <a:buClr>
                <a:srgbClr val="36364C"/>
              </a:buClr>
              <a:buSzPts val="3600"/>
              <a:buNone/>
              <a:defRPr sz="3600">
                <a:solidFill>
                  <a:srgbClr val="36364C"/>
                </a:solidFill>
              </a:defRPr>
            </a:lvl5pPr>
            <a:lvl6pPr lvl="5" rtl="0" algn="ctr">
              <a:spcBef>
                <a:spcPts val="0"/>
              </a:spcBef>
              <a:spcAft>
                <a:spcPts val="0"/>
              </a:spcAft>
              <a:buClr>
                <a:srgbClr val="36364C"/>
              </a:buClr>
              <a:buSzPts val="3600"/>
              <a:buNone/>
              <a:defRPr sz="3600">
                <a:solidFill>
                  <a:srgbClr val="36364C"/>
                </a:solidFill>
              </a:defRPr>
            </a:lvl6pPr>
            <a:lvl7pPr lvl="6" rtl="0" algn="ctr">
              <a:spcBef>
                <a:spcPts val="0"/>
              </a:spcBef>
              <a:spcAft>
                <a:spcPts val="0"/>
              </a:spcAft>
              <a:buClr>
                <a:srgbClr val="36364C"/>
              </a:buClr>
              <a:buSzPts val="3600"/>
              <a:buNone/>
              <a:defRPr sz="3600">
                <a:solidFill>
                  <a:srgbClr val="36364C"/>
                </a:solidFill>
              </a:defRPr>
            </a:lvl7pPr>
            <a:lvl8pPr lvl="7" rtl="0" algn="ctr">
              <a:spcBef>
                <a:spcPts val="0"/>
              </a:spcBef>
              <a:spcAft>
                <a:spcPts val="0"/>
              </a:spcAft>
              <a:buClr>
                <a:srgbClr val="36364C"/>
              </a:buClr>
              <a:buSzPts val="3600"/>
              <a:buNone/>
              <a:defRPr sz="3600">
                <a:solidFill>
                  <a:srgbClr val="36364C"/>
                </a:solidFill>
              </a:defRPr>
            </a:lvl8pPr>
            <a:lvl9pPr lvl="8" rtl="0" algn="ctr">
              <a:spcBef>
                <a:spcPts val="0"/>
              </a:spcBef>
              <a:spcAft>
                <a:spcPts val="0"/>
              </a:spcAft>
              <a:buClr>
                <a:srgbClr val="36364C"/>
              </a:buClr>
              <a:buSzPts val="3600"/>
              <a:buNone/>
              <a:defRPr sz="3600">
                <a:solidFill>
                  <a:srgbClr val="36364C"/>
                </a:solidFill>
              </a:defRPr>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sp>
        <p:nvSpPr>
          <p:cNvPr id="27" name="Google Shape;27;p7"/>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
        <p:nvSpPr>
          <p:cNvPr id="28" name="Google Shape;28;p7"/>
          <p:cNvSpPr txBox="1"/>
          <p:nvPr>
            <p:ph idx="1" type="body"/>
          </p:nvPr>
        </p:nvSpPr>
        <p:spPr>
          <a:xfrm>
            <a:off x="651925" y="1304875"/>
            <a:ext cx="7840200" cy="3416400"/>
          </a:xfrm>
          <a:prstGeom prst="rect">
            <a:avLst/>
          </a:prstGeom>
        </p:spPr>
        <p:txBody>
          <a:bodyPr anchorCtr="0" anchor="t" bIns="91425" lIns="91425" spcFirstLastPara="1" rIns="91425" wrap="square" tIns="91425">
            <a:normAutofit/>
          </a:bodyPr>
          <a:lstStyle>
            <a:lvl1pPr indent="-317500" lvl="0" marL="457200">
              <a:lnSpc>
                <a:spcPct val="130000"/>
              </a:lnSpc>
              <a:spcBef>
                <a:spcPts val="0"/>
              </a:spcBef>
              <a:spcAft>
                <a:spcPts val="0"/>
              </a:spcAft>
              <a:buClr>
                <a:srgbClr val="36364C"/>
              </a:buClr>
              <a:buSzPts val="1400"/>
              <a:buChar char="●"/>
              <a:defRPr>
                <a:solidFill>
                  <a:srgbClr val="36364C"/>
                </a:solidFill>
              </a:defRPr>
            </a:lvl1pPr>
            <a:lvl2pPr indent="-311150" lvl="1" marL="914400">
              <a:lnSpc>
                <a:spcPct val="130000"/>
              </a:lnSpc>
              <a:spcBef>
                <a:spcPts val="0"/>
              </a:spcBef>
              <a:spcAft>
                <a:spcPts val="0"/>
              </a:spcAft>
              <a:buClr>
                <a:srgbClr val="36364C"/>
              </a:buClr>
              <a:buSzPts val="1300"/>
              <a:buChar char="○"/>
              <a:defRPr sz="1300">
                <a:solidFill>
                  <a:srgbClr val="36364C"/>
                </a:solidFill>
              </a:defRPr>
            </a:lvl2pPr>
            <a:lvl3pPr indent="-311150" lvl="2" marL="1371600">
              <a:lnSpc>
                <a:spcPct val="130000"/>
              </a:lnSpc>
              <a:spcBef>
                <a:spcPts val="0"/>
              </a:spcBef>
              <a:spcAft>
                <a:spcPts val="0"/>
              </a:spcAft>
              <a:buClr>
                <a:srgbClr val="36364C"/>
              </a:buClr>
              <a:buSzPts val="1300"/>
              <a:buChar char="■"/>
              <a:defRPr sz="1300">
                <a:solidFill>
                  <a:srgbClr val="36364C"/>
                </a:solidFill>
              </a:defRPr>
            </a:lvl3pPr>
            <a:lvl4pPr indent="-304800" lvl="3" marL="1828800">
              <a:lnSpc>
                <a:spcPct val="130000"/>
              </a:lnSpc>
              <a:spcBef>
                <a:spcPts val="0"/>
              </a:spcBef>
              <a:spcAft>
                <a:spcPts val="0"/>
              </a:spcAft>
              <a:buClr>
                <a:srgbClr val="36364C"/>
              </a:buClr>
              <a:buSzPts val="1200"/>
              <a:buChar char="●"/>
              <a:defRPr sz="1200">
                <a:solidFill>
                  <a:srgbClr val="36364C"/>
                </a:solidFill>
              </a:defRPr>
            </a:lvl4pPr>
            <a:lvl5pPr indent="-304800" lvl="4" marL="2286000">
              <a:lnSpc>
                <a:spcPct val="130000"/>
              </a:lnSpc>
              <a:spcBef>
                <a:spcPts val="0"/>
              </a:spcBef>
              <a:spcAft>
                <a:spcPts val="0"/>
              </a:spcAft>
              <a:buClr>
                <a:srgbClr val="36364C"/>
              </a:buClr>
              <a:buSzPts val="1200"/>
              <a:buChar char="○"/>
              <a:defRPr sz="1200">
                <a:solidFill>
                  <a:srgbClr val="36364C"/>
                </a:solidFill>
              </a:defRPr>
            </a:lvl5pPr>
            <a:lvl6pPr indent="-304800" lvl="5" marL="2743200">
              <a:lnSpc>
                <a:spcPct val="130000"/>
              </a:lnSpc>
              <a:spcBef>
                <a:spcPts val="0"/>
              </a:spcBef>
              <a:spcAft>
                <a:spcPts val="0"/>
              </a:spcAft>
              <a:buClr>
                <a:srgbClr val="36364C"/>
              </a:buClr>
              <a:buSzPts val="1200"/>
              <a:buChar char="■"/>
              <a:defRPr sz="1200">
                <a:solidFill>
                  <a:srgbClr val="36364C"/>
                </a:solidFill>
              </a:defRPr>
            </a:lvl6pPr>
            <a:lvl7pPr indent="-304800" lvl="6" marL="3200400">
              <a:lnSpc>
                <a:spcPct val="130000"/>
              </a:lnSpc>
              <a:spcBef>
                <a:spcPts val="0"/>
              </a:spcBef>
              <a:spcAft>
                <a:spcPts val="0"/>
              </a:spcAft>
              <a:buClr>
                <a:srgbClr val="36364C"/>
              </a:buClr>
              <a:buSzPts val="1200"/>
              <a:buChar char="●"/>
              <a:defRPr sz="1200">
                <a:solidFill>
                  <a:srgbClr val="36364C"/>
                </a:solidFill>
              </a:defRPr>
            </a:lvl7pPr>
            <a:lvl8pPr indent="-304800" lvl="7" marL="3657600">
              <a:lnSpc>
                <a:spcPct val="130000"/>
              </a:lnSpc>
              <a:spcBef>
                <a:spcPts val="0"/>
              </a:spcBef>
              <a:spcAft>
                <a:spcPts val="0"/>
              </a:spcAft>
              <a:buClr>
                <a:srgbClr val="36364C"/>
              </a:buClr>
              <a:buSzPts val="1200"/>
              <a:buChar char="○"/>
              <a:defRPr sz="1200">
                <a:solidFill>
                  <a:srgbClr val="36364C"/>
                </a:solidFill>
              </a:defRPr>
            </a:lvl8pPr>
            <a:lvl9pPr indent="-304800" lvl="8" marL="4114800">
              <a:lnSpc>
                <a:spcPct val="130000"/>
              </a:lnSpc>
              <a:spcBef>
                <a:spcPts val="0"/>
              </a:spcBef>
              <a:spcAft>
                <a:spcPts val="0"/>
              </a:spcAft>
              <a:buClr>
                <a:srgbClr val="36364C"/>
              </a:buClr>
              <a:buSzPts val="1200"/>
              <a:buChar char="■"/>
              <a:defRPr sz="1200">
                <a:solidFill>
                  <a:srgbClr val="36364C"/>
                </a:solidFill>
              </a:defRPr>
            </a:lvl9pPr>
          </a:lstStyle>
          <a:p/>
        </p:txBody>
      </p:sp>
      <p:sp>
        <p:nvSpPr>
          <p:cNvPr id="29" name="Google Shape;29;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8"/>
          <p:cNvSpPr txBox="1"/>
          <p:nvPr>
            <p:ph idx="1" type="body"/>
          </p:nvPr>
        </p:nvSpPr>
        <p:spPr>
          <a:xfrm>
            <a:off x="720549" y="1280150"/>
            <a:ext cx="37527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2" type="body"/>
          </p:nvPr>
        </p:nvSpPr>
        <p:spPr>
          <a:xfrm>
            <a:off x="4680000" y="1280150"/>
            <a:ext cx="37923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4" name="Google Shape;34;p8"/>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9"/>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n image left">
  <p:cSld name="ONE_COLUMN_TEXT">
    <p:spTree>
      <p:nvGrpSpPr>
        <p:cNvPr id="38" name="Shape 38"/>
        <p:cNvGrpSpPr/>
        <p:nvPr/>
      </p:nvGrpSpPr>
      <p:grpSpPr>
        <a:xfrm>
          <a:off x="0" y="0"/>
          <a:ext cx="0" cy="0"/>
          <a:chOff x="0" y="0"/>
          <a:chExt cx="0" cy="0"/>
        </a:xfrm>
      </p:grpSpPr>
      <p:sp>
        <p:nvSpPr>
          <p:cNvPr id="39" name="Google Shape;39;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0" name="Google Shape;40;p10"/>
          <p:cNvSpPr/>
          <p:nvPr>
            <p:ph idx="2" type="pic"/>
          </p:nvPr>
        </p:nvSpPr>
        <p:spPr>
          <a:xfrm>
            <a:off x="0" y="0"/>
            <a:ext cx="4562100" cy="5143500"/>
          </a:xfrm>
          <a:prstGeom prst="rect">
            <a:avLst/>
          </a:prstGeom>
          <a:noFill/>
          <a:ln>
            <a:noFill/>
          </a:ln>
        </p:spPr>
      </p:sp>
      <p:sp>
        <p:nvSpPr>
          <p:cNvPr id="41" name="Google Shape;41;p10"/>
          <p:cNvSpPr txBox="1"/>
          <p:nvPr>
            <p:ph type="title"/>
          </p:nvPr>
        </p:nvSpPr>
        <p:spPr>
          <a:xfrm>
            <a:off x="4859150" y="631325"/>
            <a:ext cx="3718800" cy="1212600"/>
          </a:xfrm>
          <a:prstGeom prst="rect">
            <a:avLst/>
          </a:prstGeom>
        </p:spPr>
        <p:txBody>
          <a:bodyPr anchorCtr="0" anchor="b" bIns="91425" lIns="91425" spcFirstLastPara="1" rIns="91425" wrap="square" tIns="91425">
            <a:normAutofit/>
          </a:bodyPr>
          <a:lstStyle>
            <a:lvl1pPr lvl="0" algn="l">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10"/>
          <p:cNvSpPr txBox="1"/>
          <p:nvPr>
            <p:ph idx="1" type="body"/>
          </p:nvPr>
        </p:nvSpPr>
        <p:spPr>
          <a:xfrm>
            <a:off x="4859150" y="1888700"/>
            <a:ext cx="3718800" cy="2743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n image right">
  <p:cSld name="ONE_COLUMN_TEXT_1">
    <p:spTree>
      <p:nvGrpSpPr>
        <p:cNvPr id="43" name="Shape 43"/>
        <p:cNvGrpSpPr/>
        <p:nvPr/>
      </p:nvGrpSpPr>
      <p:grpSpPr>
        <a:xfrm>
          <a:off x="0" y="0"/>
          <a:ext cx="0" cy="0"/>
          <a:chOff x="0" y="0"/>
          <a:chExt cx="0" cy="0"/>
        </a:xfrm>
      </p:grpSpPr>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5" name="Google Shape;45;p11"/>
          <p:cNvSpPr/>
          <p:nvPr>
            <p:ph idx="2" type="pic"/>
          </p:nvPr>
        </p:nvSpPr>
        <p:spPr>
          <a:xfrm>
            <a:off x="4582100" y="0"/>
            <a:ext cx="4562100" cy="5143500"/>
          </a:xfrm>
          <a:prstGeom prst="rect">
            <a:avLst/>
          </a:prstGeom>
          <a:noFill/>
          <a:ln>
            <a:noFill/>
          </a:ln>
        </p:spPr>
      </p:sp>
      <p:sp>
        <p:nvSpPr>
          <p:cNvPr id="46" name="Google Shape;46;p11"/>
          <p:cNvSpPr txBox="1"/>
          <p:nvPr>
            <p:ph type="title"/>
          </p:nvPr>
        </p:nvSpPr>
        <p:spPr>
          <a:xfrm>
            <a:off x="660500" y="631325"/>
            <a:ext cx="3724500" cy="1212600"/>
          </a:xfrm>
          <a:prstGeom prst="rect">
            <a:avLst/>
          </a:prstGeom>
        </p:spPr>
        <p:txBody>
          <a:bodyPr anchorCtr="0" anchor="b" bIns="91425" lIns="91425" spcFirstLastPara="1" rIns="91425" wrap="square" tIns="91425">
            <a:normAutofit/>
          </a:bodyPr>
          <a:lstStyle>
            <a:lvl1pPr lvl="0" algn="l">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7" name="Google Shape;47;p11"/>
          <p:cNvSpPr txBox="1"/>
          <p:nvPr>
            <p:ph idx="1" type="body"/>
          </p:nvPr>
        </p:nvSpPr>
        <p:spPr>
          <a:xfrm>
            <a:off x="660549" y="1888700"/>
            <a:ext cx="3724500" cy="2743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left">
  <p:cSld name="ONE_COLUMN_TEXT_2">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0" name="Google Shape;50;p12"/>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51" name="Google Shape;51;p12" title="Devcon-8-India-slides-template-1-7.jpg"/>
          <p:cNvPicPr preferRelativeResize="0"/>
          <p:nvPr/>
        </p:nvPicPr>
        <p:blipFill rotWithShape="1">
          <a:blip r:embed="rId2">
            <a:alphaModFix/>
          </a:blip>
          <a:srcRect b="0" l="0" r="0" t="0"/>
          <a:stretch/>
        </p:blipFill>
        <p:spPr>
          <a:xfrm>
            <a:off x="0" y="0"/>
            <a:ext cx="4572000" cy="5143500"/>
          </a:xfrm>
          <a:prstGeom prst="rect">
            <a:avLst/>
          </a:prstGeom>
          <a:noFill/>
          <a:ln>
            <a:noFill/>
          </a:ln>
        </p:spPr>
      </p:pic>
      <p:sp>
        <p:nvSpPr>
          <p:cNvPr id="52" name="Google Shape;52;p12"/>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lt1"/>
              </a:buClr>
              <a:buSzPts val="2400"/>
              <a:buNone/>
              <a:defRPr sz="2400">
                <a:solidFill>
                  <a:schemeClr val="lt1"/>
                </a:solidFill>
              </a:defRPr>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right">
  <p:cSld name="ONE_COLUMN_TEXT_1_1">
    <p:spTree>
      <p:nvGrpSpPr>
        <p:cNvPr id="53" name="Shape 53"/>
        <p:cNvGrpSpPr/>
        <p:nvPr/>
      </p:nvGrpSpPr>
      <p:grpSpPr>
        <a:xfrm>
          <a:off x="0" y="0"/>
          <a:ext cx="0" cy="0"/>
          <a:chOff x="0" y="0"/>
          <a:chExt cx="0" cy="0"/>
        </a:xfrm>
      </p:grpSpPr>
      <p:sp>
        <p:nvSpPr>
          <p:cNvPr id="54" name="Google Shape;54;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13"/>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56" name="Google Shape;56;p13" title="Devcon-8-India-slides-template-1-8.jpg"/>
          <p:cNvPicPr preferRelativeResize="0"/>
          <p:nvPr/>
        </p:nvPicPr>
        <p:blipFill rotWithShape="1">
          <a:blip r:embed="rId2">
            <a:alphaModFix/>
          </a:blip>
          <a:srcRect b="0" l="0" r="0" t="0"/>
          <a:stretch/>
        </p:blipFill>
        <p:spPr>
          <a:xfrm>
            <a:off x="4572000" y="0"/>
            <a:ext cx="4572000" cy="5143500"/>
          </a:xfrm>
          <a:prstGeom prst="rect">
            <a:avLst/>
          </a:prstGeom>
          <a:noFill/>
          <a:ln>
            <a:noFill/>
          </a:ln>
        </p:spPr>
      </p:pic>
      <p:sp>
        <p:nvSpPr>
          <p:cNvPr id="57" name="Google Shape;57;p13"/>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lvl1pPr lvl="0" algn="l">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left 1">
  <p:cSld name="ONE_COLUMN_TEXT_2_1">
    <p:spTree>
      <p:nvGrpSpPr>
        <p:cNvPr id="58" name="Shape 58"/>
        <p:cNvGrpSpPr/>
        <p:nvPr/>
      </p:nvGrpSpPr>
      <p:grpSpPr>
        <a:xfrm>
          <a:off x="0" y="0"/>
          <a:ext cx="0" cy="0"/>
          <a:chOff x="0" y="0"/>
          <a:chExt cx="0" cy="0"/>
        </a:xfrm>
      </p:grpSpPr>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4"/>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61" name="Google Shape;61;p14" title="Devcon-8-India-slides-template-1-9.jpg"/>
          <p:cNvPicPr preferRelativeResize="0"/>
          <p:nvPr/>
        </p:nvPicPr>
        <p:blipFill rotWithShape="1">
          <a:blip r:embed="rId2">
            <a:alphaModFix/>
          </a:blip>
          <a:srcRect b="0" l="0" r="0" t="0"/>
          <a:stretch/>
        </p:blipFill>
        <p:spPr>
          <a:xfrm>
            <a:off x="0" y="0"/>
            <a:ext cx="4572000" cy="5143500"/>
          </a:xfrm>
          <a:prstGeom prst="rect">
            <a:avLst/>
          </a:prstGeom>
          <a:noFill/>
          <a:ln>
            <a:noFill/>
          </a:ln>
        </p:spPr>
      </p:pic>
      <p:sp>
        <p:nvSpPr>
          <p:cNvPr id="62" name="Google Shape;62;p14"/>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lt1"/>
              </a:buClr>
              <a:buSzPts val="2400"/>
              <a:buNone/>
              <a:defRPr sz="2400">
                <a:solidFill>
                  <a:schemeClr val="lt1"/>
                </a:solidFill>
              </a:defRPr>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right 1">
  <p:cSld name="ONE_COLUMN_TEXT_1_1_1">
    <p:spTree>
      <p:nvGrpSpPr>
        <p:cNvPr id="63" name="Shape 63"/>
        <p:cNvGrpSpPr/>
        <p:nvPr/>
      </p:nvGrpSpPr>
      <p:grpSpPr>
        <a:xfrm>
          <a:off x="0" y="0"/>
          <a:ext cx="0" cy="0"/>
          <a:chOff x="0" y="0"/>
          <a:chExt cx="0" cy="0"/>
        </a:xfrm>
      </p:grpSpPr>
      <p:sp>
        <p:nvSpPr>
          <p:cNvPr id="64" name="Google Shape;64;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5"/>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66" name="Google Shape;66;p15" title="Devcon-8-India-slides-template-1-10.jpg"/>
          <p:cNvPicPr preferRelativeResize="0"/>
          <p:nvPr/>
        </p:nvPicPr>
        <p:blipFill rotWithShape="1">
          <a:blip r:embed="rId2">
            <a:alphaModFix/>
          </a:blip>
          <a:srcRect b="0" l="0" r="0" t="0"/>
          <a:stretch/>
        </p:blipFill>
        <p:spPr>
          <a:xfrm>
            <a:off x="4572000" y="0"/>
            <a:ext cx="4572000" cy="5143500"/>
          </a:xfrm>
          <a:prstGeom prst="rect">
            <a:avLst/>
          </a:prstGeom>
          <a:noFill/>
          <a:ln>
            <a:noFill/>
          </a:ln>
        </p:spPr>
      </p:pic>
      <p:sp>
        <p:nvSpPr>
          <p:cNvPr id="67" name="Google Shape;67;p15"/>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lvl1pPr lvl="0" algn="l">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8" name="Shape 68"/>
        <p:cNvGrpSpPr/>
        <p:nvPr/>
      </p:nvGrpSpPr>
      <p:grpSpPr>
        <a:xfrm>
          <a:off x="0" y="0"/>
          <a:ext cx="0" cy="0"/>
          <a:chOff x="0" y="0"/>
          <a:chExt cx="0" cy="0"/>
        </a:xfrm>
      </p:grpSpPr>
      <p:sp>
        <p:nvSpPr>
          <p:cNvPr id="69" name="Google Shape;69;p16"/>
          <p:cNvSpPr txBox="1"/>
          <p:nvPr>
            <p:ph type="title"/>
          </p:nvPr>
        </p:nvSpPr>
        <p:spPr>
          <a:xfrm>
            <a:off x="703375" y="935400"/>
            <a:ext cx="7737300" cy="32727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000"/>
              <a:buNone/>
              <a:defRPr sz="3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0" name="Google Shape;70;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1" name="Shape 71"/>
        <p:cNvGrpSpPr/>
        <p:nvPr/>
      </p:nvGrpSpPr>
      <p:grpSpPr>
        <a:xfrm>
          <a:off x="0" y="0"/>
          <a:ext cx="0" cy="0"/>
          <a:chOff x="0" y="0"/>
          <a:chExt cx="0" cy="0"/>
        </a:xfrm>
      </p:grpSpPr>
      <p:sp>
        <p:nvSpPr>
          <p:cNvPr id="72" name="Google Shape;72;p17"/>
          <p:cNvSpPr txBox="1"/>
          <p:nvPr>
            <p:ph hasCustomPrompt="1" type="title"/>
          </p:nvPr>
        </p:nvSpPr>
        <p:spPr>
          <a:xfrm>
            <a:off x="1371615" y="1106125"/>
            <a:ext cx="64008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9000"/>
              <a:buNone/>
              <a:defRPr sz="9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3" name="Google Shape;73;p17"/>
          <p:cNvSpPr txBox="1"/>
          <p:nvPr>
            <p:ph idx="1" type="body"/>
          </p:nvPr>
        </p:nvSpPr>
        <p:spPr>
          <a:xfrm>
            <a:off x="1371587" y="3152225"/>
            <a:ext cx="6400800" cy="1300800"/>
          </a:xfrm>
          <a:prstGeom prst="rect">
            <a:avLst/>
          </a:prstGeom>
        </p:spPr>
        <p:txBody>
          <a:bodyPr anchorCtr="0" anchor="t" bIns="91425" lIns="91425" spcFirstLastPara="1" rIns="91425" wrap="square" tIns="91425">
            <a:normAutofit/>
          </a:bodyPr>
          <a:lstStyle>
            <a:lvl1pPr indent="-317500" lvl="0" marL="457200" algn="ctr">
              <a:spcBef>
                <a:spcPts val="0"/>
              </a:spcBef>
              <a:spcAft>
                <a:spcPts val="0"/>
              </a:spcAft>
              <a:buSzPts val="1400"/>
              <a:buChar char="●"/>
              <a:defRPr/>
            </a:lvl1pPr>
            <a:lvl2pPr indent="-311150" lvl="1" marL="914400" algn="ctr">
              <a:spcBef>
                <a:spcPts val="0"/>
              </a:spcBef>
              <a:spcAft>
                <a:spcPts val="0"/>
              </a:spcAft>
              <a:buSzPts val="1300"/>
              <a:buChar char="○"/>
              <a:defRPr/>
            </a:lvl2pPr>
            <a:lvl3pPr indent="-311150" lvl="2" marL="1371600" algn="ctr">
              <a:spcBef>
                <a:spcPts val="0"/>
              </a:spcBef>
              <a:spcAft>
                <a:spcPts val="0"/>
              </a:spcAft>
              <a:buSzPts val="13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74" name="Google Shape;7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
        <p:nvSpPr>
          <p:cNvPr id="76" name="Google Shape;76;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9.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74950" y="533400"/>
            <a:ext cx="7394100" cy="598800"/>
          </a:xfrm>
          <a:prstGeom prst="rect">
            <a:avLst/>
          </a:prstGeom>
          <a:noFill/>
          <a:ln>
            <a:noFill/>
          </a:ln>
        </p:spPr>
        <p:txBody>
          <a:bodyPr anchorCtr="0" anchor="t" bIns="91425" lIns="91425" spcFirstLastPara="1" rIns="91425" wrap="square" tIns="91425">
            <a:normAutofit/>
          </a:bodyPr>
          <a:lstStyle>
            <a:lvl1pPr lvl="0" algn="ctr">
              <a:spcBef>
                <a:spcPts val="0"/>
              </a:spcBef>
              <a:spcAft>
                <a:spcPts val="0"/>
              </a:spcAft>
              <a:buClr>
                <a:srgbClr val="36364C"/>
              </a:buClr>
              <a:buSzPts val="2800"/>
              <a:buFont typeface="Poppins ExtraBold"/>
              <a:buNone/>
              <a:defRPr sz="2800">
                <a:solidFill>
                  <a:srgbClr val="36364C"/>
                </a:solidFill>
                <a:latin typeface="Poppins ExtraBold"/>
                <a:ea typeface="Poppins ExtraBold"/>
                <a:cs typeface="Poppins ExtraBold"/>
                <a:sym typeface="Poppins ExtraBold"/>
              </a:defRPr>
            </a:lvl1pPr>
            <a:lvl2pPr lvl="1">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2pPr>
            <a:lvl3pPr lvl="2">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3pPr>
            <a:lvl4pPr lvl="3">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4pPr>
            <a:lvl5pPr lvl="4">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5pPr>
            <a:lvl6pPr lvl="5">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6pPr>
            <a:lvl7pPr lvl="6">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7pPr>
            <a:lvl8pPr lvl="7">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8pPr>
            <a:lvl9pPr lvl="8">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9pPr>
          </a:lstStyle>
          <a:p/>
        </p:txBody>
      </p:sp>
      <p:sp>
        <p:nvSpPr>
          <p:cNvPr id="7" name="Google Shape;7;p1"/>
          <p:cNvSpPr txBox="1"/>
          <p:nvPr>
            <p:ph idx="1" type="body"/>
          </p:nvPr>
        </p:nvSpPr>
        <p:spPr>
          <a:xfrm>
            <a:off x="651925" y="1304875"/>
            <a:ext cx="7840200" cy="3416400"/>
          </a:xfrm>
          <a:prstGeom prst="rect">
            <a:avLst/>
          </a:prstGeom>
          <a:noFill/>
          <a:ln>
            <a:noFill/>
          </a:ln>
        </p:spPr>
        <p:txBody>
          <a:bodyPr anchorCtr="0" anchor="t" bIns="91425" lIns="91425" spcFirstLastPara="1" rIns="91425" wrap="square" tIns="91425">
            <a:normAutofit/>
          </a:bodyPr>
          <a:lstStyle>
            <a:lvl1pPr indent="-317500" lvl="0" marL="457200">
              <a:lnSpc>
                <a:spcPct val="130000"/>
              </a:lnSpc>
              <a:spcBef>
                <a:spcPts val="0"/>
              </a:spcBef>
              <a:spcAft>
                <a:spcPts val="0"/>
              </a:spcAft>
              <a:buClr>
                <a:srgbClr val="36364C"/>
              </a:buClr>
              <a:buSzPts val="1400"/>
              <a:buFont typeface="Poppins"/>
              <a:buChar char="●"/>
              <a:defRPr>
                <a:solidFill>
                  <a:srgbClr val="36364C"/>
                </a:solidFill>
                <a:latin typeface="Poppins"/>
                <a:ea typeface="Poppins"/>
                <a:cs typeface="Poppins"/>
                <a:sym typeface="Poppins"/>
              </a:defRPr>
            </a:lvl1pPr>
            <a:lvl2pPr indent="-311150" lvl="1" marL="914400">
              <a:lnSpc>
                <a:spcPct val="130000"/>
              </a:lnSpc>
              <a:spcBef>
                <a:spcPts val="0"/>
              </a:spcBef>
              <a:spcAft>
                <a:spcPts val="0"/>
              </a:spcAft>
              <a:buClr>
                <a:srgbClr val="36364C"/>
              </a:buClr>
              <a:buSzPts val="1300"/>
              <a:buFont typeface="Poppins"/>
              <a:buChar char="○"/>
              <a:defRPr sz="1300">
                <a:solidFill>
                  <a:srgbClr val="36364C"/>
                </a:solidFill>
                <a:latin typeface="Poppins"/>
                <a:ea typeface="Poppins"/>
                <a:cs typeface="Poppins"/>
                <a:sym typeface="Poppins"/>
              </a:defRPr>
            </a:lvl2pPr>
            <a:lvl3pPr indent="-311150" lvl="2" marL="1371600">
              <a:lnSpc>
                <a:spcPct val="130000"/>
              </a:lnSpc>
              <a:spcBef>
                <a:spcPts val="0"/>
              </a:spcBef>
              <a:spcAft>
                <a:spcPts val="0"/>
              </a:spcAft>
              <a:buClr>
                <a:srgbClr val="36364C"/>
              </a:buClr>
              <a:buSzPts val="1300"/>
              <a:buFont typeface="Poppins"/>
              <a:buChar char="■"/>
              <a:defRPr sz="1300">
                <a:solidFill>
                  <a:srgbClr val="36364C"/>
                </a:solidFill>
                <a:latin typeface="Poppins"/>
                <a:ea typeface="Poppins"/>
                <a:cs typeface="Poppins"/>
                <a:sym typeface="Poppins"/>
              </a:defRPr>
            </a:lvl3pPr>
            <a:lvl4pPr indent="-304800" lvl="3" marL="18288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4pPr>
            <a:lvl5pPr indent="-304800" lvl="4" marL="22860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5pPr>
            <a:lvl6pPr indent="-304800" lvl="5" marL="27432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6pPr>
            <a:lvl7pPr indent="-304800" lvl="6" marL="32004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7pPr>
            <a:lvl8pPr indent="-304800" lvl="7" marL="36576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8pPr>
            <a:lvl9pPr indent="-304800" lvl="8" marL="41148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mc:AlternateContent>
    <mc:Choice Requires="p14">
      <p:transition p14:dur="200">
        <p:fade/>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hyperlink" Target="https://efs.eth.limo/" TargetMode="External"/><Relationship Id="rId4" Type="http://schemas.openxmlformats.org/officeDocument/2006/relationships/hyperlink" Target="https://app.efs.eth.limo/" TargetMode="External"/><Relationship Id="rId5" Type="http://schemas.openxmlformats.org/officeDocument/2006/relationships/hyperlink" Target="https://youtu.be/gZl711IriS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id="81" name="Google Shape;81;p19" title="logo.png"/>
          <p:cNvPicPr preferRelativeResize="0"/>
          <p:nvPr/>
        </p:nvPicPr>
        <p:blipFill>
          <a:blip r:embed="rId3">
            <a:alphaModFix/>
          </a:blip>
          <a:stretch>
            <a:fillRect/>
          </a:stretch>
        </p:blipFill>
        <p:spPr>
          <a:xfrm>
            <a:off x="2594904" y="32075"/>
            <a:ext cx="3954193" cy="2076900"/>
          </a:xfrm>
          <a:prstGeom prst="rect">
            <a:avLst/>
          </a:prstGeom>
          <a:noFill/>
          <a:ln>
            <a:noFill/>
          </a:ln>
        </p:spPr>
      </p:pic>
      <p:sp>
        <p:nvSpPr>
          <p:cNvPr id="82" name="Google Shape;82;p19"/>
          <p:cNvSpPr txBox="1"/>
          <p:nvPr>
            <p:ph type="title"/>
          </p:nvPr>
        </p:nvSpPr>
        <p:spPr>
          <a:xfrm>
            <a:off x="457200" y="1536700"/>
            <a:ext cx="8229600" cy="1740000"/>
          </a:xfrm>
          <a:prstGeom prst="rect">
            <a:avLst/>
          </a:prstGeom>
          <a:solidFill>
            <a:srgbClr val="06038D"/>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FFFFFF"/>
                </a:solidFill>
                <a:latin typeface="Poppins"/>
                <a:ea typeface="Poppins"/>
                <a:cs typeface="Poppins"/>
                <a:sym typeface="Poppins"/>
              </a:rPr>
              <a:t>Who Can Turn Off</a:t>
            </a:r>
            <a:endParaRPr b="1" sz="4000">
              <a:solidFill>
                <a:srgbClr val="FFFFFF"/>
              </a:solidFill>
              <a:latin typeface="Poppins"/>
              <a:ea typeface="Poppins"/>
              <a:cs typeface="Poppins"/>
              <a:sym typeface="Poppins"/>
            </a:endParaRPr>
          </a:p>
          <a:p>
            <a:pPr indent="0" lvl="0" marL="0" rtl="0" algn="ctr">
              <a:spcBef>
                <a:spcPts val="0"/>
              </a:spcBef>
              <a:spcAft>
                <a:spcPts val="0"/>
              </a:spcAft>
              <a:buNone/>
            </a:pPr>
            <a:r>
              <a:rPr b="1" lang="en" sz="4000">
                <a:solidFill>
                  <a:srgbClr val="FFFFFF"/>
                </a:solidFill>
                <a:latin typeface="Poppins"/>
                <a:ea typeface="Poppins"/>
                <a:cs typeface="Poppins"/>
                <a:sym typeface="Poppins"/>
              </a:rPr>
              <a:t>Your Ethereum App?</a:t>
            </a:r>
            <a:endParaRPr b="1" sz="4000">
              <a:solidFill>
                <a:srgbClr val="FFFFFF"/>
              </a:solidFill>
              <a:latin typeface="Poppins"/>
              <a:ea typeface="Poppins"/>
              <a:cs typeface="Poppins"/>
              <a:sym typeface="Poppins"/>
            </a:endParaRPr>
          </a:p>
        </p:txBody>
      </p:sp>
      <p:sp>
        <p:nvSpPr>
          <p:cNvPr id="83" name="Google Shape;83;p19"/>
          <p:cNvSpPr txBox="1"/>
          <p:nvPr/>
        </p:nvSpPr>
        <p:spPr>
          <a:xfrm>
            <a:off x="2398500" y="4026092"/>
            <a:ext cx="4347000" cy="9777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2400">
                <a:solidFill>
                  <a:srgbClr val="FFFFFF"/>
                </a:solidFill>
                <a:latin typeface="Roboto Condensed"/>
                <a:ea typeface="Roboto Condensed"/>
                <a:cs typeface="Roboto Condensed"/>
                <a:sym typeface="Roboto Condensed"/>
              </a:rPr>
              <a:t>James Carnley</a:t>
            </a:r>
            <a:endParaRPr b="1" sz="2400">
              <a:solidFill>
                <a:srgbClr val="FFFFFF"/>
              </a:solidFill>
              <a:latin typeface="Roboto Condensed"/>
              <a:ea typeface="Roboto Condensed"/>
              <a:cs typeface="Roboto Condensed"/>
              <a:sym typeface="Roboto Condensed"/>
            </a:endParaRPr>
          </a:p>
          <a:p>
            <a:pPr indent="0" lvl="0" marL="0" rtl="0" algn="ctr">
              <a:lnSpc>
                <a:spcPct val="115000"/>
              </a:lnSpc>
              <a:spcBef>
                <a:spcPts val="0"/>
              </a:spcBef>
              <a:spcAft>
                <a:spcPts val="0"/>
              </a:spcAft>
              <a:buNone/>
            </a:pPr>
            <a:r>
              <a:rPr lang="en" sz="2400">
                <a:solidFill>
                  <a:srgbClr val="FFFFFF"/>
                </a:solidFill>
                <a:latin typeface="Libre Franklin"/>
                <a:ea typeface="Libre Franklin"/>
                <a:cs typeface="Libre Franklin"/>
                <a:sym typeface="Libre Franklin"/>
              </a:rPr>
              <a:t>Ethereum File System</a:t>
            </a:r>
            <a:endParaRPr sz="2400">
              <a:solidFill>
                <a:srgbClr val="FFFFFF"/>
              </a:solidFill>
              <a:latin typeface="Libre Franklin"/>
              <a:ea typeface="Libre Franklin"/>
              <a:cs typeface="Libre Franklin"/>
              <a:sym typeface="Libre Franklin"/>
            </a:endParaRPr>
          </a:p>
        </p:txBody>
      </p:sp>
      <p:sp>
        <p:nvSpPr>
          <p:cNvPr id="84" name="Google Shape;84;p19"/>
          <p:cNvSpPr txBox="1"/>
          <p:nvPr>
            <p:ph idx="1" type="subTitle"/>
          </p:nvPr>
        </p:nvSpPr>
        <p:spPr>
          <a:xfrm>
            <a:off x="457200" y="2736700"/>
            <a:ext cx="8229600" cy="54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Poppins"/>
                <a:ea typeface="Poppins"/>
                <a:cs typeface="Poppins"/>
                <a:sym typeface="Poppins"/>
              </a:rPr>
              <a:t>A Full-Stack Walk-Away Test</a:t>
            </a:r>
            <a:endParaRPr b="1" sz="2400">
              <a:solidFill>
                <a:srgbClr val="FFFFFF"/>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0"/>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When an app closes</a:t>
            </a:r>
            <a:endParaRPr b="1" sz="3200">
              <a:solidFill>
                <a:srgbClr val="06038D"/>
              </a:solidFill>
              <a:latin typeface="Poppins"/>
              <a:ea typeface="Poppins"/>
              <a:cs typeface="Poppins"/>
              <a:sym typeface="Poppins"/>
            </a:endParaRPr>
          </a:p>
        </p:txBody>
      </p:sp>
      <p:sp>
        <p:nvSpPr>
          <p:cNvPr id="90" name="Google Shape;90;p20"/>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People keep years of work in applications.</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Pocket closed in 2025.</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Users had to recover and move their libraries.</a:t>
            </a:r>
            <a:endParaRPr sz="2400">
              <a:solidFill>
                <a:srgbClr val="21212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1"/>
          <p:cNvSpPr txBox="1"/>
          <p:nvPr>
            <p:ph type="title"/>
          </p:nvPr>
        </p:nvSpPr>
        <p:spPr>
          <a:xfrm>
            <a:off x="703375" y="935400"/>
            <a:ext cx="7737300" cy="32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800">
                <a:solidFill>
                  <a:srgbClr val="06038D"/>
                </a:solidFill>
                <a:latin typeface="Poppins"/>
                <a:ea typeface="Poppins"/>
                <a:cs typeface="Poppins"/>
                <a:sym typeface="Poppins"/>
              </a:rPr>
              <a:t>Software people can inherit</a:t>
            </a:r>
            <a:endParaRPr b="1" sz="3800">
              <a:solidFill>
                <a:srgbClr val="06038D"/>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2"/>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The team disappears</a:t>
            </a:r>
            <a:endParaRPr b="1"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Can users continue without its services or help?</a:t>
            </a:r>
            <a:endParaRPr sz="2400">
              <a:solidFill>
                <a:srgbClr val="212121"/>
              </a:solidFill>
            </a:endParaRPr>
          </a:p>
        </p:txBody>
      </p:sp>
      <p:sp>
        <p:nvSpPr>
          <p:cNvPr id="101" name="Google Shape;101;p22"/>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The keys change hands</a:t>
            </a:r>
            <a:endParaRPr b="1"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Can users refuse a harmful change and continue?</a:t>
            </a:r>
            <a:endParaRPr sz="2400">
              <a:solidFill>
                <a:srgbClr val="212121"/>
              </a:solidFill>
            </a:endParaRPr>
          </a:p>
        </p:txBody>
      </p:sp>
      <p:sp>
        <p:nvSpPr>
          <p:cNvPr id="102" name="Google Shape;102;p22"/>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Absence and hostile control</a:t>
            </a:r>
            <a:endParaRPr b="1" sz="3200">
              <a:solidFill>
                <a:srgbClr val="06038D"/>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3"/>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application stack</a:t>
            </a:r>
            <a:endParaRPr b="1" sz="3200">
              <a:solidFill>
                <a:srgbClr val="06038D"/>
              </a:solidFill>
              <a:latin typeface="Poppins"/>
              <a:ea typeface="Poppins"/>
              <a:cs typeface="Poppins"/>
              <a:sym typeface="Poppins"/>
            </a:endParaRPr>
          </a:p>
        </p:txBody>
      </p:sp>
      <p:sp>
        <p:nvSpPr>
          <p:cNvPr id="108" name="Google Shape;108;p23"/>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06038D"/>
                </a:solidFill>
              </a:rPr>
              <a:t>Entering the app</a:t>
            </a:r>
            <a:endParaRPr b="1" sz="2400">
              <a:solidFill>
                <a:srgbClr val="06038D"/>
              </a:solidFill>
            </a:endParaRPr>
          </a:p>
          <a:p>
            <a:pPr indent="0" lvl="0" marL="0" marR="0" rtl="0" algn="l">
              <a:lnSpc>
                <a:spcPct val="110000"/>
              </a:lnSpc>
              <a:spcBef>
                <a:spcPts val="200"/>
              </a:spcBef>
              <a:spcAft>
                <a:spcPts val="0"/>
              </a:spcAft>
              <a:buNone/>
            </a:pPr>
            <a:r>
              <a:rPr lang="en" sz="2400">
                <a:solidFill>
                  <a:srgbClr val="212121"/>
                </a:solidFill>
              </a:rPr>
              <a:t>Names, software, identity</a:t>
            </a:r>
            <a:endParaRPr sz="2400">
              <a:solidFill>
                <a:srgbClr val="212121"/>
              </a:solidFill>
            </a:endParaRPr>
          </a:p>
          <a:p>
            <a:pPr indent="0" lvl="0" marL="0" marR="0" rtl="0" algn="l">
              <a:lnSpc>
                <a:spcPct val="110000"/>
              </a:lnSpc>
              <a:spcBef>
                <a:spcPts val="200"/>
              </a:spcBef>
              <a:spcAft>
                <a:spcPts val="0"/>
              </a:spcAft>
              <a:buNone/>
            </a:pPr>
            <a:r>
              <a:rPr b="1" lang="en" sz="2400">
                <a:solidFill>
                  <a:srgbClr val="06038D"/>
                </a:solidFill>
              </a:rPr>
              <a:t>Continuing the work</a:t>
            </a:r>
            <a:endParaRPr b="1" sz="2400">
              <a:solidFill>
                <a:srgbClr val="06038D"/>
              </a:solidFill>
            </a:endParaRPr>
          </a:p>
          <a:p>
            <a:pPr indent="0" lvl="0" marL="0" marR="0" rtl="0" algn="l">
              <a:lnSpc>
                <a:spcPct val="110000"/>
              </a:lnSpc>
              <a:spcBef>
                <a:spcPts val="200"/>
              </a:spcBef>
              <a:spcAft>
                <a:spcPts val="0"/>
              </a:spcAft>
              <a:buNone/>
            </a:pPr>
            <a:r>
              <a:rPr lang="en" sz="2400">
                <a:solidFill>
                  <a:srgbClr val="212121"/>
                </a:solidFill>
              </a:rPr>
              <a:t>Data, state, computation</a:t>
            </a:r>
            <a:endParaRPr sz="2400">
              <a:solidFill>
                <a:srgbClr val="212121"/>
              </a:solidFill>
            </a:endParaRPr>
          </a:p>
          <a:p>
            <a:pPr indent="0" lvl="0" marL="0" marR="0" rtl="0" algn="l">
              <a:lnSpc>
                <a:spcPct val="110000"/>
              </a:lnSpc>
              <a:spcBef>
                <a:spcPts val="200"/>
              </a:spcBef>
              <a:spcAft>
                <a:spcPts val="0"/>
              </a:spcAft>
              <a:buNone/>
            </a:pPr>
            <a:r>
              <a:rPr b="1" lang="en" sz="2400">
                <a:solidFill>
                  <a:srgbClr val="06038D"/>
                </a:solidFill>
              </a:rPr>
              <a:t>Keeping the rules</a:t>
            </a:r>
            <a:endParaRPr b="1" sz="2400">
              <a:solidFill>
                <a:srgbClr val="06038D"/>
              </a:solidFill>
            </a:endParaRPr>
          </a:p>
          <a:p>
            <a:pPr indent="0" lvl="0" marL="0" marR="0" rtl="0" algn="l">
              <a:lnSpc>
                <a:spcPct val="110000"/>
              </a:lnSpc>
              <a:spcBef>
                <a:spcPts val="200"/>
              </a:spcBef>
              <a:spcAft>
                <a:spcPts val="200"/>
              </a:spcAft>
              <a:buNone/>
            </a:pPr>
            <a:r>
              <a:rPr lang="en" sz="2400">
                <a:solidFill>
                  <a:srgbClr val="212121"/>
                </a:solidFill>
              </a:rPr>
              <a:t>Application control, network and settlement</a:t>
            </a:r>
            <a:endParaRPr sz="2400">
              <a:solidFill>
                <a:srgbClr val="21212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4"/>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Names and entry points</a:t>
            </a:r>
            <a:endParaRPr b="1" sz="3200">
              <a:solidFill>
                <a:srgbClr val="06038D"/>
              </a:solidFill>
              <a:latin typeface="Poppins"/>
              <a:ea typeface="Poppins"/>
              <a:cs typeface="Poppins"/>
              <a:sym typeface="Poppins"/>
            </a:endParaRPr>
          </a:p>
        </p:txBody>
      </p:sp>
      <p:sp>
        <p:nvSpPr>
          <p:cNvPr id="114" name="Google Shape;114;p24"/>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ENS points to an app release.</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HTTPS gateways provide access routes.</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A retained release needs a tested independent path.</a:t>
            </a:r>
            <a:endParaRPr sz="2400">
              <a:solidFill>
                <a:srgbClr val="21212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5"/>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code that actually runs</a:t>
            </a:r>
            <a:endParaRPr b="1" sz="3200">
              <a:solidFill>
                <a:srgbClr val="06038D"/>
              </a:solidFill>
              <a:latin typeface="Poppins"/>
              <a:ea typeface="Poppins"/>
              <a:cs typeface="Poppins"/>
              <a:sym typeface="Poppins"/>
            </a:endParaRPr>
          </a:p>
        </p:txBody>
      </p:sp>
      <p:sp>
        <p:nvSpPr>
          <p:cNvPr id="120" name="Google Shape;120;p25"/>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A retained, runnable release</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Source and the inputs needed to rebuild it</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Every script the app loads after startup</a:t>
            </a:r>
            <a:endParaRPr sz="2400">
              <a:solidFill>
                <a:srgbClr val="21212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6"/>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Accounts and recovery</a:t>
            </a:r>
            <a:endParaRPr b="1" sz="3200">
              <a:solidFill>
                <a:srgbClr val="06038D"/>
              </a:solidFill>
              <a:latin typeface="Poppins"/>
              <a:ea typeface="Poppins"/>
              <a:cs typeface="Poppins"/>
              <a:sym typeface="Poppins"/>
            </a:endParaRPr>
          </a:p>
        </p:txBody>
      </p:sp>
      <p:sp>
        <p:nvSpPr>
          <p:cNvPr id="126" name="Google Shape;126;p26"/>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Reading a file</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Decrypting private content</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Signing or changing shared state</a:t>
            </a:r>
            <a:endParaRPr sz="2400">
              <a:solidFill>
                <a:srgbClr val="21212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7"/>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Data that remains available</a:t>
            </a:r>
            <a:endParaRPr b="1" sz="3200">
              <a:solidFill>
                <a:srgbClr val="06038D"/>
              </a:solidFill>
              <a:latin typeface="Poppins"/>
              <a:ea typeface="Poppins"/>
              <a:cs typeface="Poppins"/>
              <a:sym typeface="Poppins"/>
            </a:endParaRPr>
          </a:p>
        </p:txBody>
      </p:sp>
      <p:sp>
        <p:nvSpPr>
          <p:cNvPr id="132" name="Google Shape;132;p27"/>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Someone retains the actual bytes.</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Another operator can retrieve them.</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Private data needs decryption recovery.</a:t>
            </a:r>
            <a:endParaRPr sz="2400">
              <a:solidFill>
                <a:srgbClr val="21212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8"/>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File verification with EFS</a:t>
            </a:r>
            <a:endParaRPr b="1" sz="3200">
              <a:solidFill>
                <a:srgbClr val="06038D"/>
              </a:solidFill>
              <a:latin typeface="Poppins"/>
              <a:ea typeface="Poppins"/>
              <a:cs typeface="Poppins"/>
              <a:sym typeface="Poppins"/>
            </a:endParaRPr>
          </a:p>
        </p:txBody>
      </p:sp>
      <p:sp>
        <p:nvSpPr>
          <p:cNvPr id="138" name="Google Shape;138;p28"/>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An accepted public record and expected digest</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The same file through IPFS or Arweave</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Matching bytes, altered bytes, or no response</a:t>
            </a:r>
            <a:endParaRPr sz="2400">
              <a:solidFill>
                <a:srgbClr val="21212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9"/>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State you can rely on</a:t>
            </a:r>
            <a:endParaRPr b="1" sz="3200">
              <a:solidFill>
                <a:srgbClr val="06038D"/>
              </a:solidFill>
              <a:latin typeface="Poppins"/>
              <a:ea typeface="Poppins"/>
              <a:cs typeface="Poppins"/>
              <a:sym typeface="Poppins"/>
            </a:endParaRPr>
          </a:p>
        </p:txBody>
      </p:sp>
      <p:sp>
        <p:nvSpPr>
          <p:cNvPr id="144" name="Google Shape;144;p29"/>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Reachable: a provider answers</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Verified: evidence supports the claim</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Fresh: the state is recent enough</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Complete: the task has all required records</a:t>
            </a:r>
            <a:endParaRPr sz="2400">
              <a:solidFill>
                <a:srgbClr val="21212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30"/>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work outside the contracts</a:t>
            </a:r>
            <a:endParaRPr b="1" sz="3200">
              <a:solidFill>
                <a:srgbClr val="06038D"/>
              </a:solidFill>
              <a:latin typeface="Poppins"/>
              <a:ea typeface="Poppins"/>
              <a:cs typeface="Poppins"/>
              <a:sym typeface="Poppins"/>
            </a:endParaRPr>
          </a:p>
        </p:txBody>
      </p:sp>
      <p:sp>
        <p:nvSpPr>
          <p:cNvPr id="150" name="Google Shape;150;p30"/>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Required workers and external inputs</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Permission and resources to replace them</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A safe response when the work stops</a:t>
            </a:r>
            <a:endParaRPr sz="2400">
              <a:solidFill>
                <a:srgbClr val="21212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1"/>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Changeable rules</a:t>
            </a:r>
            <a:endParaRPr b="1"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Who can upgrade, pause or redirect the app?</a:t>
            </a:r>
            <a:endParaRPr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Can the user refuse?</a:t>
            </a:r>
            <a:endParaRPr sz="2400">
              <a:solidFill>
                <a:srgbClr val="212121"/>
              </a:solidFill>
            </a:endParaRPr>
          </a:p>
        </p:txBody>
      </p:sp>
      <p:sp>
        <p:nvSpPr>
          <p:cNvPr id="156" name="Google Shape;156;p31"/>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Fixed rules</a:t>
            </a:r>
            <a:endParaRPr b="1"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What behavior stays fixed?</a:t>
            </a:r>
            <a:endParaRPr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How can users move if it breaks?</a:t>
            </a:r>
            <a:endParaRPr sz="2400">
              <a:solidFill>
                <a:srgbClr val="212121"/>
              </a:solidFill>
            </a:endParaRPr>
          </a:p>
        </p:txBody>
      </p:sp>
      <p:sp>
        <p:nvSpPr>
          <p:cNvPr id="157" name="Google Shape;157;p31"/>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Rules and change authority</a:t>
            </a:r>
            <a:endParaRPr b="1" sz="3200">
              <a:solidFill>
                <a:srgbClr val="06038D"/>
              </a:solidFill>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2"/>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Connectivity and L1</a:t>
            </a:r>
            <a:endParaRPr b="1"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Peers and node access</a:t>
            </a:r>
            <a:endParaRPr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Inclusion and finality</a:t>
            </a:r>
            <a:endParaRPr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Required chain history</a:t>
            </a:r>
            <a:endParaRPr sz="2400">
              <a:solidFill>
                <a:srgbClr val="212121"/>
              </a:solidFill>
            </a:endParaRPr>
          </a:p>
        </p:txBody>
      </p:sp>
      <p:sp>
        <p:nvSpPr>
          <p:cNvPr id="163" name="Google Shape;163;p32"/>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L2 and settlement</a:t>
            </a:r>
            <a:endParaRPr b="1"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Sequencer and proving</a:t>
            </a:r>
            <a:endParaRPr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Available chain data</a:t>
            </a:r>
            <a:endParaRPr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A tested recovery route</a:t>
            </a:r>
            <a:endParaRPr sz="2400">
              <a:solidFill>
                <a:srgbClr val="212121"/>
              </a:solidFill>
            </a:endParaRPr>
          </a:p>
        </p:txBody>
      </p:sp>
      <p:sp>
        <p:nvSpPr>
          <p:cNvPr id="164" name="Google Shape;164;p32"/>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network beneath the app</a:t>
            </a:r>
            <a:endParaRPr b="1" sz="3200">
              <a:solidFill>
                <a:srgbClr val="06038D"/>
              </a:solidFill>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3"/>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Operators and continuity</a:t>
            </a:r>
            <a:endParaRPr b="1" sz="3200">
              <a:solidFill>
                <a:srgbClr val="06038D"/>
              </a:solidFill>
              <a:latin typeface="Poppins"/>
              <a:ea typeface="Poppins"/>
              <a:cs typeface="Poppins"/>
              <a:sym typeface="Poppins"/>
            </a:endParaRPr>
          </a:p>
        </p:txBody>
      </p:sp>
      <p:sp>
        <p:nvSpPr>
          <p:cNvPr id="170" name="Google Shape;170;p33"/>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Shared operators, cloud accounts and funding</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Retained inputs and permission to operate</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Documentation another maintainer can use</a:t>
            </a:r>
            <a:endParaRPr sz="2400">
              <a:solidFill>
                <a:srgbClr val="21212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4"/>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An exit someone can actually use</a:t>
            </a:r>
            <a:endParaRPr b="1" sz="3200">
              <a:solidFill>
                <a:srgbClr val="06038D"/>
              </a:solidFill>
              <a:latin typeface="Poppins"/>
              <a:ea typeface="Poppins"/>
              <a:cs typeface="Poppins"/>
              <a:sym typeface="Poppins"/>
            </a:endParaRPr>
          </a:p>
        </p:txBody>
      </p:sp>
      <p:sp>
        <p:nvSpPr>
          <p:cNvPr id="176" name="Google Shape;176;p34"/>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A new person or a fresh machine</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Enough data, context and keys</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The original task completed elsewhere</a:t>
            </a:r>
            <a:endParaRPr sz="2400">
              <a:solidFill>
                <a:srgbClr val="21212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5"/>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A walk-away test for your app</a:t>
            </a:r>
            <a:endParaRPr b="1" sz="3200">
              <a:solidFill>
                <a:srgbClr val="06038D"/>
              </a:solidFill>
              <a:latin typeface="Poppins"/>
              <a:ea typeface="Poppins"/>
              <a:cs typeface="Poppins"/>
              <a:sym typeface="Poppins"/>
            </a:endParaRPr>
          </a:p>
        </p:txBody>
      </p:sp>
      <p:sp>
        <p:nvSpPr>
          <p:cNvPr id="182" name="Google Shape;182;p35"/>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Choose one task whose loss would hurt.</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Try it without your team's services or help.</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Test what hostile authority could change.</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Fix the dependency that causes the most harm.</a:t>
            </a:r>
            <a:endParaRPr sz="2400">
              <a:solidFill>
                <a:srgbClr val="21212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6"/>
          <p:cNvSpPr txBox="1"/>
          <p:nvPr>
            <p:ph type="title"/>
          </p:nvPr>
        </p:nvSpPr>
        <p:spPr>
          <a:xfrm>
            <a:off x="703375" y="935400"/>
            <a:ext cx="7737300" cy="32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800">
                <a:solidFill>
                  <a:srgbClr val="06038D"/>
                </a:solidFill>
                <a:latin typeface="Poppins"/>
                <a:ea typeface="Poppins"/>
                <a:cs typeface="Poppins"/>
                <a:sym typeface="Poppins"/>
              </a:rPr>
              <a:t>Their work can outlive us</a:t>
            </a:r>
            <a:endParaRPr b="1" sz="3800">
              <a:solidFill>
                <a:srgbClr val="06038D"/>
              </a:solidFill>
              <a:latin typeface="Poppins"/>
              <a:ea typeface="Poppins"/>
              <a:cs typeface="Poppins"/>
              <a:sym typeface="Poppi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7"/>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Questions</a:t>
            </a:r>
            <a:endParaRPr b="1" sz="3200">
              <a:solidFill>
                <a:srgbClr val="06038D"/>
              </a:solidFill>
              <a:latin typeface="Poppins"/>
              <a:ea typeface="Poppins"/>
              <a:cs typeface="Poppins"/>
              <a:sym typeface="Poppins"/>
            </a:endParaRPr>
          </a:p>
        </p:txBody>
      </p:sp>
      <p:sp>
        <p:nvSpPr>
          <p:cNvPr id="193" name="Google Shape;193;p37"/>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u="sng">
                <a:solidFill>
                  <a:srgbClr val="06038D"/>
                </a:solidFill>
                <a:hlinkClick r:id="rId3">
                  <a:extLst>
                    <a:ext uri="{A12FA001-AC4F-418D-AE19-62706E023703}">
                      <ahyp:hlinkClr val="tx"/>
                    </a:ext>
                  </a:extLst>
                </a:hlinkClick>
              </a:rPr>
              <a:t>Ethereum File System</a:t>
            </a:r>
            <a:endParaRPr sz="2400">
              <a:solidFill>
                <a:srgbClr val="06038D"/>
              </a:solidFill>
            </a:endParaRPr>
          </a:p>
          <a:p>
            <a:pPr indent="0" lvl="0" marL="0" marR="0" rtl="0" algn="l">
              <a:lnSpc>
                <a:spcPct val="110000"/>
              </a:lnSpc>
              <a:spcBef>
                <a:spcPts val="1000"/>
              </a:spcBef>
              <a:spcAft>
                <a:spcPts val="0"/>
              </a:spcAft>
              <a:buNone/>
            </a:pPr>
            <a:r>
              <a:rPr lang="en" sz="2400" u="sng">
                <a:solidFill>
                  <a:srgbClr val="06038D"/>
                </a:solidFill>
                <a:hlinkClick r:id="rId4">
                  <a:extLst>
                    <a:ext uri="{A12FA001-AC4F-418D-AE19-62706E023703}">
                      <ahyp:hlinkClr val="tx"/>
                    </a:ext>
                  </a:extLst>
                </a:hlinkClick>
              </a:rPr>
              <a:t>Try the Sepolia app</a:t>
            </a:r>
            <a:endParaRPr sz="2400">
              <a:solidFill>
                <a:srgbClr val="06038D"/>
              </a:solidFill>
            </a:endParaRPr>
          </a:p>
          <a:p>
            <a:pPr indent="0" lvl="0" marL="0" marR="0" rtl="0" algn="l">
              <a:lnSpc>
                <a:spcPct val="110000"/>
              </a:lnSpc>
              <a:spcBef>
                <a:spcPts val="1000"/>
              </a:spcBef>
              <a:spcAft>
                <a:spcPts val="1000"/>
              </a:spcAft>
              <a:buNone/>
            </a:pPr>
            <a:r>
              <a:rPr lang="en" sz="2400" u="sng">
                <a:solidFill>
                  <a:srgbClr val="06038D"/>
                </a:solidFill>
                <a:hlinkClick r:id="rId5">
                  <a:extLst>
                    <a:ext uri="{A12FA001-AC4F-418D-AE19-62706E023703}">
                      <ahyp:hlinkClr val="tx"/>
                    </a:ext>
                  </a:extLst>
                </a:hlinkClick>
              </a:rPr>
              <a:t>Watch the EFS overview</a:t>
            </a:r>
            <a:endParaRPr sz="2400">
              <a:solidFill>
                <a:srgbClr val="06038D"/>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Devcon 8 India Slides Key Visual">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