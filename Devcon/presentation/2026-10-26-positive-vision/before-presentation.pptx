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Thin"/>
      <p:regular r:id="rId34"/>
      <p:bold r:id="rId35"/>
      <p:italic r:id="rId36"/>
      <p:boldItalic r:id="rId37"/>
    </p:embeddedFont>
    <p:embeddedFont>
      <p:font typeface="Roboto Condensed ExtraBold"/>
      <p:bold r:id="rId38"/>
      <p:boldItalic r:id="rId39"/>
    </p:embeddedFont>
    <p:embeddedFont>
      <p:font typeface="Libre Franklin"/>
      <p:regular r:id="rId40"/>
      <p:bold r:id="rId41"/>
      <p:italic r:id="rId42"/>
      <p:boldItalic r:id="rId43"/>
    </p:embeddedFont>
    <p:embeddedFont>
      <p:font typeface="Roboto"/>
      <p:regular r:id="rId44"/>
      <p:bold r:id="rId45"/>
      <p:italic r:id="rId46"/>
      <p:boldItalic r:id="rId47"/>
    </p:embeddedFont>
    <p:embeddedFont>
      <p:font typeface="Poppins"/>
      <p:regular r:id="rId48"/>
      <p:bold r:id="rId49"/>
      <p:italic r:id="rId50"/>
      <p:boldItalic r:id="rId51"/>
    </p:embeddedFont>
    <p:embeddedFont>
      <p:font typeface="Roboto Condensed"/>
      <p:regular r:id="rId52"/>
      <p:bold r:id="rId53"/>
      <p:italic r:id="rId54"/>
      <p:boldItalic r:id="rId55"/>
    </p:embeddedFont>
    <p:embeddedFont>
      <p:font typeface="Libre Franklin Medium"/>
      <p:regular r:id="rId56"/>
      <p:bold r:id="rId57"/>
      <p:italic r:id="rId58"/>
      <p:boldItalic r:id="rId59"/>
    </p:embeddedFont>
    <p:embeddedFont>
      <p:font typeface="Poppins ExtraBold"/>
      <p:bold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regular.fntdata"/><Relationship Id="rId42" Type="http://schemas.openxmlformats.org/officeDocument/2006/relationships/font" Target="fonts/LibreFranklin-italic.fntdata"/><Relationship Id="rId41" Type="http://schemas.openxmlformats.org/officeDocument/2006/relationships/font" Target="fonts/LibreFranklin-bold.fntdata"/><Relationship Id="rId44" Type="http://schemas.openxmlformats.org/officeDocument/2006/relationships/font" Target="fonts/Roboto-regular.fntdata"/><Relationship Id="rId43" Type="http://schemas.openxmlformats.org/officeDocument/2006/relationships/font" Target="fonts/LibreFranklin-boldItalic.fntdata"/><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regular.fntdata"/><Relationship Id="rId47" Type="http://schemas.openxmlformats.org/officeDocument/2006/relationships/font" Target="fonts/Roboto-boldItalic.fntdata"/><Relationship Id="rId49" Type="http://schemas.openxmlformats.org/officeDocument/2006/relationships/font" Target="fonts/Poppi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RobotoThin-bold.fntdata"/><Relationship Id="rId34" Type="http://schemas.openxmlformats.org/officeDocument/2006/relationships/font" Target="fonts/RobotoThin-regular.fntdata"/><Relationship Id="rId37" Type="http://schemas.openxmlformats.org/officeDocument/2006/relationships/font" Target="fonts/RobotoThin-boldItalic.fntdata"/><Relationship Id="rId36" Type="http://schemas.openxmlformats.org/officeDocument/2006/relationships/font" Target="fonts/RobotoThin-italic.fntdata"/><Relationship Id="rId39" Type="http://schemas.openxmlformats.org/officeDocument/2006/relationships/font" Target="fonts/RobotoCondensedExtraBold-boldItalic.fntdata"/><Relationship Id="rId38" Type="http://schemas.openxmlformats.org/officeDocument/2006/relationships/font" Target="fonts/RobotoCondensedExtraBold-bold.fntdata"/><Relationship Id="rId61" Type="http://schemas.openxmlformats.org/officeDocument/2006/relationships/font" Target="fonts/PoppinsExtraBold-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oppinsExtraBold-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Italic.fntdata"/><Relationship Id="rId50" Type="http://schemas.openxmlformats.org/officeDocument/2006/relationships/font" Target="fonts/Poppins-italic.fntdata"/><Relationship Id="rId53" Type="http://schemas.openxmlformats.org/officeDocument/2006/relationships/font" Target="fonts/RobotoCondensed-bold.fntdata"/><Relationship Id="rId52" Type="http://schemas.openxmlformats.org/officeDocument/2006/relationships/font" Target="fonts/RobotoCondensed-regular.fntdata"/><Relationship Id="rId11" Type="http://schemas.openxmlformats.org/officeDocument/2006/relationships/slide" Target="slides/slide6.xml"/><Relationship Id="rId55" Type="http://schemas.openxmlformats.org/officeDocument/2006/relationships/font" Target="fonts/RobotoCondensed-boldItalic.fntdata"/><Relationship Id="rId10" Type="http://schemas.openxmlformats.org/officeDocument/2006/relationships/slide" Target="slides/slide5.xml"/><Relationship Id="rId54" Type="http://schemas.openxmlformats.org/officeDocument/2006/relationships/font" Target="fonts/RobotoCondensed-italic.fntdata"/><Relationship Id="rId13" Type="http://schemas.openxmlformats.org/officeDocument/2006/relationships/slide" Target="slides/slide8.xml"/><Relationship Id="rId57" Type="http://schemas.openxmlformats.org/officeDocument/2006/relationships/font" Target="fonts/LibreFranklinMedium-bold.fntdata"/><Relationship Id="rId12" Type="http://schemas.openxmlformats.org/officeDocument/2006/relationships/slide" Target="slides/slide7.xml"/><Relationship Id="rId56" Type="http://schemas.openxmlformats.org/officeDocument/2006/relationships/font" Target="fonts/LibreFranklinMedium-regular.fntdata"/><Relationship Id="rId15" Type="http://schemas.openxmlformats.org/officeDocument/2006/relationships/slide" Target="slides/slide10.xml"/><Relationship Id="rId59" Type="http://schemas.openxmlformats.org/officeDocument/2006/relationships/font" Target="fonts/LibreFranklinMedium-boldItalic.fntdata"/><Relationship Id="rId14" Type="http://schemas.openxmlformats.org/officeDocument/2006/relationships/slide" Target="slides/slide9.xml"/><Relationship Id="rId58" Type="http://schemas.openxmlformats.org/officeDocument/2006/relationships/font" Target="fonts/LibreFranklinMedium-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Carnley, the creator of Ethereum File System. I want the things people build with our software to have a future that doesn't depend on us still being here, or still being benevolent.</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happens to someone’s work when the app they rely on disappears?</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someone with years of research notes, attachments and shared work inside an app. The team shuts down, or somebody changes the deal. They may still own the work, yet lose the ability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same failure. It becomes hard to trust software with important work, and hard to build anything lasting on top of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talk asks how we can give users a way to continue. We'll follow the application stack, find who can turn each part off, and look at improvements we can make.</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2:05-2:35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test one important user task under two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the team disappears. Remove its services, accounts and personal help. Can the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someone hostile gets the powers the team kept. What can they change, and what can the user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More copies can help with absence. They don't automatically protect us from an authorized harmful change. Keep both questions in mind as we go.</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2:05-2:35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test one important user task under two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the team disappears. Remove its services, accounts and personal help. Can the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someone hostile gets the powers the team kept. What can they change, and what can the user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More copies can help with absence. They don't automatically protect us from an authorized harmful change. Keep both questions in mind as we go.</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1:05-2:05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that person opening the same work in another compatible tool. They choose a better editor without handing their history to a new gatekeeper. Another developer can improve one part without replacing everything.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dependable capabilities we can combine into things none of us could build alone. Eventually, communities could rely on these foundations for important shared work and governance.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CROPS gives us the values: censorship resistance, open source, privacy and security. Hyperstructures express the ambition of lasting, permissionless protocols on an underlying blockchain. I want us to carry that ambition through the whole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gives us a way to work toward it. It won't certify every CROPS property. It will expose where a user's freedom still depends on somebody staying helpful.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research-notes user is illustrative, not an EFS customer or a deployed collaborative editor. Open formats, compatible tools and usable keys are additional requirements beyond retaining bytes. Jacob Horne's full hyperstructure definition also includes specific economic properties. This talk applies the longevity ambition to user-facing apps, without labeling every example a completed hyperstructure.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eight jobs form three chapters. They are a dependency map, not a single straight line.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Ethereum File System, or EFS, provides shared file paths, onchain metadata and verifiable file references. We'll use EFS on Sepolia for our file example, then other projects for jobs that a public file read doesn't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layer: what does it do, who can stop or change it, and what could let the user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3:05-3:10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can they get into the app?</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entrance, the software and the account all need a route forward.</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3:15-4:30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 first needs an entrance to the software. With a conventional hosted app, a URL directs the browser to a server that supplies the release. EFS's public client uses ENS to name content on IPFS. The release can come from another holder of the same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usual HTTPS gateway remains a service with an operator. In September 2024, eth.link moved to the eth.limo service. Two names can still share one operator.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Retain the accepted release reference and test opening it through an independently operated route. Then inspect who controls the name and its renewal.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name makes updates discoverable. Its controller can also redirect people. A retained release gives users a choice, but someone must retain its bytes and make the alternative understandable.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 and IPFS are not mutually exclusive. IPFS content can travel through an HTTP gateway. Content addressing identifies bytes. It does not itself authenticate their author, retain a copy, or make an ordinary gateway response independently verified in the browser. The eth.link migration is a dated operator example, not a current infrastructure audit. EFS alternate-path behavior has not been freshly exercised for this deck.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https://docs.ipfs.tech/concepts/ipfs-gateway/</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https://discuss.ens.domains/t/run-your-own-local-ens-gateway-the-easy-way/21890</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4:30-5:45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Reaching the page only gets us to the next question: what code runs on the user's device?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December 2023, attackers compromised Ledger Connect Kit's publishing channel. Apps loaded malicious connector code that led users into asset-draining transactions. Those apps' own repositories didn't need to change. A runtime dependency supplied another way to alter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a runnable release and inspect everything it fetches after startup. Separately, retain source, dependency versions, build tools and instructions. Test running the release and rebuilding it on a fresh setup without the founder's cache.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Reviewed releases and deliberate updates reduce surprise changes. They still need security fixes and compatibility work. A retained bundle also can't protect someone whose device is compromised.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Incident: December 14, 2023. Ledger's report dates December 20. It identifies malicious Connect Kit releases 1.1.5 through 1.1.7. The example concerns application code distribution and misleading transaction requests, not extraction of hardware-wallet private keys. A reproducible build establishes a relationship between inputs and output, not absence of vulnerabilities.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5:45-7:15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working app can still leave its user locked out. Public reading, private decryption and signing are different capabilities. Our public EFS file read doesn't require a signing key. A private file or a transaction may.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Consider a basic Safe account with three independent signers and a threshold of two. Lose one signer, and the remaining two can replace it. Lose two, and that ordinary path fails.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preserves account control. It doesn't recover the lost private key or an unrelated file-decryption key. Recovery modules can add another path, with their own powers. Guards can also block execution.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device and provider loss with a test account. Keep recovery material genuinely independent. Three keys on one lost device still share a failure. Recovery reduces lockout only if the user can actually use it without quietly handing control to someone else.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example is threshold continuity using an owner replacement transaction, not a demonstration of SafeRecoveryHub's module recovery flow. Inspect owners, threshold, modules, guards, signer support, available chain access and gas for the actual account. No recovery transaction occurred in this preparation.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https://docs.safe.global/reference-smart-account/owners/swapOwner</a:t>
            </a:r>
            <a:endParaRPr/>
          </a:p>
          <a:p>
            <a:pPr indent="0" lvl="0" marL="0" rtl="0" algn="l">
              <a:spcBef>
                <a:spcPts val="0"/>
              </a:spcBef>
              <a:spcAft>
                <a:spcPts val="0"/>
              </a:spcAft>
              <a:buNone/>
            </a:pPr>
            <a:r>
              <a:rPr lang="en"/>
              <a:t>https://help.safe.global/articles/9622260218-account-recovery-with-saferecoveryhub</a:t>
            </a:r>
            <a:endParaRPr/>
          </a:p>
          <a:p>
            <a:pPr indent="0" lvl="0" marL="0" rtl="0" algn="l">
              <a:spcBef>
                <a:spcPts val="0"/>
              </a:spcBef>
              <a:spcAft>
                <a:spcPts val="0"/>
              </a:spcAft>
              <a:buNone/>
            </a:pPr>
            <a:r>
              <a:rPr lang="en"/>
              <a:t>https://docs.safe.global/advanced/smart-account-modules</a:t>
            </a:r>
            <a:endParaRPr/>
          </a:p>
          <a:p>
            <a:pPr indent="0" lvl="0" marL="0" rtl="0" algn="l">
              <a:spcBef>
                <a:spcPts val="0"/>
              </a:spcBef>
              <a:spcAft>
                <a:spcPts val="0"/>
              </a:spcAft>
              <a:buNone/>
            </a:pPr>
            <a:r>
              <a:rPr lang="en"/>
              <a:t>https://docs.safe.global/advanced/smart-account-guards</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7:15-7:20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can they keep doing their work?</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7:20-7:25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the data matters. So do the records and the services needed to use it.</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7:25-8:10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 can reach software and regain access. Now they need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IPFS identifies content, but somebody still has to retain it. Several gateways can lead to the same remaining copy. Pocket's shutdown gives a familiar warning: its export preserved links and metadata, not the saved article 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EFS, the onchain reference and the stored file are separate dependencies. Retrieve a genuinely retained alternative copy. Keep the format information and any decryption recovery the task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Somebody pays for retention. Replication costs resources, and private records need an appropriate retention policy. The aim is to keep the work useful to its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https://support.mozilla.org/en-US/kb/exporting-your-pocket-list</a:t>
            </a:r>
            <a:endParaRPr/>
          </a:p>
          <a:p>
            <a:pPr indent="0" lvl="0" marL="0" rtl="0" algn="l">
              <a:spcBef>
                <a:spcPts val="0"/>
              </a:spcBef>
              <a:spcAft>
                <a:spcPts val="0"/>
              </a:spcAft>
              <a:buNone/>
            </a:pPr>
            <a:r>
              <a:rPr lang="en"/>
              <a:t>https://support.mozilla.org/en-US/kb/future-of-pocket</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8:10-9:10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earlier EFS proof package illustrates this sequence. Start from an accepted public reference and the chain state that supplied it. The reference gives an expected digest. Retrieve the candidate file through IPFS and compare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that route fails, try the Arweave copy against the same reference. A match supports integrity. Altered bytes fail the check. No usable response means that retrieval attempt failed, not that the file has vanished everywhere.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sequence explains the checks. The important freedom is changing the route without changing which file we accept. Somebody must still retain a copy, and a hash cannot choose the authoritative reference for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Historical walk-away proof package, pinned source below. This is a static explanation, not a new retrieval run. The carrier reference, expected digest and accepted chain record have distinct jobs. Integrity does not establish discovery completeness, freshness, semantic truth or confidentiality.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9:10-10:25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did that public reference come from? RPCs give us access to chain state. Indexes organize it into the queries our apps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Several RPC providers can help when one stops answering. Their agreement alone doesn't independently establish correctness. A light client such as Helios can check supported answers against its chain trust basis. Someone still has to supply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ask whether the answer is recent enough and whether anything is missing. One valid file record doesn't prove we found all of someone's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indexer such as Graph Node offers another check: can we rebuild the view of all the records we need? Retain its definition and required history, then test rebuilding it. Show users stale or incomplete results honestly. Verification and rebuilding cost resources, but let us depend on evidence instead of a single dashboard.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Helios support and trust assumptions vary by network and method. It does not verify arbitrary GraphQL results, guarantee index completeness, or retain application files. Graph Node needs deployment files, suitable chain access and a database. It may need archive access for eth_calls and tracing for particular handlers. Preserve manifests and linked files. This deck does not claim EFS has integrated a light client or automatic multi-RPC failover.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rPr lang="en"/>
              <a:t>https://thegraph.com/docs/en/indexing/tooling/graph-node/</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10:25-11:25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 tasks need someone to do work outside the contracts. Our file read doesn't cover every keeper, relayer or external input. An application can stop progressing while its chain remains healthy.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PoolTogether V5 lets others claim prizes for winners and earn a fee. If nobody claims in time, prizes expire. The design makes replacement possible and gives operators a reason to participate.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Those operators still need account data, chain access, gas and the right configuration. Permission doesn't guarantee that the work will be worthwhile.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Stop a required worker in a safe test. Can somebody else finish the operation? If an input remains missing or stale, decide which actions can safely continue.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Scope to the documented V5 prize-claiming mechanism. Draw windows and vault/claimer behavior vary. The official guide enumerates active accounts, computes winners, evaluates fees and submits claims. Old v4.docs links currently serve/canonicalize V5 content, but use dev.pooltogether.com to avoid misleading version cues. No profitability or live bot execution was tested. Chainlink consumers separately need application-appropriate timestamp checks. A fallback oracle can change meaning and trust.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https://dev.pooltogether.com/protocol/guides/bots/</a:t>
            </a:r>
            <a:endParaRPr/>
          </a:p>
          <a:p>
            <a:pPr indent="0" lvl="0" marL="0" rtl="0" algn="l">
              <a:spcBef>
                <a:spcPts val="0"/>
              </a:spcBef>
              <a:spcAft>
                <a:spcPts val="0"/>
              </a:spcAft>
              <a:buNone/>
            </a:pPr>
            <a:r>
              <a:rPr lang="en"/>
              <a:t>https://dev.pooltogether.com/protocol/guides/bots/claiming-prizes/</a:t>
            </a:r>
            <a:endParaRPr/>
          </a:p>
          <a:p>
            <a:pPr indent="0" lvl="0" marL="0" rtl="0" algn="l">
              <a:spcBef>
                <a:spcPts val="0"/>
              </a:spcBef>
              <a:spcAft>
                <a:spcPts val="0"/>
              </a:spcAft>
              <a:buNone/>
            </a:pPr>
            <a:r>
              <a:rPr lang="en"/>
              <a:t>https://dev.pooltogether.com/protocol/design/prize-claimer/</a:t>
            </a:r>
            <a:endParaRPr/>
          </a:p>
          <a:p>
            <a:pPr indent="0" lvl="0" marL="0" rtl="0" algn="l">
              <a:spcBef>
                <a:spcPts val="0"/>
              </a:spcBef>
              <a:spcAft>
                <a:spcPts val="0"/>
              </a:spcAft>
              <a:buNone/>
            </a:pPr>
            <a:r>
              <a:rPr lang="en"/>
              <a:t>https://github.com/underethsea/pooltogether-node</a:t>
            </a:r>
            <a:endParaRPr/>
          </a:p>
          <a:p>
            <a:pPr indent="0" lvl="0" marL="0" rtl="0" algn="l">
              <a:spcBef>
                <a:spcPts val="0"/>
              </a:spcBef>
              <a:spcAft>
                <a:spcPts val="0"/>
              </a:spcAft>
              <a:buNone/>
            </a:pPr>
            <a:r>
              <a:rPr lang="en"/>
              <a:t>https://docs.chain.link/data-feeds/overview#check-the-timestamp-of-the-latest-answer</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11:25-11:30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who can change the rules underneath them?</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11:30-11:35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Choosing a different client and changing shared rules are different powers.</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11:35-13:35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get into the app and continue the work. But can somebody change the deal underneath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application software, I want upgrades to be the user's choice. Shared systems also need agreed ways to evolve. These are different promises. Keeping yesterday's client cannot undo a change to the shared contract it calls.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fixed-code example. Its interface is a separate layer. The factory retains control over the protocol-fee recipient, within rules already in the code. That doesn't give it arbitrary power to rewrite the swap logic.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rules let another developer build without asking what we'll decide next. That's the credible-neutrality goal I want EFS to serve.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Bugs in fixed code are harder to repair. Upgrade powers can repair bugs or enable a takeover. A governance decision can authorize a change without every user consenting. Exit can protect a user, but differs from continuing under the old rules. A timelock helps only if users can notice and finish an exit in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Map the actual powers, including protocols and tokens your contracts depend on. Remove unnecessary powers, bound the others, and make migrations understandable. Ask what a dissenting user can really keep using.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Choosing a client release and changing shared state are different decisions. An old interface cannot undo a hostile contract upgrade.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illustrates fixed code with a bounded protocol-fee authority. Fixed rules support other builders, but also make bugs harder to repair. Inspect your app's actual powers and inherited dependencies. Test what users can refuse, retain or leave.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Factory feeToSetter can set feeTo and change feeToSetter. The Pair's fee logic is fixed. No current deployed holder or fee-on/off state was queried. Tokens, liquidity, oracles and networks remain dependencies. Do not extend this to every Uniswap version or claim an upgrade proxy in v2 core. EFS immutability is the stated goal, not a new audit of deployed powers. Individual software choice differs from coordinated protocol rule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https://support.uniswap.org/hc/en-us/articles/18783694078989-Unsupported-Token-Policy</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13:35-15:35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Those rules inherit a network. Even our own node needs connectivity, peers and usable history. Our task also depends on transaction inclusion and a sufficiently settled view of the chain.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a sequencer commonly orders transactions. Other components publish data, prove or propose state, and connect it to settlement. Ask what happens when a required operator stops or uses its powers against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submission route around a sequencer outage. That supplies a path toward transaction inclusion. It doesn't promise every application task will finish. Withdrawal has its own steps and conditions.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exact chain and account type you chose. Record the required data, fees and delay. Inspect bridge and upgrade powers, and whether the user can take the route without your backend.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separate data needed to reconstruct chain state from keeping an application's files for years. Our EFS example uses Sepolia and inherits its testnet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don't each need to build a blockchain. We do need to choose our inherited assumptions deliberately and know what a failure means for our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Short route (use instead if behind)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connectivity, chain data, inclusion and settlement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documents an L1 route around a sequencer outage. Inclusion, application success and withdrawal are separate outcomes. Test the actual chain and account, including data, fees, delay and bridge controls.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Chain reconstruction data and long-term file retention also serve different jobs. Our EFS example inherits Sepolia's testnet lifetime.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OP Stack route uses the selected chain's OptimismPortal. Sequencing windows differ and contract callers may encounter address aliasing. Withdrawal involves initiation, proving and finalization under applicable settlement conditions. A documented recovery route is not evidence that this user's operation succeeds. No forced-inclusion or withdrawal transaction was performed.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rPr lang="en"/>
              <a:t>https://docs.optimism.io/op-stack/bridging/withdrawal-flow</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15:35-16:35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Across all eight jobs, alternatives need people who can actually run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Hic et Nunc, an art marketplace on Tezos, lost its website in November 2021. Community mirrors used its open-source code, and the community developed Teia. Artists' work had a route forward. That took available artwork, usable software and people willing to operate it. Teia introduced a new marketplace contract.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important layers to have several independent participants. Three is a useful ambition, not proof of resilience. They may still share one cloud account, credential or funder.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Trace those shared dependencies. Give another person the retained inputs and instructions. Can they operate the service without you, and can they afford to keep doing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Teia's FAQ dates the Hic et Nunc shutdown to November 11, 2021, subsequent mirrors, return of the original domain January 25, 2022 and Teia launch February 2, 2022. It documents a new marketplace contract and indexer compatibility needs. Continued access is not proof that every feature or rule stayed identical. Artwork still needs retention and backups. This is a Tezos comparison, not an Ethereum deployment.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https://docs.teia.art/faqs/general-faqs</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16:35-17:35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put those dependencies together around a complete user task. Safe documents a command-line route to the same onchain account without its hosted API. That's a concrete alternative to a missing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user still needs supported signers, chain access and gas. A different interface doesn't recover missing keys, undo a hostile account configuration or reproduce every web feature.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the person with years of notes, the equivalent test is opening the files in a compatible tool and continuing their work, with relationships and privacy intact.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 task to someone on a fresh setup. Measure the time, cost and missing steps. A route only the founder can use still depends on the founder.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Safe CLI's direct-chain/blockchain route. Its transaction-service commands are a different dependency. Check actual version and signer support. No Safe account operation was performed. A file export, interface replacement, key recovery and asset exit are different outcomes and must be evaluated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rPr lang="en"/>
              <a:t>https://docs.safe.global/advanced/cli-reference/common-commands</a:t>
            </a:r>
            <a:endParaRPr/>
          </a:p>
          <a:p>
            <a:pPr indent="0" lvl="0" marL="0" rtl="0" algn="l">
              <a:spcBef>
                <a:spcPts val="0"/>
              </a:spcBef>
              <a:spcAft>
                <a:spcPts val="0"/>
              </a:spcAft>
              <a:buNone/>
            </a:pPr>
            <a:r>
              <a:rPr lang="en"/>
              <a:t>https://docs.safe.global/advanced/cli-reference/tx-service-commands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17:35-17:40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a test you can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17:40-18:40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task whose loss would genuinely hurt a user. Trace what it needs and who controls those parts.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Have another person try it without your team's services or personal help. Use test accounts and copies, never somebody's only data or real funds.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examine the powers a hostile maintainer could use. What can the user refuse, and what changes for everyone?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Record what happened, including time, cost and remaining assumptions. Improve the dependency that causes the most harm. You might remove a power, make an operator replaceable, or preserve a usable exit. You can also accept a dependency for a reason. The point is to make that choice before your users discover its consequences during a crisis.</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18:40-19:40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Think back to the person with years of work in an app. They should be able to keep using it, choose better tools, and decide what to share. Their future shouldn't depend on the founder staying alive or agreeing with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developers, each dependable capability is something we can build on. For communities, those capabilities can become foundations for work that matters to all of 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I care about CROPS and why I'm building EFS. The walk-away test turns that vision into a concrete question about our own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Choose one important task. Make it survive without you. Give the next person something they can rely on.</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dependency would be hardest for your users to replace?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Reference notes (not part of the spoken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example is a mechanism or historical incident, not a whole-project safety rating.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Users lose their work and trust</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Other developers can’t rely on that functionality</a:t>
            </a:r>
            <a:endParaRPr sz="2400">
              <a:solidFill>
                <a:schemeClr val="accent2"/>
              </a:solidFill>
            </a:endParaRPr>
          </a:p>
          <a:p>
            <a:pPr indent="-457200" lvl="0" marL="304800" rtl="0" algn="l">
              <a:lnSpc>
                <a:spcPct val="110000"/>
              </a:lnSpc>
              <a:spcBef>
                <a:spcPts val="0"/>
              </a:spcBef>
              <a:spcAft>
                <a:spcPts val="0"/>
              </a:spcAft>
              <a:buClr>
                <a:schemeClr val="accent2"/>
              </a:buClr>
              <a:buSzPts val="2400"/>
              <a:buChar char="●"/>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67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Can users continue without its services or help?</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multiple operators run critical features?</a:t>
            </a:r>
            <a:endParaRPr sz="2400">
              <a:solidFill>
                <a:srgbClr val="212121"/>
              </a:solidFill>
            </a:endParaRPr>
          </a:p>
        </p:txBody>
      </p:sp>
      <p:sp>
        <p:nvSpPr>
          <p:cNvPr id="102" name="Google Shape;102;p22"/>
          <p:cNvSpPr txBox="1"/>
          <p:nvPr>
            <p:ph idx="2" type="body"/>
          </p:nvPr>
        </p:nvSpPr>
        <p:spPr>
          <a:xfrm>
            <a:off x="4608575" y="1280150"/>
            <a:ext cx="40569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keys change hands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Can users refuse a harmful change?</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Can the </a:t>
            </a:r>
            <a:r>
              <a:rPr lang="en" sz="2400">
                <a:solidFill>
                  <a:srgbClr val="212121"/>
                </a:solidFill>
              </a:rPr>
              <a:t>community</a:t>
            </a:r>
            <a:r>
              <a:rPr lang="en" sz="2400">
                <a:solidFill>
                  <a:srgbClr val="212121"/>
                </a:solidFill>
              </a:rPr>
              <a:t> choose the next version?</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Absence and Hostile Control</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Users can truly rely on your app</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Run their lives</a:t>
            </a:r>
            <a:br>
              <a:rPr lang="en" sz="2400">
                <a:solidFill>
                  <a:srgbClr val="212121"/>
                </a:solidFill>
              </a:rPr>
            </a:br>
            <a:br>
              <a:rPr lang="en" sz="2400">
                <a:solidFill>
                  <a:srgbClr val="212121"/>
                </a:solidFill>
              </a:rPr>
            </a:br>
            <a:r>
              <a:rPr lang="en" sz="2400">
                <a:solidFill>
                  <a:srgbClr val="212121"/>
                </a:solidFill>
              </a:rPr>
              <a:t>Keep their critical data in your app</a:t>
            </a:r>
            <a:endParaRPr sz="2400">
              <a:solidFill>
                <a:srgbClr val="212121"/>
              </a:solidFill>
            </a:endParaRPr>
          </a:p>
        </p:txBody>
      </p:sp>
      <p:sp>
        <p:nvSpPr>
          <p:cNvPr id="109" name="Google Shape;109;p23"/>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Other developers can build on your app</a:t>
            </a:r>
            <a:endParaRPr b="1"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We can build hyperstructures</a:t>
            </a:r>
            <a:br>
              <a:rPr lang="en" sz="2400">
                <a:solidFill>
                  <a:srgbClr val="212121"/>
                </a:solidFill>
              </a:rPr>
            </a:br>
            <a:br>
              <a:rPr lang="en" sz="2400">
                <a:solidFill>
                  <a:srgbClr val="212121"/>
                </a:solidFill>
              </a:rPr>
            </a:br>
            <a:r>
              <a:rPr lang="en" sz="2400">
                <a:solidFill>
                  <a:srgbClr val="212121"/>
                </a:solidFill>
              </a:rPr>
              <a:t>You have a larger impact</a:t>
            </a:r>
            <a:endParaRPr sz="2400">
              <a:solidFill>
                <a:srgbClr val="212121"/>
              </a:solidFill>
            </a:endParaRPr>
          </a:p>
        </p:txBody>
      </p:sp>
      <p:sp>
        <p:nvSpPr>
          <p:cNvPr id="110" name="Google Shape;110;p2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Benefits of walking away</a:t>
            </a:r>
            <a:endParaRPr b="1" sz="32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4"/>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When you can walk away, </a:t>
            </a:r>
            <a:r>
              <a:rPr b="1" lang="en" sz="3800">
                <a:solidFill>
                  <a:srgbClr val="06038D"/>
                </a:solidFill>
                <a:latin typeface="Poppins"/>
                <a:ea typeface="Poppins"/>
                <a:cs typeface="Poppins"/>
                <a:sym typeface="Poppins"/>
              </a:rPr>
              <a:t>everyone benefits</a:t>
            </a:r>
            <a:endParaRPr b="1" sz="38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5"/>
          <p:cNvSpPr txBox="1"/>
          <p:nvPr>
            <p:ph type="title"/>
          </p:nvPr>
        </p:nvSpPr>
        <p:spPr>
          <a:xfrm>
            <a:off x="4826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21" name="Google Shape;121;p25"/>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800"/>
              <a:t>DNS</a:t>
            </a:r>
            <a:endParaRPr sz="1800"/>
          </a:p>
          <a:p>
            <a:pPr indent="-342900" lvl="0" marL="457200" rtl="0" algn="l">
              <a:lnSpc>
                <a:spcPct val="115000"/>
              </a:lnSpc>
              <a:spcBef>
                <a:spcPts val="0"/>
              </a:spcBef>
              <a:spcAft>
                <a:spcPts val="0"/>
              </a:spcAft>
              <a:buSzPts val="1800"/>
              <a:buChar char="●"/>
            </a:pPr>
            <a:r>
              <a:rPr lang="en" sz="1800"/>
              <a:t>Web Hosting</a:t>
            </a:r>
            <a:endParaRPr sz="1800"/>
          </a:p>
          <a:p>
            <a:pPr indent="-342900" lvl="0" marL="457200" rtl="0" algn="l">
              <a:lnSpc>
                <a:spcPct val="115000"/>
              </a:lnSpc>
              <a:spcBef>
                <a:spcPts val="0"/>
              </a:spcBef>
              <a:spcAft>
                <a:spcPts val="0"/>
              </a:spcAft>
              <a:buSzPts val="1800"/>
              <a:buChar char="●"/>
            </a:pPr>
            <a:r>
              <a:rPr lang="en" sz="1800"/>
              <a:t>App Stores</a:t>
            </a:r>
            <a:endParaRPr sz="1800"/>
          </a:p>
          <a:p>
            <a:pPr indent="-342900" lvl="0" marL="457200" rtl="0" algn="l">
              <a:lnSpc>
                <a:spcPct val="115000"/>
              </a:lnSpc>
              <a:spcBef>
                <a:spcPts val="0"/>
              </a:spcBef>
              <a:spcAft>
                <a:spcPts val="0"/>
              </a:spcAft>
              <a:buSzPts val="1800"/>
              <a:buChar char="●"/>
            </a:pPr>
            <a:r>
              <a:rPr lang="en" sz="1800"/>
              <a:t>Accounts</a:t>
            </a:r>
            <a:endParaRPr sz="1800"/>
          </a:p>
        </p:txBody>
      </p:sp>
      <p:sp>
        <p:nvSpPr>
          <p:cNvPr id="122" name="Google Shape;122;p25"/>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5"/>
          <p:cNvSpPr txBox="1"/>
          <p:nvPr>
            <p:ph type="title"/>
          </p:nvPr>
        </p:nvSpPr>
        <p:spPr>
          <a:xfrm>
            <a:off x="33274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24" name="Google Shape;124;p25"/>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800"/>
              <a:t>Storage</a:t>
            </a:r>
            <a:endParaRPr sz="1800"/>
          </a:p>
          <a:p>
            <a:pPr indent="-342900" lvl="0" marL="457200" rtl="0" algn="l">
              <a:lnSpc>
                <a:spcPct val="115000"/>
              </a:lnSpc>
              <a:spcBef>
                <a:spcPts val="0"/>
              </a:spcBef>
              <a:spcAft>
                <a:spcPts val="0"/>
              </a:spcAft>
              <a:buSzPts val="1800"/>
              <a:buChar char="●"/>
            </a:pPr>
            <a:r>
              <a:rPr lang="en" sz="1800"/>
              <a:t>State</a:t>
            </a:r>
            <a:endParaRPr sz="1800"/>
          </a:p>
          <a:p>
            <a:pPr indent="-342900" lvl="0" marL="457200" rtl="0" algn="l">
              <a:lnSpc>
                <a:spcPct val="115000"/>
              </a:lnSpc>
              <a:spcBef>
                <a:spcPts val="0"/>
              </a:spcBef>
              <a:spcAft>
                <a:spcPts val="0"/>
              </a:spcAft>
              <a:buSzPts val="1800"/>
              <a:buChar char="●"/>
            </a:pPr>
            <a:r>
              <a:rPr lang="en" sz="1800"/>
              <a:t>Computation</a:t>
            </a:r>
            <a:endParaRPr sz="1800"/>
          </a:p>
        </p:txBody>
      </p:sp>
      <p:sp>
        <p:nvSpPr>
          <p:cNvPr id="125" name="Google Shape;125;p25"/>
          <p:cNvSpPr txBox="1"/>
          <p:nvPr>
            <p:ph type="title"/>
          </p:nvPr>
        </p:nvSpPr>
        <p:spPr>
          <a:xfrm>
            <a:off x="6312900" y="160115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26" name="Google Shape;126;p25"/>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800"/>
              <a:t>Governance</a:t>
            </a:r>
            <a:endParaRPr sz="1800"/>
          </a:p>
          <a:p>
            <a:pPr indent="-342900" lvl="0" marL="457200" rtl="0" algn="l">
              <a:lnSpc>
                <a:spcPct val="115000"/>
              </a:lnSpc>
              <a:spcBef>
                <a:spcPts val="0"/>
              </a:spcBef>
              <a:spcAft>
                <a:spcPts val="0"/>
              </a:spcAft>
              <a:buSzPts val="1800"/>
              <a:buChar char="●"/>
            </a:pPr>
            <a:r>
              <a:rPr lang="en" sz="1800"/>
              <a:t>Network and settlement</a:t>
            </a:r>
            <a:endParaRPr sz="1800"/>
          </a:p>
          <a:p>
            <a:pPr indent="-342900" lvl="0" marL="457200" rtl="0" algn="l">
              <a:lnSpc>
                <a:spcPct val="115000"/>
              </a:lnSpc>
              <a:spcBef>
                <a:spcPts val="0"/>
              </a:spcBef>
              <a:spcAft>
                <a:spcPts val="0"/>
              </a:spcAft>
              <a:buSzPts val="1800"/>
              <a:buChar char="●"/>
            </a:pPr>
            <a:r>
              <a:rPr lang="en" sz="1800"/>
              <a:t>Community</a:t>
            </a:r>
            <a:endParaRPr sz="1800"/>
          </a:p>
        </p:txBody>
      </p:sp>
      <p:sp>
        <p:nvSpPr>
          <p:cNvPr id="127" name="Google Shape;127;p25"/>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5"/>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5"/>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36" name="Google Shape;136;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42" name="Google Shape;142;p27"/>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Find the accepted release</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Run it without your servers</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Recover access without your help</a:t>
            </a:r>
            <a:endParaRPr sz="2400">
              <a:solidFill>
                <a:schemeClr val="accent2"/>
              </a:solidFill>
            </a:endParaRPr>
          </a:p>
          <a:p>
            <a:pPr indent="0" lvl="0" marL="0" rtl="0" algn="l">
              <a:lnSpc>
                <a:spcPct val="110000"/>
              </a:lnSpc>
              <a:spcBef>
                <a:spcPts val="1600"/>
              </a:spcBef>
              <a:spcAft>
                <a:spcPts val="1600"/>
              </a:spcAft>
              <a:buNone/>
            </a:pPr>
            <a:r>
              <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Names and entry points</a:t>
            </a:r>
            <a:endParaRPr b="1" sz="3200">
              <a:solidFill>
                <a:srgbClr val="06038D"/>
              </a:solidFill>
              <a:latin typeface="Poppins"/>
              <a:ea typeface="Poppins"/>
              <a:cs typeface="Poppins"/>
              <a:sym typeface="Poppins"/>
            </a:endParaRPr>
          </a:p>
        </p:txBody>
      </p:sp>
      <p:sp>
        <p:nvSpPr>
          <p:cNvPr id="148" name="Google Shape;148;p28"/>
          <p:cNvSpPr txBox="1"/>
          <p:nvPr>
            <p:ph idx="1" type="body"/>
          </p:nvPr>
        </p:nvSpPr>
        <p:spPr>
          <a:xfrm>
            <a:off x="651925" y="1304875"/>
            <a:ext cx="39201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ENS names an app release on IPFS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gateway is one route to that release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&lt;EFS.eth points to IPFS web bundle&gt;&lt;.limo or .link gateways work&gt;</a:t>
            </a:r>
            <a:endParaRPr sz="2400">
              <a:solidFill>
                <a:srgbClr val="212121"/>
              </a:solidFill>
            </a:endParaRPr>
          </a:p>
        </p:txBody>
      </p:sp>
      <p:sp>
        <p:nvSpPr>
          <p:cNvPr id="149" name="Google Shape;149;p28"/>
          <p:cNvSpPr txBox="1"/>
          <p:nvPr/>
        </p:nvSpPr>
        <p:spPr>
          <a:xfrm>
            <a:off x="5014925" y="1900250"/>
            <a:ext cx="3086100" cy="15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36364C"/>
                </a:solidFill>
                <a:latin typeface="Poppins"/>
                <a:ea typeface="Poppins"/>
                <a:cs typeface="Poppins"/>
                <a:sym typeface="Poppins"/>
              </a:rPr>
              <a:t>&lt;diagram of DNS + HTTP vs ENS + IPFS&gt;</a:t>
            </a:r>
            <a:endParaRPr>
              <a:solidFill>
                <a:srgbClr val="36364C"/>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code that actually runs</a:t>
            </a:r>
            <a:endParaRPr b="1" sz="3200">
              <a:solidFill>
                <a:srgbClr val="06038D"/>
              </a:solidFill>
              <a:latin typeface="Poppins"/>
              <a:ea typeface="Poppins"/>
              <a:cs typeface="Poppins"/>
              <a:sym typeface="Poppins"/>
            </a:endParaRPr>
          </a:p>
        </p:txBody>
      </p:sp>
      <p:sp>
        <p:nvSpPr>
          <p:cNvPr id="155" name="Google Shape;155;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Ledger Connect Kit exposed a runtime dependency.</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retained release includes what it loads later.</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Rebuilding also needs source and build inputs.</a:t>
            </a:r>
            <a:endParaRPr sz="2400">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Accounts and Recovery</a:t>
            </a:r>
            <a:endParaRPr b="1" sz="3200">
              <a:solidFill>
                <a:srgbClr val="06038D"/>
              </a:solidFill>
              <a:latin typeface="Poppins"/>
              <a:ea typeface="Poppins"/>
              <a:cs typeface="Poppins"/>
              <a:sym typeface="Poppins"/>
            </a:endParaRPr>
          </a:p>
        </p:txBody>
      </p:sp>
      <p:sp>
        <p:nvSpPr>
          <p:cNvPr id="161" name="Google Shape;161;p3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two of three independent signers</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Two remaining signers can replace a lost one.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File decryption needs separate recovery.</a:t>
            </a:r>
            <a:endParaRPr sz="2400">
              <a:solidFill>
                <a:srgbClr val="21212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167" name="Google Shape;167;p31"/>
          <p:cNvSpPr txBox="1"/>
          <p:nvPr/>
        </p:nvSpPr>
        <p:spPr>
          <a:xfrm>
            <a:off x="3232500" y="1821650"/>
            <a:ext cx="2679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 Portability</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173" name="Google Shape;173;p32"/>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Keep usable files</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Check the records</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Replace the services doing the work</a:t>
            </a:r>
            <a:endParaRPr sz="2400">
              <a:solidFill>
                <a:schemeClr val="accent2"/>
              </a:solidFill>
            </a:endParaRPr>
          </a:p>
          <a:p>
            <a:pPr indent="0" lvl="0" marL="0" rtl="0" algn="l">
              <a:lnSpc>
                <a:spcPct val="110000"/>
              </a:lnSpc>
              <a:spcBef>
                <a:spcPts val="1600"/>
              </a:spcBef>
              <a:spcAft>
                <a:spcPts val="1600"/>
              </a:spcAft>
              <a:buNone/>
            </a:pPr>
            <a:r>
              <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Data that remains available</a:t>
            </a:r>
            <a:endParaRPr b="1" sz="3200">
              <a:solidFill>
                <a:srgbClr val="06038D"/>
              </a:solidFill>
              <a:latin typeface="Poppins"/>
              <a:ea typeface="Poppins"/>
              <a:cs typeface="Poppins"/>
              <a:sym typeface="Poppins"/>
            </a:endParaRPr>
          </a:p>
        </p:txBody>
      </p:sp>
      <p:sp>
        <p:nvSpPr>
          <p:cNvPr id="179" name="Google Shape;179;p33"/>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Data should be content addressed</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Multiple operators store data</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Standard f</a:t>
            </a:r>
            <a:r>
              <a:rPr lang="en" sz="2400">
                <a:solidFill>
                  <a:srgbClr val="212121"/>
                </a:solidFill>
              </a:rPr>
              <a:t>ormats and encryption keep those bytes useful</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&lt;can we make a diagram or have an image for this?&gt;</a:t>
            </a:r>
            <a:endParaRPr sz="2400">
              <a:solidFill>
                <a:srgbClr val="21212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File verification with EFS</a:t>
            </a:r>
            <a:endParaRPr b="1" sz="3200">
              <a:solidFill>
                <a:srgbClr val="06038D"/>
              </a:solidFill>
              <a:latin typeface="Poppins"/>
              <a:ea typeface="Poppins"/>
              <a:cs typeface="Poppins"/>
              <a:sym typeface="Poppins"/>
            </a:endParaRPr>
          </a:p>
        </p:txBody>
      </p:sp>
      <p:sp>
        <p:nvSpPr>
          <p:cNvPr id="185" name="Google Shape;185;p3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An accepted file reference supplies a digest.</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IPFS and Arweave can carry the same file.</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A mismatch differs from a failed retrieval.</a:t>
            </a:r>
            <a:endParaRPr sz="2400">
              <a:solidFill>
                <a:srgbClr val="21212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State you can rely on</a:t>
            </a:r>
            <a:endParaRPr b="1" sz="3200">
              <a:solidFill>
                <a:srgbClr val="06038D"/>
              </a:solidFill>
              <a:latin typeface="Poppins"/>
              <a:ea typeface="Poppins"/>
              <a:cs typeface="Poppins"/>
              <a:sym typeface="Poppins"/>
            </a:endParaRPr>
          </a:p>
        </p:txBody>
      </p:sp>
      <p:sp>
        <p:nvSpPr>
          <p:cNvPr id="191" name="Google Shape;191;p3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Use multiple RPC services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Verify data via light clients like Helios</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Fresh: the state is recent enough</a:t>
            </a:r>
            <a:endParaRPr sz="2400">
              <a:solidFill>
                <a:srgbClr val="212121"/>
              </a:solidFill>
            </a:endParaRPr>
          </a:p>
          <a:p>
            <a:pPr indent="-457200" lvl="0" marL="304800" marR="0" rtl="0" algn="l">
              <a:lnSpc>
                <a:spcPct val="110000"/>
              </a:lnSpc>
              <a:spcBef>
                <a:spcPts val="0"/>
              </a:spcBef>
              <a:spcAft>
                <a:spcPts val="0"/>
              </a:spcAft>
              <a:buClr>
                <a:srgbClr val="212121"/>
              </a:buClr>
              <a:buSzPts val="2400"/>
              <a:buChar char="●"/>
            </a:pPr>
            <a:r>
              <a:rPr lang="en" sz="2400">
                <a:solidFill>
                  <a:srgbClr val="212121"/>
                </a:solidFill>
              </a:rPr>
              <a:t>Complete: the task has all required records</a:t>
            </a:r>
            <a:endParaRPr sz="2400">
              <a:solidFill>
                <a:srgbClr val="21212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6"/>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work outside the contracts</a:t>
            </a:r>
            <a:endParaRPr b="1" sz="3200">
              <a:solidFill>
                <a:srgbClr val="06038D"/>
              </a:solidFill>
              <a:latin typeface="Poppins"/>
              <a:ea typeface="Poppins"/>
              <a:cs typeface="Poppins"/>
              <a:sym typeface="Poppins"/>
            </a:endParaRPr>
          </a:p>
        </p:txBody>
      </p:sp>
      <p:sp>
        <p:nvSpPr>
          <p:cNvPr id="197" name="Google Shape;197;p36"/>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PoolTogether V5 rewards permissionless claimers.</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Replacement needs inputs, gas and an incentive.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Unclaimed prizes can expire.</a:t>
            </a:r>
            <a:endParaRPr sz="2400">
              <a:solidFill>
                <a:srgbClr val="21212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Coming to consensus on the rules</a:t>
            </a:r>
            <a:endParaRPr/>
          </a:p>
        </p:txBody>
      </p:sp>
      <p:sp>
        <p:nvSpPr>
          <p:cNvPr id="203" name="Google Shape;203;p37"/>
          <p:cNvSpPr txBox="1"/>
          <p:nvPr/>
        </p:nvSpPr>
        <p:spPr>
          <a:xfrm>
            <a:off x="2998200" y="1794850"/>
            <a:ext cx="314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Upgrades and Community</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Who upgrades?</a:t>
            </a:r>
            <a:endParaRPr/>
          </a:p>
        </p:txBody>
      </p:sp>
      <p:sp>
        <p:nvSpPr>
          <p:cNvPr id="209" name="Google Shape;209;p38"/>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Who can change shared rules?</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What can users refuse?</a:t>
            </a:r>
            <a:endParaRPr sz="2400">
              <a:solidFill>
                <a:schemeClr val="accent2"/>
              </a:solidFill>
            </a:endParaRPr>
          </a:p>
          <a:p>
            <a:pPr indent="0" lvl="0" marL="0" rtl="0" algn="l">
              <a:lnSpc>
                <a:spcPct val="110000"/>
              </a:lnSpc>
              <a:spcBef>
                <a:spcPts val="1600"/>
              </a:spcBef>
              <a:spcAft>
                <a:spcPts val="0"/>
              </a:spcAft>
              <a:buNone/>
            </a:pPr>
            <a:r>
              <a:rPr lang="en" sz="2400">
                <a:solidFill>
                  <a:schemeClr val="accent2"/>
                </a:solidFill>
              </a:rPr>
              <a:t>Can they keep using the rules they chose?</a:t>
            </a:r>
            <a:endParaRPr sz="2400">
              <a:solidFill>
                <a:schemeClr val="accent2"/>
              </a:solidFill>
            </a:endParaRPr>
          </a:p>
          <a:p>
            <a:pPr indent="0" lvl="0" marL="0" rtl="0" algn="l">
              <a:lnSpc>
                <a:spcPct val="110000"/>
              </a:lnSpc>
              <a:spcBef>
                <a:spcPts val="1600"/>
              </a:spcBef>
              <a:spcAft>
                <a:spcPts val="1600"/>
              </a:spcAft>
              <a:buNone/>
            </a:pPr>
            <a:r>
              <a:t/>
            </a:r>
            <a:endParaRPr sz="2400">
              <a:solidFill>
                <a:schemeClr val="accent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User-chosen software</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Can users keep a release or switch clients?</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Shared state may still change.</a:t>
            </a:r>
            <a:endParaRPr sz="2400">
              <a:solidFill>
                <a:srgbClr val="212121"/>
              </a:solidFill>
            </a:endParaRPr>
          </a:p>
        </p:txBody>
      </p:sp>
      <p:sp>
        <p:nvSpPr>
          <p:cNvPr id="215" name="Google Shape;215;p39"/>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Shared application rules</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Who can upgrade, pause or redirect them?</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What can a user refuse or leave?</a:t>
            </a:r>
            <a:endParaRPr sz="2400">
              <a:solidFill>
                <a:srgbClr val="212121"/>
              </a:solidFill>
            </a:endParaRPr>
          </a:p>
        </p:txBody>
      </p:sp>
      <p:sp>
        <p:nvSpPr>
          <p:cNvPr id="216" name="Google Shape;216;p3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Rules and change authority</a:t>
            </a:r>
            <a:endParaRPr b="1" sz="3200">
              <a:solidFill>
                <a:srgbClr val="06038D"/>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0"/>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Connectivity and L1</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Peers and node access</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Inclusion and finality</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Required chain history</a:t>
            </a:r>
            <a:endParaRPr sz="2400">
              <a:solidFill>
                <a:srgbClr val="212121"/>
              </a:solidFill>
            </a:endParaRPr>
          </a:p>
        </p:txBody>
      </p:sp>
      <p:sp>
        <p:nvSpPr>
          <p:cNvPr id="222" name="Google Shape;222;p40"/>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L2 and settlement</a:t>
            </a:r>
            <a:endParaRPr b="1"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Sequencer and proving</a:t>
            </a:r>
            <a:endParaRPr sz="2400">
              <a:solidFill>
                <a:srgbClr val="212121"/>
              </a:solidFill>
            </a:endParaRPr>
          </a:p>
          <a:p>
            <a:pPr indent="0" lvl="0" marL="0" marR="0" rtl="0" algn="l">
              <a:lnSpc>
                <a:spcPct val="110000"/>
              </a:lnSpc>
              <a:spcBef>
                <a:spcPts val="1400"/>
              </a:spcBef>
              <a:spcAft>
                <a:spcPts val="0"/>
              </a:spcAft>
              <a:buNone/>
            </a:pPr>
            <a:r>
              <a:rPr lang="en" sz="2400">
                <a:solidFill>
                  <a:srgbClr val="212121"/>
                </a:solidFill>
              </a:rPr>
              <a:t>Available chain data</a:t>
            </a:r>
            <a:endParaRPr sz="2400">
              <a:solidFill>
                <a:srgbClr val="212121"/>
              </a:solidFill>
            </a:endParaRPr>
          </a:p>
          <a:p>
            <a:pPr indent="0" lvl="0" marL="0" marR="0" rtl="0" algn="l">
              <a:lnSpc>
                <a:spcPct val="110000"/>
              </a:lnSpc>
              <a:spcBef>
                <a:spcPts val="1400"/>
              </a:spcBef>
              <a:spcAft>
                <a:spcPts val="1400"/>
              </a:spcAft>
              <a:buNone/>
            </a:pPr>
            <a:r>
              <a:rPr lang="en" sz="2400">
                <a:solidFill>
                  <a:srgbClr val="212121"/>
                </a:solidFill>
              </a:rPr>
              <a:t>A tested recovery route</a:t>
            </a:r>
            <a:endParaRPr sz="2400">
              <a:solidFill>
                <a:srgbClr val="212121"/>
              </a:solidFill>
            </a:endParaRPr>
          </a:p>
        </p:txBody>
      </p:sp>
      <p:sp>
        <p:nvSpPr>
          <p:cNvPr id="223" name="Google Shape;223;p4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Operators and continuity</a:t>
            </a:r>
            <a:endParaRPr b="1" sz="3200">
              <a:solidFill>
                <a:srgbClr val="06038D"/>
              </a:solidFill>
              <a:latin typeface="Poppins"/>
              <a:ea typeface="Poppins"/>
              <a:cs typeface="Poppins"/>
              <a:sym typeface="Poppins"/>
            </a:endParaRPr>
          </a:p>
        </p:txBody>
      </p:sp>
      <p:sp>
        <p:nvSpPr>
          <p:cNvPr id="229" name="Google Shape;229;p41"/>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Hic et Nunc’s website closed. Community mirrors followed.</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Usable code and retained artwork made continuation possible.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Independent operators still need resources.</a:t>
            </a:r>
            <a:endParaRPr sz="2400">
              <a:solidFill>
                <a:srgbClr val="21212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Continuing somewhere else</a:t>
            </a:r>
            <a:endParaRPr b="1" sz="3200">
              <a:solidFill>
                <a:srgbClr val="06038D"/>
              </a:solidFill>
              <a:latin typeface="Poppins"/>
              <a:ea typeface="Poppins"/>
              <a:cs typeface="Poppins"/>
              <a:sym typeface="Poppins"/>
            </a:endParaRPr>
          </a:p>
        </p:txBody>
      </p:sp>
      <p:sp>
        <p:nvSpPr>
          <p:cNvPr id="235" name="Google Shape;235;p42"/>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Safe CLI offers a route without the hosted API.</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The same account still needs signers and gas.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A usable alternative preserves the user’s task.</a:t>
            </a:r>
            <a:endParaRPr sz="2400">
              <a:solidFill>
                <a:srgbClr val="21212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3"/>
          <p:cNvSpPr txBox="1"/>
          <p:nvPr>
            <p:ph type="title"/>
          </p:nvPr>
        </p:nvSpPr>
        <p:spPr>
          <a:xfrm>
            <a:off x="457200" y="2415175"/>
            <a:ext cx="8229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 walk away test for your app</a:t>
            </a:r>
            <a:endParaRPr/>
          </a:p>
          <a:p>
            <a:pPr indent="0" lvl="0" marL="0" rtl="0" algn="ctr">
              <a:spcBef>
                <a:spcPts val="0"/>
              </a:spcBef>
              <a:spcAft>
                <a:spcPts val="0"/>
              </a:spcAft>
              <a:buNone/>
            </a:pPr>
            <a:r>
              <a:t/>
            </a:r>
            <a:endParaRPr/>
          </a:p>
        </p:txBody>
      </p:sp>
      <p:sp>
        <p:nvSpPr>
          <p:cNvPr id="241" name="Google Shape;241;p43"/>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A walk away test for your app</a:t>
            </a:r>
            <a:endParaRPr b="1" sz="3200">
              <a:solidFill>
                <a:srgbClr val="06038D"/>
              </a:solidFill>
              <a:latin typeface="Poppins"/>
              <a:ea typeface="Poppins"/>
              <a:cs typeface="Poppins"/>
              <a:sym typeface="Poppins"/>
            </a:endParaRPr>
          </a:p>
        </p:txBody>
      </p:sp>
      <p:sp>
        <p:nvSpPr>
          <p:cNvPr id="247" name="Google Shape;247;p4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rgbClr val="212121"/>
                </a:solidFill>
              </a:rPr>
              <a:t>Choose one task whose loss would hurt.</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Try it without your team's services or help.</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Test what hostile authority could change.</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Fix the dependency that causes the most harm.</a:t>
            </a:r>
            <a:endParaRPr sz="2400">
              <a:solidFill>
                <a:srgbClr val="21212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5"/>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6"/>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258" name="Google Shape;258;p46"/>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259" name="Google Shape;259;p46"/>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