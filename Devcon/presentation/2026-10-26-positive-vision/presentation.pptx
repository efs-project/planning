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Thin"/>
      <p:regular r:id="rId35"/>
      <p:bold r:id="rId36"/>
      <p:italic r:id="rId37"/>
      <p:boldItalic r:id="rId38"/>
    </p:embeddedFont>
    <p:embeddedFont>
      <p:font typeface="Roboto Condensed ExtraBold"/>
      <p:bold r:id="rId39"/>
      <p:boldItalic r:id="rId40"/>
    </p:embeddedFont>
    <p:embeddedFont>
      <p:font typeface="Libre Franklin"/>
      <p:regular r:id="rId41"/>
      <p:bold r:id="rId42"/>
      <p:italic r:id="rId43"/>
      <p:boldItalic r:id="rId44"/>
    </p:embeddedFont>
    <p:embeddedFont>
      <p:font typeface="Roboto"/>
      <p:regular r:id="rId45"/>
      <p:bold r:id="rId46"/>
      <p:italic r:id="rId47"/>
      <p:boldItalic r:id="rId48"/>
    </p:embeddedFont>
    <p:embeddedFont>
      <p:font typeface="Poppins"/>
      <p:regular r:id="rId49"/>
      <p:bold r:id="rId50"/>
      <p:italic r:id="rId51"/>
      <p:boldItalic r:id="rId52"/>
    </p:embeddedFont>
    <p:embeddedFont>
      <p:font typeface="Roboto Condensed"/>
      <p:regular r:id="rId53"/>
      <p:bold r:id="rId54"/>
      <p:italic r:id="rId55"/>
      <p:boldItalic r:id="rId56"/>
    </p:embeddedFont>
    <p:embeddedFont>
      <p:font typeface="Libre Franklin Medium"/>
      <p:regular r:id="rId57"/>
      <p:bold r:id="rId58"/>
      <p:italic r:id="rId59"/>
      <p:boldItalic r:id="rId60"/>
    </p:embeddedFont>
    <p:embeddedFont>
      <p:font typeface="Poppins ExtraBold"/>
      <p:bold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Italic.fntdata"/><Relationship Id="rId42" Type="http://schemas.openxmlformats.org/officeDocument/2006/relationships/font" Target="fonts/LibreFranklin-bold.fntdata"/><Relationship Id="rId41" Type="http://schemas.openxmlformats.org/officeDocument/2006/relationships/font" Target="fonts/LibreFranklin-regular.fntdata"/><Relationship Id="rId44" Type="http://schemas.openxmlformats.org/officeDocument/2006/relationships/font" Target="fonts/LibreFranklin-boldItalic.fntdata"/><Relationship Id="rId43" Type="http://schemas.openxmlformats.org/officeDocument/2006/relationships/font" Target="fonts/LibreFranklin-italic.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Poppi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obotoThin-regular.fntdata"/><Relationship Id="rId34" Type="http://schemas.openxmlformats.org/officeDocument/2006/relationships/slide" Target="slides/slide29.xml"/><Relationship Id="rId37" Type="http://schemas.openxmlformats.org/officeDocument/2006/relationships/font" Target="fonts/RobotoThin-italic.fntdata"/><Relationship Id="rId36" Type="http://schemas.openxmlformats.org/officeDocument/2006/relationships/font" Target="fonts/RobotoThin-bold.fntdata"/><Relationship Id="rId39" Type="http://schemas.openxmlformats.org/officeDocument/2006/relationships/font" Target="fonts/RobotoCondensedExtraBold-bold.fntdata"/><Relationship Id="rId38" Type="http://schemas.openxmlformats.org/officeDocument/2006/relationships/font" Target="fonts/RobotoThin-boldItalic.fntdata"/><Relationship Id="rId62" Type="http://schemas.openxmlformats.org/officeDocument/2006/relationships/font" Target="fonts/PoppinsExtraBold-boldItalic.fntdata"/><Relationship Id="rId61" Type="http://schemas.openxmlformats.org/officeDocument/2006/relationships/font" Target="fonts/PoppinsExtraBo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italic.fntdata"/><Relationship Id="rId50" Type="http://schemas.openxmlformats.org/officeDocument/2006/relationships/font" Target="fonts/Poppins-bold.fntdata"/><Relationship Id="rId53" Type="http://schemas.openxmlformats.org/officeDocument/2006/relationships/font" Target="fonts/RobotoCondensed-regular.fntdata"/><Relationship Id="rId52" Type="http://schemas.openxmlformats.org/officeDocument/2006/relationships/font" Target="fonts/Poppins-boldItalic.fntdata"/><Relationship Id="rId11" Type="http://schemas.openxmlformats.org/officeDocument/2006/relationships/slide" Target="slides/slide6.xml"/><Relationship Id="rId55" Type="http://schemas.openxmlformats.org/officeDocument/2006/relationships/font" Target="fonts/RobotoCondensed-italic.fntdata"/><Relationship Id="rId10" Type="http://schemas.openxmlformats.org/officeDocument/2006/relationships/slide" Target="slides/slide5.xml"/><Relationship Id="rId54" Type="http://schemas.openxmlformats.org/officeDocument/2006/relationships/font" Target="fonts/RobotoCondensed-bold.fntdata"/><Relationship Id="rId13" Type="http://schemas.openxmlformats.org/officeDocument/2006/relationships/slide" Target="slides/slide8.xml"/><Relationship Id="rId57" Type="http://schemas.openxmlformats.org/officeDocument/2006/relationships/font" Target="fonts/LibreFranklinMedium-regular.fntdata"/><Relationship Id="rId12" Type="http://schemas.openxmlformats.org/officeDocument/2006/relationships/slide" Target="slides/slide7.xml"/><Relationship Id="rId56" Type="http://schemas.openxmlformats.org/officeDocument/2006/relationships/font" Target="fonts/RobotoCondensed-boldItalic.fntdata"/><Relationship Id="rId15" Type="http://schemas.openxmlformats.org/officeDocument/2006/relationships/slide" Target="slides/slide10.xml"/><Relationship Id="rId59" Type="http://schemas.openxmlformats.org/officeDocument/2006/relationships/font" Target="fonts/LibreFranklinMedium-italic.fntdata"/><Relationship Id="rId14" Type="http://schemas.openxmlformats.org/officeDocument/2006/relationships/slide" Target="slides/slide9.xml"/><Relationship Id="rId58" Type="http://schemas.openxmlformats.org/officeDocument/2006/relationships/font" Target="fonts/LibreFranklinMedium-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Then the company closes, or a new owner changes the deal. Their work still matters, but they lose the tools they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you built another app on that service. Your users inherit the same failure. Fragile foundations limit what we can responsibly build on 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give people a better future. Let's look at how.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persona is illustrative, not an EFS customer or a deployed collaborative editor.</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part of this ambition: long-lived public protocols that anyone can use and build on. People can keep using them without the creator operating them or choosing who may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Picture a shared exchange protocol. One team builds a wallet around it. Another builds a trading interface. A community uses it in a treasury tool. They can improve their own applications while relying on the same foundation.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useful idea is that each new contribution adds to something others can keep using. I want that dependability to reach all the way from Ethereum to the software and data in a person's hands.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names the values we bring with us: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illustrates a composability pattern, not three measured deployments. Jacob Horne's original hyperstructure definition includes additional economic properties, including protocol-wide fee conditions, participant incentives and value. This slide introduces the lasting public-protocol ambition, not a certification that every app in this talk satisfies the full definition. Blockchain operation and user transaction costs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2:45-3:15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makes that vision practical. Choose an important thing a user does. First, imagine your team and its services disappear. Can someone else help that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imagine someone hostile gets the powers your team kept. Can users keep their work and the rules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carry those questions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different scenarios.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give people a dependable way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3:40-3:50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3:50-5:05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familiar website sends people through a domain to a web server. That is convenient. We can also give the app a release that people can retain and serve themselves.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web bundle to IPFS. Its content identifier names that particular release. An ENS name can point to it, and users can reach it through different gateways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somebody else can keep an entrance open using the same release. Save the release identifier and the instructions somewhere people can find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straightforward: open the saved app without its usual website. Then try an ordinary task inside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simplifies discovery and retrieval. ENS controller/resolver/renewal powers still matter. A retained CID identifies a release but initial release authenticity and browser content verification require an appropriate trust path. An ordinary HTTP gateway may be trusted for the response. EFS uses ENS/IPFS, but this diagram is a general deployment pattern rather than a fresh hosting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https://docs.ipfs.tech/concepts/ipfs-gateway/</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5:05-5:55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next person a complete runnable release, and the source and build instructions to improve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web app can load more code after its first page opens: a wallet connector, a script or a configuration file. Include those dependencies in your release plan. The Ledger Connect Kit incident is a reminder that delivered code is part of the application's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app on a fresh machine. Can you open a deep link, read data and submit a change? Then give another developer the build instructions. A useful handoff lets them run the app and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Runnable releases and reproducible builds are separate checks. The Ledger Connect Kit reference is a historical distribution compromise, not a statement about current Ledger products. Inspect runtime network requests and retain exact dependency versions.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5:55-6:45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next job is keeping the user's access in their hands.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gives a familiar example. A two-of-three account can let two remaining signers replace a lost signer. That gives the user a planned recovery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private files, also plan how the person recovers their decryption keys. Walk through a lost-device scenario with a test account. Could they regain access without calling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an alternative way to use the account as well. Safe's command-line tools illustrate how a different interface can reach the same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thresholds, modules and guards depend on actual configuration. Two signers only suffice if the account's active rules permit the action. Account ownership, transaction signing and file decryption are distinct. Safe CLI's direct-chain path can avoid the hosted API, but transaction-service commands do not. No wallet operation or recovery test was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6:45-6:50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make the user's work useful beyond a single app.</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6:50-7:00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7:00-7:55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Shared data structures let developers improve the tools while preserving the work underneath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provides schemas for structured attestations: a common way to record who said what. Ethereum File System provides shared paths, provenance and file references. Nostr defines signed social events such as posts and follows.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solve different jobs, but share a useful approach: publish the structure so another developer can understand and use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document the format, identifiers and relationships. Give someone enough information to build another reader. Then test a useful task with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separate examples, not an integrated EAS/EFS/Nostr stack. Schema agreement includes semantics and authorization, not just field encoding. EAS signatures establish attester identity, not truth. EFS is the Sepolia working example; do not infer current v2 deployment or a deployed interchangeable editor.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https://github.com/nostr-protocol/nips/blob/master/01.md</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7:55-9:00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Damus and Amethyst make the benefit easy to picture. They are two applications using Nostr.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identity is a key. Public posts and follows use shared event formats. With that key and available copies of your events, you can use another client and keep participating in the same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next developer can make a better interface without asking everyone to rebuild their social identity. That is the kind of competition I want: better tools around work the user can keep.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of your own data. Could a second application open it and carry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Documentation-backed public-event interoperability, not a fresh Damus-to-Amethyst migration test. Limit the claim to supported identity, public posts and follow-list conventions. Media availability, relay retention, moderation, client features and private messages vary. Preserve keys safely. This is a non-Ethereum comparison and does not depict an EFS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https://damus.io/</a:t>
            </a:r>
            <a:endParaRPr/>
          </a:p>
          <a:p>
            <a:pPr indent="0" lvl="0" marL="0" rtl="0" algn="l">
              <a:spcBef>
                <a:spcPts val="0"/>
              </a:spcBef>
              <a:spcAft>
                <a:spcPts val="0"/>
              </a:spcAft>
              <a:buNone/>
            </a:pPr>
            <a:r>
              <a:rPr lang="en"/>
              <a:t>https://amethyst.social/</a:t>
            </a:r>
            <a:endParaRPr/>
          </a:p>
          <a:p>
            <a:pPr indent="0" lvl="0" marL="0" rtl="0" algn="l">
              <a:spcBef>
                <a:spcPts val="0"/>
              </a:spcBef>
              <a:spcAft>
                <a:spcPts val="0"/>
              </a:spcAft>
              <a:buNone/>
            </a:pPr>
            <a:r>
              <a:rPr lang="en"/>
              <a:t>https://github.com/damus-io/damus#spec-compliance</a:t>
            </a:r>
            <a:endParaRPr/>
          </a:p>
          <a:p>
            <a:pPr indent="0" lvl="0" marL="0" rtl="0" algn="l">
              <a:spcBef>
                <a:spcPts val="0"/>
              </a:spcBef>
              <a:spcAft>
                <a:spcPts val="0"/>
              </a:spcAft>
              <a:buNone/>
            </a:pPr>
            <a:r>
              <a:rPr lang="en"/>
              <a:t>https://github.com/vitorpamplona/amethyst#supported-features</a:t>
            </a:r>
            <a:endParaRPr/>
          </a:p>
          <a:p>
            <a:pPr indent="0" lvl="0" marL="0" rtl="0" algn="l">
              <a:spcBef>
                <a:spcPts val="0"/>
              </a:spcBef>
              <a:spcAft>
                <a:spcPts val="0"/>
              </a:spcAft>
              <a:buNone/>
            </a:pPr>
            <a:r>
              <a:rPr lang="en"/>
              <a:t>https://github.com/nostr-protocol/nips/blob/master/01.md</a:t>
            </a:r>
            <a:endParaRPr/>
          </a:p>
          <a:p>
            <a:pPr indent="0" lvl="0" marL="0" rtl="0" algn="l">
              <a:spcBef>
                <a:spcPts val="0"/>
              </a:spcBef>
              <a:spcAft>
                <a:spcPts val="0"/>
              </a:spcAft>
              <a:buNone/>
            </a:pPr>
            <a:r>
              <a:rPr lang="en"/>
              <a:t>https://github.com/nostr-protocol/nips/blob/master/02.md</a:t>
            </a:r>
            <a:endParaRPr/>
          </a:p>
          <a:p>
            <a:pPr indent="0" lvl="0" marL="0" rtl="0" algn="l">
              <a:spcBef>
                <a:spcPts val="0"/>
              </a:spcBef>
              <a:spcAft>
                <a:spcPts val="0"/>
              </a:spcAft>
              <a:buNone/>
            </a:pPr>
            <a:r>
              <a:rPr lang="en"/>
              <a:t>https://github.com/nostr-protocol/nips/blob/master/10.md</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9:00-9:50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Useful data needs someone to keep it. Arrange retained copies with independent operators and make it easy for the user to keep their own backup.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Preserve the format information and the keys needed to read private material. For personal work, local storage and local computation can be part of this design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to restore a real piece of work from another copy, then open it in the tool that needs it. Include the attachments and relationships that make it useful.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Make retention an operating plan with a budget, so people know who will keep serving those copies.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gateways can share one retained source. Content addressing identifies bytes but does not retain them. Preserve application releases, schemas and required history as well as user files. Encryption does not remove metadata exposure or guarantee revocation of copies. Pocket's export preserved links and metadata rather than saved article text; retain as an optional failure 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rPr lang="en"/>
              <a:t>https://support.mozilla.org/en-US/kb/exporting-your-pocket-list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9:50-11:00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EFS on Sepolia. A public file record gives us a reference to the file we want, including an expected digest.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retrieve a copy through IPFS and compare the bytes with that digest. We can retrieve a copy through Arweave and do the same check. The carrier can change while the file we accept stays the same.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users and other applications a useful freedom: choose a provider, check the result and keep their own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try retrieving a retained alternative copy against the same accepted reference. This is a small test you can actually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Static explanation of the historical EFS proof package, not a fresh retrieval run. If asked: altered bytes fail the digest check; an unavailable response means that route failed, not proof of global loss. A matching digest establishes byte integrity relative to the accepted reference. Authority, freshness, completeness and semantic truth are other questions. IPFS CIDs and an application-level file digest have different roles.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11:00-11:55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Apps also need a dependable view of chain state. Make the RPC endpoint configurable, so a user or operator can choose another provider or their own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supported chain reads, a light client such as Helios offers a path to checking responses against the chain. Show users how recent the data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Indexes turn records into useful lists and searches. Publish the index definition and the history needed to rebuild it. Graph Node is one example of software another operator can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practical check is to switch the endpoint and rebuild one important view. Can the user still find the records their task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RPCs improve availability but their agreement alone is not independent verification. Helios support and trust assumptions vary by network and method; it does not verify arbitrary index queries or retain files. Completeness and freshness are task-specific. Graph Node needs manifests, linked files, suitable history, chain access and a database. No EFS light-client or automatic failover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11:55-12:35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Somebody also has to do the work around a contract: submit a transaction, update an input, relay a message or trigger a scheduled 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V5 gives a concrete example. It rewards permissionless claimers for delivering prizes. That gives another participant a reason to take over the job.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your app's background jobs. Publish the code and inputs, make replacement possible, and account for the cost. Then stop your worker in a test environment and see whether another operator can finish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the PoolTogether V5 example specifically. Claims have economic and timing conditions and unclaimed prizes can expire. Oracles, bundlers, paymasters, provers and relayers can carry additional authority or secret inputs. Do not imply all computation can be replaced by a generic keeper.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let's give people rules they can build 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you to build immutable core contracts. When the logic at an address stays fixed, another developer can build against it without depending on the original team's future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of fixed contract code that other applications can call. The interface can keep improving around that shared capability.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develop new versions by deploying new contracts and letting users choose when to move. Keep the old contract and its instructions usable for people who stay.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 software, I want that choice to belong to the user. Networks like Ethereum coordinate changes to shared protocol rules, which is a different kind of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practical step is to identify the smallest core you can keep stable, test it carefully, and remove unnecessary upgrade powers. That is a foundation other people can confidently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code preserves encoded logic, not every input or economic condition. Uniswap v2 Factory retains bounded protocol-fee configuration through feeTo/feeToSetter; there is no arbitrary upgrade mechanism in these core contracts. Immutability removes in-place repair, so scope the core, test/audit it and plan voluntary new deployments. Dependencies, governance, pause and token powers remain relevant. EFS immutability is James's goal, not a newly verified deployment claim. Keeping a client release cannot reverse a shared-contract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also inherits the network underneath it. On Ethereum, nodes and validators provide access to shared state and agreement about accepted transactions. Make sure the app has a working path to that network and the history it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which components order transactions, publish the data and establish the result on the settlement chain. Then find the documented recovery route for your chosen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OP Stack documentation describes a way to submit through L1 when a sequencer is unavailable. Turn that documentation into instructions for the account and task your user actually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a network whose normal operation and recovery paths fit the promise your app makes.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L1 inclusion/finality, peer connectivity, required history, L2 sequencer/proving/data availability and bridge powers are distinct dependencies. Forced inclusion and withdrawal are different operations. OP Stack recovery details vary by chain/configuration and account. This talk gives a design check, not a tested universal L2 escape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15:35-16:20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improvements become real when other people can operate the system.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Hic et Nunc's website closed, community mirrors gave people another entrance, and the community went on to build Teia. Available code, retained artwork and people willing to run services made that possible.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Help the next operator succeed. Publish the instructions, retain the inputs and explain the running costs. Aim for several independent participants at important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someone outside your team the handoff. Their questions will show you where the next useful improvement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Tezos example. Teia used a new marketplace contract, so continued access is not a claim that every feature and rule stayed identical. Three operators is James's useful ambition, not a universal threshold. Shared cloud accounts, credentials and funders can correlate failures.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https://docs.teia.art/faqs/general-faqs</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16:20-16:25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16:25-17:45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task whose loss would hurt a user. For a notes app, that might be opening existing work and adding another note.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someone find and run a saved release, recover their access, restore the data and use a compatible tool? Can another operator switch the RPC, rebuild the important views and run the background jobs? Can they explain the contract powers and use the network's recovery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someone else try that task without your team's services or personal help. Then examine what a hostile holder of the remaining powers could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Record where they get stuck, and choose one improvement. You can start making the app more dependable without rebuilding the whole stack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Checks summarize the talk, not a maintained certification system. Repeat after meaningful changes. Record the observed result, time, cost, required data and remaining assumptions. No fresh end-to-end application test was performed during deck preparation.</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Users lose their work and trust</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Other developers can’t rely on that functionality</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508000"/>
            <a:ext cx="8127900" cy="6603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Hyperstructures: shared foundations</a:t>
            </a:r>
            <a:endParaRPr b="1">
              <a:solidFill>
                <a:srgbClr val="06038D"/>
              </a:solidFill>
              <a:latin typeface="Poppins"/>
              <a:ea typeface="Poppins"/>
              <a:cs typeface="Poppins"/>
              <a:sym typeface="Poppins"/>
            </a:endParaRPr>
          </a:p>
        </p:txBody>
      </p:sp>
      <p:sp>
        <p:nvSpPr>
          <p:cNvPr id="109" name="Google Shape;109;p23"/>
          <p:cNvSpPr txBox="1"/>
          <p:nvPr/>
        </p:nvSpPr>
        <p:spPr>
          <a:xfrm>
            <a:off x="698500" y="1257300"/>
            <a:ext cx="7746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Public protocols that work without their creators</a:t>
            </a:r>
            <a:endParaRPr sz="2000">
              <a:solidFill>
                <a:srgbClr val="212121"/>
              </a:solidFill>
              <a:latin typeface="Poppins"/>
              <a:ea typeface="Poppins"/>
              <a:cs typeface="Poppins"/>
              <a:sym typeface="Poppins"/>
            </a:endParaRPr>
          </a:p>
        </p:txBody>
      </p:sp>
      <p:sp>
        <p:nvSpPr>
          <p:cNvPr id="110" name="Google Shape;110;p23"/>
          <p:cNvSpPr/>
          <p:nvPr/>
        </p:nvSpPr>
        <p:spPr>
          <a:xfrm>
            <a:off x="825500" y="2057400"/>
            <a:ext cx="2286000" cy="736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Wallet</a:t>
            </a:r>
            <a:endParaRPr sz="2200">
              <a:solidFill>
                <a:srgbClr val="212121"/>
              </a:solidFill>
              <a:latin typeface="Poppins"/>
              <a:ea typeface="Poppins"/>
              <a:cs typeface="Poppins"/>
              <a:sym typeface="Poppins"/>
            </a:endParaRPr>
          </a:p>
        </p:txBody>
      </p:sp>
      <p:cxnSp>
        <p:nvCxnSpPr>
          <p:cNvPr id="111" name="Google Shape;111;p23"/>
          <p:cNvCxnSpPr/>
          <p:nvPr/>
        </p:nvCxnSpPr>
        <p:spPr>
          <a:xfrm rot="10800000">
            <a:off x="1968500" y="2819400"/>
            <a:ext cx="0" cy="533400"/>
          </a:xfrm>
          <a:prstGeom prst="straightConnector1">
            <a:avLst/>
          </a:prstGeom>
          <a:noFill/>
          <a:ln cap="flat" cmpd="sng" w="19050">
            <a:solidFill>
              <a:srgbClr val="06038D"/>
            </a:solidFill>
            <a:prstDash val="solid"/>
            <a:round/>
            <a:headEnd len="med" w="med" type="none"/>
            <a:tailEnd len="med" w="med" type="triangle"/>
          </a:ln>
        </p:spPr>
      </p:cxnSp>
      <p:sp>
        <p:nvSpPr>
          <p:cNvPr id="112" name="Google Shape;112;p23"/>
          <p:cNvSpPr/>
          <p:nvPr/>
        </p:nvSpPr>
        <p:spPr>
          <a:xfrm>
            <a:off x="3429000" y="2057400"/>
            <a:ext cx="2286000" cy="736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Trading app</a:t>
            </a:r>
            <a:endParaRPr sz="2200">
              <a:solidFill>
                <a:srgbClr val="212121"/>
              </a:solidFill>
              <a:latin typeface="Poppins"/>
              <a:ea typeface="Poppins"/>
              <a:cs typeface="Poppins"/>
              <a:sym typeface="Poppins"/>
            </a:endParaRPr>
          </a:p>
        </p:txBody>
      </p:sp>
      <p:cxnSp>
        <p:nvCxnSpPr>
          <p:cNvPr id="113" name="Google Shape;113;p23"/>
          <p:cNvCxnSpPr/>
          <p:nvPr/>
        </p:nvCxnSpPr>
        <p:spPr>
          <a:xfrm rot="10800000">
            <a:off x="4572000" y="2819400"/>
            <a:ext cx="0" cy="533400"/>
          </a:xfrm>
          <a:prstGeom prst="straightConnector1">
            <a:avLst/>
          </a:prstGeom>
          <a:noFill/>
          <a:ln cap="flat" cmpd="sng" w="19050">
            <a:solidFill>
              <a:srgbClr val="06038D"/>
            </a:solidFill>
            <a:prstDash val="solid"/>
            <a:round/>
            <a:headEnd len="med" w="med" type="none"/>
            <a:tailEnd len="med" w="med" type="triangle"/>
          </a:ln>
        </p:spPr>
      </p:cxnSp>
      <p:sp>
        <p:nvSpPr>
          <p:cNvPr id="114" name="Google Shape;114;p23"/>
          <p:cNvSpPr/>
          <p:nvPr/>
        </p:nvSpPr>
        <p:spPr>
          <a:xfrm>
            <a:off x="6032500" y="2057400"/>
            <a:ext cx="2286000" cy="736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Community app</a:t>
            </a:r>
            <a:endParaRPr sz="2200">
              <a:solidFill>
                <a:srgbClr val="212121"/>
              </a:solidFill>
              <a:latin typeface="Poppins"/>
              <a:ea typeface="Poppins"/>
              <a:cs typeface="Poppins"/>
              <a:sym typeface="Poppins"/>
            </a:endParaRPr>
          </a:p>
        </p:txBody>
      </p:sp>
      <p:cxnSp>
        <p:nvCxnSpPr>
          <p:cNvPr id="115" name="Google Shape;115;p23"/>
          <p:cNvCxnSpPr/>
          <p:nvPr/>
        </p:nvCxnSpPr>
        <p:spPr>
          <a:xfrm rot="10800000">
            <a:off x="7175500" y="2819400"/>
            <a:ext cx="0" cy="533400"/>
          </a:xfrm>
          <a:prstGeom prst="straightConnector1">
            <a:avLst/>
          </a:prstGeom>
          <a:noFill/>
          <a:ln cap="flat" cmpd="sng" w="19050">
            <a:solidFill>
              <a:srgbClr val="06038D"/>
            </a:solidFill>
            <a:prstDash val="solid"/>
            <a:round/>
            <a:headEnd len="med" w="med" type="none"/>
            <a:tailEnd len="med" w="med" type="triangle"/>
          </a:ln>
        </p:spPr>
      </p:cxnSp>
      <p:sp>
        <p:nvSpPr>
          <p:cNvPr id="116" name="Google Shape;116;p23"/>
          <p:cNvSpPr/>
          <p:nvPr/>
        </p:nvSpPr>
        <p:spPr>
          <a:xfrm>
            <a:off x="825500" y="3390900"/>
            <a:ext cx="7493100" cy="73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Open protocol with stable rules</a:t>
            </a:r>
            <a:endParaRPr b="1" sz="2400">
              <a:solidFill>
                <a:srgbClr val="FFFFFF"/>
              </a:solidFill>
              <a:latin typeface="Poppins"/>
              <a:ea typeface="Poppins"/>
              <a:cs typeface="Poppins"/>
              <a:sym typeface="Poppins"/>
            </a:endParaRPr>
          </a:p>
        </p:txBody>
      </p:sp>
      <p:sp>
        <p:nvSpPr>
          <p:cNvPr id="117" name="Google Shape;117;p23"/>
          <p:cNvSpPr txBox="1"/>
          <p:nvPr/>
        </p:nvSpPr>
        <p:spPr>
          <a:xfrm>
            <a:off x="762000" y="4279900"/>
            <a:ext cx="7620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Each new app adds value to the shared foundation</a:t>
            </a:r>
            <a:endParaRPr sz="2000">
              <a:solidFill>
                <a:srgbClr val="21212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23" name="Google Shape;123;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24" name="Google Shape;124;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0" name="Google Shape;130;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1" name="Google Shape;131;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33" name="Google Shape;133;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34" name="Google Shape;134;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35" name="Google Shape;135;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36" name="Google Shape;136;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45" name="Google Shape;145;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1" name="Google Shape;151;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More than one way into the app</a:t>
            </a:r>
            <a:endParaRPr b="1" sz="3200">
              <a:solidFill>
                <a:srgbClr val="06038D"/>
              </a:solidFill>
              <a:latin typeface="Poppins"/>
              <a:ea typeface="Poppins"/>
              <a:cs typeface="Poppins"/>
              <a:sym typeface="Poppins"/>
            </a:endParaRPr>
          </a:p>
        </p:txBody>
      </p:sp>
      <p:sp>
        <p:nvSpPr>
          <p:cNvPr id="157" name="Google Shape;157;p28"/>
          <p:cNvSpPr txBox="1"/>
          <p:nvPr>
            <p:ph idx="1" type="body"/>
          </p:nvPr>
        </p:nvSpPr>
        <p:spPr>
          <a:xfrm>
            <a:off x="635000" y="4191000"/>
            <a:ext cx="7874100" cy="571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1000"/>
              </a:spcAft>
              <a:buNone/>
            </a:pPr>
            <a:r>
              <a:rPr lang="en" sz="2100">
                <a:solidFill>
                  <a:srgbClr val="212121"/>
                </a:solidFill>
              </a:rPr>
              <a:t>Save the release and the instructions to open it</a:t>
            </a:r>
            <a:endParaRPr sz="2100">
              <a:solidFill>
                <a:srgbClr val="212121"/>
              </a:solidFill>
            </a:endParaRPr>
          </a:p>
        </p:txBody>
      </p:sp>
      <p:sp>
        <p:nvSpPr>
          <p:cNvPr id="158" name="Google Shape;158;p28"/>
          <p:cNvSpPr txBox="1"/>
          <p:nvPr/>
        </p:nvSpPr>
        <p:spPr>
          <a:xfrm>
            <a:off x="635000" y="1206500"/>
            <a:ext cx="3048000" cy="3810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1000"/>
              </a:spcAft>
              <a:buNone/>
            </a:pPr>
            <a:r>
              <a:rPr lang="en" sz="1800">
                <a:solidFill>
                  <a:srgbClr val="06038D"/>
                </a:solidFill>
                <a:latin typeface="Poppins"/>
                <a:ea typeface="Poppins"/>
                <a:cs typeface="Poppins"/>
                <a:sym typeface="Poppins"/>
              </a:rPr>
              <a:t>DNS + HTTP</a:t>
            </a:r>
            <a:endParaRPr sz="1800">
              <a:solidFill>
                <a:srgbClr val="06038D"/>
              </a:solidFill>
              <a:latin typeface="Poppins"/>
              <a:ea typeface="Poppins"/>
              <a:cs typeface="Poppins"/>
              <a:sym typeface="Poppins"/>
            </a:endParaRPr>
          </a:p>
        </p:txBody>
      </p:sp>
      <p:sp>
        <p:nvSpPr>
          <p:cNvPr id="159" name="Google Shape;159;p28"/>
          <p:cNvSpPr txBox="1"/>
          <p:nvPr/>
        </p:nvSpPr>
        <p:spPr>
          <a:xfrm>
            <a:off x="635000" y="2603500"/>
            <a:ext cx="3048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800">
                <a:solidFill>
                  <a:srgbClr val="06038D"/>
                </a:solidFill>
                <a:latin typeface="Poppins"/>
                <a:ea typeface="Poppins"/>
                <a:cs typeface="Poppins"/>
                <a:sym typeface="Poppins"/>
              </a:rPr>
              <a:t>ENS + IPFS</a:t>
            </a:r>
            <a:endParaRPr sz="1800">
              <a:solidFill>
                <a:srgbClr val="06038D"/>
              </a:solidFill>
              <a:latin typeface="Poppins"/>
              <a:ea typeface="Poppins"/>
              <a:cs typeface="Poppins"/>
              <a:sym typeface="Poppins"/>
            </a:endParaRPr>
          </a:p>
        </p:txBody>
      </p:sp>
      <p:sp>
        <p:nvSpPr>
          <p:cNvPr id="160" name="Google Shape;160;p28"/>
          <p:cNvSpPr/>
          <p:nvPr/>
        </p:nvSpPr>
        <p:spPr>
          <a:xfrm>
            <a:off x="635000" y="16637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p:txBody>
      </p:sp>
      <p:cxnSp>
        <p:nvCxnSpPr>
          <p:cNvPr id="161" name="Google Shape;161;p28"/>
          <p:cNvCxnSpPr/>
          <p:nvPr/>
        </p:nvCxnSpPr>
        <p:spPr>
          <a:xfrm>
            <a:off x="2933700" y="20701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2" name="Google Shape;162;p28"/>
          <p:cNvSpPr/>
          <p:nvPr/>
        </p:nvSpPr>
        <p:spPr>
          <a:xfrm>
            <a:off x="3429000" y="16637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Team's server</a:t>
            </a:r>
            <a:endParaRPr sz="2000">
              <a:solidFill>
                <a:srgbClr val="212121"/>
              </a:solidFill>
              <a:latin typeface="Poppins"/>
              <a:ea typeface="Poppins"/>
              <a:cs typeface="Poppins"/>
              <a:sym typeface="Poppins"/>
            </a:endParaRPr>
          </a:p>
        </p:txBody>
      </p:sp>
      <p:cxnSp>
        <p:nvCxnSpPr>
          <p:cNvPr id="163" name="Google Shape;163;p28"/>
          <p:cNvCxnSpPr/>
          <p:nvPr/>
        </p:nvCxnSpPr>
        <p:spPr>
          <a:xfrm>
            <a:off x="5727700" y="20701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4" name="Google Shape;164;p28"/>
          <p:cNvSpPr/>
          <p:nvPr/>
        </p:nvSpPr>
        <p:spPr>
          <a:xfrm>
            <a:off x="6223000" y="16637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Browser</a:t>
            </a:r>
            <a:endParaRPr sz="2000">
              <a:solidFill>
                <a:srgbClr val="212121"/>
              </a:solidFill>
              <a:latin typeface="Poppins"/>
              <a:ea typeface="Poppins"/>
              <a:cs typeface="Poppins"/>
              <a:sym typeface="Poppins"/>
            </a:endParaRPr>
          </a:p>
        </p:txBody>
      </p:sp>
      <p:sp>
        <p:nvSpPr>
          <p:cNvPr id="165" name="Google Shape;165;p28"/>
          <p:cNvSpPr/>
          <p:nvPr/>
        </p:nvSpPr>
        <p:spPr>
          <a:xfrm>
            <a:off x="635000" y="30480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p:txBody>
      </p:sp>
      <p:cxnSp>
        <p:nvCxnSpPr>
          <p:cNvPr id="166" name="Google Shape;166;p28"/>
          <p:cNvCxnSpPr/>
          <p:nvPr/>
        </p:nvCxnSpPr>
        <p:spPr>
          <a:xfrm>
            <a:off x="2933700" y="34544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7" name="Google Shape;167;p28"/>
          <p:cNvSpPr/>
          <p:nvPr/>
        </p:nvSpPr>
        <p:spPr>
          <a:xfrm>
            <a:off x="3429000" y="30480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IPFS app release</a:t>
            </a:r>
            <a:endParaRPr sz="2000">
              <a:solidFill>
                <a:srgbClr val="212121"/>
              </a:solidFill>
              <a:latin typeface="Poppins"/>
              <a:ea typeface="Poppins"/>
              <a:cs typeface="Poppins"/>
              <a:sym typeface="Poppins"/>
            </a:endParaRPr>
          </a:p>
        </p:txBody>
      </p:sp>
      <p:cxnSp>
        <p:nvCxnSpPr>
          <p:cNvPr id="168" name="Google Shape;168;p28"/>
          <p:cNvCxnSpPr/>
          <p:nvPr/>
        </p:nvCxnSpPr>
        <p:spPr>
          <a:xfrm>
            <a:off x="5727700" y="3454400"/>
            <a:ext cx="482700" cy="0"/>
          </a:xfrm>
          <a:prstGeom prst="straightConnector1">
            <a:avLst/>
          </a:prstGeom>
          <a:noFill/>
          <a:ln cap="flat" cmpd="sng" w="19050">
            <a:solidFill>
              <a:srgbClr val="06038D"/>
            </a:solidFill>
            <a:prstDash val="solid"/>
            <a:round/>
            <a:headEnd len="med" w="med" type="none"/>
            <a:tailEnd len="med" w="med" type="triangle"/>
          </a:ln>
        </p:spPr>
      </p:cxnSp>
      <p:sp>
        <p:nvSpPr>
          <p:cNvPr id="169" name="Google Shape;169;p28"/>
          <p:cNvSpPr/>
          <p:nvPr/>
        </p:nvSpPr>
        <p:spPr>
          <a:xfrm>
            <a:off x="6223000" y="3048000"/>
            <a:ext cx="2286000" cy="8256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Gateway or own node</a:t>
            </a:r>
            <a:endParaRPr sz="2000">
              <a:solidFill>
                <a:srgbClr val="21212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release others can run</a:t>
            </a:r>
            <a:endParaRPr b="1" sz="3200">
              <a:solidFill>
                <a:srgbClr val="06038D"/>
              </a:solidFill>
              <a:latin typeface="Poppins"/>
              <a:ea typeface="Poppins"/>
              <a:cs typeface="Poppins"/>
              <a:sym typeface="Poppins"/>
            </a:endParaRPr>
          </a:p>
        </p:txBody>
      </p:sp>
      <p:sp>
        <p:nvSpPr>
          <p:cNvPr id="175" name="Google Shape;175;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Keep a complete runnable release</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Include the code it loads later</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Publish source and build instructions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Try a fresh-machine rebuild</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Access people can recover</a:t>
            </a:r>
            <a:endParaRPr b="1" sz="3200">
              <a:solidFill>
                <a:srgbClr val="06038D"/>
              </a:solidFill>
              <a:latin typeface="Poppins"/>
              <a:ea typeface="Poppins"/>
              <a:cs typeface="Poppins"/>
              <a:sym typeface="Poppins"/>
            </a:endParaRPr>
          </a:p>
        </p:txBody>
      </p:sp>
      <p:sp>
        <p:nvSpPr>
          <p:cNvPr id="181" name="Google Shape;181;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Give users a recovery route</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Safe example: two of three signers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Back up decryption keys for private files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Practice a lost-device recovery</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187" name="Google Shape;187;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193" name="Google Shape;193;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482600" y="1587500"/>
            <a:ext cx="2489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200">
                <a:solidFill>
                  <a:srgbClr val="212121"/>
                </a:solidFill>
                <a:latin typeface="Poppins"/>
                <a:ea typeface="Poppins"/>
                <a:cs typeface="Poppins"/>
                <a:sym typeface="Poppins"/>
              </a:rPr>
              <a:t>EAS</a:t>
            </a:r>
            <a:endParaRPr b="1" sz="2200">
              <a:solidFill>
                <a:srgbClr val="212121"/>
              </a:solidFill>
              <a:latin typeface="Poppins"/>
              <a:ea typeface="Poppins"/>
              <a:cs typeface="Poppins"/>
              <a:sym typeface="Poppins"/>
            </a:endParaRPr>
          </a:p>
        </p:txBody>
      </p:sp>
      <p:sp>
        <p:nvSpPr>
          <p:cNvPr id="199" name="Google Shape;199;p33"/>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000">
                <a:solidFill>
                  <a:srgbClr val="212121"/>
                </a:solidFill>
              </a:rPr>
              <a:t>Attestation schemas</a:t>
            </a:r>
            <a:endParaRPr sz="2000">
              <a:solidFill>
                <a:srgbClr val="212121"/>
              </a:solidFill>
            </a:endParaRPr>
          </a:p>
          <a:p>
            <a:pPr indent="0" lvl="0" marL="0" marR="0" rtl="0" algn="l">
              <a:lnSpc>
                <a:spcPct val="110000"/>
              </a:lnSpc>
              <a:spcBef>
                <a:spcPts val="1000"/>
              </a:spcBef>
              <a:spcAft>
                <a:spcPts val="1000"/>
              </a:spcAft>
              <a:buNone/>
            </a:pPr>
            <a:r>
              <a:rPr lang="en" sz="2000">
                <a:solidFill>
                  <a:srgbClr val="212121"/>
                </a:solidFill>
              </a:rPr>
              <a:t>Who said what</a:t>
            </a:r>
            <a:endParaRPr sz="2000">
              <a:solidFill>
                <a:srgbClr val="212121"/>
              </a:solidFill>
            </a:endParaRPr>
          </a:p>
        </p:txBody>
      </p:sp>
      <p:sp>
        <p:nvSpPr>
          <p:cNvPr id="200" name="Google Shape;200;p33"/>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3"/>
          <p:cNvSpPr txBox="1"/>
          <p:nvPr>
            <p:ph type="title"/>
          </p:nvPr>
        </p:nvSpPr>
        <p:spPr>
          <a:xfrm>
            <a:off x="3327400" y="1587500"/>
            <a:ext cx="2489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200">
                <a:solidFill>
                  <a:srgbClr val="212121"/>
                </a:solidFill>
                <a:latin typeface="Poppins"/>
                <a:ea typeface="Poppins"/>
                <a:cs typeface="Poppins"/>
                <a:sym typeface="Poppins"/>
              </a:rPr>
              <a:t>EFS</a:t>
            </a:r>
            <a:endParaRPr b="1" sz="2200">
              <a:solidFill>
                <a:srgbClr val="212121"/>
              </a:solidFill>
              <a:latin typeface="Poppins"/>
              <a:ea typeface="Poppins"/>
              <a:cs typeface="Poppins"/>
              <a:sym typeface="Poppins"/>
            </a:endParaRPr>
          </a:p>
        </p:txBody>
      </p:sp>
      <p:sp>
        <p:nvSpPr>
          <p:cNvPr id="202" name="Google Shape;202;p33"/>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000">
                <a:solidFill>
                  <a:srgbClr val="212121"/>
                </a:solidFill>
              </a:rPr>
              <a:t>Shared file paths</a:t>
            </a:r>
            <a:endParaRPr sz="2000">
              <a:solidFill>
                <a:srgbClr val="212121"/>
              </a:solidFill>
            </a:endParaRPr>
          </a:p>
          <a:p>
            <a:pPr indent="0" lvl="0" marL="0" marR="0" rtl="0" algn="l">
              <a:lnSpc>
                <a:spcPct val="110000"/>
              </a:lnSpc>
              <a:spcBef>
                <a:spcPts val="1000"/>
              </a:spcBef>
              <a:spcAft>
                <a:spcPts val="1000"/>
              </a:spcAft>
              <a:buNone/>
            </a:pPr>
            <a:r>
              <a:rPr lang="en" sz="2000">
                <a:solidFill>
                  <a:srgbClr val="212121"/>
                </a:solidFill>
              </a:rPr>
              <a:t>Provenance and references</a:t>
            </a:r>
            <a:endParaRPr sz="2000">
              <a:solidFill>
                <a:srgbClr val="212121"/>
              </a:solidFill>
            </a:endParaRPr>
          </a:p>
        </p:txBody>
      </p:sp>
      <p:sp>
        <p:nvSpPr>
          <p:cNvPr id="203" name="Google Shape;203;p33"/>
          <p:cNvSpPr txBox="1"/>
          <p:nvPr>
            <p:ph type="title"/>
          </p:nvPr>
        </p:nvSpPr>
        <p:spPr>
          <a:xfrm>
            <a:off x="6312900" y="1601150"/>
            <a:ext cx="2489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200">
                <a:solidFill>
                  <a:srgbClr val="212121"/>
                </a:solidFill>
                <a:latin typeface="Poppins"/>
                <a:ea typeface="Poppins"/>
                <a:cs typeface="Poppins"/>
                <a:sym typeface="Poppins"/>
              </a:rPr>
              <a:t>Nostr</a:t>
            </a:r>
            <a:endParaRPr b="1" sz="2200">
              <a:solidFill>
                <a:srgbClr val="212121"/>
              </a:solidFill>
              <a:latin typeface="Poppins"/>
              <a:ea typeface="Poppins"/>
              <a:cs typeface="Poppins"/>
              <a:sym typeface="Poppins"/>
            </a:endParaRPr>
          </a:p>
        </p:txBody>
      </p:sp>
      <p:sp>
        <p:nvSpPr>
          <p:cNvPr id="204" name="Google Shape;204;p33"/>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000">
                <a:solidFill>
                  <a:srgbClr val="212121"/>
                </a:solidFill>
              </a:rPr>
              <a:t>Signed social events</a:t>
            </a:r>
            <a:endParaRPr sz="2000">
              <a:solidFill>
                <a:srgbClr val="212121"/>
              </a:solidFill>
            </a:endParaRPr>
          </a:p>
          <a:p>
            <a:pPr indent="0" lvl="0" marL="0" marR="0" rtl="0" algn="l">
              <a:lnSpc>
                <a:spcPct val="110000"/>
              </a:lnSpc>
              <a:spcBef>
                <a:spcPts val="1000"/>
              </a:spcBef>
              <a:spcAft>
                <a:spcPts val="1000"/>
              </a:spcAft>
              <a:buNone/>
            </a:pPr>
            <a:r>
              <a:rPr lang="en" sz="2000">
                <a:solidFill>
                  <a:srgbClr val="212121"/>
                </a:solidFill>
              </a:rPr>
              <a:t>Public posts and follows</a:t>
            </a:r>
            <a:endParaRPr sz="2000">
              <a:solidFill>
                <a:srgbClr val="212121"/>
              </a:solidFill>
            </a:endParaRPr>
          </a:p>
        </p:txBody>
      </p:sp>
      <p:sp>
        <p:nvSpPr>
          <p:cNvPr id="205" name="Google Shape;205;p33"/>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3"/>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3"/>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3"/>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Data other apps can understand</a:t>
            </a:r>
            <a:endParaRPr b="1" sz="3200">
              <a:solidFill>
                <a:srgbClr val="06038D"/>
              </a:solidFill>
              <a:latin typeface="Poppins"/>
              <a:ea typeface="Poppins"/>
              <a:cs typeface="Poppins"/>
              <a:sym typeface="Poppins"/>
            </a:endParaRPr>
          </a:p>
        </p:txBody>
      </p:sp>
      <p:sp>
        <p:nvSpPr>
          <p:cNvPr id="209" name="Google Shape;209;p33"/>
          <p:cNvSpPr txBox="1"/>
          <p:nvPr/>
        </p:nvSpPr>
        <p:spPr>
          <a:xfrm>
            <a:off x="571500" y="4216400"/>
            <a:ext cx="8001000" cy="5589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Publish the structure so another app can use the same records</a:t>
            </a:r>
            <a:endParaRPr sz="1900">
              <a:solidFill>
                <a:srgbClr val="21212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Two apps, one social identity</a:t>
            </a:r>
            <a:endParaRPr b="1" sz="3200">
              <a:solidFill>
                <a:srgbClr val="06038D"/>
              </a:solidFill>
              <a:latin typeface="Poppins"/>
              <a:ea typeface="Poppins"/>
              <a:cs typeface="Poppins"/>
              <a:sym typeface="Poppins"/>
            </a:endParaRPr>
          </a:p>
        </p:txBody>
      </p:sp>
      <p:sp>
        <p:nvSpPr>
          <p:cNvPr id="215" name="Google Shape;215;p34"/>
          <p:cNvSpPr txBox="1"/>
          <p:nvPr>
            <p:ph idx="1" type="body"/>
          </p:nvPr>
        </p:nvSpPr>
        <p:spPr>
          <a:xfrm>
            <a:off x="698500" y="1244600"/>
            <a:ext cx="7746900" cy="5079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1000"/>
              </a:spcAft>
              <a:buNone/>
            </a:pPr>
            <a:r>
              <a:rPr lang="en" sz="2100">
                <a:solidFill>
                  <a:srgbClr val="212121"/>
                </a:solidFill>
              </a:rPr>
              <a:t>Your key lets you participate through either app</a:t>
            </a:r>
            <a:endParaRPr sz="2100">
              <a:solidFill>
                <a:srgbClr val="212121"/>
              </a:solidFill>
            </a:endParaRPr>
          </a:p>
        </p:txBody>
      </p:sp>
      <p:sp>
        <p:nvSpPr>
          <p:cNvPr id="216" name="Google Shape;216;p34"/>
          <p:cNvSpPr/>
          <p:nvPr/>
        </p:nvSpPr>
        <p:spPr>
          <a:xfrm>
            <a:off x="1016000" y="1968500"/>
            <a:ext cx="2730600" cy="7620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600">
                <a:solidFill>
                  <a:srgbClr val="212121"/>
                </a:solidFill>
                <a:latin typeface="Poppins"/>
                <a:ea typeface="Poppins"/>
                <a:cs typeface="Poppins"/>
                <a:sym typeface="Poppins"/>
              </a:rPr>
              <a:t>Damus</a:t>
            </a:r>
            <a:endParaRPr b="1" sz="2600">
              <a:solidFill>
                <a:srgbClr val="212121"/>
              </a:solidFill>
              <a:latin typeface="Poppins"/>
              <a:ea typeface="Poppins"/>
              <a:cs typeface="Poppins"/>
              <a:sym typeface="Poppins"/>
            </a:endParaRPr>
          </a:p>
        </p:txBody>
      </p:sp>
      <p:sp>
        <p:nvSpPr>
          <p:cNvPr id="217" name="Google Shape;217;p34"/>
          <p:cNvSpPr/>
          <p:nvPr/>
        </p:nvSpPr>
        <p:spPr>
          <a:xfrm>
            <a:off x="5397500" y="1968500"/>
            <a:ext cx="2730600" cy="7620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600">
                <a:solidFill>
                  <a:srgbClr val="212121"/>
                </a:solidFill>
                <a:latin typeface="Poppins"/>
                <a:ea typeface="Poppins"/>
                <a:cs typeface="Poppins"/>
                <a:sym typeface="Poppins"/>
              </a:rPr>
              <a:t>Amethyst</a:t>
            </a:r>
            <a:endParaRPr b="1" sz="2600">
              <a:solidFill>
                <a:srgbClr val="212121"/>
              </a:solidFill>
              <a:latin typeface="Poppins"/>
              <a:ea typeface="Poppins"/>
              <a:cs typeface="Poppins"/>
              <a:sym typeface="Poppins"/>
            </a:endParaRPr>
          </a:p>
        </p:txBody>
      </p:sp>
      <p:cxnSp>
        <p:nvCxnSpPr>
          <p:cNvPr id="218" name="Google Shape;218;p34"/>
          <p:cNvCxnSpPr/>
          <p:nvPr/>
        </p:nvCxnSpPr>
        <p:spPr>
          <a:xfrm rot="10800000">
            <a:off x="2374900" y="2768500"/>
            <a:ext cx="0" cy="597000"/>
          </a:xfrm>
          <a:prstGeom prst="straightConnector1">
            <a:avLst/>
          </a:prstGeom>
          <a:noFill/>
          <a:ln cap="flat" cmpd="sng" w="19050">
            <a:solidFill>
              <a:srgbClr val="06038D"/>
            </a:solidFill>
            <a:prstDash val="solid"/>
            <a:round/>
            <a:headEnd len="med" w="med" type="none"/>
            <a:tailEnd len="med" w="med" type="triangle"/>
          </a:ln>
        </p:spPr>
      </p:cxnSp>
      <p:cxnSp>
        <p:nvCxnSpPr>
          <p:cNvPr id="219" name="Google Shape;219;p34"/>
          <p:cNvCxnSpPr/>
          <p:nvPr/>
        </p:nvCxnSpPr>
        <p:spPr>
          <a:xfrm rot="10800000">
            <a:off x="6756400" y="2768500"/>
            <a:ext cx="0" cy="597000"/>
          </a:xfrm>
          <a:prstGeom prst="straightConnector1">
            <a:avLst/>
          </a:prstGeom>
          <a:noFill/>
          <a:ln cap="flat" cmpd="sng" w="19050">
            <a:solidFill>
              <a:srgbClr val="06038D"/>
            </a:solidFill>
            <a:prstDash val="solid"/>
            <a:round/>
            <a:headEnd len="med" w="med" type="none"/>
            <a:tailEnd len="med" w="med" type="triangle"/>
          </a:ln>
        </p:spPr>
      </p:cxnSp>
      <p:sp>
        <p:nvSpPr>
          <p:cNvPr id="220" name="Google Shape;220;p34"/>
          <p:cNvSpPr/>
          <p:nvPr/>
        </p:nvSpPr>
        <p:spPr>
          <a:xfrm>
            <a:off x="1016000" y="3403600"/>
            <a:ext cx="71121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300">
                <a:solidFill>
                  <a:srgbClr val="FFFFFF"/>
                </a:solidFill>
                <a:latin typeface="Poppins"/>
                <a:ea typeface="Poppins"/>
                <a:cs typeface="Poppins"/>
                <a:sym typeface="Poppins"/>
              </a:rPr>
              <a:t>Shared Nostr events</a:t>
            </a:r>
            <a:endParaRPr sz="23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2300">
                <a:solidFill>
                  <a:srgbClr val="FFFFFF"/>
                </a:solidFill>
                <a:latin typeface="Poppins"/>
                <a:ea typeface="Poppins"/>
                <a:cs typeface="Poppins"/>
                <a:sym typeface="Poppins"/>
              </a:rPr>
              <a:t>Public posts and follows</a:t>
            </a:r>
            <a:endParaRPr sz="2300">
              <a:solidFill>
                <a:srgbClr val="FFFFFF"/>
              </a:solidFill>
              <a:latin typeface="Poppins"/>
              <a:ea typeface="Poppins"/>
              <a:cs typeface="Poppins"/>
              <a:sym typeface="Poppins"/>
            </a:endParaRPr>
          </a:p>
        </p:txBody>
      </p:sp>
      <p:sp>
        <p:nvSpPr>
          <p:cNvPr id="221" name="Google Shape;221;p34"/>
          <p:cNvSpPr txBox="1"/>
          <p:nvPr/>
        </p:nvSpPr>
        <p:spPr>
          <a:xfrm>
            <a:off x="762000" y="4343400"/>
            <a:ext cx="7620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Choose a different interface. Keep participating.</a:t>
            </a:r>
            <a:endParaRPr sz="2000">
              <a:solidFill>
                <a:srgbClr val="21212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Data people can keep using</a:t>
            </a:r>
            <a:endParaRPr b="1" sz="3200">
              <a:solidFill>
                <a:srgbClr val="06038D"/>
              </a:solidFill>
              <a:latin typeface="Poppins"/>
              <a:ea typeface="Poppins"/>
              <a:cs typeface="Poppins"/>
              <a:sym typeface="Poppins"/>
            </a:endParaRPr>
          </a:p>
        </p:txBody>
      </p:sp>
      <p:sp>
        <p:nvSpPr>
          <p:cNvPr id="227" name="Google Shape;227;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Retain copies with independent operators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Use documented formats and identifiers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Protect private data and recover its keys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Restore a real piece of work from a backup</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EFS: a file you can verify</a:t>
            </a:r>
            <a:endParaRPr b="1" sz="3200">
              <a:solidFill>
                <a:srgbClr val="06038D"/>
              </a:solidFill>
              <a:latin typeface="Poppins"/>
              <a:ea typeface="Poppins"/>
              <a:cs typeface="Poppins"/>
              <a:sym typeface="Poppins"/>
            </a:endParaRPr>
          </a:p>
        </p:txBody>
      </p:sp>
      <p:sp>
        <p:nvSpPr>
          <p:cNvPr id="233" name="Google Shape;233;p36"/>
          <p:cNvSpPr txBox="1"/>
          <p:nvPr>
            <p:ph idx="1" type="body"/>
          </p:nvPr>
        </p:nvSpPr>
        <p:spPr>
          <a:xfrm>
            <a:off x="635000" y="4229100"/>
            <a:ext cx="7874100" cy="5334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1000"/>
              </a:spcAft>
              <a:buNone/>
            </a:pPr>
            <a:r>
              <a:rPr lang="en" sz="2100">
                <a:solidFill>
                  <a:srgbClr val="212121"/>
                </a:solidFill>
              </a:rPr>
              <a:t>Keep the reference and choose where to retrieve the file</a:t>
            </a:r>
            <a:endParaRPr sz="2100">
              <a:solidFill>
                <a:srgbClr val="212121"/>
              </a:solidFill>
            </a:endParaRPr>
          </a:p>
        </p:txBody>
      </p:sp>
      <p:sp>
        <p:nvSpPr>
          <p:cNvPr id="234" name="Google Shape;234;p36"/>
          <p:cNvSpPr/>
          <p:nvPr/>
        </p:nvSpPr>
        <p:spPr>
          <a:xfrm>
            <a:off x="635000" y="2286000"/>
            <a:ext cx="2412900" cy="9525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100">
                <a:solidFill>
                  <a:srgbClr val="212121"/>
                </a:solidFill>
                <a:latin typeface="Poppins"/>
                <a:ea typeface="Poppins"/>
                <a:cs typeface="Poppins"/>
                <a:sym typeface="Poppins"/>
              </a:rPr>
              <a:t>EFS file reference</a:t>
            </a:r>
            <a:endParaRPr sz="21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2100">
                <a:solidFill>
                  <a:srgbClr val="212121"/>
                </a:solidFill>
                <a:latin typeface="Poppins"/>
                <a:ea typeface="Poppins"/>
                <a:cs typeface="Poppins"/>
                <a:sym typeface="Poppins"/>
              </a:rPr>
              <a:t>Expected digest</a:t>
            </a:r>
            <a:endParaRPr sz="2100">
              <a:solidFill>
                <a:srgbClr val="212121"/>
              </a:solidFill>
              <a:latin typeface="Poppins"/>
              <a:ea typeface="Poppins"/>
              <a:cs typeface="Poppins"/>
              <a:sym typeface="Poppins"/>
            </a:endParaRPr>
          </a:p>
        </p:txBody>
      </p:sp>
      <p:sp>
        <p:nvSpPr>
          <p:cNvPr id="235" name="Google Shape;235;p36"/>
          <p:cNvSpPr/>
          <p:nvPr/>
        </p:nvSpPr>
        <p:spPr>
          <a:xfrm>
            <a:off x="3683000" y="1587500"/>
            <a:ext cx="1841400" cy="6984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IPFS copy</a:t>
            </a:r>
            <a:endParaRPr sz="2200">
              <a:solidFill>
                <a:srgbClr val="212121"/>
              </a:solidFill>
              <a:latin typeface="Poppins"/>
              <a:ea typeface="Poppins"/>
              <a:cs typeface="Poppins"/>
              <a:sym typeface="Poppins"/>
            </a:endParaRPr>
          </a:p>
        </p:txBody>
      </p:sp>
      <p:sp>
        <p:nvSpPr>
          <p:cNvPr id="236" name="Google Shape;236;p36"/>
          <p:cNvSpPr/>
          <p:nvPr/>
        </p:nvSpPr>
        <p:spPr>
          <a:xfrm>
            <a:off x="3683000" y="3238500"/>
            <a:ext cx="1841400" cy="698400"/>
          </a:xfrm>
          <a:prstGeom prst="rect">
            <a:avLst/>
          </a:prstGeom>
          <a:noFill/>
          <a:ln cap="flat" cmpd="sng" w="165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200">
                <a:solidFill>
                  <a:srgbClr val="212121"/>
                </a:solidFill>
                <a:latin typeface="Poppins"/>
                <a:ea typeface="Poppins"/>
                <a:cs typeface="Poppins"/>
                <a:sym typeface="Poppins"/>
              </a:rPr>
              <a:t>Arweave copy</a:t>
            </a:r>
            <a:endParaRPr sz="2200">
              <a:solidFill>
                <a:srgbClr val="212121"/>
              </a:solidFill>
              <a:latin typeface="Poppins"/>
              <a:ea typeface="Poppins"/>
              <a:cs typeface="Poppins"/>
              <a:sym typeface="Poppins"/>
            </a:endParaRPr>
          </a:p>
        </p:txBody>
      </p:sp>
      <p:sp>
        <p:nvSpPr>
          <p:cNvPr id="237" name="Google Shape;237;p36"/>
          <p:cNvSpPr/>
          <p:nvPr/>
        </p:nvSpPr>
        <p:spPr>
          <a:xfrm>
            <a:off x="6159500" y="2286000"/>
            <a:ext cx="2349600" cy="952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Check digest</a:t>
            </a:r>
            <a:endParaRPr b="1" sz="21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Matching file</a:t>
            </a:r>
            <a:endParaRPr b="1" sz="2100">
              <a:solidFill>
                <a:srgbClr val="FFFFFF"/>
              </a:solidFill>
              <a:latin typeface="Poppins"/>
              <a:ea typeface="Poppins"/>
              <a:cs typeface="Poppins"/>
              <a:sym typeface="Poppins"/>
            </a:endParaRPr>
          </a:p>
        </p:txBody>
      </p:sp>
      <p:cxnSp>
        <p:nvCxnSpPr>
          <p:cNvPr id="238" name="Google Shape;238;p36"/>
          <p:cNvCxnSpPr/>
          <p:nvPr/>
        </p:nvCxnSpPr>
        <p:spPr>
          <a:xfrm>
            <a:off x="3048000" y="2755900"/>
            <a:ext cx="317400" cy="0"/>
          </a:xfrm>
          <a:prstGeom prst="straightConnector1">
            <a:avLst/>
          </a:prstGeom>
          <a:noFill/>
          <a:ln cap="flat" cmpd="sng" w="19050">
            <a:solidFill>
              <a:srgbClr val="06038D"/>
            </a:solidFill>
            <a:prstDash val="solid"/>
            <a:round/>
            <a:headEnd len="med" w="med" type="none"/>
            <a:tailEnd len="med" w="med" type="none"/>
          </a:ln>
        </p:spPr>
      </p:cxnSp>
      <p:cxnSp>
        <p:nvCxnSpPr>
          <p:cNvPr id="239" name="Google Shape;239;p36"/>
          <p:cNvCxnSpPr/>
          <p:nvPr/>
        </p:nvCxnSpPr>
        <p:spPr>
          <a:xfrm>
            <a:off x="3365500" y="1930400"/>
            <a:ext cx="0" cy="1650900"/>
          </a:xfrm>
          <a:prstGeom prst="straightConnector1">
            <a:avLst/>
          </a:prstGeom>
          <a:noFill/>
          <a:ln cap="flat" cmpd="sng" w="19050">
            <a:solidFill>
              <a:srgbClr val="06038D"/>
            </a:solidFill>
            <a:prstDash val="solid"/>
            <a:round/>
            <a:headEnd len="med" w="med" type="none"/>
            <a:tailEnd len="med" w="med" type="none"/>
          </a:ln>
        </p:spPr>
      </p:cxnSp>
      <p:cxnSp>
        <p:nvCxnSpPr>
          <p:cNvPr id="240" name="Google Shape;240;p36"/>
          <p:cNvCxnSpPr/>
          <p:nvPr/>
        </p:nvCxnSpPr>
        <p:spPr>
          <a:xfrm>
            <a:off x="3365500" y="1930400"/>
            <a:ext cx="292200" cy="0"/>
          </a:xfrm>
          <a:prstGeom prst="straightConnector1">
            <a:avLst/>
          </a:prstGeom>
          <a:noFill/>
          <a:ln cap="flat" cmpd="sng" w="19050">
            <a:solidFill>
              <a:srgbClr val="06038D"/>
            </a:solidFill>
            <a:prstDash val="solid"/>
            <a:round/>
            <a:headEnd len="med" w="med" type="none"/>
            <a:tailEnd len="med" w="med" type="triangle"/>
          </a:ln>
        </p:spPr>
      </p:cxnSp>
      <p:cxnSp>
        <p:nvCxnSpPr>
          <p:cNvPr id="241" name="Google Shape;241;p36"/>
          <p:cNvCxnSpPr/>
          <p:nvPr/>
        </p:nvCxnSpPr>
        <p:spPr>
          <a:xfrm>
            <a:off x="3365500" y="3581400"/>
            <a:ext cx="292200" cy="0"/>
          </a:xfrm>
          <a:prstGeom prst="straightConnector1">
            <a:avLst/>
          </a:prstGeom>
          <a:noFill/>
          <a:ln cap="flat" cmpd="sng" w="19050">
            <a:solidFill>
              <a:srgbClr val="06038D"/>
            </a:solidFill>
            <a:prstDash val="solid"/>
            <a:round/>
            <a:headEnd len="med" w="med" type="none"/>
            <a:tailEnd len="med" w="med" type="triangle"/>
          </a:ln>
        </p:spPr>
      </p:cxnSp>
      <p:cxnSp>
        <p:nvCxnSpPr>
          <p:cNvPr id="242" name="Google Shape;242;p36"/>
          <p:cNvCxnSpPr/>
          <p:nvPr/>
        </p:nvCxnSpPr>
        <p:spPr>
          <a:xfrm>
            <a:off x="5537200" y="1930400"/>
            <a:ext cx="304800" cy="0"/>
          </a:xfrm>
          <a:prstGeom prst="straightConnector1">
            <a:avLst/>
          </a:prstGeom>
          <a:noFill/>
          <a:ln cap="flat" cmpd="sng" w="19050">
            <a:solidFill>
              <a:srgbClr val="06038D"/>
            </a:solidFill>
            <a:prstDash val="solid"/>
            <a:round/>
            <a:headEnd len="med" w="med" type="none"/>
            <a:tailEnd len="med" w="med" type="none"/>
          </a:ln>
        </p:spPr>
      </p:cxnSp>
      <p:cxnSp>
        <p:nvCxnSpPr>
          <p:cNvPr id="243" name="Google Shape;243;p36"/>
          <p:cNvCxnSpPr/>
          <p:nvPr/>
        </p:nvCxnSpPr>
        <p:spPr>
          <a:xfrm>
            <a:off x="5537200" y="3581400"/>
            <a:ext cx="304800" cy="0"/>
          </a:xfrm>
          <a:prstGeom prst="straightConnector1">
            <a:avLst/>
          </a:prstGeom>
          <a:noFill/>
          <a:ln cap="flat" cmpd="sng" w="19050">
            <a:solidFill>
              <a:srgbClr val="06038D"/>
            </a:solidFill>
            <a:prstDash val="solid"/>
            <a:round/>
            <a:headEnd len="med" w="med" type="none"/>
            <a:tailEnd len="med" w="med" type="none"/>
          </a:ln>
        </p:spPr>
      </p:cxnSp>
      <p:cxnSp>
        <p:nvCxnSpPr>
          <p:cNvPr id="244" name="Google Shape;244;p36"/>
          <p:cNvCxnSpPr/>
          <p:nvPr/>
        </p:nvCxnSpPr>
        <p:spPr>
          <a:xfrm>
            <a:off x="5842000" y="1930400"/>
            <a:ext cx="0" cy="1650900"/>
          </a:xfrm>
          <a:prstGeom prst="straightConnector1">
            <a:avLst/>
          </a:prstGeom>
          <a:noFill/>
          <a:ln cap="flat" cmpd="sng" w="19050">
            <a:solidFill>
              <a:srgbClr val="06038D"/>
            </a:solidFill>
            <a:prstDash val="solid"/>
            <a:round/>
            <a:headEnd len="med" w="med" type="none"/>
            <a:tailEnd len="med" w="med" type="none"/>
          </a:ln>
        </p:spPr>
      </p:cxnSp>
      <p:cxnSp>
        <p:nvCxnSpPr>
          <p:cNvPr id="245" name="Google Shape;245;p36"/>
          <p:cNvCxnSpPr/>
          <p:nvPr/>
        </p:nvCxnSpPr>
        <p:spPr>
          <a:xfrm>
            <a:off x="5842000" y="2755900"/>
            <a:ext cx="292200" cy="0"/>
          </a:xfrm>
          <a:prstGeom prst="straightConnector1">
            <a:avLst/>
          </a:prstGeom>
          <a:noFill/>
          <a:ln cap="flat" cmpd="sng" w="19050">
            <a:solidFill>
              <a:srgbClr val="06038D"/>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dependable view of the data</a:t>
            </a:r>
            <a:endParaRPr b="1" sz="3200">
              <a:solidFill>
                <a:srgbClr val="06038D"/>
              </a:solidFill>
              <a:latin typeface="Poppins"/>
              <a:ea typeface="Poppins"/>
              <a:cs typeface="Poppins"/>
              <a:sym typeface="Poppins"/>
            </a:endParaRPr>
          </a:p>
        </p:txBody>
      </p:sp>
      <p:sp>
        <p:nvSpPr>
          <p:cNvPr id="251" name="Google Shape;251;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Let users choose an RPC or their own node</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Use verified reads where supported</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Show how recent the data is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Publish what another indexer needs to rebuild</a:t>
            </a:r>
            <a:endParaRPr sz="2400">
              <a:solidFill>
                <a:srgbClr val="21212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Work another operator can do</a:t>
            </a:r>
            <a:endParaRPr b="1" sz="3200">
              <a:solidFill>
                <a:srgbClr val="06038D"/>
              </a:solidFill>
              <a:latin typeface="Poppins"/>
              <a:ea typeface="Poppins"/>
              <a:cs typeface="Poppins"/>
              <a:sym typeface="Poppins"/>
            </a:endParaRPr>
          </a:p>
        </p:txBody>
      </p:sp>
      <p:sp>
        <p:nvSpPr>
          <p:cNvPr id="257" name="Google Shape;257;p3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Publish the worker code and required inputs</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Make the job open to another operator</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Give someone a reason to run it</a:t>
            </a:r>
            <a:endParaRPr sz="2400">
              <a:solidFill>
                <a:srgbClr val="212121"/>
              </a:solidFill>
            </a:endParaRPr>
          </a:p>
          <a:p>
            <a:pPr indent="-381000" lvl="0" marL="457200" marR="0" rtl="0" algn="l">
              <a:lnSpc>
                <a:spcPct val="110000"/>
              </a:lnSpc>
              <a:spcBef>
                <a:spcPts val="0"/>
              </a:spcBef>
              <a:spcAft>
                <a:spcPts val="0"/>
              </a:spcAft>
              <a:buClr>
                <a:srgbClr val="212121"/>
              </a:buClr>
              <a:buSzPts val="2400"/>
              <a:buChar char="●"/>
            </a:pPr>
            <a:r>
              <a:rPr lang="en" sz="2400">
                <a:solidFill>
                  <a:srgbClr val="212121"/>
                </a:solidFill>
              </a:rPr>
              <a:t>Example: PoolTogether prize claimers</a:t>
            </a:r>
            <a:endParaRPr sz="2400">
              <a:solidFill>
                <a:srgbClr val="21212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263" name="Google Shape;263;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269" name="Google Shape;269;p40"/>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275" name="Google Shape;275;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276" name="Google Shape;27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277" name="Google Shape;277;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06038D"/>
                </a:solidFill>
                <a:latin typeface="Poppins"/>
                <a:ea typeface="Poppins"/>
                <a:cs typeface="Poppins"/>
                <a:sym typeface="Poppins"/>
              </a:rPr>
              <a:t>Example: Uniswap v2 core</a:t>
            </a:r>
            <a:endParaRPr sz="20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283" name="Google Shape;283;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284" name="Google Shape;284;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290" name="Google Shape;290;p4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Hic et Nunc community mirrors kept an entrance open</a:t>
            </a:r>
            <a:endParaRPr sz="2300">
              <a:solidFill>
                <a:srgbClr val="212121"/>
              </a:solidFill>
            </a:endParaRPr>
          </a:p>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Teia continued the community’s work</a:t>
            </a:r>
            <a:endParaRPr sz="2300">
              <a:solidFill>
                <a:srgbClr val="212121"/>
              </a:solidFill>
            </a:endParaRPr>
          </a:p>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Share code, retained data and operating instructions</a:t>
            </a:r>
            <a:endParaRPr sz="2300">
              <a:solidFill>
                <a:srgbClr val="212121"/>
              </a:solidFill>
            </a:endParaRPr>
          </a:p>
          <a:p>
            <a:pPr indent="-374650" lvl="0" marL="457200" marR="0" rtl="0" algn="l">
              <a:lnSpc>
                <a:spcPct val="110000"/>
              </a:lnSpc>
              <a:spcBef>
                <a:spcPts val="0"/>
              </a:spcBef>
              <a:spcAft>
                <a:spcPts val="0"/>
              </a:spcAft>
              <a:buClr>
                <a:srgbClr val="212121"/>
              </a:buClr>
              <a:buSzPts val="2300"/>
              <a:buChar char="●"/>
            </a:pPr>
            <a:r>
              <a:rPr lang="en" sz="2300">
                <a:solidFill>
                  <a:srgbClr val="212121"/>
                </a:solidFill>
              </a:rPr>
              <a:t>Plan who can run it and pay for it</a:t>
            </a:r>
            <a:endParaRPr sz="2300">
              <a:solidFill>
                <a:srgbClr val="21212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296" name="Google Shape;296;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02" name="Google Shape;302;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03" name="Google Shape;303;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04" name="Google Shape;304;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7"/>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315" name="Google Shape;315;p47"/>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316" name="Google Shape;316;p47"/>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