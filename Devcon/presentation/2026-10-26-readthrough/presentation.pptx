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Roboto Thin"/>
      <p:regular r:id="rId36"/>
      <p:bold r:id="rId37"/>
      <p:italic r:id="rId38"/>
      <p:boldItalic r:id="rId39"/>
    </p:embeddedFont>
    <p:embeddedFont>
      <p:font typeface="Roboto Condensed ExtraBold"/>
      <p:bold r:id="rId40"/>
      <p:boldItalic r:id="rId41"/>
    </p:embeddedFont>
    <p:embeddedFont>
      <p:font typeface="Libre Franklin"/>
      <p:regular r:id="rId42"/>
      <p:bold r:id="rId43"/>
      <p:italic r:id="rId44"/>
      <p:boldItalic r:id="rId45"/>
    </p:embeddedFont>
    <p:embeddedFont>
      <p:font typeface="Roboto"/>
      <p:regular r:id="rId46"/>
      <p:bold r:id="rId47"/>
      <p:italic r:id="rId48"/>
      <p:boldItalic r:id="rId49"/>
    </p:embeddedFont>
    <p:embeddedFont>
      <p:font typeface="Poppins"/>
      <p:regular r:id="rId50"/>
      <p:bold r:id="rId51"/>
      <p:italic r:id="rId52"/>
      <p:boldItalic r:id="rId53"/>
    </p:embeddedFont>
    <p:embeddedFont>
      <p:font typeface="Roboto Condensed"/>
      <p:regular r:id="rId54"/>
      <p:bold r:id="rId55"/>
      <p:italic r:id="rId56"/>
      <p:boldItalic r:id="rId57"/>
    </p:embeddedFont>
    <p:embeddedFont>
      <p:font typeface="Libre Franklin Medium"/>
      <p:regular r:id="rId58"/>
      <p:bold r:id="rId59"/>
      <p:italic r:id="rId60"/>
      <p:boldItalic r:id="rId61"/>
    </p:embeddedFont>
    <p:embeddedFont>
      <p:font typeface="Poppins ExtraBold"/>
      <p:bold r:id="rId62"/>
      <p:boldItalic r:id="rId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CondensedExtraBold-bold.fntdata"/><Relationship Id="rId42" Type="http://schemas.openxmlformats.org/officeDocument/2006/relationships/font" Target="fonts/LibreFranklin-regular.fntdata"/><Relationship Id="rId41" Type="http://schemas.openxmlformats.org/officeDocument/2006/relationships/font" Target="fonts/RobotoCondensedExtraBold-boldItalic.fntdata"/><Relationship Id="rId44" Type="http://schemas.openxmlformats.org/officeDocument/2006/relationships/font" Target="fonts/LibreFranklin-italic.fntdata"/><Relationship Id="rId43" Type="http://schemas.openxmlformats.org/officeDocument/2006/relationships/font" Target="fonts/LibreFranklin-bold.fntdata"/><Relationship Id="rId46" Type="http://schemas.openxmlformats.org/officeDocument/2006/relationships/font" Target="fonts/Roboto-regular.fntdata"/><Relationship Id="rId45" Type="http://schemas.openxmlformats.org/officeDocument/2006/relationships/font" Target="fonts/LibreFranklin-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RobotoThin-bold.fntdata"/><Relationship Id="rId36" Type="http://schemas.openxmlformats.org/officeDocument/2006/relationships/font" Target="fonts/RobotoThin-regular.fntdata"/><Relationship Id="rId39" Type="http://schemas.openxmlformats.org/officeDocument/2006/relationships/font" Target="fonts/RobotoThin-boldItalic.fntdata"/><Relationship Id="rId38" Type="http://schemas.openxmlformats.org/officeDocument/2006/relationships/font" Target="fonts/RobotoThin-italic.fntdata"/><Relationship Id="rId62" Type="http://schemas.openxmlformats.org/officeDocument/2006/relationships/font" Target="fonts/PoppinsExtraBold-bold.fntdata"/><Relationship Id="rId61" Type="http://schemas.openxmlformats.org/officeDocument/2006/relationships/font" Target="fonts/LibreFranklinMedium-boldItalic.fntdata"/><Relationship Id="rId20" Type="http://schemas.openxmlformats.org/officeDocument/2006/relationships/slide" Target="slides/slide15.xml"/><Relationship Id="rId63" Type="http://schemas.openxmlformats.org/officeDocument/2006/relationships/font" Target="fonts/PoppinsExtraBold-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LibreFranklinMedium-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oppins-bold.fntdata"/><Relationship Id="rId50" Type="http://schemas.openxmlformats.org/officeDocument/2006/relationships/font" Target="fonts/Poppins-regular.fntdata"/><Relationship Id="rId53" Type="http://schemas.openxmlformats.org/officeDocument/2006/relationships/font" Target="fonts/Poppins-boldItalic.fntdata"/><Relationship Id="rId52" Type="http://schemas.openxmlformats.org/officeDocument/2006/relationships/font" Target="fonts/Poppins-italic.fntdata"/><Relationship Id="rId11" Type="http://schemas.openxmlformats.org/officeDocument/2006/relationships/slide" Target="slides/slide6.xml"/><Relationship Id="rId55" Type="http://schemas.openxmlformats.org/officeDocument/2006/relationships/font" Target="fonts/RobotoCondensed-bold.fntdata"/><Relationship Id="rId10" Type="http://schemas.openxmlformats.org/officeDocument/2006/relationships/slide" Target="slides/slide5.xml"/><Relationship Id="rId54" Type="http://schemas.openxmlformats.org/officeDocument/2006/relationships/font" Target="fonts/RobotoCondensed-regular.fntdata"/><Relationship Id="rId13" Type="http://schemas.openxmlformats.org/officeDocument/2006/relationships/slide" Target="slides/slide8.xml"/><Relationship Id="rId57" Type="http://schemas.openxmlformats.org/officeDocument/2006/relationships/font" Target="fonts/RobotoCondensed-boldItalic.fntdata"/><Relationship Id="rId12" Type="http://schemas.openxmlformats.org/officeDocument/2006/relationships/slide" Target="slides/slide7.xml"/><Relationship Id="rId56" Type="http://schemas.openxmlformats.org/officeDocument/2006/relationships/font" Target="fonts/RobotoCondensed-italic.fntdata"/><Relationship Id="rId15" Type="http://schemas.openxmlformats.org/officeDocument/2006/relationships/slide" Target="slides/slide10.xml"/><Relationship Id="rId59" Type="http://schemas.openxmlformats.org/officeDocument/2006/relationships/font" Target="fonts/LibreFranklinMedium-bold.fntdata"/><Relationship Id="rId14" Type="http://schemas.openxmlformats.org/officeDocument/2006/relationships/slide" Target="slides/slide9.xml"/><Relationship Id="rId58" Type="http://schemas.openxmlformats.org/officeDocument/2006/relationships/font" Target="fonts/LibreFranklinMedium-regular.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flow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flow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and I build Ethereum File System. I want the things we build to remain useful long after we are gone. Today we'll look at what that asks of the whole application.</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17e8cb53479d3c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17e8cb53479d3c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put the work into making an app people can keep using without you?</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17e8cb53479d3c0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17e8cb53479d3c0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0:20-1:05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years of notes, attachments and shared work inside an app. The company closes, or a new owner changes the deal. Your work still matters, but you lose the tools you need to use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 built another app on that service, your users inherit the failure. This is why fragile apps make poor foundations for important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users to keep their work and builders to rely on each other. We can make choices now that give both a better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human stakes, not a customer testimonial. Shutdown and hostile changes create different recovery problems.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17e8cb53479d3c0f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17e8cb53479d3c0f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1:05-1:40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people to keep their work, choose better tools and trust software with important parts of their lives. And I want developers to build on useful capabilities without asking whether the original company will still exist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why this work matters to me. Each dependable component gives the next builder somewhere to start. Over time, those components can support bigger shared projects and even the institutions our communities depend 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flow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flow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1:40-2:35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Hyperstructures give a name to this ambition: lasting public protocols that anyone can use and build on without depending on their creators.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teams provide membership, voting and treasury components. A DAO app combines them. Another team builds a social app using that DAO and a moderation module.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Each team adds a useful capability instead of rebuilding everything beneath it. Stable interfaces and dependable operation let their work accumulate.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future I want us to build. CROPS brings our values: censorship resistance, open source, privacy and security.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composition, not a deployed DAO or a claim that every module meets the full hyperstructure definition. Arrows point from a reusable capability to its consumer. Moderation changes an interface's selection, not all retained records or the DAO's shared rules. Jacob Horne's definition has additional economic conditions. Ethereum operation, storage, funding and participants remain assumptions.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https://jacob.energy/hyperstructures.html</a:t>
            </a:r>
            <a:endParaRPr/>
          </a:p>
          <a:p>
            <a:pPr indent="0" lvl="0" marL="0" rtl="0" algn="l">
              <a:spcBef>
                <a:spcPts val="0"/>
              </a:spcBef>
              <a:spcAft>
                <a:spcPts val="0"/>
              </a:spcAft>
              <a:buNone/>
            </a:pPr>
            <a:r>
              <a:rPr lang="en"/>
              <a:t>https://ethereum.org/foundation/mandate</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efs_flow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efs_flow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2:35-3:10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Think of one task your users depend on your app to do. Keep it in mind as we go through the layers.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walk-away test exposes single points of failure and control. If your team disappears, can users keep working and can someone else run what they need? If someone hostile gets your team's powers, what could they change and what could users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each layer, look for something that only one team can operate or control. Independent operators can keep services running. Credibly neutral contracts can enforce shared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Absence and hostile control are separate scenarios. Several operators only help when they have the inputs and authority to act independently. Use test accounts and copied data for exercises.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https://vitalik.eth.limo/general/2024/09/28/alignment.html</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17e8cb53479d3c0f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17e8cb53479d3c0f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3:10-3:30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eight jobs to consider, grouped into three chapters: getting into the app, continuing the work, and keeping dependable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each, we'll look at an improvement you can make and something you can check. People, documentation and funding support the whole picture.</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17e8cb53479d3c0f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17e8cb53479d3c0f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3:30-3:35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can someone still get into your app and do that task?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17e8cb53479d3c0f_0_4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17e8cb53479d3c0f_0_4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3:35-3:45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They need a way to find a release, run the software and recover their access. Those are three useful checks before we even reach the app's data.</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efs_flow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efs_flow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3:45-4:55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are real names and lookup values. Ethereum dot org resolves to addresses for a hosted website. EFS dot eth points to an IPFS identifier for a particular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Different people can retain that release and serve the same files. Users can reach it through a gateway or their own IPFS node.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imagine someone takes control of the name and points it at a malicious release. A user with the previously trusted identifier can bypass that changed name and open a retained copy of the release they chose.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that identifier, independent copies and clear opening instructions. Test an ordinary task without the usual website. Later, we'll ask whether its underlying contracts still keep the rules the user accepted.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Lookup snapshot: 2026-10-26. ethereum.org returned A records 104.18.176.152 and 104.19.239.224 through both 1.1.1.1 and 8.8.8.8. These are Cloudflare network endpoints, not proof of one physical server; the slide groups the hosted service, not its internal machines. ENS mainnet at block 26279986 (hash 0xd812e26824d24b4ef54112803d47e0fdb7b6c5ffabe1631d624ab2cb1c349b0e, 22:54:35Z) resolved efs.eth through resolver 0xF29100983E058B709F3D539b0c765937B804AC15 to ipfs://bafybeicrisk74xwozdpx4v5kaqjmimzjqsrp74r5tsrgdyv5kju3dnp5ku. The shortened CID on the slide is explicitly an abbreviation. Three retained copies are an illustrative deployment pattern, not a measured EFS operator count. .link and .limo share the eth.limo operator; do not count them as independent retention. ENS controller, resolver and renewal powers and browser verification remain relevant.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compromised-name scenario is illustrative, not a reported EFS incident. A retained trusted CID and a working retrieval route bypass a changed name. This protects selection of the UI release, not mutable contract powers, external dependencies or a compromised device. Newly arriving users still need a trustworthy way to find the accepted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https://docs.ens.domains/ensip/7/</a:t>
            </a:r>
            <a:endParaRPr/>
          </a:p>
          <a:p>
            <a:pPr indent="0" lvl="0" marL="0" rtl="0" algn="l">
              <a:spcBef>
                <a:spcPts val="0"/>
              </a:spcBef>
              <a:spcAft>
                <a:spcPts val="0"/>
              </a:spcAft>
              <a:buNone/>
            </a:pPr>
            <a:r>
              <a:rPr lang="en"/>
              <a:t>https://docs.ipfs.tech/concepts/content-addressing/</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https://discuss.ens.domains/t/eth-limo-update/19707</a:t>
            </a:r>
            <a:endParaRPr/>
          </a:p>
          <a:p>
            <a:pPr indent="0" lvl="0" marL="0" rtl="0" algn="l">
              <a:spcBef>
                <a:spcPts val="0"/>
              </a:spcBef>
              <a:spcAft>
                <a:spcPts val="0"/>
              </a:spcAft>
              <a:buNone/>
            </a:pPr>
            <a:r>
              <a:rPr lang="en"/>
              <a:t>https://developers.cloudflare.com/dns/proxy-status/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efs_flow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efs_flow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4:55-5:40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saved page is only useful if people can run the client behind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left, the HTML lives on IPFS, but it still loads JavaScript from the team's server. When that server disappears, the client cannot start.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the release contains its code, styles, assets and configuration. Someone can retain and serve that complete release.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blocking your team's host in a test environment, clear the browser cache and reload. Does the client start? We will check its data and network dependencies separately.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source, locked dependencies and build instructions too, so another developer can maintain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Running a saved release and reproducing a build are separate checks. Inspect dynamic imports, remote configuration, wallet connectors and deep links. The Ledger Connect Kit compromise is an optional historical example of distribution becoming an attack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slide tests the client release, not all external services. Bundle or independently retain essential scripts, lazy-loaded code, assets and configuration. Runtime RPCs, indexes and authorization paths are assessed in their own layers. Build source and dependency inputs must remain obtainable; a lockfile alone is insufficient. Diagram is illustrative.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https://docs.ipfs.tech/how-to/websites-on-ipfs/single-page-website/</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efs_flow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efs_flow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5:40-6:25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the app and its records survive, but the company's login service closes. Users can reach the page and still be locked out.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them a route they can control. In this Ethereum example, their keys authorize actions through an independent client under the same account rules. The company does not have to approve each return.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Recovery needs the same independence. If users lose a device, can their chosen recovery arrangement work without your team? Keep a separate recovery path for private-file encryption keys.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Test access and recovery with the company's services unavailable. We will examine the team's own administrative keys in the Rules chapter.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contrasts company-mediated login with independently usable account authority. A wallet signature alone does not make a company API replaceable. The alternative requires compatible software, independently reachable services, and permission rules that recognize the same account. Safe is an optional recovery example: a configured two-of-three account can replace one lost signer using the remaining authorized signers, provided those signers and the execution path do not depend on the company. Account recovery does not reconstruct file-decryption keys. Standard encryption needs compatible formats and user-controlled key recovery. Keep sensitive data private and preserve authorization across clients. Team admin-key loss/compromise belongs in Rules and the explicit powers checklist.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https://docs.safe.global/advanced/smart-account-overview</a:t>
            </a:r>
            <a:endParaRPr/>
          </a:p>
          <a:p>
            <a:pPr indent="0" lvl="0" marL="0" rtl="0" algn="l">
              <a:spcBef>
                <a:spcPts val="0"/>
              </a:spcBef>
              <a:spcAft>
                <a:spcPts val="0"/>
              </a:spcAft>
              <a:buNone/>
            </a:pPr>
            <a:r>
              <a:rPr lang="en"/>
              <a:t>https://docs.safe.global/advanced/cli-overview</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h17e8cb53479d3c0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h17e8cb53479d3c0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6:25-6:30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could they keep using the data that task depends on?</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17e8cb53479d3c0f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h17e8cb53479d3c0f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6:30-6:40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Keep the files, keep their meaning, and give another app or operator the information needed to continue the task.</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ositive_standards: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positive_standards: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6:40-7:40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app needs to understand what your data means. This record has an identifier, an author, some text and a particular attachment revision. Publish the field meanings and the rules for reading and changing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EAS, the Ethereum Attestation Service, makes this idea explicit through schemas for structured statements and a record of who made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existing database can benefit too. Export a documented format with stable identifiers, relationships, attachments and the encryption information an authorized reader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another developer to open one useful record. Their questions reveal what your format still leaves implicit.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displayed note is illustrative, not a deployed EAS schema or EAS/EFS integration. EAS has separate schema, attester and data fields and supports onchain and offchain attestations. An attester is not a proof of truth. Stable IDs, author identity, references, schema versions and permission rules must retain meaning across implementations. Export offers a migration/recovery path; ongoing shared writes additionally need agreed synchronization, conflict handling and authorization. A database does not have to move onchain for these improvements.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https://attest.org/</a:t>
            </a:r>
            <a:endParaRPr/>
          </a:p>
          <a:p>
            <a:pPr indent="0" lvl="0" marL="0" rtl="0" algn="l">
              <a:spcBef>
                <a:spcPts val="0"/>
              </a:spcBef>
              <a:spcAft>
                <a:spcPts val="0"/>
              </a:spcAft>
              <a:buNone/>
            </a:pPr>
            <a:r>
              <a:rPr lang="en"/>
              <a:t>https://github.com/ethereum-attestation-service/eas-contracts/blob/master/contracts/SchemaRegistry.sol</a:t>
            </a:r>
            <a:endParaRPr/>
          </a:p>
          <a:p>
            <a:pPr indent="0" lvl="0" marL="0" rtl="0" algn="l">
              <a:spcBef>
                <a:spcPts val="0"/>
              </a:spcBef>
              <a:spcAft>
                <a:spcPts val="0"/>
              </a:spcAft>
              <a:buNone/>
            </a:pPr>
            <a:r>
              <a:rPr lang="en"/>
              <a:t>https://github.com/ethereum-attestation-service/eas-contracts/blob/master/contracts/IEAS.sol</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efs_flow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efs_flow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7:40-8:30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what that shared format buys the user. On the left, they work in a note editor. On the right, the same note appears in a community feed. The author, text and attachment are the same, even though the tools organize them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Someone can build a better experience without asking users to abandon their work. They can choose another client when the original app disappears or no longer suits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an existing app, a second reader for a documented export is a useful first step. Sharing ongoing edits also needs common permission and synchronization rules.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check is simple: open a useful record and its attachment in another client.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mockups, not screenshots of deployed products. note-17 and 0xDEADBEEF… are visibly abbreviated example identifiers. A copied export supports recovery/migration; two live clients sharing edits need common authority, synchronization and compatible versions. Neither path requires EAS or EFS. Private clients must preserve authorized access and compatible decryption.</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efs_flow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efs_flow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8:30-9:25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Where will a usable copy come from when the original provider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files and databases, arrange independently retained copies. That might mean storage operators, an independent database replica, or a user backup. Keep the attachments and format information needed to restore useful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records on Ethereum, full nodes replicate the state. Your app needs a route to those nodes and the history it uses to rebuild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 retention a budget and someone responsible for it. Then restore through an alternative and open the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diagram shows two storage arrangements, not a prescription to move every database to Ethereum. Offchain copies are illustrative and must be refreshed under a defined policy. A chain state commitment is not an archive of every historical state or offchain file. Rebuilding indexes may require retained event history and suitable node access. IPFS persistence requires providers to retain content. Backups alone do not preserve a live multiwriter service; independent deployment/sync and authorization may also be needed.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https://www.inkandswitch.com/essay/local-first/</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efs_flow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efs_flow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9:25-10:30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one job I built Ethereum File System to help with. A readable path leads to an onchain record with file details, retrieval references and a fingerprint for checking its bytes.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can read the file details. A client can retrieve a copy from IPFS or Arweave and check its fingerprint against the expected value.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path in this diagram is an example. In the recorded July 29 check, copies of a deployment archive from both networks matched the expected fingerprint.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Another provider can serve the same file, and another app can use its reference. What identifies the accepted version in your app, and how can someone obtain and check a replacement copy?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/notes/meeting.md path is illustrative. The EFS Sepolia proof package supplies historical evidence for retrieving and checking the same artifact through IPFS and Arweave, not a fresh run in this revision. A digest is a cryptographic hash, called a content fingerprint in the spoken explanation. It checks byte integrity relative to an accepted reference, not semantic truth, freshness or retention. Onchain contracts read metadata; clients fetch offchain bytes. Include chain, deployment and exact revision in a stable reference. No public EFS version or new deployment promise.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Visible historical summary source: EVIDENCE.md at pinned commit e86e6e77fcb5cda31374e07c5f582b502455ba80. It records a July 29, 2026 capture for efs-sepolia-deployment-reference-v0.tar.gz, 63,245 bytes, SHA-256 9c5bbda410deea8714a37b5ab82d3e22982cee79d1d1320cd43a91d562f34d39. Both retrieval rows say VERIFIED. The retained evidence is a dated results table, not raw timestamped verifier stdout. The illustrative note path above is not that archive. This pass inspected the record and did not rerun retrieval or verify present availability.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https://github.com/efs-project/contracts/blob/e86e6e77fcb5cda31374e07c5f582b502455ba80/packages/walk-away-proof/EVIDENCE.md</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efs_flow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efs_flow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10:30-11:40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two jobs here. An RPC is the app's connection to a node. It lets the app read chain state. Make that connection replaceable, including a route to your own node. For supported reads, a light client such as Helios can check responses against Ethereum.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index organizes records into the lists and searches people use. The Graph is an Ethereum example with independent indexers. Publish the recipe and preserve the inputs so another operator can rebuild your important views.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Show how far the view has synced. Then change providers and rebuild one list. Can the user still find the records they need?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Graph network is live; this is a mechanism example, not a blanket reliability assessment of every subgraph. Its normal gateway/API-key/billing path has its own dependencies. A replacement needs the subgraph definition, linked files, schema, chain history, RPC and database. Helios verifies supported Ethereum consensus/execution responses with checkpoint and RPC assumptions; it does not automatically verify arbitrary index queries or retain offchain files. Multiple RPCs offer alternatives, not verification by majority vote. For completeness checks, compare an expected set of known records as well as the indexed block height. No EFS light-client integration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https://thegraph.com/docs/en/indexing/overview/</a:t>
            </a:r>
            <a:endParaRPr/>
          </a:p>
          <a:p>
            <a:pPr indent="0" lvl="0" marL="0" rtl="0" algn="l">
              <a:spcBef>
                <a:spcPts val="0"/>
              </a:spcBef>
              <a:spcAft>
                <a:spcPts val="0"/>
              </a:spcAft>
              <a:buNone/>
            </a:pPr>
            <a:r>
              <a:rPr lang="en"/>
              <a:t>https://thegraph.com/docs/en/gateways/subgraphs/components/overview/</a:t>
            </a:r>
            <a:endParaRPr/>
          </a:p>
          <a:p>
            <a:pPr indent="0" lvl="0" marL="0" rtl="0" algn="l">
              <a:spcBef>
                <a:spcPts val="0"/>
              </a:spcBef>
              <a:spcAft>
                <a:spcPts val="0"/>
              </a:spcAft>
              <a:buNone/>
            </a:pPr>
            <a:r>
              <a:rPr lang="en"/>
              <a:t>https://thegraph.com/docs/en/subgraphs/providers/subgraph-studio/managing-api-keys/</a:t>
            </a:r>
            <a:endParaRPr/>
          </a:p>
          <a:p>
            <a:pPr indent="0" lvl="0" marL="0" rtl="0" algn="l">
              <a:spcBef>
                <a:spcPts val="0"/>
              </a:spcBef>
              <a:spcAft>
                <a:spcPts val="0"/>
              </a:spcAft>
              <a:buNone/>
            </a:pPr>
            <a:r>
              <a:rPr lang="en"/>
              <a:t>https://github.com/a16z/helios</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efs_flow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efs_flow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11:40-12:35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contract still needs someone to submit a transaction. Many apps also need background services to supply inputs or do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Tornado Cash Classic gives one focused example. A relayer submits a user's withdrawal proof and pays the transaction's gas. The pool contract checks the proof. The user can choose another relayer and generate a proof for that choice.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the same question about your workers. Could another operator get the code and inputs, pay the costs and complete the job? Could the user take over?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a replacement in a test environment before the original service disappears.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Technical mechanism only, not instructions to use the service or a current legal/availability claim. Classic pool withdrawal checks the proof, known root and unspent nullifier rather than a privileged caller allowlist. The proof binds recipient, relayer payment address, fee and refund; a replacement paid relayer may require a new proof. UI registry/listing rules are distinct from pool-level permissionless submission. Pool contracts, relayer registry and upgradeable governance are separate components. Oracles, provers, bundlers and paymasters have different inputs, economics and authorities; test the actual job instead of assuming every worker is interchangeable.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https://github.com/tornadocash/tornado-core/blob/master/contracts/Tornado.sol</a:t>
            </a:r>
            <a:endParaRPr/>
          </a:p>
          <a:p>
            <a:pPr indent="0" lvl="0" marL="0" rtl="0" algn="l">
              <a:spcBef>
                <a:spcPts val="0"/>
              </a:spcBef>
              <a:spcAft>
                <a:spcPts val="0"/>
              </a:spcAft>
              <a:buNone/>
            </a:pPr>
            <a:r>
              <a:rPr lang="en"/>
              <a:t>https://github.com/tornadocash/tornado-core/blob/master/contracts/ETHTornado.sol</a:t>
            </a:r>
            <a:endParaRPr/>
          </a:p>
          <a:p>
            <a:pPr indent="0" lvl="0" marL="0" rtl="0" algn="l">
              <a:spcBef>
                <a:spcPts val="0"/>
              </a:spcBef>
              <a:spcAft>
                <a:spcPts val="0"/>
              </a:spcAft>
              <a:buNone/>
            </a:pPr>
            <a:r>
              <a:rPr lang="en"/>
              <a:t>https://github.com/tornadocash/docs/blob/en/general/how-to-become-a-relayer.md</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h17e8cb53479d3c0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h17e8cb53479d3c0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12:35-12:40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Finally, can users keep the rules they accepted for that task?</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17e8cb53479d3c0f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h17e8cb53479d3c0f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12:40-12:50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Stable contracts give builders a foundation. User-chosen app upgrades let better tools grow around it. Shared systems need a clear agreement about how their rules evolve.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efs_flow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efs_flow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12:50-14:15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Remember the saved app release? Keeping that interface is useful. Keeping the contract rules it relies on makes the choice meaningful.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to encourage immutable core contracts. When the logic at an address stays fixed, another developer can build on it without asking what the original team will change next year.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v2 core is a useful example. Other apps can call its fixed exchange logic. Release new contract versions and let users choose to migrate. Keep the old version usable for people who stay. Most app upgrades can offer that choice. Shared networks coordinate protocol changes differently.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a small core you can test carefully and keep stable. Check what happens if the team loses its keys, and inspect any remaining powers that can change behavior.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Fixed core code does not freeze external inputs, fees or all dependencies. v2 Factory has bounded feeTo/feeToSetter powers and no arbitrary core upgrade. Official docs describe v2/v3/v4 core as non-upgradeable; v4 hooks can introduce separate custom and upgradeable behavior. Use v2 as the simple slide example. A canonical v2 USDC/WETH Swap receipt was independently checked October 26, 2026: transaction 0xd5cc225a285adc402669af3930dca1e486e5508feb1289be447a3d1660aaa4f7, block 26280293, status 1. This establishes activity, not general safety. Zerion cites liquidity and execution benefits, not immutability as its selection motive; its API integration adds an offchain dependency. Immutability removes in-place repair, so scope/audit carefully and plan voluntary migration. No new EFS immutability verification.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https://developers.uniswap.org/docs/get-started/concepts/how-uniswap-works</a:t>
            </a:r>
            <a:endParaRPr/>
          </a:p>
          <a:p>
            <a:pPr indent="0" lvl="0" marL="0" rtl="0" algn="l">
              <a:spcBef>
                <a:spcPts val="0"/>
              </a:spcBef>
              <a:spcAft>
                <a:spcPts val="0"/>
              </a:spcAft>
              <a:buNone/>
            </a:pPr>
            <a:r>
              <a:rPr lang="en"/>
              <a:t>https://github.com/Uniswap/v2-core/blob/master/contracts/UniswapV2Factory.sol</a:t>
            </a:r>
            <a:endParaRPr/>
          </a:p>
          <a:p>
            <a:pPr indent="0" lvl="0" marL="0" rtl="0" algn="l">
              <a:spcBef>
                <a:spcPts val="0"/>
              </a:spcBef>
              <a:spcAft>
                <a:spcPts val="0"/>
              </a:spcAft>
              <a:buNone/>
            </a:pPr>
            <a:r>
              <a:rPr lang="en"/>
              <a:t>https://github.com/Uniswap/v2-core/blob/master/contracts/UniswapV2Pair.sol</a:t>
            </a:r>
            <a:endParaRPr/>
          </a:p>
          <a:p>
            <a:pPr indent="0" lvl="0" marL="0" rtl="0" algn="l">
              <a:spcBef>
                <a:spcPts val="0"/>
              </a:spcBef>
              <a:spcAft>
                <a:spcPts val="0"/>
              </a:spcAft>
              <a:buNone/>
            </a:pPr>
            <a:r>
              <a:rPr lang="en"/>
              <a:t>https://developers.uniswap.org/docs/protocols/v4/security</a:t>
            </a:r>
            <a:endParaRPr/>
          </a:p>
          <a:p>
            <a:pPr indent="0" lvl="0" marL="0" rtl="0" algn="l">
              <a:spcBef>
                <a:spcPts val="0"/>
              </a:spcBef>
              <a:spcAft>
                <a:spcPts val="0"/>
              </a:spcAft>
              <a:buNone/>
            </a:pPr>
            <a:r>
              <a:rPr lang="en"/>
              <a:t>https://zerion.io/blog/zerion-wallet-now-offers-swaps-powered-by-uniswap-api/</a:t>
            </a:r>
            <a:endParaRPr/>
          </a:p>
          <a:p>
            <a:pPr indent="0" lvl="0" marL="0" rtl="0" algn="l">
              <a:spcBef>
                <a:spcPts val="0"/>
              </a:spcBef>
              <a:spcAft>
                <a:spcPts val="0"/>
              </a:spcAft>
              <a:buNone/>
            </a:pPr>
            <a:r>
              <a:rPr lang="en"/>
              <a:t>https://etherscan.io/tx/0xd5cc225a285adc402669af3930dca1e486e5508feb1289be447a3d1660aaa4f7</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efs_flow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efs_flow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14:15-15:15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app inherits the chain beneath it. Ethereum nodes and validators maintain shared state and agree on transactions. Preserve a usable connection and the history your app needs.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an L2, find out who orders transactions, where the data is available and how results settle on L1. These choices affect what your users can do during an outage.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 Stack documentation, for example, describes submitting through L1 when the sequencer is unavailable.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Turn your network's recovery documentation into an exercise for your app's actual account and task. How long does it take, what does it cost, and can the user finish?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unavailable sequencer, a faulty prover, missing data and a hostile upgrade are distinct failure modes. OP Stack forced inclusion through OptimismPortal is not a universal exit guarantee or a cure for hostile upgrades. Withdrawal rules, bridges, security councils, upgrade controls and deployment configuration need separate inspection. Inherited token, oracle, bridge and other protocol dependencies can change an otherwise fixed application. Nodes need peer connectivity and required history. This is an app design check, not a performed recovery test.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efs_flow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efs_flow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15:15-15:55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code may be public, but someone still needs to be able to run the service.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your team has stopped. Another operator takes the published software and license, retained inputs, configuration and instructions. They start a replacement with their own keys and hosting. Users can choose it.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handoff should explain the running costs and how someone can cover them. Remove any requirement for a secret account or permission only your team can provide.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Ask someone outside the team to try it without contacting you. That is how you discover the knowledge and privileges that still live only in your heads.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handoff, not a completed operator exercise. Three participants is James's resilience ambition, not a universal safety threshold. Shared cloud accounts, credentials, funders and undocumented privileges can defeat apparent redundancy. Include licenses, documentation, funding and compatible standards so a willing operator can act.</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h17e8cb53479d3c0f_0_8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h17e8cb53479d3c0f_0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15:55-16:00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Here is the checklist to take back to your own app.</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efs_flow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efs_flow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16:00-16:45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Return to the task you chose at the start. Can a user run the software, recover access, restore useful data and use another client? Can someone else operate its supporting services?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Try it without your team's services or personal help. Then check hostile control separately. Who can upgrade a contract, pause it, redirect an entry point or change permissions? What could the user keep using if those powers were abused?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test accounts and copies. Fix the first dependency that stops the task, then try again.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practical exercise, not certification or a maintained scoring tool. Keep an explicit inventory of upgrade, pause, routing, account and data-writing powers. Record time, cost, privacy, required inputs and remaining assumptions. The next slide shows an illustrative index failure, not an observed EFS outage.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concrete_walkthrough: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concrete_walkthrough: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16:45-17:45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this test in your app: find an existing note and open its attachment.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a test environment, stop the team's index. The app cannot load the note list. The records and attachment are still retained, but this app has only one route to find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improvement is to publish the indexing recipe and let users select another endpoint. An independent operator can rebuild an index from those retained records.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Select that replacement in the app and retry. Success means finding the same note and opening its attachment. Check that the result is current too.</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the method: expose one dependency, make it replaceable, and repeat the user's task.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Illustrative before/failure/retest, not a live demo or measured outage. The first attempt exposes a missing replacement path. Publishing the recipe and endpoint selection is the improvement before the second attempt. Retained records/history and attachments are explicit prerequisites; they are not reconstructed from a blank response. An actual failure must appear as unavailable rather than a misleading empty list. A real drill records observed results and never disables production services. This checks one dependency, not the whole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UI and index states are illustrative. The agenda preview is invented sample content, not an EFS retrieval. The replacement index must use the published recipe and retained authoritative records/history. The client must support endpoint selection; the diagram does not imply an existing app has that capability without implementation.</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efs_flow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efs_flow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want a future where people can trust software with the important parts of their lives. Where their work remains theirs, better tools can use it, and developers keep adding to foundations everyone can build 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is what draws me to Ethereum and what I am trying to contribute with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Start with one important task. Make it easier for someone else to keep it working. Every dependable piece gives the next person more to build with.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work can outlive us.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17e8cb53479d3c0f_0_7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h17e8cb53479d3c0f_0_7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Which part of your app would you most like to make independent of your team?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Optional detail (not part of the timed route)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and public contact slide. No live demo or new protocol deployment is claimed.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https://youtu.be/gZl711IriSM</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hyperlink" Target="https://efs.eth.limo/"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000">
                <a:solidFill>
                  <a:srgbClr val="FFFFFF"/>
                </a:solidFill>
                <a:latin typeface="Poppins"/>
                <a:ea typeface="Poppins"/>
                <a:cs typeface="Poppins"/>
                <a:sym typeface="Poppins"/>
              </a:rPr>
              <a:t>Who Can Turn Off</a:t>
            </a:r>
            <a:endParaRPr b="1" sz="4000">
              <a:solidFill>
                <a:srgbClr val="FFFFFF"/>
              </a:solidFill>
              <a:latin typeface="Poppins"/>
              <a:ea typeface="Poppins"/>
              <a:cs typeface="Poppins"/>
              <a:sym typeface="Poppins"/>
            </a:endParaRPr>
          </a:p>
          <a:p>
            <a:pPr indent="0" lvl="0" marL="0" rtl="0" algn="ctr">
              <a:spcBef>
                <a:spcPts val="0"/>
              </a:spcBef>
              <a:spcAft>
                <a:spcPts val="0"/>
              </a:spcAft>
              <a:buNone/>
            </a:pPr>
            <a:r>
              <a:rPr b="1" lang="en" sz="4000">
                <a:solidFill>
                  <a:srgbClr val="FFFFFF"/>
                </a:solidFill>
                <a:latin typeface="Poppins"/>
                <a:ea typeface="Poppins"/>
                <a:cs typeface="Poppins"/>
                <a:sym typeface="Poppins"/>
              </a:rPr>
              <a:t>Your Ethereum App?</a:t>
            </a:r>
            <a:endParaRPr b="1" sz="4000">
              <a:solidFill>
                <a:srgbClr val="FFFFFF"/>
              </a:solidFill>
              <a:latin typeface="Poppins"/>
              <a:ea typeface="Poppins"/>
              <a:cs typeface="Poppins"/>
              <a:sym typeface="Poppins"/>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2400">
                <a:solidFill>
                  <a:srgbClr val="FFFFFF"/>
                </a:solidFill>
                <a:latin typeface="Roboto Condensed"/>
                <a:ea typeface="Roboto Condensed"/>
                <a:cs typeface="Roboto Condensed"/>
                <a:sym typeface="Roboto Condensed"/>
              </a:rPr>
              <a:t>James Carnley</a:t>
            </a:r>
            <a:endParaRPr b="1" sz="2400">
              <a:solidFill>
                <a:srgbClr val="FFFFFF"/>
              </a:solidFill>
              <a:latin typeface="Roboto Condensed"/>
              <a:ea typeface="Roboto Condensed"/>
              <a:cs typeface="Roboto Condensed"/>
              <a:sym typeface="Roboto Condensed"/>
            </a:endParaRPr>
          </a:p>
          <a:p>
            <a:pPr indent="0" lvl="0" marL="0" rtl="0" algn="ctr">
              <a:lnSpc>
                <a:spcPct val="115000"/>
              </a:lnSpc>
              <a:spcBef>
                <a:spcPts val="0"/>
              </a:spcBef>
              <a:spcAft>
                <a:spcPts val="0"/>
              </a:spcAft>
              <a:buNone/>
            </a:pPr>
            <a:r>
              <a:rPr lang="en" sz="2400">
                <a:solidFill>
                  <a:srgbClr val="FFFFFF"/>
                </a:solidFill>
                <a:latin typeface="Libre Franklin"/>
                <a:ea typeface="Libre Franklin"/>
                <a:cs typeface="Libre Franklin"/>
                <a:sym typeface="Libre Franklin"/>
              </a:rPr>
              <a:t>Ethereum File System</a:t>
            </a:r>
            <a:endParaRPr sz="24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FFFFFF"/>
                </a:solidFill>
                <a:latin typeface="Poppins"/>
                <a:ea typeface="Poppins"/>
                <a:cs typeface="Poppins"/>
                <a:sym typeface="Poppins"/>
              </a:rPr>
              <a:t>A Full-Stack Walk-Away Test</a:t>
            </a:r>
            <a:endParaRPr b="1" sz="2400">
              <a:solidFill>
                <a:srgbClr val="FFFFFF"/>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457200" y="2150850"/>
            <a:ext cx="8229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Why make an app you can walk away from?</a:t>
            </a:r>
            <a:endParaRPr/>
          </a:p>
        </p:txBody>
      </p:sp>
      <p:sp>
        <p:nvSpPr>
          <p:cNvPr id="90" name="Google Shape;90;p20"/>
          <p:cNvSpPr txBox="1"/>
          <p:nvPr/>
        </p:nvSpPr>
        <p:spPr>
          <a:xfrm>
            <a:off x="1789350" y="1821650"/>
            <a:ext cx="55653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Building Cypherpunk Apps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What happens when an app disappears?</a:t>
            </a:r>
            <a:endParaRPr/>
          </a:p>
          <a:p>
            <a:pPr indent="0" lvl="0" marL="0" rtl="0" algn="r">
              <a:spcBef>
                <a:spcPts val="0"/>
              </a:spcBef>
              <a:spcAft>
                <a:spcPts val="0"/>
              </a:spcAft>
              <a:buNone/>
            </a:pPr>
            <a:r>
              <a:t/>
            </a:r>
            <a:endParaRPr/>
          </a:p>
        </p:txBody>
      </p:sp>
      <p:sp>
        <p:nvSpPr>
          <p:cNvPr id="96" name="Google Shape;96;p2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rtl="0" algn="l">
              <a:lnSpc>
                <a:spcPct val="110000"/>
              </a:lnSpc>
              <a:spcBef>
                <a:spcPts val="0"/>
              </a:spcBef>
              <a:spcAft>
                <a:spcPts val="0"/>
              </a:spcAft>
              <a:buNone/>
            </a:pPr>
            <a:r>
              <a:rPr lang="en" sz="2400">
                <a:solidFill>
                  <a:schemeClr val="accent2"/>
                </a:solidFill>
              </a:rPr>
              <a:t>Users lose their work and trust</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0"/>
              </a:spcAft>
              <a:buNone/>
            </a:pPr>
            <a:r>
              <a:rPr lang="en" sz="2400">
                <a:solidFill>
                  <a:schemeClr val="accent2"/>
                </a:solidFill>
              </a:rPr>
              <a:t>Other developers can’t rely on that functionality</a:t>
            </a:r>
            <a:br>
              <a:rPr lang="en" sz="2400">
                <a:solidFill>
                  <a:schemeClr val="accent2"/>
                </a:solidFill>
              </a:rPr>
            </a:br>
            <a:endParaRPr sz="2400">
              <a:solidFill>
                <a:schemeClr val="accent2"/>
              </a:solidFill>
            </a:endParaRPr>
          </a:p>
          <a:p>
            <a:pPr indent="0" lvl="0" marL="0" rtl="0" algn="l">
              <a:lnSpc>
                <a:spcPct val="110000"/>
              </a:lnSpc>
              <a:spcBef>
                <a:spcPts val="1000"/>
              </a:spcBef>
              <a:spcAft>
                <a:spcPts val="1000"/>
              </a:spcAft>
              <a:buNone/>
            </a:pPr>
            <a:r>
              <a:rPr lang="en" sz="2400">
                <a:solidFill>
                  <a:schemeClr val="accent2"/>
                </a:solidFill>
              </a:rPr>
              <a:t>Communities splinter</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people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years of useful work</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Choose better tools</a:t>
            </a:r>
            <a:endParaRPr sz="2400">
              <a:solidFill>
                <a:srgbClr val="212121"/>
              </a:solidFill>
            </a:endParaRPr>
          </a:p>
        </p:txBody>
      </p:sp>
      <p:sp>
        <p:nvSpPr>
          <p:cNvPr id="102" name="Google Shape;102;p2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For builders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Reuse dependable capabilities</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Build bigger things together</a:t>
            </a:r>
            <a:endParaRPr sz="2400">
              <a:solidFill>
                <a:srgbClr val="212121"/>
              </a:solidFill>
            </a:endParaRPr>
          </a:p>
        </p:txBody>
      </p:sp>
      <p:sp>
        <p:nvSpPr>
          <p:cNvPr id="103" name="Google Shape;103;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Software worth building on</a:t>
            </a:r>
            <a:endParaRPr b="1" sz="3200">
              <a:solidFill>
                <a:srgbClr val="06038D"/>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a:solidFill>
                  <a:srgbClr val="06038D"/>
                </a:solidFill>
                <a:latin typeface="Poppins"/>
                <a:ea typeface="Poppins"/>
                <a:cs typeface="Poppins"/>
                <a:sym typeface="Poppins"/>
              </a:rPr>
              <a:t>Hyperstructures: build on each other</a:t>
            </a:r>
            <a:endParaRPr b="1">
              <a:solidFill>
                <a:srgbClr val="06038D"/>
              </a:solidFill>
              <a:latin typeface="Poppins"/>
              <a:ea typeface="Poppins"/>
              <a:cs typeface="Poppins"/>
              <a:sym typeface="Poppins"/>
            </a:endParaRPr>
          </a:p>
        </p:txBody>
      </p:sp>
      <p:cxnSp>
        <p:nvCxnSpPr>
          <p:cNvPr id="109" name="Google Shape;109;p23"/>
          <p:cNvCxnSpPr/>
          <p:nvPr/>
        </p:nvCxnSpPr>
        <p:spPr>
          <a:xfrm rot="10800000">
            <a:off x="1651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0" name="Google Shape;110;p23"/>
          <p:cNvCxnSpPr/>
          <p:nvPr/>
        </p:nvCxnSpPr>
        <p:spPr>
          <a:xfrm rot="10800000">
            <a:off x="3810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1" name="Google Shape;111;p23"/>
          <p:cNvCxnSpPr/>
          <p:nvPr/>
        </p:nvCxnSpPr>
        <p:spPr>
          <a:xfrm rot="10800000">
            <a:off x="5969000" y="3111400"/>
            <a:ext cx="0" cy="292200"/>
          </a:xfrm>
          <a:prstGeom prst="straightConnector1">
            <a:avLst/>
          </a:prstGeom>
          <a:noFill/>
          <a:ln cap="flat" cmpd="sng" w="17775">
            <a:solidFill>
              <a:srgbClr val="06038D"/>
            </a:solidFill>
            <a:prstDash val="solid"/>
            <a:round/>
            <a:headEnd len="med" w="med" type="none"/>
            <a:tailEnd len="med" w="med" type="none"/>
          </a:ln>
        </p:spPr>
      </p:cxnSp>
      <p:cxnSp>
        <p:nvCxnSpPr>
          <p:cNvPr id="112" name="Google Shape;112;p23"/>
          <p:cNvCxnSpPr/>
          <p:nvPr/>
        </p:nvCxnSpPr>
        <p:spPr>
          <a:xfrm>
            <a:off x="1651000" y="3111500"/>
            <a:ext cx="4317900" cy="0"/>
          </a:xfrm>
          <a:prstGeom prst="straightConnector1">
            <a:avLst/>
          </a:prstGeom>
          <a:noFill/>
          <a:ln cap="flat" cmpd="sng" w="17775">
            <a:solidFill>
              <a:srgbClr val="06038D"/>
            </a:solidFill>
            <a:prstDash val="solid"/>
            <a:round/>
            <a:headEnd len="med" w="med" type="none"/>
            <a:tailEnd len="med" w="med" type="none"/>
          </a:ln>
        </p:spPr>
      </p:cxnSp>
      <p:cxnSp>
        <p:nvCxnSpPr>
          <p:cNvPr id="113" name="Google Shape;113;p23"/>
          <p:cNvCxnSpPr/>
          <p:nvPr/>
        </p:nvCxnSpPr>
        <p:spPr>
          <a:xfrm rot="10800000">
            <a:off x="3810000" y="2857400"/>
            <a:ext cx="0" cy="254100"/>
          </a:xfrm>
          <a:prstGeom prst="straightConnector1">
            <a:avLst/>
          </a:prstGeom>
          <a:noFill/>
          <a:ln cap="flat" cmpd="sng" w="17775">
            <a:solidFill>
              <a:srgbClr val="06038D"/>
            </a:solidFill>
            <a:prstDash val="solid"/>
            <a:round/>
            <a:headEnd len="med" w="med" type="none"/>
            <a:tailEnd len="med" w="med" type="triangle"/>
          </a:ln>
        </p:spPr>
      </p:cxnSp>
      <p:cxnSp>
        <p:nvCxnSpPr>
          <p:cNvPr id="114" name="Google Shape;114;p23"/>
          <p:cNvCxnSpPr/>
          <p:nvPr/>
        </p:nvCxnSpPr>
        <p:spPr>
          <a:xfrm rot="10800000">
            <a:off x="381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5" name="Google Shape;115;p23"/>
          <p:cNvCxnSpPr/>
          <p:nvPr/>
        </p:nvCxnSpPr>
        <p:spPr>
          <a:xfrm rot="10800000">
            <a:off x="7620000" y="1917800"/>
            <a:ext cx="0" cy="241200"/>
          </a:xfrm>
          <a:prstGeom prst="straightConnector1">
            <a:avLst/>
          </a:prstGeom>
          <a:noFill/>
          <a:ln cap="flat" cmpd="sng" w="17775">
            <a:solidFill>
              <a:srgbClr val="06038D"/>
            </a:solidFill>
            <a:prstDash val="solid"/>
            <a:round/>
            <a:headEnd len="med" w="med" type="none"/>
            <a:tailEnd len="med" w="med" type="none"/>
          </a:ln>
        </p:spPr>
      </p:cxnSp>
      <p:cxnSp>
        <p:nvCxnSpPr>
          <p:cNvPr id="116" name="Google Shape;116;p23"/>
          <p:cNvCxnSpPr/>
          <p:nvPr/>
        </p:nvCxnSpPr>
        <p:spPr>
          <a:xfrm>
            <a:off x="3810000" y="1917700"/>
            <a:ext cx="3810000" cy="0"/>
          </a:xfrm>
          <a:prstGeom prst="straightConnector1">
            <a:avLst/>
          </a:prstGeom>
          <a:noFill/>
          <a:ln cap="flat" cmpd="sng" w="17775">
            <a:solidFill>
              <a:srgbClr val="06038D"/>
            </a:solidFill>
            <a:prstDash val="solid"/>
            <a:round/>
            <a:headEnd len="med" w="med" type="none"/>
            <a:tailEnd len="med" w="med" type="none"/>
          </a:ln>
        </p:spPr>
      </p:cxnSp>
      <p:cxnSp>
        <p:nvCxnSpPr>
          <p:cNvPr id="117" name="Google Shape;117;p23"/>
          <p:cNvCxnSpPr/>
          <p:nvPr/>
        </p:nvCxnSpPr>
        <p:spPr>
          <a:xfrm rot="10800000">
            <a:off x="5016500" y="1777900"/>
            <a:ext cx="0" cy="139800"/>
          </a:xfrm>
          <a:prstGeom prst="straightConnector1">
            <a:avLst/>
          </a:prstGeom>
          <a:noFill/>
          <a:ln cap="flat" cmpd="sng" w="17775">
            <a:solidFill>
              <a:srgbClr val="06038D"/>
            </a:solidFill>
            <a:prstDash val="solid"/>
            <a:round/>
            <a:headEnd len="med" w="med" type="none"/>
            <a:tailEnd len="med" w="med" type="triangle"/>
          </a:ln>
        </p:spPr>
      </p:cxnSp>
      <p:sp>
        <p:nvSpPr>
          <p:cNvPr id="118" name="Google Shape;118;p23"/>
          <p:cNvSpPr/>
          <p:nvPr/>
        </p:nvSpPr>
        <p:spPr>
          <a:xfrm>
            <a:off x="3365500" y="1155700"/>
            <a:ext cx="3302100" cy="622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Community social app</a:t>
            </a:r>
            <a:endParaRPr sz="19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FFFFFF"/>
                </a:solidFill>
                <a:latin typeface="Poppins"/>
                <a:ea typeface="Poppins"/>
                <a:cs typeface="Poppins"/>
                <a:sym typeface="Poppins"/>
              </a:rPr>
              <a:t>Team F</a:t>
            </a:r>
            <a:endParaRPr sz="1900">
              <a:solidFill>
                <a:srgbClr val="FFFFFF"/>
              </a:solidFill>
              <a:latin typeface="Poppins"/>
              <a:ea typeface="Poppins"/>
              <a:cs typeface="Poppins"/>
              <a:sym typeface="Poppins"/>
            </a:endParaRPr>
          </a:p>
        </p:txBody>
      </p:sp>
      <p:sp>
        <p:nvSpPr>
          <p:cNvPr id="119" name="Google Shape;119;p23"/>
          <p:cNvSpPr/>
          <p:nvPr/>
        </p:nvSpPr>
        <p:spPr>
          <a:xfrm>
            <a:off x="1905000" y="2159000"/>
            <a:ext cx="38100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DAO app</a:t>
            </a:r>
            <a:endParaRPr sz="21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Team D</a:t>
            </a:r>
            <a:endParaRPr sz="2100">
              <a:solidFill>
                <a:srgbClr val="212121"/>
              </a:solidFill>
              <a:latin typeface="Poppins"/>
              <a:ea typeface="Poppins"/>
              <a:cs typeface="Poppins"/>
              <a:sym typeface="Poppins"/>
            </a:endParaRPr>
          </a:p>
        </p:txBody>
      </p:sp>
      <p:sp>
        <p:nvSpPr>
          <p:cNvPr id="120" name="Google Shape;120;p23"/>
          <p:cNvSpPr/>
          <p:nvPr/>
        </p:nvSpPr>
        <p:spPr>
          <a:xfrm>
            <a:off x="6731000" y="2159000"/>
            <a:ext cx="1841400" cy="698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Moderation</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Team E</a:t>
            </a:r>
            <a:endParaRPr sz="1800">
              <a:solidFill>
                <a:srgbClr val="212121"/>
              </a:solidFill>
              <a:latin typeface="Poppins"/>
              <a:ea typeface="Poppins"/>
              <a:cs typeface="Poppins"/>
              <a:sym typeface="Poppins"/>
            </a:endParaRPr>
          </a:p>
        </p:txBody>
      </p:sp>
      <p:sp>
        <p:nvSpPr>
          <p:cNvPr id="121" name="Google Shape;121;p23"/>
          <p:cNvSpPr/>
          <p:nvPr/>
        </p:nvSpPr>
        <p:spPr>
          <a:xfrm>
            <a:off x="698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Membership</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A</a:t>
            </a:r>
            <a:endParaRPr sz="2000">
              <a:solidFill>
                <a:srgbClr val="212121"/>
              </a:solidFill>
              <a:latin typeface="Poppins"/>
              <a:ea typeface="Poppins"/>
              <a:cs typeface="Poppins"/>
              <a:sym typeface="Poppins"/>
            </a:endParaRPr>
          </a:p>
        </p:txBody>
      </p:sp>
      <p:sp>
        <p:nvSpPr>
          <p:cNvPr id="122" name="Google Shape;122;p23"/>
          <p:cNvSpPr/>
          <p:nvPr/>
        </p:nvSpPr>
        <p:spPr>
          <a:xfrm>
            <a:off x="2857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Voting</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B</a:t>
            </a:r>
            <a:endParaRPr sz="2000">
              <a:solidFill>
                <a:srgbClr val="212121"/>
              </a:solidFill>
              <a:latin typeface="Poppins"/>
              <a:ea typeface="Poppins"/>
              <a:cs typeface="Poppins"/>
              <a:sym typeface="Poppins"/>
            </a:endParaRPr>
          </a:p>
        </p:txBody>
      </p:sp>
      <p:sp>
        <p:nvSpPr>
          <p:cNvPr id="123" name="Google Shape;123;p23"/>
          <p:cNvSpPr/>
          <p:nvPr/>
        </p:nvSpPr>
        <p:spPr>
          <a:xfrm>
            <a:off x="5016500" y="3403600"/>
            <a:ext cx="1905000" cy="736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Treasury</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Team C</a:t>
            </a:r>
            <a:endParaRPr sz="2000">
              <a:solidFill>
                <a:srgbClr val="212121"/>
              </a:solidFill>
              <a:latin typeface="Poppins"/>
              <a:ea typeface="Poppins"/>
              <a:cs typeface="Poppins"/>
              <a:sym typeface="Poppins"/>
            </a:endParaRPr>
          </a:p>
        </p:txBody>
      </p:sp>
      <p:sp>
        <p:nvSpPr>
          <p:cNvPr id="124" name="Google Shape;124;p23"/>
          <p:cNvSpPr txBox="1"/>
          <p:nvPr/>
        </p:nvSpPr>
        <p:spPr>
          <a:xfrm>
            <a:off x="571500" y="4331975"/>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Independent teams work together via stable interfaces</a:t>
            </a:r>
            <a:endParaRPr sz="1600">
              <a:solidFill>
                <a:srgbClr val="06038D"/>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idx="1" type="body"/>
          </p:nvPr>
        </p:nvSpPr>
        <p:spPr>
          <a:xfrm>
            <a:off x="670560" y="1397000"/>
            <a:ext cx="3753000" cy="32892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The team disappears</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working?</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others run the services?</a:t>
            </a:r>
            <a:endParaRPr sz="2400">
              <a:solidFill>
                <a:srgbClr val="212121"/>
              </a:solidFill>
            </a:endParaRPr>
          </a:p>
        </p:txBody>
      </p:sp>
      <p:sp>
        <p:nvSpPr>
          <p:cNvPr id="130" name="Google Shape;130;p24"/>
          <p:cNvSpPr txBox="1"/>
          <p:nvPr>
            <p:ph idx="2" type="body"/>
          </p:nvPr>
        </p:nvSpPr>
        <p:spPr>
          <a:xfrm>
            <a:off x="4608830" y="1397000"/>
            <a:ext cx="4056300" cy="32892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Control becomes hostile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Can users keep their work?</a:t>
            </a:r>
            <a:br>
              <a:rPr lang="en" sz="2400">
                <a:solidFill>
                  <a:srgbClr val="212121"/>
                </a:solidFill>
              </a:rPr>
            </a:b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Can they keep the rules they chose?</a:t>
            </a:r>
            <a:endParaRPr sz="2400">
              <a:solidFill>
                <a:srgbClr val="212121"/>
              </a:solidFill>
            </a:endParaRPr>
          </a:p>
        </p:txBody>
      </p:sp>
      <p:sp>
        <p:nvSpPr>
          <p:cNvPr id="131" name="Google Shape;131;p24"/>
          <p:cNvSpPr txBox="1"/>
          <p:nvPr>
            <p:ph type="title"/>
          </p:nvPr>
        </p:nvSpPr>
        <p:spPr>
          <a:xfrm>
            <a:off x="876300" y="355600"/>
            <a:ext cx="7391400" cy="5970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A walk-away test</a:t>
            </a:r>
            <a:endParaRPr b="1" sz="3200">
              <a:solidFill>
                <a:srgbClr val="06038D"/>
              </a:solidFill>
              <a:latin typeface="Poppins"/>
              <a:ea typeface="Poppins"/>
              <a:cs typeface="Poppins"/>
              <a:sym typeface="Poppins"/>
            </a:endParaRPr>
          </a:p>
        </p:txBody>
      </p:sp>
      <p:sp>
        <p:nvSpPr>
          <p:cNvPr id="132" name="Google Shape;132;p24"/>
          <p:cNvSpPr txBox="1"/>
          <p:nvPr/>
        </p:nvSpPr>
        <p:spPr>
          <a:xfrm>
            <a:off x="571500" y="4356100"/>
            <a:ext cx="8001000" cy="35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rgbClr val="06038D"/>
                </a:solidFill>
                <a:latin typeface="Poppins"/>
                <a:ea typeface="Poppins"/>
                <a:cs typeface="Poppins"/>
                <a:sym typeface="Poppins"/>
              </a:rPr>
              <a:t>Choose one task your users rely on.</a:t>
            </a:r>
            <a:endParaRPr sz="1800">
              <a:solidFill>
                <a:srgbClr val="06038D"/>
              </a:solidFill>
              <a:latin typeface="Poppins"/>
              <a:ea typeface="Poppins"/>
              <a:cs typeface="Poppins"/>
              <a:sym typeface="Poppins"/>
            </a:endParaRPr>
          </a:p>
        </p:txBody>
      </p:sp>
      <p:sp>
        <p:nvSpPr>
          <p:cNvPr id="133" name="Google Shape;133;p24"/>
          <p:cNvSpPr txBox="1"/>
          <p:nvPr/>
        </p:nvSpPr>
        <p:spPr>
          <a:xfrm>
            <a:off x="571500" y="977900"/>
            <a:ext cx="80010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Single points of failure and control</a:t>
            </a:r>
            <a:endParaRPr sz="1800">
              <a:solidFill>
                <a:srgbClr val="06038D"/>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4826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Interface</a:t>
            </a:r>
            <a:endParaRPr sz="1800"/>
          </a:p>
        </p:txBody>
      </p:sp>
      <p:sp>
        <p:nvSpPr>
          <p:cNvPr id="139" name="Google Shape;139;p25"/>
          <p:cNvSpPr txBox="1"/>
          <p:nvPr>
            <p:ph idx="4294967295" type="body"/>
          </p:nvPr>
        </p:nvSpPr>
        <p:spPr>
          <a:xfrm>
            <a:off x="6096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Names and discovery</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Runnable software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Accounts and recovery</a:t>
            </a:r>
            <a:endParaRPr sz="1800">
              <a:solidFill>
                <a:srgbClr val="212121"/>
              </a:solidFill>
            </a:endParaRPr>
          </a:p>
        </p:txBody>
      </p:sp>
      <p:sp>
        <p:nvSpPr>
          <p:cNvPr id="140" name="Google Shape;140;p25"/>
          <p:cNvSpPr/>
          <p:nvPr/>
        </p:nvSpPr>
        <p:spPr>
          <a:xfrm>
            <a:off x="0" y="2220475"/>
            <a:ext cx="9144000" cy="18300"/>
          </a:xfrm>
          <a:prstGeom prst="rect">
            <a:avLst/>
          </a:prstGeom>
          <a:solidFill>
            <a:srgbClr val="AAA7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5"/>
          <p:cNvSpPr txBox="1"/>
          <p:nvPr>
            <p:ph type="title"/>
          </p:nvPr>
        </p:nvSpPr>
        <p:spPr>
          <a:xfrm>
            <a:off x="3327400" y="150497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Data</a:t>
            </a:r>
            <a:endParaRPr sz="1800"/>
          </a:p>
        </p:txBody>
      </p:sp>
      <p:sp>
        <p:nvSpPr>
          <p:cNvPr id="142" name="Google Shape;142;p25"/>
          <p:cNvSpPr txBox="1"/>
          <p:nvPr>
            <p:ph idx="4294967295" type="body"/>
          </p:nvPr>
        </p:nvSpPr>
        <p:spPr>
          <a:xfrm>
            <a:off x="3454400" y="2520975"/>
            <a:ext cx="23496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Storage and formats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State and indexes</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Background work</a:t>
            </a:r>
            <a:endParaRPr sz="1800">
              <a:solidFill>
                <a:srgbClr val="212121"/>
              </a:solidFill>
            </a:endParaRPr>
          </a:p>
        </p:txBody>
      </p:sp>
      <p:sp>
        <p:nvSpPr>
          <p:cNvPr id="143" name="Google Shape;143;p25"/>
          <p:cNvSpPr txBox="1"/>
          <p:nvPr>
            <p:ph type="title"/>
          </p:nvPr>
        </p:nvSpPr>
        <p:spPr>
          <a:xfrm>
            <a:off x="6312900" y="1518625"/>
            <a:ext cx="2489100" cy="533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1800"/>
              <a:t>Rules</a:t>
            </a:r>
            <a:endParaRPr sz="1800"/>
          </a:p>
        </p:txBody>
      </p:sp>
      <p:sp>
        <p:nvSpPr>
          <p:cNvPr id="144" name="Google Shape;144;p25"/>
          <p:cNvSpPr txBox="1"/>
          <p:nvPr>
            <p:ph idx="4294967295" type="body"/>
          </p:nvPr>
        </p:nvSpPr>
        <p:spPr>
          <a:xfrm>
            <a:off x="6299200" y="2520975"/>
            <a:ext cx="2609100" cy="1650900"/>
          </a:xfrm>
          <a:prstGeom prst="rect">
            <a:avLst/>
          </a:prstGeom>
        </p:spPr>
        <p:txBody>
          <a:bodyPr anchorCtr="0" anchor="t" bIns="91425" lIns="91425" spcFirstLastPara="1" rIns="91425" wrap="square" tIns="91425">
            <a:noAutofit/>
          </a:bodyPr>
          <a:lstStyle/>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Contracts and governance</a:t>
            </a:r>
            <a:endParaRPr sz="1800">
              <a:solidFill>
                <a:srgbClr val="212121"/>
              </a:solidFill>
            </a:endParaRPr>
          </a:p>
          <a:p>
            <a:pPr indent="-342900" lvl="0" marL="457200" marR="0" rtl="0" algn="l">
              <a:lnSpc>
                <a:spcPct val="110000"/>
              </a:lnSpc>
              <a:spcBef>
                <a:spcPts val="0"/>
              </a:spcBef>
              <a:spcAft>
                <a:spcPts val="0"/>
              </a:spcAft>
              <a:buClr>
                <a:srgbClr val="212121"/>
              </a:buClr>
              <a:buSzPts val="1800"/>
              <a:buChar char="●"/>
            </a:pPr>
            <a:r>
              <a:rPr lang="en" sz="1800">
                <a:solidFill>
                  <a:srgbClr val="212121"/>
                </a:solidFill>
              </a:rPr>
              <a:t>Network and settlement</a:t>
            </a:r>
            <a:endParaRPr sz="1800">
              <a:solidFill>
                <a:srgbClr val="212121"/>
              </a:solidFill>
            </a:endParaRPr>
          </a:p>
        </p:txBody>
      </p:sp>
      <p:sp>
        <p:nvSpPr>
          <p:cNvPr id="145" name="Google Shape;145;p25"/>
          <p:cNvSpPr/>
          <p:nvPr/>
        </p:nvSpPr>
        <p:spPr>
          <a:xfrm>
            <a:off x="7474950" y="2147125"/>
            <a:ext cx="165000" cy="165000"/>
          </a:xfrm>
          <a:prstGeom prst="ellipse">
            <a:avLst/>
          </a:prstGeom>
          <a:solidFill>
            <a:srgbClr val="FD4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5"/>
          <p:cNvSpPr/>
          <p:nvPr/>
        </p:nvSpPr>
        <p:spPr>
          <a:xfrm>
            <a:off x="1644650" y="2151550"/>
            <a:ext cx="165000" cy="165000"/>
          </a:xfrm>
          <a:prstGeom prst="ellipse">
            <a:avLst/>
          </a:prstGeom>
          <a:solidFill>
            <a:srgbClr val="FF66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5"/>
          <p:cNvSpPr/>
          <p:nvPr/>
        </p:nvSpPr>
        <p:spPr>
          <a:xfrm>
            <a:off x="4489500" y="2151538"/>
            <a:ext cx="165000" cy="165000"/>
          </a:xfrm>
          <a:prstGeom prst="ellipse">
            <a:avLst/>
          </a:prstGeom>
          <a:solidFill>
            <a:srgbClr val="06038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5"/>
          <p:cNvSpPr txBox="1"/>
          <p:nvPr>
            <p:ph type="title"/>
          </p:nvPr>
        </p:nvSpPr>
        <p:spPr>
          <a:xfrm>
            <a:off x="874950" y="604825"/>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application stack</a:t>
            </a:r>
            <a:endParaRPr b="1" sz="3200">
              <a:solidFill>
                <a:srgbClr val="06038D"/>
              </a:solidFill>
              <a:latin typeface="Poppins"/>
              <a:ea typeface="Poppins"/>
              <a:cs typeface="Poppins"/>
              <a:sym typeface="Poppins"/>
            </a:endParaRPr>
          </a:p>
          <a:p>
            <a:pPr indent="0" lvl="0" marL="0" rtl="0" algn="ctr">
              <a:spcBef>
                <a:spcPts val="0"/>
              </a:spcBef>
              <a:spcAft>
                <a:spcPts val="0"/>
              </a:spcAft>
              <a:buNone/>
            </a:pPr>
            <a:r>
              <a:t/>
            </a:r>
            <a:endParaRPr b="1" sz="3200">
              <a:solidFill>
                <a:srgbClr val="06038D"/>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Finding and using the app</a:t>
            </a:r>
            <a:endParaRPr/>
          </a:p>
        </p:txBody>
      </p:sp>
      <p:sp>
        <p:nvSpPr>
          <p:cNvPr id="154" name="Google Shape;154;p26"/>
          <p:cNvSpPr txBox="1"/>
          <p:nvPr/>
        </p:nvSpPr>
        <p:spPr>
          <a:xfrm>
            <a:off x="3252600" y="1801550"/>
            <a:ext cx="26388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Interface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Can people find and use your app?</a:t>
            </a:r>
            <a:endParaRPr/>
          </a:p>
        </p:txBody>
      </p:sp>
      <p:sp>
        <p:nvSpPr>
          <p:cNvPr id="160" name="Google Shape;160;p27"/>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Find a saved release</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Run it without your servers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Recover access without your help</a:t>
            </a:r>
            <a:endParaRPr sz="2400">
              <a:solidFill>
                <a:schemeClr val="accen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More than one way into the app</a:t>
            </a:r>
            <a:endParaRPr b="1" sz="3000">
              <a:solidFill>
                <a:srgbClr val="06038D"/>
              </a:solidFill>
              <a:latin typeface="Poppins"/>
              <a:ea typeface="Poppins"/>
              <a:cs typeface="Poppins"/>
              <a:sym typeface="Poppins"/>
            </a:endParaRPr>
          </a:p>
        </p:txBody>
      </p:sp>
      <p:sp>
        <p:nvSpPr>
          <p:cNvPr id="166" name="Google Shape;166;p28"/>
          <p:cNvSpPr txBox="1"/>
          <p:nvPr/>
        </p:nvSpPr>
        <p:spPr>
          <a:xfrm>
            <a:off x="444500" y="11176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DNS + HTTP</a:t>
            </a:r>
            <a:endParaRPr b="1" sz="1700">
              <a:solidFill>
                <a:srgbClr val="06038D"/>
              </a:solidFill>
              <a:latin typeface="Poppins"/>
              <a:ea typeface="Poppins"/>
              <a:cs typeface="Poppins"/>
              <a:sym typeface="Poppins"/>
            </a:endParaRPr>
          </a:p>
        </p:txBody>
      </p:sp>
      <p:sp>
        <p:nvSpPr>
          <p:cNvPr id="167" name="Google Shape;167;p28"/>
          <p:cNvSpPr/>
          <p:nvPr/>
        </p:nvSpPr>
        <p:spPr>
          <a:xfrm>
            <a:off x="444500" y="1511300"/>
            <a:ext cx="21591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ethereum.org</a:t>
            </a:r>
            <a:endParaRPr sz="2000">
              <a:solidFill>
                <a:srgbClr val="212121"/>
              </a:solidFill>
              <a:latin typeface="Poppins"/>
              <a:ea typeface="Poppins"/>
              <a:cs typeface="Poppins"/>
              <a:sym typeface="Poppins"/>
            </a:endParaRPr>
          </a:p>
        </p:txBody>
      </p:sp>
      <p:cxnSp>
        <p:nvCxnSpPr>
          <p:cNvPr id="168" name="Google Shape;168;p28"/>
          <p:cNvCxnSpPr/>
          <p:nvPr/>
        </p:nvCxnSpPr>
        <p:spPr>
          <a:xfrm>
            <a:off x="2628900" y="1905000"/>
            <a:ext cx="482700" cy="0"/>
          </a:xfrm>
          <a:prstGeom prst="straightConnector1">
            <a:avLst/>
          </a:prstGeom>
          <a:noFill/>
          <a:ln cap="flat" cmpd="sng" w="17775">
            <a:solidFill>
              <a:srgbClr val="06038D"/>
            </a:solidFill>
            <a:prstDash val="solid"/>
            <a:round/>
            <a:headEnd len="med" w="med" type="none"/>
            <a:tailEnd len="med" w="med" type="triangle"/>
          </a:ln>
        </p:spPr>
      </p:cxnSp>
      <p:sp>
        <p:nvSpPr>
          <p:cNvPr id="169" name="Google Shape;169;p28"/>
          <p:cNvSpPr/>
          <p:nvPr/>
        </p:nvSpPr>
        <p:spPr>
          <a:xfrm>
            <a:off x="3136900" y="1511300"/>
            <a:ext cx="31116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Hosted website endpoint</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104.18.176.152</a:t>
            </a:r>
            <a:endParaRPr sz="1800">
              <a:solidFill>
                <a:srgbClr val="212121"/>
              </a:solidFill>
              <a:latin typeface="Poppins"/>
              <a:ea typeface="Poppins"/>
              <a:cs typeface="Poppins"/>
              <a:sym typeface="Poppins"/>
            </a:endParaRPr>
          </a:p>
        </p:txBody>
      </p:sp>
      <p:cxnSp>
        <p:nvCxnSpPr>
          <p:cNvPr id="170" name="Google Shape;170;p28"/>
          <p:cNvCxnSpPr/>
          <p:nvPr/>
        </p:nvCxnSpPr>
        <p:spPr>
          <a:xfrm>
            <a:off x="6273800" y="1905000"/>
            <a:ext cx="457200" cy="0"/>
          </a:xfrm>
          <a:prstGeom prst="straightConnector1">
            <a:avLst/>
          </a:prstGeom>
          <a:noFill/>
          <a:ln cap="flat" cmpd="sng" w="17775">
            <a:solidFill>
              <a:srgbClr val="06038D"/>
            </a:solidFill>
            <a:prstDash val="solid"/>
            <a:round/>
            <a:headEnd len="med" w="med" type="none"/>
            <a:tailEnd len="med" w="med" type="triangle"/>
          </a:ln>
        </p:spPr>
      </p:cxnSp>
      <p:sp>
        <p:nvSpPr>
          <p:cNvPr id="171" name="Google Shape;171;p28"/>
          <p:cNvSpPr/>
          <p:nvPr/>
        </p:nvSpPr>
        <p:spPr>
          <a:xfrm>
            <a:off x="6756400" y="1511300"/>
            <a:ext cx="1917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Page in</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your browser</a:t>
            </a:r>
            <a:endParaRPr sz="1800">
              <a:solidFill>
                <a:srgbClr val="FFFFFF"/>
              </a:solidFill>
              <a:latin typeface="Poppins"/>
              <a:ea typeface="Poppins"/>
              <a:cs typeface="Poppins"/>
              <a:sym typeface="Poppins"/>
            </a:endParaRPr>
          </a:p>
        </p:txBody>
      </p:sp>
      <p:sp>
        <p:nvSpPr>
          <p:cNvPr id="172" name="Google Shape;172;p28"/>
          <p:cNvSpPr txBox="1"/>
          <p:nvPr/>
        </p:nvSpPr>
        <p:spPr>
          <a:xfrm>
            <a:off x="444500" y="2451100"/>
            <a:ext cx="2159100" cy="317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700">
                <a:solidFill>
                  <a:srgbClr val="06038D"/>
                </a:solidFill>
                <a:latin typeface="Poppins"/>
                <a:ea typeface="Poppins"/>
                <a:cs typeface="Poppins"/>
                <a:sym typeface="Poppins"/>
              </a:rPr>
              <a:t>ENS + IPFS</a:t>
            </a:r>
            <a:endParaRPr b="1" sz="1700">
              <a:solidFill>
                <a:srgbClr val="06038D"/>
              </a:solidFill>
              <a:latin typeface="Poppins"/>
              <a:ea typeface="Poppins"/>
              <a:cs typeface="Poppins"/>
              <a:sym typeface="Poppins"/>
            </a:endParaRPr>
          </a:p>
        </p:txBody>
      </p:sp>
      <p:sp>
        <p:nvSpPr>
          <p:cNvPr id="173" name="Google Shape;173;p28"/>
          <p:cNvSpPr/>
          <p:nvPr/>
        </p:nvSpPr>
        <p:spPr>
          <a:xfrm>
            <a:off x="444500" y="2870200"/>
            <a:ext cx="18162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ENS name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efs.eth</a:t>
            </a:r>
            <a:endParaRPr sz="2000">
              <a:solidFill>
                <a:srgbClr val="212121"/>
              </a:solidFill>
              <a:latin typeface="Poppins"/>
              <a:ea typeface="Poppins"/>
              <a:cs typeface="Poppins"/>
              <a:sym typeface="Poppins"/>
            </a:endParaRPr>
          </a:p>
        </p:txBody>
      </p:sp>
      <p:cxnSp>
        <p:nvCxnSpPr>
          <p:cNvPr id="174" name="Google Shape;174;p28"/>
          <p:cNvCxnSpPr/>
          <p:nvPr/>
        </p:nvCxnSpPr>
        <p:spPr>
          <a:xfrm>
            <a:off x="2273300" y="3251200"/>
            <a:ext cx="304800" cy="0"/>
          </a:xfrm>
          <a:prstGeom prst="straightConnector1">
            <a:avLst/>
          </a:prstGeom>
          <a:noFill/>
          <a:ln cap="flat" cmpd="sng" w="17775">
            <a:solidFill>
              <a:srgbClr val="06038D"/>
            </a:solidFill>
            <a:prstDash val="solid"/>
            <a:round/>
            <a:headEnd len="med" w="med" type="none"/>
            <a:tailEnd len="med" w="med" type="triangle"/>
          </a:ln>
        </p:spPr>
      </p:cxnSp>
      <p:sp>
        <p:nvSpPr>
          <p:cNvPr id="175" name="Google Shape;175;p28"/>
          <p:cNvSpPr/>
          <p:nvPr/>
        </p:nvSpPr>
        <p:spPr>
          <a:xfrm>
            <a:off x="2603500" y="2870200"/>
            <a:ext cx="2603400" cy="77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IPFS release</a:t>
            </a:r>
            <a:endParaRPr sz="17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bafybeicrisk…p5ku</a:t>
            </a:r>
            <a:endParaRPr sz="1700">
              <a:solidFill>
                <a:srgbClr val="212121"/>
              </a:solidFill>
              <a:latin typeface="Poppins"/>
              <a:ea typeface="Poppins"/>
              <a:cs typeface="Poppins"/>
              <a:sym typeface="Poppins"/>
            </a:endParaRPr>
          </a:p>
        </p:txBody>
      </p:sp>
      <p:cxnSp>
        <p:nvCxnSpPr>
          <p:cNvPr id="176" name="Google Shape;176;p28"/>
          <p:cNvCxnSpPr/>
          <p:nvPr/>
        </p:nvCxnSpPr>
        <p:spPr>
          <a:xfrm>
            <a:off x="5232400" y="3251200"/>
            <a:ext cx="266700" cy="0"/>
          </a:xfrm>
          <a:prstGeom prst="straightConnector1">
            <a:avLst/>
          </a:prstGeom>
          <a:noFill/>
          <a:ln cap="flat" cmpd="sng" w="17775">
            <a:solidFill>
              <a:srgbClr val="06038D"/>
            </a:solidFill>
            <a:prstDash val="solid"/>
            <a:round/>
            <a:headEnd len="med" w="med" type="none"/>
            <a:tailEnd len="med" w="med" type="none"/>
          </a:ln>
        </p:spPr>
      </p:cxnSp>
      <p:cxnSp>
        <p:nvCxnSpPr>
          <p:cNvPr id="177" name="Google Shape;177;p28"/>
          <p:cNvCxnSpPr/>
          <p:nvPr/>
        </p:nvCxnSpPr>
        <p:spPr>
          <a:xfrm>
            <a:off x="5499100" y="2755900"/>
            <a:ext cx="0" cy="1066800"/>
          </a:xfrm>
          <a:prstGeom prst="straightConnector1">
            <a:avLst/>
          </a:prstGeom>
          <a:noFill/>
          <a:ln cap="flat" cmpd="sng" w="17775">
            <a:solidFill>
              <a:srgbClr val="06038D"/>
            </a:solidFill>
            <a:prstDash val="solid"/>
            <a:round/>
            <a:headEnd len="med" w="med" type="none"/>
            <a:tailEnd len="med" w="med" type="none"/>
          </a:ln>
        </p:spPr>
      </p:cxnSp>
      <p:cxnSp>
        <p:nvCxnSpPr>
          <p:cNvPr id="178" name="Google Shape;178;p28"/>
          <p:cNvCxnSpPr/>
          <p:nvPr/>
        </p:nvCxnSpPr>
        <p:spPr>
          <a:xfrm>
            <a:off x="5499100" y="27559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79" name="Google Shape;179;p28"/>
          <p:cNvSpPr/>
          <p:nvPr/>
        </p:nvSpPr>
        <p:spPr>
          <a:xfrm>
            <a:off x="5803900" y="2540000"/>
            <a:ext cx="2844900" cy="431700"/>
          </a:xfrm>
          <a:prstGeom prst="rect">
            <a:avLst/>
          </a:prstGeom>
          <a:solidFill>
            <a:srgbClr val="06038D"/>
          </a:solid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chemeClr val="lt1"/>
                </a:solidFill>
                <a:latin typeface="Poppins"/>
                <a:ea typeface="Poppins"/>
                <a:cs typeface="Poppins"/>
                <a:sym typeface="Poppins"/>
              </a:rPr>
              <a:t>Operator A copy</a:t>
            </a:r>
            <a:endParaRPr sz="1800">
              <a:solidFill>
                <a:schemeClr val="lt1"/>
              </a:solidFill>
              <a:latin typeface="Poppins"/>
              <a:ea typeface="Poppins"/>
              <a:cs typeface="Poppins"/>
              <a:sym typeface="Poppins"/>
            </a:endParaRPr>
          </a:p>
        </p:txBody>
      </p:sp>
      <p:cxnSp>
        <p:nvCxnSpPr>
          <p:cNvPr id="180" name="Google Shape;180;p28"/>
          <p:cNvCxnSpPr/>
          <p:nvPr/>
        </p:nvCxnSpPr>
        <p:spPr>
          <a:xfrm>
            <a:off x="5499100" y="32893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1" name="Google Shape;181;p28"/>
          <p:cNvSpPr/>
          <p:nvPr/>
        </p:nvSpPr>
        <p:spPr>
          <a:xfrm>
            <a:off x="5803900" y="30734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B copy</a:t>
            </a:r>
            <a:endParaRPr sz="1800">
              <a:solidFill>
                <a:srgbClr val="212121"/>
              </a:solidFill>
              <a:latin typeface="Poppins"/>
              <a:ea typeface="Poppins"/>
              <a:cs typeface="Poppins"/>
              <a:sym typeface="Poppins"/>
            </a:endParaRPr>
          </a:p>
        </p:txBody>
      </p:sp>
      <p:cxnSp>
        <p:nvCxnSpPr>
          <p:cNvPr id="182" name="Google Shape;182;p28"/>
          <p:cNvCxnSpPr/>
          <p:nvPr/>
        </p:nvCxnSpPr>
        <p:spPr>
          <a:xfrm>
            <a:off x="5499100" y="3822700"/>
            <a:ext cx="279300" cy="0"/>
          </a:xfrm>
          <a:prstGeom prst="straightConnector1">
            <a:avLst/>
          </a:prstGeom>
          <a:noFill/>
          <a:ln cap="flat" cmpd="sng" w="17775">
            <a:solidFill>
              <a:srgbClr val="06038D"/>
            </a:solidFill>
            <a:prstDash val="solid"/>
            <a:round/>
            <a:headEnd len="med" w="med" type="none"/>
            <a:tailEnd len="med" w="med" type="triangle"/>
          </a:ln>
        </p:spPr>
      </p:cxnSp>
      <p:sp>
        <p:nvSpPr>
          <p:cNvPr id="183" name="Google Shape;183;p28"/>
          <p:cNvSpPr/>
          <p:nvPr/>
        </p:nvSpPr>
        <p:spPr>
          <a:xfrm>
            <a:off x="5803900" y="3606800"/>
            <a:ext cx="2844900" cy="4317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Operator C copy</a:t>
            </a:r>
            <a:endParaRPr sz="1800">
              <a:solidFill>
                <a:srgbClr val="212121"/>
              </a:solidFill>
              <a:latin typeface="Poppins"/>
              <a:ea typeface="Poppins"/>
              <a:cs typeface="Poppins"/>
              <a:sym typeface="Poppins"/>
            </a:endParaRPr>
          </a:p>
        </p:txBody>
      </p:sp>
      <p:sp>
        <p:nvSpPr>
          <p:cNvPr id="184" name="Google Shape;184;p28"/>
          <p:cNvSpPr txBox="1"/>
          <p:nvPr/>
        </p:nvSpPr>
        <p:spPr>
          <a:xfrm>
            <a:off x="444400" y="4114800"/>
            <a:ext cx="8255100" cy="317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212121"/>
                </a:solidFill>
                <a:latin typeface="Poppins"/>
                <a:ea typeface="Poppins"/>
                <a:cs typeface="Poppins"/>
                <a:sym typeface="Poppins"/>
              </a:rPr>
              <a:t>IPFS gateways: efs.eth.limo (or .link) or your own IPFS node</a:t>
            </a:r>
            <a:endParaRPr sz="1600">
              <a:solidFill>
                <a:srgbClr val="212121"/>
              </a:solidFill>
              <a:latin typeface="Poppins"/>
              <a:ea typeface="Poppins"/>
              <a:cs typeface="Poppins"/>
              <a:sym typeface="Poppins"/>
            </a:endParaRPr>
          </a:p>
        </p:txBody>
      </p:sp>
      <p:sp>
        <p:nvSpPr>
          <p:cNvPr id="185" name="Google Shape;185;p28"/>
          <p:cNvSpPr txBox="1"/>
          <p:nvPr/>
        </p:nvSpPr>
        <p:spPr>
          <a:xfrm>
            <a:off x="444500" y="4368800"/>
            <a:ext cx="8255100" cy="3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Name redirected? Open a saved, trusted release.</a:t>
            </a:r>
            <a:endParaRPr sz="1600">
              <a:solidFill>
                <a:srgbClr val="06038D"/>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complete runnable release</a:t>
            </a:r>
            <a:endParaRPr b="1" sz="3000">
              <a:solidFill>
                <a:srgbClr val="06038D"/>
              </a:solidFill>
              <a:latin typeface="Poppins"/>
              <a:ea typeface="Poppins"/>
              <a:cs typeface="Poppins"/>
              <a:sym typeface="Poppins"/>
            </a:endParaRPr>
          </a:p>
        </p:txBody>
      </p:sp>
      <p:sp>
        <p:nvSpPr>
          <p:cNvPr id="191" name="Google Shape;191;p29"/>
          <p:cNvSpPr txBox="1"/>
          <p:nvPr/>
        </p:nvSpPr>
        <p:spPr>
          <a:xfrm>
            <a:off x="508000" y="1130300"/>
            <a:ext cx="8127900" cy="4191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Keep every file the client needs to start</a:t>
            </a:r>
            <a:endParaRPr sz="2000">
              <a:solidFill>
                <a:srgbClr val="212121"/>
              </a:solidFill>
              <a:latin typeface="Poppins"/>
              <a:ea typeface="Poppins"/>
              <a:cs typeface="Poppins"/>
              <a:sym typeface="Poppins"/>
            </a:endParaRPr>
          </a:p>
        </p:txBody>
      </p:sp>
      <p:sp>
        <p:nvSpPr>
          <p:cNvPr id="192" name="Google Shape;192;p29"/>
          <p:cNvSpPr/>
          <p:nvPr/>
        </p:nvSpPr>
        <p:spPr>
          <a:xfrm>
            <a:off x="571500" y="1905000"/>
            <a:ext cx="3683100" cy="6351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index.html on IPFS</a:t>
            </a:r>
            <a:endParaRPr sz="2100">
              <a:solidFill>
                <a:srgbClr val="212121"/>
              </a:solidFill>
              <a:latin typeface="Poppins"/>
              <a:ea typeface="Poppins"/>
              <a:cs typeface="Poppins"/>
              <a:sym typeface="Poppins"/>
            </a:endParaRPr>
          </a:p>
        </p:txBody>
      </p:sp>
      <p:sp>
        <p:nvSpPr>
          <p:cNvPr id="193" name="Google Shape;193;p29"/>
          <p:cNvSpPr/>
          <p:nvPr/>
        </p:nvSpPr>
        <p:spPr>
          <a:xfrm>
            <a:off x="4889500" y="1905000"/>
            <a:ext cx="3683100" cy="15876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IPFS release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index.html</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app.js + styles + assets</a:t>
            </a:r>
            <a:endParaRPr sz="2000">
              <a:solidFill>
                <a:srgbClr val="212121"/>
              </a:solidFill>
              <a:latin typeface="Poppins"/>
              <a:ea typeface="Poppins"/>
              <a:cs typeface="Poppins"/>
              <a:sym typeface="Poppins"/>
            </a:endParaRPr>
          </a:p>
        </p:txBody>
      </p:sp>
      <p:cxnSp>
        <p:nvCxnSpPr>
          <p:cNvPr id="194" name="Google Shape;194;p29"/>
          <p:cNvCxnSpPr/>
          <p:nvPr/>
        </p:nvCxnSpPr>
        <p:spPr>
          <a:xfrm>
            <a:off x="2413000" y="25654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195" name="Google Shape;195;p29"/>
          <p:cNvCxnSpPr/>
          <p:nvPr/>
        </p:nvCxnSpPr>
        <p:spPr>
          <a:xfrm>
            <a:off x="6731000" y="3530600"/>
            <a:ext cx="0" cy="152400"/>
          </a:xfrm>
          <a:prstGeom prst="straightConnector1">
            <a:avLst/>
          </a:prstGeom>
          <a:noFill/>
          <a:ln cap="flat" cmpd="sng" w="16500">
            <a:solidFill>
              <a:srgbClr val="06038D"/>
            </a:solidFill>
            <a:prstDash val="solid"/>
            <a:round/>
            <a:headEnd len="med" w="med" type="none"/>
            <a:tailEnd len="med" w="med" type="triangle"/>
          </a:ln>
        </p:spPr>
      </p:cxnSp>
      <p:sp>
        <p:nvSpPr>
          <p:cNvPr id="196" name="Google Shape;196;p29"/>
          <p:cNvSpPr/>
          <p:nvPr/>
        </p:nvSpPr>
        <p:spPr>
          <a:xfrm>
            <a:off x="571500" y="2921000"/>
            <a:ext cx="3683100" cy="7239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Team server: app.js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197" name="Google Shape;197;p29"/>
          <p:cNvSpPr/>
          <p:nvPr/>
        </p:nvSpPr>
        <p:spPr>
          <a:xfrm>
            <a:off x="4889500" y="3746500"/>
            <a:ext cx="3683100" cy="406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starts</a:t>
            </a:r>
            <a:endParaRPr sz="2000">
              <a:solidFill>
                <a:srgbClr val="FFFFFF"/>
              </a:solidFill>
              <a:latin typeface="Poppins"/>
              <a:ea typeface="Poppins"/>
              <a:cs typeface="Poppins"/>
              <a:sym typeface="Poppins"/>
            </a:endParaRPr>
          </a:p>
        </p:txBody>
      </p:sp>
      <p:sp>
        <p:nvSpPr>
          <p:cNvPr id="198" name="Google Shape;198;p29"/>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block the team's host, then reload the client</a:t>
            </a:r>
            <a:endParaRPr sz="1700">
              <a:solidFill>
                <a:srgbClr val="06038D"/>
              </a:solidFill>
              <a:latin typeface="Poppins"/>
              <a:ea typeface="Poppins"/>
              <a:cs typeface="Poppins"/>
              <a:sym typeface="Poppins"/>
            </a:endParaRPr>
          </a:p>
        </p:txBody>
      </p:sp>
      <p:sp>
        <p:nvSpPr>
          <p:cNvPr id="199" name="Google Shape;199;p29"/>
          <p:cNvSpPr txBox="1"/>
          <p:nvPr/>
        </p:nvSpPr>
        <p:spPr>
          <a:xfrm>
            <a:off x="571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Incomplete release</a:t>
            </a:r>
            <a:endParaRPr b="1" sz="1800">
              <a:solidFill>
                <a:srgbClr val="06038D"/>
              </a:solidFill>
              <a:latin typeface="Poppins"/>
              <a:ea typeface="Poppins"/>
              <a:cs typeface="Poppins"/>
              <a:sym typeface="Poppins"/>
            </a:endParaRPr>
          </a:p>
        </p:txBody>
      </p:sp>
      <p:sp>
        <p:nvSpPr>
          <p:cNvPr id="200" name="Google Shape;200;p29"/>
          <p:cNvSpPr txBox="1"/>
          <p:nvPr/>
        </p:nvSpPr>
        <p:spPr>
          <a:xfrm>
            <a:off x="4889500" y="1485900"/>
            <a:ext cx="36831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Complete release</a:t>
            </a:r>
            <a:endParaRPr b="1" sz="1800">
              <a:solidFill>
                <a:srgbClr val="06038D"/>
              </a:solidFill>
              <a:latin typeface="Poppins"/>
              <a:ea typeface="Poppins"/>
              <a:cs typeface="Poppins"/>
              <a:sym typeface="Poppins"/>
            </a:endParaRPr>
          </a:p>
        </p:txBody>
      </p:sp>
      <p:sp>
        <p:nvSpPr>
          <p:cNvPr id="201" name="Google Shape;201;p29"/>
          <p:cNvSpPr txBox="1"/>
          <p:nvPr/>
        </p:nvSpPr>
        <p:spPr>
          <a:xfrm>
            <a:off x="571500" y="3721100"/>
            <a:ext cx="3683100" cy="406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06038D"/>
                </a:solidFill>
                <a:latin typeface="Poppins"/>
                <a:ea typeface="Poppins"/>
                <a:cs typeface="Poppins"/>
                <a:sym typeface="Poppins"/>
              </a:rPr>
              <a:t>Client cannot start</a:t>
            </a:r>
            <a:endParaRPr sz="1800">
              <a:solidFill>
                <a:srgbClr val="06038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0"/>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Access without the company</a:t>
            </a:r>
            <a:endParaRPr b="1" sz="3000">
              <a:solidFill>
                <a:srgbClr val="06038D"/>
              </a:solidFill>
              <a:latin typeface="Poppins"/>
              <a:ea typeface="Poppins"/>
              <a:cs typeface="Poppins"/>
              <a:sym typeface="Poppins"/>
            </a:endParaRPr>
          </a:p>
        </p:txBody>
      </p:sp>
      <p:sp>
        <p:nvSpPr>
          <p:cNvPr id="207" name="Google Shape;207;p30"/>
          <p:cNvSpPr txBox="1"/>
          <p:nvPr/>
        </p:nvSpPr>
        <p:spPr>
          <a:xfrm>
            <a:off x="571500" y="1117600"/>
            <a:ext cx="8001000" cy="406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The login service closes. Can users still get in?</a:t>
            </a:r>
            <a:endParaRPr sz="2000">
              <a:solidFill>
                <a:srgbClr val="212121"/>
              </a:solidFill>
              <a:latin typeface="Poppins"/>
              <a:ea typeface="Poppins"/>
              <a:cs typeface="Poppins"/>
              <a:sym typeface="Poppins"/>
            </a:endParaRPr>
          </a:p>
        </p:txBody>
      </p:sp>
      <p:sp>
        <p:nvSpPr>
          <p:cNvPr id="208" name="Google Shape;208;p30"/>
          <p:cNvSpPr/>
          <p:nvPr/>
        </p:nvSpPr>
        <p:spPr>
          <a:xfrm>
            <a:off x="508000" y="1905000"/>
            <a:ext cx="19686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App</a:t>
            </a:r>
            <a:endParaRPr sz="2100">
              <a:solidFill>
                <a:srgbClr val="212121"/>
              </a:solidFill>
              <a:latin typeface="Poppins"/>
              <a:ea typeface="Poppins"/>
              <a:cs typeface="Poppins"/>
              <a:sym typeface="Poppins"/>
            </a:endParaRPr>
          </a:p>
        </p:txBody>
      </p:sp>
      <p:sp>
        <p:nvSpPr>
          <p:cNvPr id="209" name="Google Shape;209;p30"/>
          <p:cNvSpPr/>
          <p:nvPr/>
        </p:nvSpPr>
        <p:spPr>
          <a:xfrm>
            <a:off x="3429000" y="1905000"/>
            <a:ext cx="2540100" cy="787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Company login</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Offline</a:t>
            </a:r>
            <a:endParaRPr sz="2000">
              <a:solidFill>
                <a:srgbClr val="FFFFFF"/>
              </a:solidFill>
              <a:latin typeface="Poppins"/>
              <a:ea typeface="Poppins"/>
              <a:cs typeface="Poppins"/>
              <a:sym typeface="Poppins"/>
            </a:endParaRPr>
          </a:p>
        </p:txBody>
      </p:sp>
      <p:sp>
        <p:nvSpPr>
          <p:cNvPr id="210" name="Google Shape;210;p30"/>
          <p:cNvSpPr/>
          <p:nvPr/>
        </p:nvSpPr>
        <p:spPr>
          <a:xfrm>
            <a:off x="6858000" y="1905000"/>
            <a:ext cx="1778100" cy="787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Locked out</a:t>
            </a:r>
            <a:endParaRPr sz="2000">
              <a:solidFill>
                <a:srgbClr val="212121"/>
              </a:solidFill>
              <a:latin typeface="Poppins"/>
              <a:ea typeface="Poppins"/>
              <a:cs typeface="Poppins"/>
              <a:sym typeface="Poppins"/>
            </a:endParaRPr>
          </a:p>
        </p:txBody>
      </p:sp>
      <p:cxnSp>
        <p:nvCxnSpPr>
          <p:cNvPr id="211" name="Google Shape;211;p30"/>
          <p:cNvCxnSpPr/>
          <p:nvPr/>
        </p:nvCxnSpPr>
        <p:spPr>
          <a:xfrm>
            <a:off x="2540000" y="2298700"/>
            <a:ext cx="787500" cy="0"/>
          </a:xfrm>
          <a:prstGeom prst="straightConnector1">
            <a:avLst/>
          </a:prstGeom>
          <a:noFill/>
          <a:ln cap="flat" cmpd="sng" w="16500">
            <a:solidFill>
              <a:srgbClr val="FF3D94"/>
            </a:solidFill>
            <a:prstDash val="solid"/>
            <a:round/>
            <a:headEnd len="med" w="med" type="none"/>
            <a:tailEnd len="med" w="med" type="triangle"/>
          </a:ln>
        </p:spPr>
      </p:cxnSp>
      <p:cxnSp>
        <p:nvCxnSpPr>
          <p:cNvPr id="212" name="Google Shape;212;p30"/>
          <p:cNvCxnSpPr/>
          <p:nvPr/>
        </p:nvCxnSpPr>
        <p:spPr>
          <a:xfrm>
            <a:off x="6057900" y="2298700"/>
            <a:ext cx="711300" cy="0"/>
          </a:xfrm>
          <a:prstGeom prst="straightConnector1">
            <a:avLst/>
          </a:prstGeom>
          <a:noFill/>
          <a:ln cap="flat" cmpd="sng" w="16500">
            <a:solidFill>
              <a:srgbClr val="FF3D94"/>
            </a:solidFill>
            <a:prstDash val="dash"/>
            <a:round/>
            <a:headEnd len="med" w="med" type="none"/>
            <a:tailEnd len="med" w="med" type="triangle"/>
          </a:ln>
        </p:spPr>
      </p:cxnSp>
      <p:cxnSp>
        <p:nvCxnSpPr>
          <p:cNvPr id="213" name="Google Shape;213;p30"/>
          <p:cNvCxnSpPr/>
          <p:nvPr/>
        </p:nvCxnSpPr>
        <p:spPr>
          <a:xfrm>
            <a:off x="2540000" y="3759200"/>
            <a:ext cx="787500" cy="0"/>
          </a:xfrm>
          <a:prstGeom prst="straightConnector1">
            <a:avLst/>
          </a:prstGeom>
          <a:noFill/>
          <a:ln cap="flat" cmpd="sng" w="16500">
            <a:solidFill>
              <a:srgbClr val="06038D"/>
            </a:solidFill>
            <a:prstDash val="solid"/>
            <a:round/>
            <a:headEnd len="med" w="med" type="none"/>
            <a:tailEnd len="med" w="med" type="triangle"/>
          </a:ln>
        </p:spPr>
      </p:cxnSp>
      <p:cxnSp>
        <p:nvCxnSpPr>
          <p:cNvPr id="214" name="Google Shape;214;p30"/>
          <p:cNvCxnSpPr/>
          <p:nvPr/>
        </p:nvCxnSpPr>
        <p:spPr>
          <a:xfrm>
            <a:off x="6057900" y="3759200"/>
            <a:ext cx="457200" cy="0"/>
          </a:xfrm>
          <a:prstGeom prst="straightConnector1">
            <a:avLst/>
          </a:prstGeom>
          <a:noFill/>
          <a:ln cap="flat" cmpd="sng" w="16500">
            <a:solidFill>
              <a:srgbClr val="06038D"/>
            </a:solidFill>
            <a:prstDash val="solid"/>
            <a:round/>
            <a:headEnd len="med" w="med" type="none"/>
            <a:tailEnd len="med" w="med" type="triangle"/>
          </a:ln>
        </p:spPr>
      </p:cxnSp>
      <p:sp>
        <p:nvSpPr>
          <p:cNvPr id="215" name="Google Shape;215;p30"/>
          <p:cNvSpPr/>
          <p:nvPr/>
        </p:nvSpPr>
        <p:spPr>
          <a:xfrm>
            <a:off x="3429000" y="3365500"/>
            <a:ext cx="25401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Independent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client</a:t>
            </a:r>
            <a:endParaRPr sz="2000">
              <a:solidFill>
                <a:srgbClr val="212121"/>
              </a:solidFill>
              <a:latin typeface="Poppins"/>
              <a:ea typeface="Poppins"/>
              <a:cs typeface="Poppins"/>
              <a:sym typeface="Poppins"/>
            </a:endParaRPr>
          </a:p>
        </p:txBody>
      </p:sp>
      <p:sp>
        <p:nvSpPr>
          <p:cNvPr id="216" name="Google Shape;216;p30"/>
          <p:cNvSpPr txBox="1"/>
          <p:nvPr/>
        </p:nvSpPr>
        <p:spPr>
          <a:xfrm>
            <a:off x="508000" y="3365500"/>
            <a:ext cx="1968600" cy="7875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User's keys</a:t>
            </a:r>
            <a:endParaRPr sz="2100">
              <a:solidFill>
                <a:srgbClr val="212121"/>
              </a:solidFill>
              <a:latin typeface="Poppins"/>
              <a:ea typeface="Poppins"/>
              <a:cs typeface="Poppins"/>
              <a:sym typeface="Poppins"/>
            </a:endParaRPr>
          </a:p>
        </p:txBody>
      </p:sp>
      <p:sp>
        <p:nvSpPr>
          <p:cNvPr id="217" name="Google Shape;217;p30"/>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access and recovery with the company offline</a:t>
            </a:r>
            <a:endParaRPr sz="1700">
              <a:solidFill>
                <a:srgbClr val="06038D"/>
              </a:solidFill>
              <a:latin typeface="Poppins"/>
              <a:ea typeface="Poppins"/>
              <a:cs typeface="Poppins"/>
              <a:sym typeface="Poppins"/>
            </a:endParaRPr>
          </a:p>
        </p:txBody>
      </p:sp>
      <p:sp>
        <p:nvSpPr>
          <p:cNvPr id="218" name="Google Shape;218;p30"/>
          <p:cNvSpPr/>
          <p:nvPr/>
        </p:nvSpPr>
        <p:spPr>
          <a:xfrm>
            <a:off x="6604000" y="3365500"/>
            <a:ext cx="2031900" cy="7875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Same account</a:t>
            </a:r>
            <a:endParaRPr sz="1800">
              <a:solidFill>
                <a:srgbClr val="FFFFFF"/>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on Ethereum</a:t>
            </a:r>
            <a:endParaRPr sz="1800">
              <a:solidFill>
                <a:srgbClr val="FFFFFF"/>
              </a:solidFill>
              <a:latin typeface="Poppins"/>
              <a:ea typeface="Poppins"/>
              <a:cs typeface="Poppins"/>
              <a:sym typeface="Poppins"/>
            </a:endParaRPr>
          </a:p>
        </p:txBody>
      </p:sp>
      <p:sp>
        <p:nvSpPr>
          <p:cNvPr id="219" name="Google Shape;219;p30"/>
          <p:cNvSpPr txBox="1"/>
          <p:nvPr/>
        </p:nvSpPr>
        <p:spPr>
          <a:xfrm>
            <a:off x="508000" y="2908300"/>
            <a:ext cx="8127900" cy="3429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06038D"/>
                </a:solidFill>
                <a:latin typeface="Poppins"/>
                <a:ea typeface="Poppins"/>
                <a:cs typeface="Poppins"/>
                <a:sym typeface="Poppins"/>
              </a:rPr>
              <a:t>A route the user can control</a:t>
            </a:r>
            <a:endParaRPr b="1" sz="1800">
              <a:solidFill>
                <a:srgbClr val="06038D"/>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Continuing the work</a:t>
            </a:r>
            <a:endParaRPr/>
          </a:p>
        </p:txBody>
      </p:sp>
      <p:sp>
        <p:nvSpPr>
          <p:cNvPr id="225" name="Google Shape;225;p31"/>
          <p:cNvSpPr txBox="1"/>
          <p:nvPr/>
        </p:nvSpPr>
        <p:spPr>
          <a:xfrm>
            <a:off x="3232500" y="1821650"/>
            <a:ext cx="26790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Data</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r>
              <a:rPr lang="en"/>
              <a:t>Is the data portable?</a:t>
            </a:r>
            <a:endParaRPr/>
          </a:p>
        </p:txBody>
      </p:sp>
      <p:sp>
        <p:nvSpPr>
          <p:cNvPr id="231" name="Google Shape;231;p32"/>
          <p:cNvSpPr txBox="1"/>
          <p:nvPr>
            <p:ph idx="1" type="body"/>
          </p:nvPr>
        </p:nvSpPr>
        <p:spPr>
          <a:xfrm>
            <a:off x="4859150" y="694800"/>
            <a:ext cx="3693000" cy="38343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Keep the files and their meaning</a:t>
            </a: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 them through another app</a:t>
            </a: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Let others run the supporting services</a:t>
            </a:r>
            <a:endParaRPr sz="2400">
              <a:solidFill>
                <a:schemeClr val="accent2"/>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Data another app can understand</a:t>
            </a:r>
            <a:endParaRPr b="1" sz="3000">
              <a:solidFill>
                <a:srgbClr val="06038D"/>
              </a:solidFill>
              <a:latin typeface="Poppins"/>
              <a:ea typeface="Poppins"/>
              <a:cs typeface="Poppins"/>
              <a:sym typeface="Poppins"/>
            </a:endParaRPr>
          </a:p>
        </p:txBody>
      </p:sp>
      <p:sp>
        <p:nvSpPr>
          <p:cNvPr id="237" name="Google Shape;237;p33"/>
          <p:cNvSpPr/>
          <p:nvPr/>
        </p:nvSpPr>
        <p:spPr>
          <a:xfrm>
            <a:off x="508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Example shared record</a:t>
            </a:r>
            <a:endParaRPr sz="2100">
              <a:solidFill>
                <a:srgbClr val="FFFFFF"/>
              </a:solidFill>
              <a:latin typeface="Poppins"/>
              <a:ea typeface="Poppins"/>
              <a:cs typeface="Poppins"/>
              <a:sym typeface="Poppins"/>
            </a:endParaRPr>
          </a:p>
        </p:txBody>
      </p:sp>
      <p:sp>
        <p:nvSpPr>
          <p:cNvPr id="238" name="Google Shape;238;p33"/>
          <p:cNvSpPr/>
          <p:nvPr/>
        </p:nvSpPr>
        <p:spPr>
          <a:xfrm>
            <a:off x="508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	id: note-17</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author: 0xDEADBEEF…</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text: Meeting at 10</a:t>
            </a:r>
            <a:endParaRPr sz="1900">
              <a:solidFill>
                <a:srgbClr val="212121"/>
              </a:solidFill>
              <a:latin typeface="Poppins"/>
              <a:ea typeface="Poppins"/>
              <a:cs typeface="Poppins"/>
              <a:sym typeface="Poppins"/>
            </a:endParaRPr>
          </a:p>
          <a:p>
            <a:pPr indent="45720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file: agenda.md (rev 2)</a:t>
            </a:r>
            <a:br>
              <a:rPr lang="en" sz="1900">
                <a:solidFill>
                  <a:srgbClr val="212121"/>
                </a:solidFill>
                <a:latin typeface="Poppins"/>
                <a:ea typeface="Poppins"/>
                <a:cs typeface="Poppins"/>
                <a:sym typeface="Poppins"/>
              </a:rPr>
            </a:br>
            <a:r>
              <a:rPr lang="en" sz="1900">
                <a:solidFill>
                  <a:srgbClr val="212121"/>
                </a:solidFill>
                <a:latin typeface="Poppins"/>
                <a:ea typeface="Poppins"/>
                <a:cs typeface="Poppins"/>
                <a:sym typeface="Poppins"/>
              </a:rPr>
              <a:t>}</a:t>
            </a:r>
            <a:endParaRPr sz="1900">
              <a:solidFill>
                <a:srgbClr val="212121"/>
              </a:solidFill>
              <a:latin typeface="Poppins"/>
              <a:ea typeface="Poppins"/>
              <a:cs typeface="Poppins"/>
              <a:sym typeface="Poppins"/>
            </a:endParaRPr>
          </a:p>
        </p:txBody>
      </p:sp>
      <p:sp>
        <p:nvSpPr>
          <p:cNvPr id="239" name="Google Shape;239;p33"/>
          <p:cNvSpPr/>
          <p:nvPr/>
        </p:nvSpPr>
        <p:spPr>
          <a:xfrm>
            <a:off x="4826000" y="1524000"/>
            <a:ext cx="3810000" cy="5079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Shared meaning</a:t>
            </a:r>
            <a:endParaRPr sz="2100">
              <a:solidFill>
                <a:srgbClr val="FFFFFF"/>
              </a:solidFill>
              <a:latin typeface="Poppins"/>
              <a:ea typeface="Poppins"/>
              <a:cs typeface="Poppins"/>
              <a:sym typeface="Poppins"/>
            </a:endParaRPr>
          </a:p>
        </p:txBody>
      </p:sp>
      <p:sp>
        <p:nvSpPr>
          <p:cNvPr id="240" name="Google Shape;240;p33"/>
          <p:cNvSpPr/>
          <p:nvPr/>
        </p:nvSpPr>
        <p:spPr>
          <a:xfrm>
            <a:off x="4826000" y="2032000"/>
            <a:ext cx="3810000" cy="1879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What each field means</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change it</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How versions fit together</a:t>
            </a:r>
            <a:endParaRPr sz="1900">
              <a:solidFill>
                <a:srgbClr val="212121"/>
              </a:solidFill>
              <a:latin typeface="Poppins"/>
              <a:ea typeface="Poppins"/>
              <a:cs typeface="Poppins"/>
              <a:sym typeface="Poppins"/>
            </a:endParaRPr>
          </a:p>
          <a:p>
            <a:pPr indent="0" lvl="0" marL="0" marR="0" rtl="0" algn="l">
              <a:lnSpc>
                <a:spcPct val="105000"/>
              </a:lnSpc>
              <a:spcBef>
                <a:spcPts val="0"/>
              </a:spcBef>
              <a:spcAft>
                <a:spcPts val="0"/>
              </a:spcAft>
              <a:buNone/>
            </a:pPr>
            <a:r>
              <a:rPr lang="en" sz="1900">
                <a:solidFill>
                  <a:srgbClr val="212121"/>
                </a:solidFill>
                <a:latin typeface="Poppins"/>
                <a:ea typeface="Poppins"/>
                <a:cs typeface="Poppins"/>
                <a:sym typeface="Poppins"/>
              </a:rPr>
              <a:t>Who can read and decrypt it</a:t>
            </a:r>
            <a:endParaRPr sz="1900">
              <a:solidFill>
                <a:srgbClr val="212121"/>
              </a:solidFill>
              <a:latin typeface="Poppins"/>
              <a:ea typeface="Poppins"/>
              <a:cs typeface="Poppins"/>
              <a:sym typeface="Poppins"/>
            </a:endParaRPr>
          </a:p>
        </p:txBody>
      </p:sp>
      <p:sp>
        <p:nvSpPr>
          <p:cNvPr id="241" name="Google Shape;241;p33"/>
          <p:cNvSpPr txBox="1"/>
          <p:nvPr/>
        </p:nvSpPr>
        <p:spPr>
          <a:xfrm>
            <a:off x="508000" y="4191000"/>
            <a:ext cx="8127900" cy="5079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EAS uses schemas. Existing databases can offer documented exports.</a:t>
            </a:r>
            <a:endParaRPr sz="1700">
              <a:solidFill>
                <a:srgbClr val="06038D"/>
              </a:solidFill>
              <a:latin typeface="Poppins"/>
              <a:ea typeface="Poppins"/>
              <a:cs typeface="Poppins"/>
              <a:sym typeface="Poppins"/>
            </a:endParaRPr>
          </a:p>
        </p:txBody>
      </p:sp>
      <p:pic>
        <p:nvPicPr>
          <p:cNvPr id="242" name="Google Shape;242;p33"/>
          <p:cNvPicPr preferRelativeResize="0"/>
          <p:nvPr/>
        </p:nvPicPr>
        <p:blipFill>
          <a:blip r:embed="rId3">
            <a:alphaModFix/>
          </a:blip>
          <a:stretch>
            <a:fillRect/>
          </a:stretch>
        </p:blipFill>
        <p:spPr>
          <a:xfrm>
            <a:off x="508000" y="4307012"/>
            <a:ext cx="275875" cy="2758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Different tools. The same work.</a:t>
            </a:r>
            <a:endParaRPr b="1" sz="3000">
              <a:solidFill>
                <a:srgbClr val="06038D"/>
              </a:solidFill>
              <a:latin typeface="Poppins"/>
              <a:ea typeface="Poppins"/>
              <a:cs typeface="Poppins"/>
              <a:sym typeface="Poppins"/>
            </a:endParaRPr>
          </a:p>
        </p:txBody>
      </p:sp>
      <p:sp>
        <p:nvSpPr>
          <p:cNvPr id="248" name="Google Shape;248;p34"/>
          <p:cNvSpPr/>
          <p:nvPr/>
        </p:nvSpPr>
        <p:spPr>
          <a:xfrm>
            <a:off x="508000" y="1409700"/>
            <a:ext cx="4445100" cy="3810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800">
                <a:solidFill>
                  <a:srgbClr val="FFFFFF"/>
                </a:solidFill>
                <a:latin typeface="Poppins"/>
                <a:ea typeface="Poppins"/>
                <a:cs typeface="Poppins"/>
                <a:sym typeface="Poppins"/>
              </a:rPr>
              <a:t>Notes editor</a:t>
            </a:r>
            <a:endParaRPr b="1" sz="1800">
              <a:solidFill>
                <a:srgbClr val="FFFFFF"/>
              </a:solidFill>
              <a:latin typeface="Poppins"/>
              <a:ea typeface="Poppins"/>
              <a:cs typeface="Poppins"/>
              <a:sym typeface="Poppins"/>
            </a:endParaRPr>
          </a:p>
        </p:txBody>
      </p:sp>
      <p:sp>
        <p:nvSpPr>
          <p:cNvPr id="249" name="Google Shape;249;p34"/>
          <p:cNvSpPr/>
          <p:nvPr/>
        </p:nvSpPr>
        <p:spPr>
          <a:xfrm>
            <a:off x="5334000" y="1320800"/>
            <a:ext cx="3302100" cy="4698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1800">
                <a:solidFill>
                  <a:srgbClr val="FFFFFF"/>
                </a:solidFill>
                <a:latin typeface="Poppins"/>
                <a:ea typeface="Poppins"/>
                <a:cs typeface="Poppins"/>
                <a:sym typeface="Poppins"/>
              </a:rPr>
              <a:t>Community feed</a:t>
            </a:r>
            <a:endParaRPr b="1" sz="1800">
              <a:solidFill>
                <a:srgbClr val="FFFFFF"/>
              </a:solidFill>
              <a:latin typeface="Poppins"/>
              <a:ea typeface="Poppins"/>
              <a:cs typeface="Poppins"/>
              <a:sym typeface="Poppins"/>
            </a:endParaRPr>
          </a:p>
        </p:txBody>
      </p:sp>
      <p:sp>
        <p:nvSpPr>
          <p:cNvPr id="250" name="Google Shape;250;p34"/>
          <p:cNvSpPr/>
          <p:nvPr/>
        </p:nvSpPr>
        <p:spPr>
          <a:xfrm>
            <a:off x="825500" y="4381500"/>
            <a:ext cx="7493100" cy="3684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FFFFFF"/>
                </a:solidFill>
                <a:latin typeface="Poppins"/>
                <a:ea typeface="Poppins"/>
                <a:cs typeface="Poppins"/>
                <a:sym typeface="Poppins"/>
              </a:rPr>
              <a:t>Shared record: note-17 + agenda.md (rev 2)</a:t>
            </a:r>
            <a:endParaRPr sz="1700">
              <a:solidFill>
                <a:srgbClr val="FFFFFF"/>
              </a:solidFill>
              <a:latin typeface="Poppins"/>
              <a:ea typeface="Poppins"/>
              <a:cs typeface="Poppins"/>
              <a:sym typeface="Poppins"/>
            </a:endParaRPr>
          </a:p>
        </p:txBody>
      </p:sp>
      <p:sp>
        <p:nvSpPr>
          <p:cNvPr id="251" name="Google Shape;251;p34"/>
          <p:cNvSpPr/>
          <p:nvPr/>
        </p:nvSpPr>
        <p:spPr>
          <a:xfrm>
            <a:off x="508000" y="1790700"/>
            <a:ext cx="4445100" cy="22098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2" name="Google Shape;252;p34"/>
          <p:cNvSpPr txBox="1"/>
          <p:nvPr/>
        </p:nvSpPr>
        <p:spPr>
          <a:xfrm>
            <a:off x="1638300" y="2286000"/>
            <a:ext cx="3187800" cy="4827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200">
                <a:solidFill>
                  <a:srgbClr val="212121"/>
                </a:solidFill>
                <a:latin typeface="Poppins"/>
                <a:ea typeface="Poppins"/>
                <a:cs typeface="Poppins"/>
                <a:sym typeface="Poppins"/>
              </a:rPr>
              <a:t>Meeting at 10</a:t>
            </a:r>
            <a:endParaRPr b="1" sz="2200">
              <a:solidFill>
                <a:srgbClr val="212121"/>
              </a:solidFill>
              <a:latin typeface="Poppins"/>
              <a:ea typeface="Poppins"/>
              <a:cs typeface="Poppins"/>
              <a:sym typeface="Poppins"/>
            </a:endParaRPr>
          </a:p>
        </p:txBody>
      </p:sp>
      <p:sp>
        <p:nvSpPr>
          <p:cNvPr id="253" name="Google Shape;253;p34"/>
          <p:cNvSpPr txBox="1"/>
          <p:nvPr/>
        </p:nvSpPr>
        <p:spPr>
          <a:xfrm>
            <a:off x="1638300" y="2768600"/>
            <a:ext cx="3187800" cy="3555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Poppins"/>
                <a:ea typeface="Poppins"/>
                <a:cs typeface="Poppins"/>
                <a:sym typeface="Poppins"/>
              </a:rPr>
              <a:t>Author: 0xDEADBEEF…</a:t>
            </a:r>
            <a:endParaRPr>
              <a:solidFill>
                <a:srgbClr val="212121"/>
              </a:solidFill>
              <a:latin typeface="Poppins"/>
              <a:ea typeface="Poppins"/>
              <a:cs typeface="Poppins"/>
              <a:sym typeface="Poppins"/>
            </a:endParaRPr>
          </a:p>
        </p:txBody>
      </p:sp>
      <p:sp>
        <p:nvSpPr>
          <p:cNvPr id="254" name="Google Shape;254;p34"/>
          <p:cNvSpPr txBox="1"/>
          <p:nvPr/>
        </p:nvSpPr>
        <p:spPr>
          <a:xfrm>
            <a:off x="1638300" y="3340100"/>
            <a:ext cx="3124200" cy="4065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600">
                <a:solidFill>
                  <a:srgbClr val="06038D"/>
                </a:solidFill>
                <a:latin typeface="Poppins"/>
                <a:ea typeface="Poppins"/>
                <a:cs typeface="Poppins"/>
                <a:sym typeface="Poppins"/>
              </a:rPr>
              <a:t>agenda.md (rev 2)</a:t>
            </a:r>
            <a:endParaRPr sz="1600">
              <a:solidFill>
                <a:srgbClr val="06038D"/>
              </a:solidFill>
              <a:latin typeface="Poppins"/>
              <a:ea typeface="Poppins"/>
              <a:cs typeface="Poppins"/>
              <a:sym typeface="Poppins"/>
            </a:endParaRPr>
          </a:p>
        </p:txBody>
      </p:sp>
      <p:sp>
        <p:nvSpPr>
          <p:cNvPr id="255" name="Google Shape;255;p34"/>
          <p:cNvSpPr/>
          <p:nvPr/>
        </p:nvSpPr>
        <p:spPr>
          <a:xfrm>
            <a:off x="5334000" y="1790700"/>
            <a:ext cx="3302100" cy="22098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56" name="Google Shape;256;p34"/>
          <p:cNvSpPr txBox="1"/>
          <p:nvPr/>
        </p:nvSpPr>
        <p:spPr>
          <a:xfrm>
            <a:off x="5473700" y="1917700"/>
            <a:ext cx="30225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a:solidFill>
                  <a:srgbClr val="212121"/>
                </a:solidFill>
                <a:latin typeface="Poppins"/>
                <a:ea typeface="Poppins"/>
                <a:cs typeface="Poppins"/>
                <a:sym typeface="Poppins"/>
              </a:rPr>
              <a:t>0xDEADBEEF… posted a note</a:t>
            </a:r>
            <a:endParaRPr>
              <a:solidFill>
                <a:srgbClr val="212121"/>
              </a:solidFill>
              <a:latin typeface="Poppins"/>
              <a:ea typeface="Poppins"/>
              <a:cs typeface="Poppins"/>
              <a:sym typeface="Poppins"/>
            </a:endParaRPr>
          </a:p>
        </p:txBody>
      </p:sp>
      <p:sp>
        <p:nvSpPr>
          <p:cNvPr id="257" name="Google Shape;257;p34"/>
          <p:cNvSpPr txBox="1"/>
          <p:nvPr/>
        </p:nvSpPr>
        <p:spPr>
          <a:xfrm>
            <a:off x="5473700" y="2476500"/>
            <a:ext cx="30225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200">
                <a:solidFill>
                  <a:srgbClr val="212121"/>
                </a:solidFill>
                <a:latin typeface="Poppins"/>
                <a:ea typeface="Poppins"/>
                <a:cs typeface="Poppins"/>
                <a:sym typeface="Poppins"/>
              </a:rPr>
              <a:t>Meeting at 10</a:t>
            </a:r>
            <a:endParaRPr b="1" sz="2200">
              <a:solidFill>
                <a:srgbClr val="212121"/>
              </a:solidFill>
              <a:latin typeface="Poppins"/>
              <a:ea typeface="Poppins"/>
              <a:cs typeface="Poppins"/>
              <a:sym typeface="Poppins"/>
            </a:endParaRPr>
          </a:p>
        </p:txBody>
      </p:sp>
      <p:sp>
        <p:nvSpPr>
          <p:cNvPr id="258" name="Google Shape;258;p34"/>
          <p:cNvSpPr txBox="1"/>
          <p:nvPr/>
        </p:nvSpPr>
        <p:spPr>
          <a:xfrm>
            <a:off x="5473700" y="3035300"/>
            <a:ext cx="3022500" cy="3810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lang="en" sz="1500">
                <a:solidFill>
                  <a:srgbClr val="06038D"/>
                </a:solidFill>
                <a:latin typeface="Poppins"/>
                <a:ea typeface="Poppins"/>
                <a:cs typeface="Poppins"/>
                <a:sym typeface="Poppins"/>
              </a:rPr>
              <a:t>Open agenda.md (rev 2)</a:t>
            </a:r>
            <a:endParaRPr sz="1500">
              <a:solidFill>
                <a:srgbClr val="06038D"/>
              </a:solidFill>
              <a:latin typeface="Poppins"/>
              <a:ea typeface="Poppins"/>
              <a:cs typeface="Poppins"/>
              <a:sym typeface="Poppins"/>
            </a:endParaRPr>
          </a:p>
        </p:txBody>
      </p:sp>
      <p:cxnSp>
        <p:nvCxnSpPr>
          <p:cNvPr id="259" name="Google Shape;259;p34"/>
          <p:cNvCxnSpPr/>
          <p:nvPr/>
        </p:nvCxnSpPr>
        <p:spPr>
          <a:xfrm rot="10800000">
            <a:off x="2730500" y="4051200"/>
            <a:ext cx="0" cy="292200"/>
          </a:xfrm>
          <a:prstGeom prst="straightConnector1">
            <a:avLst/>
          </a:prstGeom>
          <a:noFill/>
          <a:ln cap="flat" cmpd="sng" w="16500">
            <a:solidFill>
              <a:srgbClr val="06038D"/>
            </a:solidFill>
            <a:prstDash val="solid"/>
            <a:round/>
            <a:headEnd len="med" w="med" type="none"/>
            <a:tailEnd len="med" w="med" type="triangle"/>
          </a:ln>
        </p:spPr>
      </p:cxnSp>
      <p:cxnSp>
        <p:nvCxnSpPr>
          <p:cNvPr id="260" name="Google Shape;260;p34"/>
          <p:cNvCxnSpPr/>
          <p:nvPr/>
        </p:nvCxnSpPr>
        <p:spPr>
          <a:xfrm rot="10800000">
            <a:off x="6985000" y="4051200"/>
            <a:ext cx="0" cy="292200"/>
          </a:xfrm>
          <a:prstGeom prst="straightConnector1">
            <a:avLst/>
          </a:prstGeom>
          <a:noFill/>
          <a:ln cap="flat" cmpd="sng" w="16500">
            <a:solidFill>
              <a:srgbClr val="06038D"/>
            </a:solidFill>
            <a:prstDash val="solid"/>
            <a:round/>
            <a:headEnd len="med" w="med" type="none"/>
            <a:tailEnd len="med" w="med" type="triangle"/>
          </a:ln>
        </p:spPr>
      </p:cxnSp>
      <p:sp>
        <p:nvSpPr>
          <p:cNvPr id="261" name="Google Shape;261;p34"/>
          <p:cNvSpPr/>
          <p:nvPr/>
        </p:nvSpPr>
        <p:spPr>
          <a:xfrm>
            <a:off x="508000" y="1803400"/>
            <a:ext cx="4445100" cy="317400"/>
          </a:xfrm>
          <a:prstGeom prst="rect">
            <a:avLst/>
          </a:prstGeom>
          <a:solidFill>
            <a:srgbClr val="EDEDF7"/>
          </a:solid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Edit    Format    Attach</a:t>
            </a:r>
            <a:endParaRPr sz="1300">
              <a:solidFill>
                <a:srgbClr val="06038D"/>
              </a:solidFill>
              <a:latin typeface="Poppins"/>
              <a:ea typeface="Poppins"/>
              <a:cs typeface="Poppins"/>
              <a:sym typeface="Poppins"/>
            </a:endParaRPr>
          </a:p>
        </p:txBody>
      </p:sp>
      <p:sp>
        <p:nvSpPr>
          <p:cNvPr id="262" name="Google Shape;262;p34"/>
          <p:cNvSpPr/>
          <p:nvPr/>
        </p:nvSpPr>
        <p:spPr>
          <a:xfrm>
            <a:off x="520700" y="2133600"/>
            <a:ext cx="978000" cy="1854300"/>
          </a:xfrm>
          <a:prstGeom prst="rect">
            <a:avLst/>
          </a:prstGeom>
          <a:solidFill>
            <a:srgbClr val="EDEDF7"/>
          </a:solid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Notes</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Meeting</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Ideas</a:t>
            </a:r>
            <a:endParaRPr sz="1300">
              <a:solidFill>
                <a:srgbClr val="06038D"/>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06038D"/>
                </a:solidFill>
                <a:latin typeface="Poppins"/>
                <a:ea typeface="Poppins"/>
                <a:cs typeface="Poppins"/>
                <a:sym typeface="Poppins"/>
              </a:rPr>
              <a:t>Archive</a:t>
            </a:r>
            <a:endParaRPr sz="1300">
              <a:solidFill>
                <a:srgbClr val="06038D"/>
              </a:solidFill>
              <a:latin typeface="Poppins"/>
              <a:ea typeface="Poppins"/>
              <a:cs typeface="Poppins"/>
              <a:sym typeface="Poppins"/>
            </a:endParaRPr>
          </a:p>
        </p:txBody>
      </p:sp>
      <p:sp>
        <p:nvSpPr>
          <p:cNvPr id="263" name="Google Shape;263;p34"/>
          <p:cNvSpPr txBox="1"/>
          <p:nvPr/>
        </p:nvSpPr>
        <p:spPr>
          <a:xfrm>
            <a:off x="1638300" y="3771900"/>
            <a:ext cx="3124200" cy="2286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200">
                <a:solidFill>
                  <a:srgbClr val="212121"/>
                </a:solidFill>
                <a:latin typeface="Poppins"/>
                <a:ea typeface="Poppins"/>
                <a:cs typeface="Poppins"/>
                <a:sym typeface="Poppins"/>
              </a:rPr>
              <a:t>Saved as note-17</a:t>
            </a:r>
            <a:endParaRPr sz="1200">
              <a:solidFill>
                <a:srgbClr val="212121"/>
              </a:solidFill>
              <a:latin typeface="Poppins"/>
              <a:ea typeface="Poppins"/>
              <a:cs typeface="Poppins"/>
              <a:sym typeface="Poppins"/>
            </a:endParaRPr>
          </a:p>
        </p:txBody>
      </p:sp>
      <p:sp>
        <p:nvSpPr>
          <p:cNvPr id="264" name="Google Shape;264;p34"/>
          <p:cNvSpPr txBox="1"/>
          <p:nvPr/>
        </p:nvSpPr>
        <p:spPr>
          <a:xfrm>
            <a:off x="5473700" y="3581400"/>
            <a:ext cx="3022500" cy="3174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200">
                <a:solidFill>
                  <a:srgbClr val="212121"/>
                </a:solidFill>
                <a:latin typeface="Poppins"/>
                <a:ea typeface="Poppins"/>
                <a:cs typeface="Poppins"/>
                <a:sym typeface="Poppins"/>
              </a:rPr>
              <a:t>Reply    Share                 note-17</a:t>
            </a:r>
            <a:endParaRPr sz="1200">
              <a:solidFill>
                <a:srgbClr val="212121"/>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5"/>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keeps a usable copy?</a:t>
            </a:r>
            <a:endParaRPr b="1" sz="3000">
              <a:solidFill>
                <a:srgbClr val="06038D"/>
              </a:solidFill>
              <a:latin typeface="Poppins"/>
              <a:ea typeface="Poppins"/>
              <a:cs typeface="Poppins"/>
              <a:sym typeface="Poppins"/>
            </a:endParaRPr>
          </a:p>
        </p:txBody>
      </p:sp>
      <p:sp>
        <p:nvSpPr>
          <p:cNvPr id="270" name="Google Shape;270;p35"/>
          <p:cNvSpPr txBox="1"/>
          <p:nvPr/>
        </p:nvSpPr>
        <p:spPr>
          <a:xfrm>
            <a:off x="508000" y="1181100"/>
            <a:ext cx="3683100" cy="3936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Files and databases</a:t>
            </a:r>
            <a:endParaRPr b="1" sz="2100">
              <a:solidFill>
                <a:srgbClr val="06038D"/>
              </a:solidFill>
              <a:latin typeface="Poppins"/>
              <a:ea typeface="Poppins"/>
              <a:cs typeface="Poppins"/>
              <a:sym typeface="Poppins"/>
            </a:endParaRPr>
          </a:p>
        </p:txBody>
      </p:sp>
      <p:sp>
        <p:nvSpPr>
          <p:cNvPr id="271" name="Google Shape;271;p35"/>
          <p:cNvSpPr/>
          <p:nvPr/>
        </p:nvSpPr>
        <p:spPr>
          <a:xfrm>
            <a:off x="508000" y="1993900"/>
            <a:ext cx="31116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Files + attachments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Database export</a:t>
            </a:r>
            <a:endParaRPr sz="2000">
              <a:solidFill>
                <a:srgbClr val="212121"/>
              </a:solidFill>
              <a:latin typeface="Poppins"/>
              <a:ea typeface="Poppins"/>
              <a:cs typeface="Poppins"/>
              <a:sym typeface="Poppins"/>
            </a:endParaRPr>
          </a:p>
        </p:txBody>
      </p:sp>
      <p:sp>
        <p:nvSpPr>
          <p:cNvPr id="272" name="Google Shape;272;p35"/>
          <p:cNvSpPr/>
          <p:nvPr/>
        </p:nvSpPr>
        <p:spPr>
          <a:xfrm>
            <a:off x="4635500" y="14986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A</a:t>
            </a:r>
            <a:endParaRPr sz="2000">
              <a:solidFill>
                <a:srgbClr val="212121"/>
              </a:solidFill>
              <a:latin typeface="Poppins"/>
              <a:ea typeface="Poppins"/>
              <a:cs typeface="Poppins"/>
              <a:sym typeface="Poppins"/>
            </a:endParaRPr>
          </a:p>
        </p:txBody>
      </p:sp>
      <p:sp>
        <p:nvSpPr>
          <p:cNvPr id="273" name="Google Shape;273;p35"/>
          <p:cNvSpPr/>
          <p:nvPr/>
        </p:nvSpPr>
        <p:spPr>
          <a:xfrm>
            <a:off x="4635500" y="20955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Storage operator B</a:t>
            </a:r>
            <a:endParaRPr sz="2000">
              <a:solidFill>
                <a:srgbClr val="212121"/>
              </a:solidFill>
              <a:latin typeface="Poppins"/>
              <a:ea typeface="Poppins"/>
              <a:cs typeface="Poppins"/>
              <a:sym typeface="Poppins"/>
            </a:endParaRPr>
          </a:p>
        </p:txBody>
      </p:sp>
      <p:sp>
        <p:nvSpPr>
          <p:cNvPr id="274" name="Google Shape;274;p35"/>
          <p:cNvSpPr/>
          <p:nvPr/>
        </p:nvSpPr>
        <p:spPr>
          <a:xfrm>
            <a:off x="4635500" y="2692400"/>
            <a:ext cx="4000500" cy="495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backup</a:t>
            </a:r>
            <a:endParaRPr sz="2000">
              <a:solidFill>
                <a:srgbClr val="212121"/>
              </a:solidFill>
              <a:latin typeface="Poppins"/>
              <a:ea typeface="Poppins"/>
              <a:cs typeface="Poppins"/>
              <a:sym typeface="Poppins"/>
            </a:endParaRPr>
          </a:p>
        </p:txBody>
      </p:sp>
      <p:sp>
        <p:nvSpPr>
          <p:cNvPr id="275" name="Google Shape;275;p35"/>
          <p:cNvSpPr txBox="1"/>
          <p:nvPr/>
        </p:nvSpPr>
        <p:spPr>
          <a:xfrm>
            <a:off x="508000" y="4381500"/>
            <a:ext cx="8127900" cy="3684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restore useful work through an alternative</a:t>
            </a:r>
            <a:endParaRPr sz="1700">
              <a:solidFill>
                <a:srgbClr val="06038D"/>
              </a:solidFill>
              <a:latin typeface="Poppins"/>
              <a:ea typeface="Poppins"/>
              <a:cs typeface="Poppins"/>
              <a:sym typeface="Poppins"/>
            </a:endParaRPr>
          </a:p>
        </p:txBody>
      </p:sp>
      <p:cxnSp>
        <p:nvCxnSpPr>
          <p:cNvPr id="276" name="Google Shape;276;p35"/>
          <p:cNvCxnSpPr/>
          <p:nvPr/>
        </p:nvCxnSpPr>
        <p:spPr>
          <a:xfrm>
            <a:off x="3644900" y="2413000"/>
            <a:ext cx="457200" cy="0"/>
          </a:xfrm>
          <a:prstGeom prst="straightConnector1">
            <a:avLst/>
          </a:prstGeom>
          <a:noFill/>
          <a:ln cap="flat" cmpd="sng" w="16500">
            <a:solidFill>
              <a:srgbClr val="06038D"/>
            </a:solidFill>
            <a:prstDash val="solid"/>
            <a:round/>
            <a:headEnd len="med" w="med" type="none"/>
            <a:tailEnd len="med" w="med" type="none"/>
          </a:ln>
        </p:spPr>
      </p:cxnSp>
      <p:cxnSp>
        <p:nvCxnSpPr>
          <p:cNvPr id="277" name="Google Shape;277;p35"/>
          <p:cNvCxnSpPr/>
          <p:nvPr/>
        </p:nvCxnSpPr>
        <p:spPr>
          <a:xfrm>
            <a:off x="4102100" y="1752600"/>
            <a:ext cx="0" cy="1193700"/>
          </a:xfrm>
          <a:prstGeom prst="straightConnector1">
            <a:avLst/>
          </a:prstGeom>
          <a:noFill/>
          <a:ln cap="flat" cmpd="sng" w="16500">
            <a:solidFill>
              <a:srgbClr val="06038D"/>
            </a:solidFill>
            <a:prstDash val="solid"/>
            <a:round/>
            <a:headEnd len="med" w="med" type="none"/>
            <a:tailEnd len="med" w="med" type="none"/>
          </a:ln>
        </p:spPr>
      </p:cxnSp>
      <p:cxnSp>
        <p:nvCxnSpPr>
          <p:cNvPr id="278" name="Google Shape;278;p35"/>
          <p:cNvCxnSpPr/>
          <p:nvPr/>
        </p:nvCxnSpPr>
        <p:spPr>
          <a:xfrm>
            <a:off x="4102100" y="17526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79" name="Google Shape;279;p35"/>
          <p:cNvCxnSpPr/>
          <p:nvPr/>
        </p:nvCxnSpPr>
        <p:spPr>
          <a:xfrm>
            <a:off x="4102100" y="2349500"/>
            <a:ext cx="507900" cy="0"/>
          </a:xfrm>
          <a:prstGeom prst="straightConnector1">
            <a:avLst/>
          </a:prstGeom>
          <a:noFill/>
          <a:ln cap="flat" cmpd="sng" w="16500">
            <a:solidFill>
              <a:srgbClr val="06038D"/>
            </a:solidFill>
            <a:prstDash val="solid"/>
            <a:round/>
            <a:headEnd len="med" w="med" type="none"/>
            <a:tailEnd len="med" w="med" type="triangle"/>
          </a:ln>
        </p:spPr>
      </p:cxnSp>
      <p:cxnSp>
        <p:nvCxnSpPr>
          <p:cNvPr id="280" name="Google Shape;280;p35"/>
          <p:cNvCxnSpPr/>
          <p:nvPr/>
        </p:nvCxnSpPr>
        <p:spPr>
          <a:xfrm>
            <a:off x="4102100" y="2946400"/>
            <a:ext cx="507900" cy="0"/>
          </a:xfrm>
          <a:prstGeom prst="straightConnector1">
            <a:avLst/>
          </a:prstGeom>
          <a:noFill/>
          <a:ln cap="flat" cmpd="sng" w="16500">
            <a:solidFill>
              <a:srgbClr val="06038D"/>
            </a:solidFill>
            <a:prstDash val="solid"/>
            <a:round/>
            <a:headEnd len="med" w="med" type="none"/>
            <a:tailEnd len="med" w="med" type="triangle"/>
          </a:ln>
        </p:spPr>
      </p:cxnSp>
      <p:sp>
        <p:nvSpPr>
          <p:cNvPr id="281" name="Google Shape;281;p35"/>
          <p:cNvSpPr txBox="1"/>
          <p:nvPr/>
        </p:nvSpPr>
        <p:spPr>
          <a:xfrm>
            <a:off x="508000" y="3340100"/>
            <a:ext cx="3683100" cy="3810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100">
                <a:solidFill>
                  <a:srgbClr val="06038D"/>
                </a:solidFill>
                <a:latin typeface="Poppins"/>
                <a:ea typeface="Poppins"/>
                <a:cs typeface="Poppins"/>
                <a:sym typeface="Poppins"/>
              </a:rPr>
              <a:t>Onchain records</a:t>
            </a:r>
            <a:endParaRPr b="1" sz="2100">
              <a:solidFill>
                <a:srgbClr val="06038D"/>
              </a:solidFill>
              <a:latin typeface="Poppins"/>
              <a:ea typeface="Poppins"/>
              <a:cs typeface="Poppins"/>
              <a:sym typeface="Poppins"/>
            </a:endParaRPr>
          </a:p>
        </p:txBody>
      </p:sp>
      <p:sp>
        <p:nvSpPr>
          <p:cNvPr id="282" name="Google Shape;282;p35"/>
          <p:cNvSpPr/>
          <p:nvPr/>
        </p:nvSpPr>
        <p:spPr>
          <a:xfrm>
            <a:off x="508000" y="3759200"/>
            <a:ext cx="31116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Contract state</a:t>
            </a:r>
            <a:endParaRPr sz="2000">
              <a:solidFill>
                <a:srgbClr val="212121"/>
              </a:solidFill>
              <a:latin typeface="Poppins"/>
              <a:ea typeface="Poppins"/>
              <a:cs typeface="Poppins"/>
              <a:sym typeface="Poppins"/>
            </a:endParaRPr>
          </a:p>
        </p:txBody>
      </p:sp>
      <p:cxnSp>
        <p:nvCxnSpPr>
          <p:cNvPr id="283" name="Google Shape;283;p35"/>
          <p:cNvCxnSpPr/>
          <p:nvPr/>
        </p:nvCxnSpPr>
        <p:spPr>
          <a:xfrm>
            <a:off x="3644900" y="4025900"/>
            <a:ext cx="965100" cy="0"/>
          </a:xfrm>
          <a:prstGeom prst="straightConnector1">
            <a:avLst/>
          </a:prstGeom>
          <a:noFill/>
          <a:ln cap="flat" cmpd="sng" w="16500">
            <a:solidFill>
              <a:srgbClr val="06038D"/>
            </a:solidFill>
            <a:prstDash val="solid"/>
            <a:round/>
            <a:headEnd len="med" w="med" type="none"/>
            <a:tailEnd len="med" w="med" type="triangle"/>
          </a:ln>
        </p:spPr>
      </p:cxnSp>
      <p:sp>
        <p:nvSpPr>
          <p:cNvPr id="284" name="Google Shape;284;p35"/>
          <p:cNvSpPr/>
          <p:nvPr/>
        </p:nvSpPr>
        <p:spPr>
          <a:xfrm>
            <a:off x="4635500" y="3759200"/>
            <a:ext cx="4000500" cy="5334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 full nodes</a:t>
            </a:r>
            <a:endParaRPr sz="2000">
              <a:solidFill>
                <a:srgbClr val="21212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EFS: find a file and check a copy</a:t>
            </a:r>
            <a:endParaRPr b="1" sz="3000">
              <a:solidFill>
                <a:srgbClr val="06038D"/>
              </a:solidFill>
              <a:latin typeface="Poppins"/>
              <a:ea typeface="Poppins"/>
              <a:cs typeface="Poppins"/>
              <a:sym typeface="Poppins"/>
            </a:endParaRPr>
          </a:p>
        </p:txBody>
      </p:sp>
      <p:sp>
        <p:nvSpPr>
          <p:cNvPr id="290" name="Google Shape;290;p36"/>
          <p:cNvSpPr txBox="1"/>
          <p:nvPr/>
        </p:nvSpPr>
        <p:spPr>
          <a:xfrm>
            <a:off x="571500" y="1117600"/>
            <a:ext cx="80010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Example path: /notes/meeting.md</a:t>
            </a:r>
            <a:endParaRPr sz="2200">
              <a:solidFill>
                <a:srgbClr val="212121"/>
              </a:solidFill>
              <a:latin typeface="Poppins"/>
              <a:ea typeface="Poppins"/>
              <a:cs typeface="Poppins"/>
              <a:sym typeface="Poppins"/>
            </a:endParaRPr>
          </a:p>
        </p:txBody>
      </p:sp>
      <p:cxnSp>
        <p:nvCxnSpPr>
          <p:cNvPr id="291" name="Google Shape;291;p36"/>
          <p:cNvCxnSpPr/>
          <p:nvPr/>
        </p:nvCxnSpPr>
        <p:spPr>
          <a:xfrm>
            <a:off x="2692400" y="1600200"/>
            <a:ext cx="0" cy="241200"/>
          </a:xfrm>
          <a:prstGeom prst="straightConnector1">
            <a:avLst/>
          </a:prstGeom>
          <a:noFill/>
          <a:ln cap="flat" cmpd="sng" w="17775">
            <a:solidFill>
              <a:srgbClr val="06038D"/>
            </a:solidFill>
            <a:prstDash val="solid"/>
            <a:round/>
            <a:headEnd len="med" w="med" type="none"/>
            <a:tailEnd len="med" w="med" type="triangle"/>
          </a:ln>
        </p:spPr>
      </p:cxnSp>
      <p:sp>
        <p:nvSpPr>
          <p:cNvPr id="292" name="Google Shape;292;p36"/>
          <p:cNvSpPr/>
          <p:nvPr/>
        </p:nvSpPr>
        <p:spPr>
          <a:xfrm>
            <a:off x="571500" y="1879600"/>
            <a:ext cx="4191000" cy="1206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Onchain file record</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File details + fingerprint</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Retrieval references</a:t>
            </a:r>
            <a:endParaRPr sz="2000">
              <a:solidFill>
                <a:srgbClr val="212121"/>
              </a:solidFill>
              <a:latin typeface="Poppins"/>
              <a:ea typeface="Poppins"/>
              <a:cs typeface="Poppins"/>
              <a:sym typeface="Poppins"/>
            </a:endParaRPr>
          </a:p>
        </p:txBody>
      </p:sp>
      <p:cxnSp>
        <p:nvCxnSpPr>
          <p:cNvPr id="293" name="Google Shape;293;p36"/>
          <p:cNvCxnSpPr/>
          <p:nvPr/>
        </p:nvCxnSpPr>
        <p:spPr>
          <a:xfrm>
            <a:off x="4787900" y="2476500"/>
            <a:ext cx="635100" cy="0"/>
          </a:xfrm>
          <a:prstGeom prst="straightConnector1">
            <a:avLst/>
          </a:prstGeom>
          <a:noFill/>
          <a:ln cap="flat" cmpd="sng" w="17775">
            <a:solidFill>
              <a:srgbClr val="06038D"/>
            </a:solidFill>
            <a:prstDash val="solid"/>
            <a:round/>
            <a:headEnd len="med" w="med" type="none"/>
            <a:tailEnd len="med" w="med" type="triangle"/>
          </a:ln>
        </p:spPr>
      </p:cxnSp>
      <p:sp>
        <p:nvSpPr>
          <p:cNvPr id="294" name="Google Shape;294;p36"/>
          <p:cNvSpPr/>
          <p:nvPr/>
        </p:nvSpPr>
        <p:spPr>
          <a:xfrm>
            <a:off x="5461000" y="2044700"/>
            <a:ext cx="3111600" cy="863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Contract reads</a:t>
            </a:r>
            <a:endParaRPr sz="21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100">
                <a:solidFill>
                  <a:srgbClr val="FFFFFF"/>
                </a:solidFill>
                <a:latin typeface="Poppins"/>
                <a:ea typeface="Poppins"/>
                <a:cs typeface="Poppins"/>
                <a:sym typeface="Poppins"/>
              </a:rPr>
              <a:t>file details</a:t>
            </a:r>
            <a:endParaRPr sz="2100">
              <a:solidFill>
                <a:srgbClr val="FFFFFF"/>
              </a:solidFill>
              <a:latin typeface="Poppins"/>
              <a:ea typeface="Poppins"/>
              <a:cs typeface="Poppins"/>
              <a:sym typeface="Poppins"/>
            </a:endParaRPr>
          </a:p>
        </p:txBody>
      </p:sp>
      <p:cxnSp>
        <p:nvCxnSpPr>
          <p:cNvPr id="295" name="Google Shape;295;p36"/>
          <p:cNvCxnSpPr/>
          <p:nvPr/>
        </p:nvCxnSpPr>
        <p:spPr>
          <a:xfrm>
            <a:off x="2667000" y="3111500"/>
            <a:ext cx="0" cy="368400"/>
          </a:xfrm>
          <a:prstGeom prst="straightConnector1">
            <a:avLst/>
          </a:prstGeom>
          <a:noFill/>
          <a:ln cap="flat" cmpd="sng" w="17775">
            <a:solidFill>
              <a:srgbClr val="06038D"/>
            </a:solidFill>
            <a:prstDash val="solid"/>
            <a:round/>
            <a:headEnd len="med" w="med" type="none"/>
            <a:tailEnd len="med" w="med" type="triangle"/>
          </a:ln>
        </p:spPr>
      </p:cxnSp>
      <p:sp>
        <p:nvSpPr>
          <p:cNvPr id="296" name="Google Shape;296;p36"/>
          <p:cNvSpPr/>
          <p:nvPr/>
        </p:nvSpPr>
        <p:spPr>
          <a:xfrm>
            <a:off x="571500" y="3517900"/>
            <a:ext cx="4191000" cy="8127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Client retrieves a copy</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checks its fingerprint</a:t>
            </a:r>
            <a:endParaRPr sz="2000">
              <a:solidFill>
                <a:srgbClr val="FFFFFF"/>
              </a:solidFill>
              <a:latin typeface="Poppins"/>
              <a:ea typeface="Poppins"/>
              <a:cs typeface="Poppins"/>
              <a:sym typeface="Poppins"/>
            </a:endParaRPr>
          </a:p>
        </p:txBody>
      </p:sp>
      <p:cxnSp>
        <p:nvCxnSpPr>
          <p:cNvPr id="297" name="Google Shape;297;p36"/>
          <p:cNvCxnSpPr/>
          <p:nvPr/>
        </p:nvCxnSpPr>
        <p:spPr>
          <a:xfrm rot="10800000">
            <a:off x="5130800" y="35814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98" name="Google Shape;298;p36"/>
          <p:cNvCxnSpPr/>
          <p:nvPr/>
        </p:nvCxnSpPr>
        <p:spPr>
          <a:xfrm rot="10800000">
            <a:off x="5130800" y="4203700"/>
            <a:ext cx="304800" cy="0"/>
          </a:xfrm>
          <a:prstGeom prst="straightConnector1">
            <a:avLst/>
          </a:prstGeom>
          <a:noFill/>
          <a:ln cap="flat" cmpd="sng" w="17775">
            <a:solidFill>
              <a:srgbClr val="06038D"/>
            </a:solidFill>
            <a:prstDash val="solid"/>
            <a:round/>
            <a:headEnd len="med" w="med" type="none"/>
            <a:tailEnd len="med" w="med" type="none"/>
          </a:ln>
        </p:spPr>
      </p:cxnSp>
      <p:cxnSp>
        <p:nvCxnSpPr>
          <p:cNvPr id="299" name="Google Shape;299;p36"/>
          <p:cNvCxnSpPr/>
          <p:nvPr/>
        </p:nvCxnSpPr>
        <p:spPr>
          <a:xfrm>
            <a:off x="5130800" y="3581400"/>
            <a:ext cx="0" cy="622200"/>
          </a:xfrm>
          <a:prstGeom prst="straightConnector1">
            <a:avLst/>
          </a:prstGeom>
          <a:noFill/>
          <a:ln cap="flat" cmpd="sng" w="17775">
            <a:solidFill>
              <a:srgbClr val="06038D"/>
            </a:solidFill>
            <a:prstDash val="solid"/>
            <a:round/>
            <a:headEnd len="med" w="med" type="none"/>
            <a:tailEnd len="med" w="med" type="none"/>
          </a:ln>
        </p:spPr>
      </p:cxnSp>
      <p:cxnSp>
        <p:nvCxnSpPr>
          <p:cNvPr id="300" name="Google Shape;300;p36"/>
          <p:cNvCxnSpPr/>
          <p:nvPr/>
        </p:nvCxnSpPr>
        <p:spPr>
          <a:xfrm rot="10800000">
            <a:off x="4787900" y="3924300"/>
            <a:ext cx="342900" cy="0"/>
          </a:xfrm>
          <a:prstGeom prst="straightConnector1">
            <a:avLst/>
          </a:prstGeom>
          <a:noFill/>
          <a:ln cap="flat" cmpd="sng" w="17775">
            <a:solidFill>
              <a:srgbClr val="06038D"/>
            </a:solidFill>
            <a:prstDash val="solid"/>
            <a:round/>
            <a:headEnd len="med" w="med" type="none"/>
            <a:tailEnd len="med" w="med" type="triangle"/>
          </a:ln>
        </p:spPr>
      </p:cxnSp>
      <p:sp>
        <p:nvSpPr>
          <p:cNvPr id="301" name="Google Shape;301;p36"/>
          <p:cNvSpPr/>
          <p:nvPr/>
        </p:nvSpPr>
        <p:spPr>
          <a:xfrm>
            <a:off x="5461000" y="33020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IPFS copy</a:t>
            </a:r>
            <a:endParaRPr sz="2100">
              <a:solidFill>
                <a:srgbClr val="212121"/>
              </a:solidFill>
              <a:latin typeface="Poppins"/>
              <a:ea typeface="Poppins"/>
              <a:cs typeface="Poppins"/>
              <a:sym typeface="Poppins"/>
            </a:endParaRPr>
          </a:p>
        </p:txBody>
      </p:sp>
      <p:sp>
        <p:nvSpPr>
          <p:cNvPr id="302" name="Google Shape;302;p36"/>
          <p:cNvSpPr/>
          <p:nvPr/>
        </p:nvSpPr>
        <p:spPr>
          <a:xfrm>
            <a:off x="5461000" y="3886200"/>
            <a:ext cx="3111600" cy="444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Arweave copy</a:t>
            </a:r>
            <a:endParaRPr sz="2100">
              <a:solidFill>
                <a:srgbClr val="212121"/>
              </a:solidFill>
              <a:latin typeface="Poppins"/>
              <a:ea typeface="Poppins"/>
              <a:cs typeface="Poppins"/>
              <a:sym typeface="Poppins"/>
            </a:endParaRPr>
          </a:p>
        </p:txBody>
      </p:sp>
      <p:sp>
        <p:nvSpPr>
          <p:cNvPr id="303" name="Google Shape;303;p36"/>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Recorded 29 Jul 2026: archive verified via IPFS and Arweave</a:t>
            </a:r>
            <a:endParaRPr sz="1700">
              <a:solidFill>
                <a:srgbClr val="06038D"/>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7"/>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Reading and finding shared data</a:t>
            </a:r>
            <a:endParaRPr b="1" sz="3000">
              <a:solidFill>
                <a:srgbClr val="06038D"/>
              </a:solidFill>
              <a:latin typeface="Poppins"/>
              <a:ea typeface="Poppins"/>
              <a:cs typeface="Poppins"/>
              <a:sym typeface="Poppins"/>
            </a:endParaRPr>
          </a:p>
        </p:txBody>
      </p:sp>
      <p:sp>
        <p:nvSpPr>
          <p:cNvPr id="309" name="Google Shape;309;p37"/>
          <p:cNvSpPr txBox="1"/>
          <p:nvPr/>
        </p:nvSpPr>
        <p:spPr>
          <a:xfrm>
            <a:off x="508000" y="11811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Read chain state</a:t>
            </a:r>
            <a:endParaRPr b="1" sz="2000">
              <a:solidFill>
                <a:srgbClr val="06038D"/>
              </a:solidFill>
              <a:latin typeface="Poppins"/>
              <a:ea typeface="Poppins"/>
              <a:cs typeface="Poppins"/>
              <a:sym typeface="Poppins"/>
            </a:endParaRPr>
          </a:p>
        </p:txBody>
      </p:sp>
      <p:sp>
        <p:nvSpPr>
          <p:cNvPr id="310" name="Google Shape;310;p37"/>
          <p:cNvSpPr/>
          <p:nvPr/>
        </p:nvSpPr>
        <p:spPr>
          <a:xfrm>
            <a:off x="508000" y="16891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Ethereum</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Chain state</a:t>
            </a:r>
            <a:endParaRPr sz="2000">
              <a:solidFill>
                <a:srgbClr val="212121"/>
              </a:solidFill>
              <a:latin typeface="Poppins"/>
              <a:ea typeface="Poppins"/>
              <a:cs typeface="Poppins"/>
              <a:sym typeface="Poppins"/>
            </a:endParaRPr>
          </a:p>
        </p:txBody>
      </p:sp>
      <p:sp>
        <p:nvSpPr>
          <p:cNvPr id="311" name="Google Shape;311;p37"/>
          <p:cNvSpPr/>
          <p:nvPr/>
        </p:nvSpPr>
        <p:spPr>
          <a:xfrm>
            <a:off x="3365500" y="16891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RPC / own node</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Light client: Helios</a:t>
            </a:r>
            <a:endParaRPr sz="1800">
              <a:solidFill>
                <a:srgbClr val="212121"/>
              </a:solidFill>
              <a:latin typeface="Poppins"/>
              <a:ea typeface="Poppins"/>
              <a:cs typeface="Poppins"/>
              <a:sym typeface="Poppins"/>
            </a:endParaRPr>
          </a:p>
        </p:txBody>
      </p:sp>
      <p:sp>
        <p:nvSpPr>
          <p:cNvPr id="312" name="Google Shape;312;p37"/>
          <p:cNvSpPr/>
          <p:nvPr/>
        </p:nvSpPr>
        <p:spPr>
          <a:xfrm>
            <a:off x="6667500" y="16891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reads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state</a:t>
            </a:r>
            <a:endParaRPr sz="2000">
              <a:solidFill>
                <a:srgbClr val="FFFFFF"/>
              </a:solidFill>
              <a:latin typeface="Poppins"/>
              <a:ea typeface="Poppins"/>
              <a:cs typeface="Poppins"/>
              <a:sym typeface="Poppins"/>
            </a:endParaRPr>
          </a:p>
        </p:txBody>
      </p:sp>
      <p:sp>
        <p:nvSpPr>
          <p:cNvPr id="313" name="Google Shape;313;p37"/>
          <p:cNvSpPr txBox="1"/>
          <p:nvPr/>
        </p:nvSpPr>
        <p:spPr>
          <a:xfrm>
            <a:off x="508000" y="2717800"/>
            <a:ext cx="8127900" cy="368400"/>
          </a:xfrm>
          <a:prstGeom prst="rect">
            <a:avLst/>
          </a:prstGeom>
          <a:noFill/>
          <a:ln>
            <a:noFill/>
          </a:ln>
        </p:spPr>
        <p:txBody>
          <a:bodyPr anchorCtr="0" anchor="ctr" bIns="91425" lIns="91425" spcFirstLastPara="1" rIns="91425" wrap="square" tIns="91425">
            <a:noAutofit/>
          </a:bodyPr>
          <a:lstStyle/>
          <a:p>
            <a:pPr indent="0" lvl="0" marL="0" marR="0" rtl="0" algn="l">
              <a:lnSpc>
                <a:spcPct val="105000"/>
              </a:lnSpc>
              <a:spcBef>
                <a:spcPts val="0"/>
              </a:spcBef>
              <a:spcAft>
                <a:spcPts val="0"/>
              </a:spcAft>
              <a:buNone/>
            </a:pPr>
            <a:r>
              <a:rPr b="1" lang="en" sz="2000">
                <a:solidFill>
                  <a:srgbClr val="06038D"/>
                </a:solidFill>
                <a:latin typeface="Poppins"/>
                <a:ea typeface="Poppins"/>
                <a:cs typeface="Poppins"/>
                <a:sym typeface="Poppins"/>
              </a:rPr>
              <a:t>Find records in lists and searches</a:t>
            </a:r>
            <a:endParaRPr b="1" sz="2000">
              <a:solidFill>
                <a:srgbClr val="06038D"/>
              </a:solidFill>
              <a:latin typeface="Poppins"/>
              <a:ea typeface="Poppins"/>
              <a:cs typeface="Poppins"/>
              <a:sym typeface="Poppins"/>
            </a:endParaRPr>
          </a:p>
        </p:txBody>
      </p:sp>
      <p:sp>
        <p:nvSpPr>
          <p:cNvPr id="314" name="Google Shape;314;p37"/>
          <p:cNvSpPr txBox="1"/>
          <p:nvPr/>
        </p:nvSpPr>
        <p:spPr>
          <a:xfrm>
            <a:off x="508000" y="42799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change providers, rebuild a view and check its freshness</a:t>
            </a:r>
            <a:endParaRPr sz="1700">
              <a:solidFill>
                <a:srgbClr val="06038D"/>
              </a:solidFill>
              <a:latin typeface="Poppins"/>
              <a:ea typeface="Poppins"/>
              <a:cs typeface="Poppins"/>
              <a:sym typeface="Poppins"/>
            </a:endParaRPr>
          </a:p>
        </p:txBody>
      </p:sp>
      <p:cxnSp>
        <p:nvCxnSpPr>
          <p:cNvPr id="315" name="Google Shape;315;p37"/>
          <p:cNvCxnSpPr/>
          <p:nvPr/>
        </p:nvCxnSpPr>
        <p:spPr>
          <a:xfrm>
            <a:off x="2946400" y="20828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16" name="Google Shape;316;p37"/>
          <p:cNvCxnSpPr/>
          <p:nvPr/>
        </p:nvCxnSpPr>
        <p:spPr>
          <a:xfrm>
            <a:off x="6248400" y="2082800"/>
            <a:ext cx="393600" cy="0"/>
          </a:xfrm>
          <a:prstGeom prst="straightConnector1">
            <a:avLst/>
          </a:prstGeom>
          <a:noFill/>
          <a:ln cap="flat" cmpd="sng" w="16500">
            <a:solidFill>
              <a:srgbClr val="06038D"/>
            </a:solidFill>
            <a:prstDash val="solid"/>
            <a:round/>
            <a:headEnd len="med" w="med" type="none"/>
            <a:tailEnd len="med" w="med" type="triangle"/>
          </a:ln>
        </p:spPr>
      </p:cxnSp>
      <p:sp>
        <p:nvSpPr>
          <p:cNvPr id="317" name="Google Shape;317;p37"/>
          <p:cNvSpPr/>
          <p:nvPr/>
        </p:nvSpPr>
        <p:spPr>
          <a:xfrm>
            <a:off x="508000" y="3225800"/>
            <a:ext cx="24129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Published</a:t>
            </a:r>
            <a:endParaRPr sz="19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900">
                <a:solidFill>
                  <a:srgbClr val="212121"/>
                </a:solidFill>
                <a:latin typeface="Poppins"/>
                <a:ea typeface="Poppins"/>
                <a:cs typeface="Poppins"/>
                <a:sym typeface="Poppins"/>
              </a:rPr>
              <a:t>records + history</a:t>
            </a:r>
            <a:endParaRPr sz="1900">
              <a:solidFill>
                <a:srgbClr val="212121"/>
              </a:solidFill>
              <a:latin typeface="Poppins"/>
              <a:ea typeface="Poppins"/>
              <a:cs typeface="Poppins"/>
              <a:sym typeface="Poppins"/>
            </a:endParaRPr>
          </a:p>
        </p:txBody>
      </p:sp>
      <p:sp>
        <p:nvSpPr>
          <p:cNvPr id="318" name="Google Shape;318;p37"/>
          <p:cNvSpPr/>
          <p:nvPr/>
        </p:nvSpPr>
        <p:spPr>
          <a:xfrm>
            <a:off x="3365500" y="3225800"/>
            <a:ext cx="2857500" cy="7875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Independent indexers</a:t>
            </a:r>
            <a:endParaRPr sz="18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212121"/>
                </a:solidFill>
                <a:latin typeface="Poppins"/>
                <a:ea typeface="Poppins"/>
                <a:cs typeface="Poppins"/>
                <a:sym typeface="Poppins"/>
              </a:rPr>
              <a:t>Example: The Graph</a:t>
            </a:r>
            <a:endParaRPr sz="1800">
              <a:solidFill>
                <a:srgbClr val="212121"/>
              </a:solidFill>
              <a:latin typeface="Poppins"/>
              <a:ea typeface="Poppins"/>
              <a:cs typeface="Poppins"/>
              <a:sym typeface="Poppins"/>
            </a:endParaRPr>
          </a:p>
        </p:txBody>
      </p:sp>
      <p:sp>
        <p:nvSpPr>
          <p:cNvPr id="319" name="Google Shape;319;p37"/>
          <p:cNvSpPr/>
          <p:nvPr/>
        </p:nvSpPr>
        <p:spPr>
          <a:xfrm>
            <a:off x="6667500" y="3225800"/>
            <a:ext cx="1968600" cy="7875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App lists</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and searches</a:t>
            </a:r>
            <a:endParaRPr sz="2000">
              <a:solidFill>
                <a:srgbClr val="FFFFFF"/>
              </a:solidFill>
              <a:latin typeface="Poppins"/>
              <a:ea typeface="Poppins"/>
              <a:cs typeface="Poppins"/>
              <a:sym typeface="Poppins"/>
            </a:endParaRPr>
          </a:p>
        </p:txBody>
      </p:sp>
      <p:cxnSp>
        <p:nvCxnSpPr>
          <p:cNvPr id="320" name="Google Shape;320;p37"/>
          <p:cNvCxnSpPr/>
          <p:nvPr/>
        </p:nvCxnSpPr>
        <p:spPr>
          <a:xfrm>
            <a:off x="2946400" y="3619500"/>
            <a:ext cx="393600" cy="0"/>
          </a:xfrm>
          <a:prstGeom prst="straightConnector1">
            <a:avLst/>
          </a:prstGeom>
          <a:noFill/>
          <a:ln cap="flat" cmpd="sng" w="16500">
            <a:solidFill>
              <a:srgbClr val="06038D"/>
            </a:solidFill>
            <a:prstDash val="solid"/>
            <a:round/>
            <a:headEnd len="med" w="med" type="none"/>
            <a:tailEnd len="med" w="med" type="triangle"/>
          </a:ln>
        </p:spPr>
      </p:cxnSp>
      <p:cxnSp>
        <p:nvCxnSpPr>
          <p:cNvPr id="321" name="Google Shape;321;p37"/>
          <p:cNvCxnSpPr/>
          <p:nvPr/>
        </p:nvCxnSpPr>
        <p:spPr>
          <a:xfrm>
            <a:off x="6248400" y="3619500"/>
            <a:ext cx="393600" cy="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8"/>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Who sends the next transaction?</a:t>
            </a:r>
            <a:endParaRPr b="1" sz="3000">
              <a:solidFill>
                <a:srgbClr val="06038D"/>
              </a:solidFill>
              <a:latin typeface="Poppins"/>
              <a:ea typeface="Poppins"/>
              <a:cs typeface="Poppins"/>
              <a:sym typeface="Poppins"/>
            </a:endParaRPr>
          </a:p>
        </p:txBody>
      </p:sp>
      <p:sp>
        <p:nvSpPr>
          <p:cNvPr id="327" name="Google Shape;327;p38"/>
          <p:cNvSpPr txBox="1"/>
          <p:nvPr/>
        </p:nvSpPr>
        <p:spPr>
          <a:xfrm>
            <a:off x="508000" y="1143000"/>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200">
                <a:solidFill>
                  <a:srgbClr val="212121"/>
                </a:solidFill>
                <a:latin typeface="Poppins"/>
                <a:ea typeface="Poppins"/>
                <a:cs typeface="Poppins"/>
                <a:sym typeface="Poppins"/>
              </a:rPr>
              <a:t>Tornado Cash: replaceable relayers</a:t>
            </a:r>
            <a:endParaRPr sz="2200">
              <a:solidFill>
                <a:srgbClr val="212121"/>
              </a:solidFill>
              <a:latin typeface="Poppins"/>
              <a:ea typeface="Poppins"/>
              <a:cs typeface="Poppins"/>
              <a:sym typeface="Poppins"/>
            </a:endParaRPr>
          </a:p>
        </p:txBody>
      </p:sp>
      <p:sp>
        <p:nvSpPr>
          <p:cNvPr id="328" name="Google Shape;328;p38"/>
          <p:cNvSpPr/>
          <p:nvPr/>
        </p:nvSpPr>
        <p:spPr>
          <a:xfrm>
            <a:off x="3581400" y="1816100"/>
            <a:ext cx="2412900" cy="749400"/>
          </a:xfrm>
          <a:prstGeom prst="rect">
            <a:avLst/>
          </a:prstGeom>
          <a:solidFill>
            <a:srgbClr val="EEEEF8"/>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A</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Offline</a:t>
            </a:r>
            <a:endParaRPr sz="2000">
              <a:solidFill>
                <a:srgbClr val="212121"/>
              </a:solidFill>
              <a:latin typeface="Poppins"/>
              <a:ea typeface="Poppins"/>
              <a:cs typeface="Poppins"/>
              <a:sym typeface="Poppins"/>
            </a:endParaRPr>
          </a:p>
        </p:txBody>
      </p:sp>
      <p:sp>
        <p:nvSpPr>
          <p:cNvPr id="329" name="Google Shape;329;p38"/>
          <p:cNvSpPr/>
          <p:nvPr/>
        </p:nvSpPr>
        <p:spPr>
          <a:xfrm>
            <a:off x="3581400" y="3073400"/>
            <a:ext cx="2412900" cy="8256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Relayer B</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Submits proof</a:t>
            </a:r>
            <a:endParaRPr sz="2000">
              <a:solidFill>
                <a:srgbClr val="212121"/>
              </a:solidFill>
              <a:latin typeface="Poppins"/>
              <a:ea typeface="Poppins"/>
              <a:cs typeface="Poppins"/>
              <a:sym typeface="Poppins"/>
            </a:endParaRPr>
          </a:p>
        </p:txBody>
      </p:sp>
      <p:sp>
        <p:nvSpPr>
          <p:cNvPr id="330" name="Google Shape;330;p38"/>
          <p:cNvSpPr/>
          <p:nvPr/>
        </p:nvSpPr>
        <p:spPr>
          <a:xfrm>
            <a:off x="6540500" y="2692400"/>
            <a:ext cx="2095500" cy="10923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Pool contract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Checks the proof</a:t>
            </a:r>
            <a:endParaRPr sz="2000">
              <a:solidFill>
                <a:srgbClr val="FFFFFF"/>
              </a:solidFill>
              <a:latin typeface="Poppins"/>
              <a:ea typeface="Poppins"/>
              <a:cs typeface="Poppins"/>
              <a:sym typeface="Poppins"/>
            </a:endParaRPr>
          </a:p>
        </p:txBody>
      </p:sp>
      <p:sp>
        <p:nvSpPr>
          <p:cNvPr id="331" name="Google Shape;331;p38"/>
          <p:cNvSpPr/>
          <p:nvPr/>
        </p:nvSpPr>
        <p:spPr>
          <a:xfrm>
            <a:off x="520650" y="2305000"/>
            <a:ext cx="2540100" cy="1092300"/>
          </a:xfrm>
          <a:prstGeom prst="rect">
            <a:avLst/>
          </a:prstGeom>
          <a:noFill/>
          <a:ln cap="flat" cmpd="sng" w="1525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User authorizes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a withdrawal</a:t>
            </a:r>
            <a:endParaRPr sz="2000">
              <a:solidFill>
                <a:srgbClr val="212121"/>
              </a:solidFill>
              <a:latin typeface="Poppins"/>
              <a:ea typeface="Poppins"/>
              <a:cs typeface="Poppins"/>
              <a:sym typeface="Poppins"/>
            </a:endParaRPr>
          </a:p>
        </p:txBody>
      </p:sp>
      <p:sp>
        <p:nvSpPr>
          <p:cNvPr id="332" name="Google Shape;332;p38"/>
          <p:cNvSpPr txBox="1"/>
          <p:nvPr/>
        </p:nvSpPr>
        <p:spPr>
          <a:xfrm>
            <a:off x="508000" y="4158875"/>
            <a:ext cx="8127900" cy="4572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could another operator complete your background job?</a:t>
            </a:r>
            <a:endParaRPr sz="1700">
              <a:solidFill>
                <a:srgbClr val="06038D"/>
              </a:solidFill>
              <a:latin typeface="Poppins"/>
              <a:ea typeface="Poppins"/>
              <a:cs typeface="Poppins"/>
              <a:sym typeface="Poppins"/>
            </a:endParaRPr>
          </a:p>
        </p:txBody>
      </p:sp>
      <p:cxnSp>
        <p:nvCxnSpPr>
          <p:cNvPr id="333" name="Google Shape;333;p38"/>
          <p:cNvCxnSpPr/>
          <p:nvPr/>
        </p:nvCxnSpPr>
        <p:spPr>
          <a:xfrm>
            <a:off x="3073500" y="2851150"/>
            <a:ext cx="241200" cy="0"/>
          </a:xfrm>
          <a:prstGeom prst="straightConnector1">
            <a:avLst/>
          </a:prstGeom>
          <a:noFill/>
          <a:ln cap="flat" cmpd="sng" w="16500">
            <a:solidFill>
              <a:srgbClr val="06038D"/>
            </a:solidFill>
            <a:prstDash val="solid"/>
            <a:round/>
            <a:headEnd len="med" w="med" type="none"/>
            <a:tailEnd len="med" w="med" type="none"/>
          </a:ln>
        </p:spPr>
      </p:cxnSp>
      <p:cxnSp>
        <p:nvCxnSpPr>
          <p:cNvPr id="334" name="Google Shape;334;p38"/>
          <p:cNvCxnSpPr/>
          <p:nvPr/>
        </p:nvCxnSpPr>
        <p:spPr>
          <a:xfrm>
            <a:off x="3314700" y="2209800"/>
            <a:ext cx="0" cy="1282800"/>
          </a:xfrm>
          <a:prstGeom prst="straightConnector1">
            <a:avLst/>
          </a:prstGeom>
          <a:noFill/>
          <a:ln cap="flat" cmpd="sng" w="16500">
            <a:solidFill>
              <a:srgbClr val="06038D"/>
            </a:solidFill>
            <a:prstDash val="solid"/>
            <a:round/>
            <a:headEnd len="med" w="med" type="none"/>
            <a:tailEnd len="med" w="med" type="none"/>
          </a:ln>
        </p:spPr>
      </p:cxnSp>
      <p:cxnSp>
        <p:nvCxnSpPr>
          <p:cNvPr id="335" name="Google Shape;335;p38"/>
          <p:cNvCxnSpPr/>
          <p:nvPr/>
        </p:nvCxnSpPr>
        <p:spPr>
          <a:xfrm>
            <a:off x="3314700" y="22098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36" name="Google Shape;336;p38"/>
          <p:cNvCxnSpPr/>
          <p:nvPr/>
        </p:nvCxnSpPr>
        <p:spPr>
          <a:xfrm>
            <a:off x="3314700" y="3492500"/>
            <a:ext cx="241200" cy="0"/>
          </a:xfrm>
          <a:prstGeom prst="straightConnector1">
            <a:avLst/>
          </a:prstGeom>
          <a:noFill/>
          <a:ln cap="flat" cmpd="sng" w="16500">
            <a:solidFill>
              <a:srgbClr val="06038D"/>
            </a:solidFill>
            <a:prstDash val="solid"/>
            <a:round/>
            <a:headEnd len="med" w="med" type="none"/>
            <a:tailEnd len="med" w="med" type="triangle"/>
          </a:ln>
        </p:spPr>
      </p:cxnSp>
      <p:cxnSp>
        <p:nvCxnSpPr>
          <p:cNvPr id="337" name="Google Shape;337;p38"/>
          <p:cNvCxnSpPr/>
          <p:nvPr/>
        </p:nvCxnSpPr>
        <p:spPr>
          <a:xfrm flipH="1" rot="10800000">
            <a:off x="6019800" y="3238400"/>
            <a:ext cx="495300" cy="254100"/>
          </a:xfrm>
          <a:prstGeom prst="straightConnector1">
            <a:avLst/>
          </a:prstGeom>
          <a:noFill/>
          <a:ln cap="flat" cmpd="sng" w="16500">
            <a:solidFill>
              <a:srgbClr val="06038D"/>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9"/>
          <p:cNvSpPr txBox="1"/>
          <p:nvPr>
            <p:ph type="title"/>
          </p:nvPr>
        </p:nvSpPr>
        <p:spPr>
          <a:xfrm>
            <a:off x="457200" y="2150850"/>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Keeping dependable rules</a:t>
            </a:r>
            <a:endParaRPr b="1">
              <a:solidFill>
                <a:srgbClr val="FFFFFF"/>
              </a:solidFill>
              <a:latin typeface="Poppins"/>
              <a:ea typeface="Poppins"/>
              <a:cs typeface="Poppins"/>
              <a:sym typeface="Poppins"/>
            </a:endParaRPr>
          </a:p>
        </p:txBody>
      </p:sp>
      <p:sp>
        <p:nvSpPr>
          <p:cNvPr id="343" name="Google Shape;343;p39"/>
          <p:cNvSpPr txBox="1"/>
          <p:nvPr/>
        </p:nvSpPr>
        <p:spPr>
          <a:xfrm>
            <a:off x="2998200" y="1794850"/>
            <a:ext cx="3147600" cy="40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Rules</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0"/>
          <p:cNvSpPr txBox="1"/>
          <p:nvPr>
            <p:ph type="title"/>
          </p:nvPr>
        </p:nvSpPr>
        <p:spPr>
          <a:xfrm>
            <a:off x="4837000" y="768000"/>
            <a:ext cx="3733200" cy="36075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a:solidFill>
                  <a:srgbClr val="FFFFFF"/>
                </a:solidFill>
                <a:latin typeface="Poppins"/>
                <a:ea typeface="Poppins"/>
                <a:cs typeface="Poppins"/>
                <a:sym typeface="Poppins"/>
              </a:rPr>
              <a:t>Who chooses the changes?</a:t>
            </a:r>
            <a:endParaRPr b="1">
              <a:solidFill>
                <a:srgbClr val="FFFFFF"/>
              </a:solidFill>
              <a:latin typeface="Poppins"/>
              <a:ea typeface="Poppins"/>
              <a:cs typeface="Poppins"/>
              <a:sym typeface="Poppins"/>
            </a:endParaRPr>
          </a:p>
        </p:txBody>
      </p:sp>
      <p:sp>
        <p:nvSpPr>
          <p:cNvPr id="349" name="Google Shape;349;p40"/>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lnSpc>
                <a:spcPct val="110000"/>
              </a:lnSpc>
              <a:spcBef>
                <a:spcPts val="0"/>
              </a:spcBef>
              <a:spcAft>
                <a:spcPts val="0"/>
              </a:spcAft>
              <a:buNone/>
            </a:pPr>
            <a:r>
              <a:rPr lang="en" sz="2400">
                <a:solidFill>
                  <a:schemeClr val="accent2"/>
                </a:solidFill>
              </a:rPr>
              <a:t>Stable core contracts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0"/>
              </a:spcAft>
              <a:buNone/>
            </a:pPr>
            <a:r>
              <a:rPr lang="en" sz="2400">
                <a:solidFill>
                  <a:schemeClr val="accent2"/>
                </a:solidFill>
              </a:rPr>
              <a:t>User-chosen app upgrades</a:t>
            </a:r>
            <a:br>
              <a:rPr lang="en" sz="2400">
                <a:solidFill>
                  <a:schemeClr val="accent2"/>
                </a:solidFill>
              </a:rPr>
            </a:br>
            <a:endParaRPr sz="2400">
              <a:solidFill>
                <a:schemeClr val="accent2"/>
              </a:solidFill>
            </a:endParaRPr>
          </a:p>
          <a:p>
            <a:pPr indent="0" lvl="0" marL="0" marR="0" rtl="0" algn="l">
              <a:lnSpc>
                <a:spcPct val="110000"/>
              </a:lnSpc>
              <a:spcBef>
                <a:spcPts val="1000"/>
              </a:spcBef>
              <a:spcAft>
                <a:spcPts val="1000"/>
              </a:spcAft>
              <a:buNone/>
            </a:pPr>
            <a:r>
              <a:rPr lang="en" sz="2400">
                <a:solidFill>
                  <a:schemeClr val="accent2"/>
                </a:solidFill>
              </a:rPr>
              <a:t>Clear rules for shared governance</a:t>
            </a:r>
            <a:endParaRPr sz="2400">
              <a:solidFill>
                <a:schemeClr val="accent2"/>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1"/>
          <p:cNvSpPr txBox="1"/>
          <p:nvPr>
            <p:ph idx="1" type="body"/>
          </p:nvPr>
        </p:nvSpPr>
        <p:spPr>
          <a:xfrm>
            <a:off x="696124" y="14246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A stable core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Keep the contract code fixed</a:t>
            </a:r>
            <a:endParaRPr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Let other apps</a:t>
            </a:r>
            <a:endParaRPr sz="2400">
              <a:solidFill>
                <a:srgbClr val="212121"/>
              </a:solidFill>
            </a:endParaRPr>
          </a:p>
          <a:p>
            <a:pPr indent="0" lvl="0" marL="0" marR="0" rtl="0" algn="l">
              <a:lnSpc>
                <a:spcPct val="110000"/>
              </a:lnSpc>
              <a:spcBef>
                <a:spcPts val="0"/>
              </a:spcBef>
              <a:spcAft>
                <a:spcPts val="1000"/>
              </a:spcAft>
              <a:buNone/>
            </a:pPr>
            <a:r>
              <a:rPr lang="en" sz="2400">
                <a:solidFill>
                  <a:srgbClr val="212121"/>
                </a:solidFill>
              </a:rPr>
              <a:t>build on it</a:t>
            </a:r>
            <a:endParaRPr sz="2400">
              <a:solidFill>
                <a:srgbClr val="212121"/>
              </a:solidFill>
            </a:endParaRPr>
          </a:p>
        </p:txBody>
      </p:sp>
      <p:sp>
        <p:nvSpPr>
          <p:cNvPr id="355" name="Google Shape;355;p41"/>
          <p:cNvSpPr txBox="1"/>
          <p:nvPr>
            <p:ph idx="2" type="body"/>
          </p:nvPr>
        </p:nvSpPr>
        <p:spPr>
          <a:xfrm>
            <a:off x="4655575" y="14246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400">
                <a:solidFill>
                  <a:srgbClr val="212121"/>
                </a:solidFill>
              </a:rPr>
              <a:t>Room to improve</a:t>
            </a:r>
            <a:endParaRPr b="1" sz="2400">
              <a:solidFill>
                <a:srgbClr val="212121"/>
              </a:solidFill>
            </a:endParaRPr>
          </a:p>
          <a:p>
            <a:pPr indent="0" lvl="0" marL="0" marR="0" rtl="0" algn="l">
              <a:lnSpc>
                <a:spcPct val="110000"/>
              </a:lnSpc>
              <a:spcBef>
                <a:spcPts val="1000"/>
              </a:spcBef>
              <a:spcAft>
                <a:spcPts val="0"/>
              </a:spcAft>
              <a:buNone/>
            </a:pPr>
            <a:r>
              <a:rPr lang="en" sz="2400">
                <a:solidFill>
                  <a:srgbClr val="212121"/>
                </a:solidFill>
              </a:rPr>
              <a:t>Deploy a new version</a:t>
            </a:r>
            <a:endParaRPr sz="2400">
              <a:solidFill>
                <a:srgbClr val="212121"/>
              </a:solidFill>
            </a:endParaRPr>
          </a:p>
          <a:p>
            <a:pPr indent="0" lvl="0" marL="0" marR="0" rtl="0" algn="l">
              <a:lnSpc>
                <a:spcPct val="110000"/>
              </a:lnSpc>
              <a:spcBef>
                <a:spcPts val="1000"/>
              </a:spcBef>
              <a:spcAft>
                <a:spcPts val="1000"/>
              </a:spcAft>
              <a:buNone/>
            </a:pPr>
            <a:r>
              <a:rPr lang="en" sz="2400">
                <a:solidFill>
                  <a:srgbClr val="212121"/>
                </a:solidFill>
              </a:rPr>
              <a:t>Let users choose to migrate</a:t>
            </a:r>
            <a:endParaRPr sz="2400">
              <a:solidFill>
                <a:srgbClr val="212121"/>
              </a:solidFill>
            </a:endParaRPr>
          </a:p>
        </p:txBody>
      </p:sp>
      <p:sp>
        <p:nvSpPr>
          <p:cNvPr id="356" name="Google Shape;356;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Immutable contracts</a:t>
            </a:r>
            <a:endParaRPr b="1" sz="3200">
              <a:solidFill>
                <a:srgbClr val="06038D"/>
              </a:solidFill>
              <a:latin typeface="Poppins"/>
              <a:ea typeface="Poppins"/>
              <a:cs typeface="Poppins"/>
              <a:sym typeface="Poppins"/>
            </a:endParaRPr>
          </a:p>
        </p:txBody>
      </p:sp>
      <p:sp>
        <p:nvSpPr>
          <p:cNvPr id="357" name="Google Shape;357;p41"/>
          <p:cNvSpPr txBox="1"/>
          <p:nvPr/>
        </p:nvSpPr>
        <p:spPr>
          <a:xfrm>
            <a:off x="889050" y="4178775"/>
            <a:ext cx="7365900" cy="4317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Uniswap v2 core: fixed code, shared exchange logic</a:t>
            </a:r>
            <a:endParaRPr sz="1800">
              <a:solidFill>
                <a:srgbClr val="06038D"/>
              </a:solidFill>
              <a:latin typeface="Poppins"/>
              <a:ea typeface="Poppins"/>
              <a:cs typeface="Poppins"/>
              <a:sym typeface="Poppins"/>
            </a:endParaRPr>
          </a:p>
        </p:txBody>
      </p:sp>
      <p:sp>
        <p:nvSpPr>
          <p:cNvPr id="358" name="Google Shape;358;p41"/>
          <p:cNvSpPr txBox="1"/>
          <p:nvPr/>
        </p:nvSpPr>
        <p:spPr>
          <a:xfrm>
            <a:off x="1540800" y="1058050"/>
            <a:ext cx="6062400" cy="366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200">
                <a:solidFill>
                  <a:srgbClr val="06038D"/>
                </a:solidFill>
                <a:latin typeface="Poppins"/>
                <a:ea typeface="Poppins"/>
                <a:cs typeface="Poppins"/>
                <a:sym typeface="Poppins"/>
              </a:rPr>
              <a:t>UNIX mindset: Do one thing and do it well</a:t>
            </a:r>
            <a:endParaRPr sz="1200">
              <a:solidFill>
                <a:srgbClr val="06038D"/>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2"/>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Ethereum and L1</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Keep a working node route</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Retain the history you need</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Understand inclusion and finality</a:t>
            </a:r>
            <a:endParaRPr sz="2200">
              <a:solidFill>
                <a:srgbClr val="212121"/>
              </a:solidFill>
            </a:endParaRPr>
          </a:p>
        </p:txBody>
      </p:sp>
      <p:sp>
        <p:nvSpPr>
          <p:cNvPr id="364" name="Google Shape;364;p42"/>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200">
                <a:solidFill>
                  <a:srgbClr val="212121"/>
                </a:solidFill>
              </a:rPr>
              <a:t>L2 and settlement</a:t>
            </a:r>
            <a:endParaRPr b="1"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Know who orders and proves</a:t>
            </a:r>
            <a:endParaRPr sz="2200">
              <a:solidFill>
                <a:srgbClr val="212121"/>
              </a:solidFill>
            </a:endParaRPr>
          </a:p>
          <a:p>
            <a:pPr indent="0" lvl="0" marL="0" marR="0" rtl="0" algn="l">
              <a:lnSpc>
                <a:spcPct val="110000"/>
              </a:lnSpc>
              <a:spcBef>
                <a:spcPts val="1000"/>
              </a:spcBef>
              <a:spcAft>
                <a:spcPts val="0"/>
              </a:spcAft>
              <a:buNone/>
            </a:pPr>
            <a:r>
              <a:rPr lang="en" sz="2200">
                <a:solidFill>
                  <a:srgbClr val="212121"/>
                </a:solidFill>
              </a:rPr>
              <a:t>Find the required chain data</a:t>
            </a:r>
            <a:endParaRPr sz="2200">
              <a:solidFill>
                <a:srgbClr val="212121"/>
              </a:solidFill>
            </a:endParaRPr>
          </a:p>
          <a:p>
            <a:pPr indent="0" lvl="0" marL="0" marR="0" rtl="0" algn="l">
              <a:lnSpc>
                <a:spcPct val="110000"/>
              </a:lnSpc>
              <a:spcBef>
                <a:spcPts val="1000"/>
              </a:spcBef>
              <a:spcAft>
                <a:spcPts val="1000"/>
              </a:spcAft>
              <a:buNone/>
            </a:pPr>
            <a:r>
              <a:rPr lang="en" sz="2200">
                <a:solidFill>
                  <a:srgbClr val="212121"/>
                </a:solidFill>
              </a:rPr>
              <a:t>Practice the recovery route</a:t>
            </a:r>
            <a:endParaRPr sz="2200">
              <a:solidFill>
                <a:srgbClr val="212121"/>
              </a:solidFill>
            </a:endParaRPr>
          </a:p>
        </p:txBody>
      </p:sp>
      <p:sp>
        <p:nvSpPr>
          <p:cNvPr id="365" name="Google Shape;365;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3200">
                <a:solidFill>
                  <a:srgbClr val="06038D"/>
                </a:solidFill>
                <a:latin typeface="Poppins"/>
                <a:ea typeface="Poppins"/>
                <a:cs typeface="Poppins"/>
                <a:sym typeface="Poppins"/>
              </a:rPr>
              <a:t>The network beneath the app</a:t>
            </a:r>
            <a:endParaRPr b="1" sz="3200">
              <a:solidFill>
                <a:srgbClr val="06038D"/>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3"/>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Someone else can take over</a:t>
            </a:r>
            <a:endParaRPr b="1" sz="3000">
              <a:solidFill>
                <a:srgbClr val="06038D"/>
              </a:solidFill>
              <a:latin typeface="Poppins"/>
              <a:ea typeface="Poppins"/>
              <a:cs typeface="Poppins"/>
              <a:sym typeface="Poppins"/>
            </a:endParaRPr>
          </a:p>
        </p:txBody>
      </p:sp>
      <p:sp>
        <p:nvSpPr>
          <p:cNvPr id="371" name="Google Shape;371;p43"/>
          <p:cNvSpPr/>
          <p:nvPr/>
        </p:nvSpPr>
        <p:spPr>
          <a:xfrm>
            <a:off x="508000" y="1905000"/>
            <a:ext cx="3048000" cy="1905000"/>
          </a:xfrm>
          <a:prstGeom prst="rect">
            <a:avLst/>
          </a:prstGeom>
          <a:no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Software + license</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Data + instructions</a:t>
            </a:r>
            <a:endParaRPr sz="2000">
              <a:solidFill>
                <a:srgbClr val="212121"/>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212121"/>
                </a:solidFill>
                <a:latin typeface="Poppins"/>
                <a:ea typeface="Poppins"/>
                <a:cs typeface="Poppins"/>
                <a:sym typeface="Poppins"/>
              </a:rPr>
              <a:t>Configuration + costs</a:t>
            </a:r>
            <a:endParaRPr sz="2000">
              <a:solidFill>
                <a:srgbClr val="212121"/>
              </a:solidFill>
              <a:latin typeface="Poppins"/>
              <a:ea typeface="Poppins"/>
              <a:cs typeface="Poppins"/>
              <a:sym typeface="Poppins"/>
            </a:endParaRPr>
          </a:p>
        </p:txBody>
      </p:sp>
      <p:cxnSp>
        <p:nvCxnSpPr>
          <p:cNvPr id="372" name="Google Shape;372;p43"/>
          <p:cNvCxnSpPr/>
          <p:nvPr/>
        </p:nvCxnSpPr>
        <p:spPr>
          <a:xfrm>
            <a:off x="3619500" y="2527300"/>
            <a:ext cx="482700" cy="0"/>
          </a:xfrm>
          <a:prstGeom prst="straightConnector1">
            <a:avLst/>
          </a:prstGeom>
          <a:noFill/>
          <a:ln cap="flat" cmpd="sng" w="16500">
            <a:solidFill>
              <a:srgbClr val="06038D"/>
            </a:solidFill>
            <a:prstDash val="solid"/>
            <a:round/>
            <a:headEnd len="med" w="med" type="none"/>
            <a:tailEnd len="med" w="med" type="triangle"/>
          </a:ln>
        </p:spPr>
      </p:cxnSp>
      <p:sp>
        <p:nvSpPr>
          <p:cNvPr id="373" name="Google Shape;373;p43"/>
          <p:cNvSpPr/>
          <p:nvPr/>
        </p:nvSpPr>
        <p:spPr>
          <a:xfrm>
            <a:off x="4191000" y="2120900"/>
            <a:ext cx="19050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Independent</a:t>
            </a:r>
            <a:endParaRPr sz="20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2000">
                <a:solidFill>
                  <a:srgbClr val="FFFFFF"/>
                </a:solidFill>
                <a:latin typeface="Poppins"/>
                <a:ea typeface="Poppins"/>
                <a:cs typeface="Poppins"/>
                <a:sym typeface="Poppins"/>
              </a:rPr>
              <a:t>operator</a:t>
            </a:r>
            <a:endParaRPr sz="2000">
              <a:solidFill>
                <a:srgbClr val="FFFFFF"/>
              </a:solidFill>
              <a:latin typeface="Poppins"/>
              <a:ea typeface="Poppins"/>
              <a:cs typeface="Poppins"/>
              <a:sym typeface="Poppins"/>
            </a:endParaRPr>
          </a:p>
        </p:txBody>
      </p:sp>
      <p:cxnSp>
        <p:nvCxnSpPr>
          <p:cNvPr id="374" name="Google Shape;374;p43"/>
          <p:cNvCxnSpPr/>
          <p:nvPr/>
        </p:nvCxnSpPr>
        <p:spPr>
          <a:xfrm>
            <a:off x="6172200" y="2527300"/>
            <a:ext cx="597000" cy="0"/>
          </a:xfrm>
          <a:prstGeom prst="straightConnector1">
            <a:avLst/>
          </a:prstGeom>
          <a:noFill/>
          <a:ln cap="flat" cmpd="sng" w="16500">
            <a:solidFill>
              <a:srgbClr val="06038D"/>
            </a:solidFill>
            <a:prstDash val="solid"/>
            <a:round/>
            <a:headEnd len="med" w="med" type="none"/>
            <a:tailEnd len="med" w="med" type="triangle"/>
          </a:ln>
        </p:spPr>
      </p:cxnSp>
      <p:sp>
        <p:nvSpPr>
          <p:cNvPr id="375" name="Google Shape;375;p43"/>
          <p:cNvSpPr/>
          <p:nvPr/>
        </p:nvSpPr>
        <p:spPr>
          <a:xfrm>
            <a:off x="6858000" y="2120900"/>
            <a:ext cx="1778100" cy="8256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Replacement</a:t>
            </a:r>
            <a:endParaRPr sz="1800">
              <a:solidFill>
                <a:srgbClr val="FFFFFF"/>
              </a:solidFill>
              <a:latin typeface="Poppins"/>
              <a:ea typeface="Poppins"/>
              <a:cs typeface="Poppins"/>
              <a:sym typeface="Poppins"/>
            </a:endParaRPr>
          </a:p>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service</a:t>
            </a:r>
            <a:endParaRPr sz="1800">
              <a:solidFill>
                <a:srgbClr val="FFFFFF"/>
              </a:solidFill>
              <a:latin typeface="Poppins"/>
              <a:ea typeface="Poppins"/>
              <a:cs typeface="Poppins"/>
              <a:sym typeface="Poppins"/>
            </a:endParaRPr>
          </a:p>
        </p:txBody>
      </p:sp>
      <p:sp>
        <p:nvSpPr>
          <p:cNvPr id="376" name="Google Shape;376;p43"/>
          <p:cNvSpPr/>
          <p:nvPr/>
        </p:nvSpPr>
        <p:spPr>
          <a:xfrm>
            <a:off x="3429000" y="1155700"/>
            <a:ext cx="3048000" cy="406500"/>
          </a:xfrm>
          <a:prstGeom prst="rect">
            <a:avLst/>
          </a:prstGeom>
          <a:solidFill>
            <a:srgbClr val="FF3D94"/>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800">
                <a:solidFill>
                  <a:srgbClr val="FFFFFF"/>
                </a:solidFill>
                <a:latin typeface="Poppins"/>
                <a:ea typeface="Poppins"/>
                <a:cs typeface="Poppins"/>
                <a:sym typeface="Poppins"/>
              </a:rPr>
              <a:t>Original team offline</a:t>
            </a:r>
            <a:endParaRPr sz="1800">
              <a:solidFill>
                <a:srgbClr val="FFFFFF"/>
              </a:solidFill>
              <a:latin typeface="Poppins"/>
              <a:ea typeface="Poppins"/>
              <a:cs typeface="Poppins"/>
              <a:sym typeface="Poppins"/>
            </a:endParaRPr>
          </a:p>
        </p:txBody>
      </p:sp>
      <p:sp>
        <p:nvSpPr>
          <p:cNvPr id="377" name="Google Shape;377;p43"/>
          <p:cNvSpPr txBox="1"/>
          <p:nvPr/>
        </p:nvSpPr>
        <p:spPr>
          <a:xfrm>
            <a:off x="571500" y="4381500"/>
            <a:ext cx="8001000" cy="3555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06038D"/>
                </a:solidFill>
                <a:latin typeface="Poppins"/>
                <a:ea typeface="Poppins"/>
                <a:cs typeface="Poppins"/>
                <a:sym typeface="Poppins"/>
              </a:rPr>
              <a:t>Check: can someone start it without contacting you?</a:t>
            </a:r>
            <a:endParaRPr sz="1700">
              <a:solidFill>
                <a:srgbClr val="06038D"/>
              </a:solidFill>
              <a:latin typeface="Poppins"/>
              <a:ea typeface="Poppins"/>
              <a:cs typeface="Poppins"/>
              <a:sym typeface="Poppins"/>
            </a:endParaRPr>
          </a:p>
        </p:txBody>
      </p:sp>
      <p:sp>
        <p:nvSpPr>
          <p:cNvPr id="378" name="Google Shape;378;p43"/>
          <p:cNvSpPr txBox="1"/>
          <p:nvPr/>
        </p:nvSpPr>
        <p:spPr>
          <a:xfrm>
            <a:off x="508000" y="1460500"/>
            <a:ext cx="3048000" cy="381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2000">
                <a:solidFill>
                  <a:srgbClr val="06038D"/>
                </a:solidFill>
                <a:latin typeface="Poppins"/>
                <a:ea typeface="Poppins"/>
                <a:cs typeface="Poppins"/>
                <a:sym typeface="Poppins"/>
              </a:rPr>
              <a:t>Public handoff</a:t>
            </a:r>
            <a:endParaRPr b="1" sz="2000">
              <a:solidFill>
                <a:srgbClr val="06038D"/>
              </a:solidFill>
              <a:latin typeface="Poppins"/>
              <a:ea typeface="Poppins"/>
              <a:cs typeface="Poppins"/>
              <a:sym typeface="Poppins"/>
            </a:endParaRPr>
          </a:p>
        </p:txBody>
      </p:sp>
      <p:sp>
        <p:nvSpPr>
          <p:cNvPr id="379" name="Google Shape;379;p43"/>
          <p:cNvSpPr txBox="1"/>
          <p:nvPr/>
        </p:nvSpPr>
        <p:spPr>
          <a:xfrm>
            <a:off x="3975100" y="3149600"/>
            <a:ext cx="23367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Their own keys</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and hosting</a:t>
            </a:r>
            <a:endParaRPr sz="1800">
              <a:solidFill>
                <a:srgbClr val="212121"/>
              </a:solidFill>
              <a:latin typeface="Poppins"/>
              <a:ea typeface="Poppins"/>
              <a:cs typeface="Poppins"/>
              <a:sym typeface="Poppins"/>
            </a:endParaRPr>
          </a:p>
        </p:txBody>
      </p:sp>
      <p:sp>
        <p:nvSpPr>
          <p:cNvPr id="380" name="Google Shape;380;p43"/>
          <p:cNvSpPr txBox="1"/>
          <p:nvPr/>
        </p:nvSpPr>
        <p:spPr>
          <a:xfrm>
            <a:off x="6642100" y="3149600"/>
            <a:ext cx="2209800" cy="7875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Users can</a:t>
            </a:r>
            <a:endParaRPr sz="1800">
              <a:solidFill>
                <a:srgbClr val="212121"/>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212121"/>
                </a:solidFill>
                <a:latin typeface="Poppins"/>
                <a:ea typeface="Poppins"/>
                <a:cs typeface="Poppins"/>
                <a:sym typeface="Poppins"/>
              </a:rPr>
              <a:t>switch to it</a:t>
            </a:r>
            <a:endParaRPr sz="1800">
              <a:solidFill>
                <a:srgbClr val="212121"/>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44"/>
          <p:cNvSpPr txBox="1"/>
          <p:nvPr>
            <p:ph type="title"/>
          </p:nvPr>
        </p:nvSpPr>
        <p:spPr>
          <a:xfrm>
            <a:off x="457200" y="2415175"/>
            <a:ext cx="8229600" cy="841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2400">
                <a:solidFill>
                  <a:srgbClr val="FFFFFF"/>
                </a:solidFill>
                <a:latin typeface="Poppins"/>
                <a:ea typeface="Poppins"/>
                <a:cs typeface="Poppins"/>
                <a:sym typeface="Poppins"/>
              </a:rPr>
              <a:t>A walk-away test for your app</a:t>
            </a:r>
            <a:endParaRPr b="1" sz="2400">
              <a:solidFill>
                <a:srgbClr val="FFFFFF"/>
              </a:solidFill>
              <a:latin typeface="Poppins"/>
              <a:ea typeface="Poppins"/>
              <a:cs typeface="Poppins"/>
              <a:sym typeface="Poppins"/>
            </a:endParaRPr>
          </a:p>
        </p:txBody>
      </p:sp>
      <p:sp>
        <p:nvSpPr>
          <p:cNvPr id="386" name="Google Shape;386;p44"/>
          <p:cNvSpPr txBox="1"/>
          <p:nvPr/>
        </p:nvSpPr>
        <p:spPr>
          <a:xfrm>
            <a:off x="2271450" y="1808250"/>
            <a:ext cx="4601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lt1"/>
                </a:solidFill>
                <a:latin typeface="Libre Franklin Medium"/>
                <a:ea typeface="Libre Franklin Medium"/>
                <a:cs typeface="Libre Franklin Medium"/>
                <a:sym typeface="Libre Franklin Medium"/>
              </a:rPr>
              <a:t>Putting this into practice</a:t>
            </a:r>
            <a:endParaRPr>
              <a:solidFill>
                <a:schemeClr val="lt1"/>
              </a:solidFill>
              <a:latin typeface="Libre Franklin Medium"/>
              <a:ea typeface="Libre Franklin Medium"/>
              <a:cs typeface="Libre Franklin Medium"/>
              <a:sym typeface="Libre Franklin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marR="0" rtl="0" algn="ctr">
              <a:lnSpc>
                <a:spcPct val="110000"/>
              </a:lnSpc>
              <a:spcBef>
                <a:spcPts val="0"/>
              </a:spcBef>
              <a:spcAft>
                <a:spcPts val="0"/>
              </a:spcAft>
              <a:buNone/>
            </a:pPr>
            <a:r>
              <a:rPr b="1" lang="en" sz="3200">
                <a:solidFill>
                  <a:srgbClr val="06038D"/>
                </a:solidFill>
                <a:latin typeface="Poppins"/>
                <a:ea typeface="Poppins"/>
                <a:cs typeface="Poppins"/>
                <a:sym typeface="Poppins"/>
              </a:rPr>
              <a:t>Your walk-away checklist</a:t>
            </a:r>
            <a:endParaRPr b="1" sz="3200">
              <a:solidFill>
                <a:srgbClr val="06038D"/>
              </a:solidFill>
              <a:latin typeface="Poppins"/>
              <a:ea typeface="Poppins"/>
              <a:cs typeface="Poppins"/>
              <a:sym typeface="Poppins"/>
            </a:endParaRPr>
          </a:p>
        </p:txBody>
      </p:sp>
      <p:sp>
        <p:nvSpPr>
          <p:cNvPr id="392" name="Google Shape;392;p45"/>
          <p:cNvSpPr txBox="1"/>
          <p:nvPr>
            <p:ph idx="1" type="body"/>
          </p:nvPr>
        </p:nvSpPr>
        <p:spPr>
          <a:xfrm>
            <a:off x="635000" y="1333500"/>
            <a:ext cx="3810000" cy="2857500"/>
          </a:xfrm>
          <a:prstGeom prst="rect">
            <a:avLst/>
          </a:prstGeom>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rPr>
              <a:t>A user can:</a:t>
            </a:r>
            <a:endParaRPr b="1" sz="2000">
              <a:solidFill>
                <a:srgbClr val="212121"/>
              </a:solidFill>
            </a:endParaRPr>
          </a:p>
          <a:p>
            <a:pPr indent="0" lvl="0" marL="0" marR="0" rtl="0" algn="l">
              <a:lnSpc>
                <a:spcPct val="110000"/>
              </a:lnSpc>
              <a:spcBef>
                <a:spcPts val="1000"/>
              </a:spcBef>
              <a:spcAft>
                <a:spcPts val="0"/>
              </a:spcAft>
              <a:buNone/>
            </a:pPr>
            <a:r>
              <a:rPr lang="en" sz="2000">
                <a:solidFill>
                  <a:srgbClr val="212121"/>
                </a:solidFill>
              </a:rPr>
              <a:t>☑ Run a saved app release</a:t>
            </a:r>
            <a:endParaRPr sz="2000">
              <a:solidFill>
                <a:srgbClr val="212121"/>
              </a:solidFill>
            </a:endParaRPr>
          </a:p>
          <a:p>
            <a:pPr indent="0" lvl="0" marL="0" marR="0" rtl="0" algn="l">
              <a:lnSpc>
                <a:spcPct val="110000"/>
              </a:lnSpc>
              <a:spcBef>
                <a:spcPts val="1000"/>
              </a:spcBef>
              <a:spcAft>
                <a:spcPts val="0"/>
              </a:spcAft>
              <a:buNone/>
            </a:pPr>
            <a:r>
              <a:rPr lang="en" sz="2000">
                <a:solidFill>
                  <a:schemeClr val="accent2"/>
                </a:solidFill>
              </a:rPr>
              <a:t>☑ </a:t>
            </a:r>
            <a:r>
              <a:rPr lang="en" sz="2000">
                <a:solidFill>
                  <a:srgbClr val="212121"/>
                </a:solidFill>
              </a:rPr>
              <a:t>Recover access and keys</a:t>
            </a:r>
            <a:endParaRPr sz="2000">
              <a:solidFill>
                <a:srgbClr val="212121"/>
              </a:solidFill>
            </a:endParaRPr>
          </a:p>
          <a:p>
            <a:pPr indent="0" lvl="0" marL="0" marR="0" rtl="0" algn="l">
              <a:lnSpc>
                <a:spcPct val="110000"/>
              </a:lnSpc>
              <a:spcBef>
                <a:spcPts val="1000"/>
              </a:spcBef>
              <a:spcAft>
                <a:spcPts val="0"/>
              </a:spcAft>
              <a:buNone/>
            </a:pPr>
            <a:r>
              <a:rPr lang="en" sz="2000">
                <a:solidFill>
                  <a:schemeClr val="accent2"/>
                </a:solidFill>
              </a:rPr>
              <a:t>☑ </a:t>
            </a:r>
            <a:r>
              <a:rPr lang="en" sz="2000">
                <a:solidFill>
                  <a:srgbClr val="212121"/>
                </a:solidFill>
              </a:rPr>
              <a:t>Restore usable data</a:t>
            </a:r>
            <a:endParaRPr sz="2000">
              <a:solidFill>
                <a:srgbClr val="212121"/>
              </a:solidFill>
            </a:endParaRPr>
          </a:p>
          <a:p>
            <a:pPr indent="0" lvl="0" marL="0" marR="0" rtl="0" algn="l">
              <a:lnSpc>
                <a:spcPct val="110000"/>
              </a:lnSpc>
              <a:spcBef>
                <a:spcPts val="1000"/>
              </a:spcBef>
              <a:spcAft>
                <a:spcPts val="1000"/>
              </a:spcAft>
              <a:buNone/>
            </a:pPr>
            <a:r>
              <a:rPr lang="en" sz="2000">
                <a:solidFill>
                  <a:schemeClr val="accent2"/>
                </a:solidFill>
              </a:rPr>
              <a:t>☑ </a:t>
            </a:r>
            <a:r>
              <a:rPr lang="en" sz="2000">
                <a:solidFill>
                  <a:srgbClr val="212121"/>
                </a:solidFill>
              </a:rPr>
              <a:t>Choose another client</a:t>
            </a:r>
            <a:endParaRPr sz="2000">
              <a:solidFill>
                <a:srgbClr val="212121"/>
              </a:solidFill>
            </a:endParaRPr>
          </a:p>
        </p:txBody>
      </p:sp>
      <p:sp>
        <p:nvSpPr>
          <p:cNvPr id="393" name="Google Shape;393;p45"/>
          <p:cNvSpPr txBox="1"/>
          <p:nvPr/>
        </p:nvSpPr>
        <p:spPr>
          <a:xfrm>
            <a:off x="4648400" y="1333500"/>
            <a:ext cx="3924000" cy="2857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None/>
            </a:pPr>
            <a:r>
              <a:rPr b="1" lang="en" sz="2000">
                <a:solidFill>
                  <a:srgbClr val="212121"/>
                </a:solidFill>
                <a:latin typeface="Poppins"/>
                <a:ea typeface="Poppins"/>
                <a:cs typeface="Poppins"/>
                <a:sym typeface="Poppins"/>
              </a:rPr>
              <a:t>Another operator can:</a:t>
            </a:r>
            <a:endParaRPr b="1"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Switch RPCs, rebuild views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Run workers, keep copies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0"/>
              </a:spcAft>
              <a:buNone/>
            </a:pPr>
            <a:r>
              <a:rPr lang="en" sz="20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Inspect admin powers</a:t>
            </a:r>
            <a:endParaRPr sz="2000">
              <a:solidFill>
                <a:srgbClr val="212121"/>
              </a:solidFill>
              <a:latin typeface="Poppins"/>
              <a:ea typeface="Poppins"/>
              <a:cs typeface="Poppins"/>
              <a:sym typeface="Poppins"/>
            </a:endParaRPr>
          </a:p>
          <a:p>
            <a:pPr indent="0" lvl="0" marL="0" marR="0" rtl="0" algn="l">
              <a:lnSpc>
                <a:spcPct val="110000"/>
              </a:lnSpc>
              <a:spcBef>
                <a:spcPts val="1000"/>
              </a:spcBef>
              <a:spcAft>
                <a:spcPts val="1000"/>
              </a:spcAft>
              <a:buNone/>
            </a:pPr>
            <a:r>
              <a:rPr lang="en" sz="2100">
                <a:solidFill>
                  <a:schemeClr val="accent2"/>
                </a:solidFill>
                <a:latin typeface="Poppins"/>
                <a:ea typeface="Poppins"/>
                <a:cs typeface="Poppins"/>
                <a:sym typeface="Poppins"/>
              </a:rPr>
              <a:t>☑ </a:t>
            </a:r>
            <a:r>
              <a:rPr lang="en" sz="2000">
                <a:solidFill>
                  <a:srgbClr val="212121"/>
                </a:solidFill>
                <a:latin typeface="Poppins"/>
                <a:ea typeface="Poppins"/>
                <a:cs typeface="Poppins"/>
                <a:sym typeface="Poppins"/>
              </a:rPr>
              <a:t>Use network recovery</a:t>
            </a:r>
            <a:endParaRPr sz="2000">
              <a:solidFill>
                <a:srgbClr val="212121"/>
              </a:solidFill>
              <a:latin typeface="Poppins"/>
              <a:ea typeface="Poppins"/>
              <a:cs typeface="Poppins"/>
              <a:sym typeface="Poppins"/>
            </a:endParaRPr>
          </a:p>
        </p:txBody>
      </p:sp>
      <p:sp>
        <p:nvSpPr>
          <p:cNvPr id="394" name="Google Shape;394;p45"/>
          <p:cNvSpPr txBox="1"/>
          <p:nvPr/>
        </p:nvSpPr>
        <p:spPr>
          <a:xfrm>
            <a:off x="571500" y="4242675"/>
            <a:ext cx="8001000" cy="444600"/>
          </a:xfrm>
          <a:prstGeom prst="rect">
            <a:avLst/>
          </a:prstGeom>
          <a:noFill/>
          <a:ln>
            <a:noFill/>
          </a:ln>
        </p:spPr>
        <p:txBody>
          <a:bodyPr anchorCtr="0" anchor="ctr" bIns="91425" lIns="91425" spcFirstLastPara="1" rIns="91425" wrap="square" tIns="91425">
            <a:noAutofit/>
          </a:bodyPr>
          <a:lstStyle/>
          <a:p>
            <a:pPr indent="0" lvl="0" marL="0" marR="0" rtl="0" algn="ctr">
              <a:lnSpc>
                <a:spcPct val="110000"/>
              </a:lnSpc>
              <a:spcBef>
                <a:spcPts val="0"/>
              </a:spcBef>
              <a:spcAft>
                <a:spcPts val="0"/>
              </a:spcAft>
              <a:buNone/>
            </a:pPr>
            <a:r>
              <a:rPr lang="en" sz="1800">
                <a:solidFill>
                  <a:srgbClr val="06038D"/>
                </a:solidFill>
                <a:latin typeface="Poppins"/>
                <a:ea typeface="Poppins"/>
                <a:cs typeface="Poppins"/>
                <a:sym typeface="Poppins"/>
              </a:rPr>
              <a:t>Try it without your team. Improve one dependency.</a:t>
            </a:r>
            <a:endParaRPr sz="1800">
              <a:solidFill>
                <a:srgbClr val="06038D"/>
              </a:solidFill>
              <a:latin typeface="Poppins"/>
              <a:ea typeface="Poppins"/>
              <a:cs typeface="Poppins"/>
              <a:sym typeface="Poppins"/>
            </a:endParaRPr>
          </a:p>
        </p:txBody>
      </p:sp>
      <p:sp>
        <p:nvSpPr>
          <p:cNvPr id="395" name="Google Shape;395;p45"/>
          <p:cNvSpPr txBox="1"/>
          <p:nvPr/>
        </p:nvSpPr>
        <p:spPr>
          <a:xfrm>
            <a:off x="571500" y="3836275"/>
            <a:ext cx="8001000" cy="34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rgbClr val="06038D"/>
                </a:solidFill>
                <a:latin typeface="Poppins"/>
                <a:ea typeface="Poppins"/>
                <a:cs typeface="Poppins"/>
                <a:sym typeface="Poppins"/>
              </a:rPr>
              <a:t>Who can upgrade, pause, redirect or change permissions?</a:t>
            </a:r>
            <a:endParaRPr sz="1600">
              <a:solidFill>
                <a:srgbClr val="06038D"/>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6"/>
          <p:cNvSpPr txBox="1"/>
          <p:nvPr>
            <p:ph type="title"/>
          </p:nvPr>
        </p:nvSpPr>
        <p:spPr>
          <a:xfrm>
            <a:off x="508000" y="381000"/>
            <a:ext cx="8127900" cy="698400"/>
          </a:xfrm>
          <a:prstGeom prst="rect">
            <a:avLst/>
          </a:prstGeom>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3000">
                <a:solidFill>
                  <a:srgbClr val="06038D"/>
                </a:solidFill>
                <a:latin typeface="Poppins"/>
                <a:ea typeface="Poppins"/>
                <a:cs typeface="Poppins"/>
                <a:sym typeface="Poppins"/>
              </a:rPr>
              <a:t>A walk-away test in practice</a:t>
            </a:r>
            <a:endParaRPr b="1" sz="3000">
              <a:solidFill>
                <a:srgbClr val="06038D"/>
              </a:solidFill>
              <a:latin typeface="Poppins"/>
              <a:ea typeface="Poppins"/>
              <a:cs typeface="Poppins"/>
              <a:sym typeface="Poppins"/>
            </a:endParaRPr>
          </a:p>
        </p:txBody>
      </p:sp>
      <p:sp>
        <p:nvSpPr>
          <p:cNvPr id="401" name="Google Shape;401;p46"/>
          <p:cNvSpPr txBox="1"/>
          <p:nvPr/>
        </p:nvSpPr>
        <p:spPr>
          <a:xfrm>
            <a:off x="508000" y="1117600"/>
            <a:ext cx="8127900" cy="469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2100">
                <a:solidFill>
                  <a:srgbClr val="212121"/>
                </a:solidFill>
                <a:latin typeface="Poppins"/>
                <a:ea typeface="Poppins"/>
                <a:cs typeface="Poppins"/>
                <a:sym typeface="Poppins"/>
              </a:rPr>
              <a:t>Example: find a note and open its attachment</a:t>
            </a:r>
            <a:endParaRPr sz="2100">
              <a:solidFill>
                <a:srgbClr val="212121"/>
              </a:solidFill>
              <a:latin typeface="Poppins"/>
              <a:ea typeface="Poppins"/>
              <a:cs typeface="Poppins"/>
              <a:sym typeface="Poppins"/>
            </a:endParaRPr>
          </a:p>
        </p:txBody>
      </p:sp>
      <p:sp>
        <p:nvSpPr>
          <p:cNvPr id="402" name="Google Shape;402;p46"/>
          <p:cNvSpPr/>
          <p:nvPr/>
        </p:nvSpPr>
        <p:spPr>
          <a:xfrm>
            <a:off x="508000" y="17653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700">
                <a:solidFill>
                  <a:srgbClr val="FFFFFF"/>
                </a:solidFill>
                <a:latin typeface="Poppins"/>
                <a:ea typeface="Poppins"/>
                <a:cs typeface="Poppins"/>
                <a:sym typeface="Poppins"/>
              </a:rPr>
              <a:t>1. Index stops</a:t>
            </a:r>
            <a:endParaRPr b="1" sz="1700">
              <a:solidFill>
                <a:srgbClr val="FFFFFF"/>
              </a:solidFill>
              <a:latin typeface="Poppins"/>
              <a:ea typeface="Poppins"/>
              <a:cs typeface="Poppins"/>
              <a:sym typeface="Poppins"/>
            </a:endParaRPr>
          </a:p>
        </p:txBody>
      </p:sp>
      <p:sp>
        <p:nvSpPr>
          <p:cNvPr id="403" name="Google Shape;403;p46"/>
          <p:cNvSpPr/>
          <p:nvPr/>
        </p:nvSpPr>
        <p:spPr>
          <a:xfrm>
            <a:off x="508000" y="2222500"/>
            <a:ext cx="2412900" cy="17907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04" name="Google Shape;404;p46"/>
          <p:cNvSpPr/>
          <p:nvPr/>
        </p:nvSpPr>
        <p:spPr>
          <a:xfrm>
            <a:off x="3365500" y="17653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700">
                <a:solidFill>
                  <a:srgbClr val="FFFFFF"/>
                </a:solidFill>
                <a:latin typeface="Poppins"/>
                <a:ea typeface="Poppins"/>
                <a:cs typeface="Poppins"/>
                <a:sym typeface="Poppins"/>
              </a:rPr>
              <a:t>2. Rebuild index</a:t>
            </a:r>
            <a:endParaRPr b="1" sz="1700">
              <a:solidFill>
                <a:srgbClr val="FFFFFF"/>
              </a:solidFill>
              <a:latin typeface="Poppins"/>
              <a:ea typeface="Poppins"/>
              <a:cs typeface="Poppins"/>
              <a:sym typeface="Poppins"/>
            </a:endParaRPr>
          </a:p>
        </p:txBody>
      </p:sp>
      <p:sp>
        <p:nvSpPr>
          <p:cNvPr id="405" name="Google Shape;405;p46"/>
          <p:cNvSpPr/>
          <p:nvPr/>
        </p:nvSpPr>
        <p:spPr>
          <a:xfrm>
            <a:off x="3365500" y="2222500"/>
            <a:ext cx="2412900" cy="17907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06" name="Google Shape;406;p46"/>
          <p:cNvSpPr/>
          <p:nvPr/>
        </p:nvSpPr>
        <p:spPr>
          <a:xfrm>
            <a:off x="6223000" y="1765300"/>
            <a:ext cx="2412900" cy="457200"/>
          </a:xfrm>
          <a:prstGeom prst="rect">
            <a:avLst/>
          </a:prstGeom>
          <a:solidFill>
            <a:srgbClr val="06038D"/>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b="1" lang="en" sz="1700">
                <a:solidFill>
                  <a:srgbClr val="FFFFFF"/>
                </a:solidFill>
                <a:latin typeface="Poppins"/>
                <a:ea typeface="Poppins"/>
                <a:cs typeface="Poppins"/>
                <a:sym typeface="Poppins"/>
              </a:rPr>
              <a:t>3. Switch and retry</a:t>
            </a:r>
            <a:endParaRPr b="1" sz="1700">
              <a:solidFill>
                <a:srgbClr val="FFFFFF"/>
              </a:solidFill>
              <a:latin typeface="Poppins"/>
              <a:ea typeface="Poppins"/>
              <a:cs typeface="Poppins"/>
              <a:sym typeface="Poppins"/>
            </a:endParaRPr>
          </a:p>
        </p:txBody>
      </p:sp>
      <p:sp>
        <p:nvSpPr>
          <p:cNvPr id="407" name="Google Shape;407;p46"/>
          <p:cNvSpPr/>
          <p:nvPr/>
        </p:nvSpPr>
        <p:spPr>
          <a:xfrm>
            <a:off x="6223000" y="2222500"/>
            <a:ext cx="2412900" cy="1790700"/>
          </a:xfrm>
          <a:prstGeom prst="rect">
            <a:avLst/>
          </a:prstGeom>
          <a:solidFill>
            <a:srgbClr val="FFFFFF"/>
          </a:solidFill>
          <a:ln cap="flat" cmpd="sng" w="12700">
            <a:solidFill>
              <a:srgbClr val="06038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t/>
            </a:r>
            <a:endParaRPr sz="1900">
              <a:solidFill>
                <a:srgbClr val="212121"/>
              </a:solidFill>
              <a:latin typeface="Poppins"/>
              <a:ea typeface="Poppins"/>
              <a:cs typeface="Poppins"/>
              <a:sym typeface="Poppins"/>
            </a:endParaRPr>
          </a:p>
        </p:txBody>
      </p:sp>
      <p:sp>
        <p:nvSpPr>
          <p:cNvPr id="408" name="Google Shape;408;p46"/>
          <p:cNvSpPr/>
          <p:nvPr/>
        </p:nvSpPr>
        <p:spPr>
          <a:xfrm>
            <a:off x="508000" y="4152900"/>
            <a:ext cx="8127900" cy="368400"/>
          </a:xfrm>
          <a:prstGeom prst="rect">
            <a:avLst/>
          </a:prstGeom>
          <a:solidFill>
            <a:srgbClr val="EDEDF7"/>
          </a:solid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700">
                <a:solidFill>
                  <a:srgbClr val="212121"/>
                </a:solidFill>
                <a:latin typeface="Poppins"/>
                <a:ea typeface="Poppins"/>
                <a:cs typeface="Poppins"/>
                <a:sym typeface="Poppins"/>
              </a:rPr>
              <a:t>Change the app's index endpoint to the replacement</a:t>
            </a:r>
            <a:endParaRPr sz="1700">
              <a:solidFill>
                <a:srgbClr val="212121"/>
              </a:solidFill>
              <a:latin typeface="Poppins"/>
              <a:ea typeface="Poppins"/>
              <a:cs typeface="Poppins"/>
              <a:sym typeface="Poppins"/>
            </a:endParaRPr>
          </a:p>
        </p:txBody>
      </p:sp>
      <p:sp>
        <p:nvSpPr>
          <p:cNvPr id="409" name="Google Shape;409;p46"/>
          <p:cNvSpPr txBox="1"/>
          <p:nvPr/>
        </p:nvSpPr>
        <p:spPr>
          <a:xfrm>
            <a:off x="508000" y="4495800"/>
            <a:ext cx="8127900" cy="304800"/>
          </a:xfrm>
          <a:prstGeom prst="rect">
            <a:avLst/>
          </a:prstGeom>
          <a:noFill/>
          <a:ln>
            <a:noFill/>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None/>
            </a:pPr>
            <a:r>
              <a:rPr lang="en" sz="1600">
                <a:solidFill>
                  <a:srgbClr val="06038D"/>
                </a:solidFill>
                <a:latin typeface="Poppins"/>
                <a:ea typeface="Poppins"/>
                <a:cs typeface="Poppins"/>
                <a:sym typeface="Poppins"/>
              </a:rPr>
              <a:t>Check: the same note appears and its attachment opens</a:t>
            </a:r>
            <a:endParaRPr sz="1600">
              <a:solidFill>
                <a:srgbClr val="06038D"/>
              </a:solidFill>
              <a:latin typeface="Poppins"/>
              <a:ea typeface="Poppins"/>
              <a:cs typeface="Poppins"/>
              <a:sym typeface="Poppins"/>
            </a:endParaRPr>
          </a:p>
        </p:txBody>
      </p:sp>
      <p:cxnSp>
        <p:nvCxnSpPr>
          <p:cNvPr id="410" name="Google Shape;410;p46"/>
          <p:cNvCxnSpPr/>
          <p:nvPr/>
        </p:nvCxnSpPr>
        <p:spPr>
          <a:xfrm>
            <a:off x="2971800" y="2984500"/>
            <a:ext cx="330300" cy="0"/>
          </a:xfrm>
          <a:prstGeom prst="straightConnector1">
            <a:avLst/>
          </a:prstGeom>
          <a:noFill/>
          <a:ln cap="flat" cmpd="sng" w="16500">
            <a:solidFill>
              <a:srgbClr val="06038D"/>
            </a:solidFill>
            <a:prstDash val="solid"/>
            <a:round/>
            <a:headEnd len="med" w="med" type="none"/>
            <a:tailEnd len="med" w="med" type="triangle"/>
          </a:ln>
        </p:spPr>
      </p:cxnSp>
      <p:cxnSp>
        <p:nvCxnSpPr>
          <p:cNvPr id="411" name="Google Shape;411;p46"/>
          <p:cNvCxnSpPr/>
          <p:nvPr/>
        </p:nvCxnSpPr>
        <p:spPr>
          <a:xfrm>
            <a:off x="5829300" y="2984500"/>
            <a:ext cx="330300" cy="0"/>
          </a:xfrm>
          <a:prstGeom prst="straightConnector1">
            <a:avLst/>
          </a:prstGeom>
          <a:noFill/>
          <a:ln cap="flat" cmpd="sng" w="16500">
            <a:solidFill>
              <a:srgbClr val="06038D"/>
            </a:solidFill>
            <a:prstDash val="solid"/>
            <a:round/>
            <a:headEnd len="med" w="med" type="none"/>
            <a:tailEnd len="med" w="med" type="triangle"/>
          </a:ln>
        </p:spPr>
      </p:cxnSp>
      <p:sp>
        <p:nvSpPr>
          <p:cNvPr id="412" name="Google Shape;412;p46"/>
          <p:cNvSpPr txBox="1"/>
          <p:nvPr/>
        </p:nvSpPr>
        <p:spPr>
          <a:xfrm>
            <a:off x="609600" y="2349500"/>
            <a:ext cx="2209800" cy="5970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b="1" lang="en" sz="1800">
                <a:solidFill>
                  <a:srgbClr val="212121"/>
                </a:solidFill>
                <a:latin typeface="Poppins"/>
                <a:ea typeface="Poppins"/>
                <a:cs typeface="Poppins"/>
                <a:sym typeface="Poppins"/>
              </a:rPr>
              <a:t>App: cannot load notes</a:t>
            </a:r>
            <a:endParaRPr b="1" sz="1800">
              <a:solidFill>
                <a:srgbClr val="212121"/>
              </a:solidFill>
              <a:latin typeface="Poppins"/>
              <a:ea typeface="Poppins"/>
              <a:cs typeface="Poppins"/>
              <a:sym typeface="Poppins"/>
            </a:endParaRPr>
          </a:p>
        </p:txBody>
      </p:sp>
      <p:sp>
        <p:nvSpPr>
          <p:cNvPr id="413" name="Google Shape;413;p46"/>
          <p:cNvSpPr/>
          <p:nvPr/>
        </p:nvSpPr>
        <p:spPr>
          <a:xfrm>
            <a:off x="685800" y="3162300"/>
            <a:ext cx="2057400" cy="647700"/>
          </a:xfrm>
          <a:prstGeom prst="rect">
            <a:avLst/>
          </a:prstGeom>
          <a:solidFill>
            <a:srgbClr val="FF3D94"/>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Team index</a:t>
            </a:r>
            <a:endParaRPr sz="1800">
              <a:solidFill>
                <a:srgbClr val="FFFFFF"/>
              </a:solidFill>
              <a:latin typeface="Poppins"/>
              <a:ea typeface="Poppins"/>
              <a:cs typeface="Poppins"/>
              <a:sym typeface="Poppins"/>
            </a:endParaRPr>
          </a:p>
          <a:p>
            <a:pPr indent="0" lvl="0" marL="0" rtl="0" algn="ctr">
              <a:lnSpc>
                <a:spcPct val="105000"/>
              </a:lnSpc>
              <a:spcBef>
                <a:spcPts val="0"/>
              </a:spcBef>
              <a:spcAft>
                <a:spcPts val="0"/>
              </a:spcAft>
              <a:buNone/>
            </a:pPr>
            <a:r>
              <a:rPr lang="en" sz="1800">
                <a:solidFill>
                  <a:srgbClr val="FFFFFF"/>
                </a:solidFill>
                <a:latin typeface="Poppins"/>
                <a:ea typeface="Poppins"/>
                <a:cs typeface="Poppins"/>
                <a:sym typeface="Poppins"/>
              </a:rPr>
              <a:t>Offline</a:t>
            </a:r>
            <a:endParaRPr sz="1800">
              <a:solidFill>
                <a:srgbClr val="FFFFFF"/>
              </a:solidFill>
              <a:latin typeface="Poppins"/>
              <a:ea typeface="Poppins"/>
              <a:cs typeface="Poppins"/>
              <a:sym typeface="Poppins"/>
            </a:endParaRPr>
          </a:p>
        </p:txBody>
      </p:sp>
      <p:sp>
        <p:nvSpPr>
          <p:cNvPr id="414" name="Google Shape;414;p46"/>
          <p:cNvSpPr/>
          <p:nvPr/>
        </p:nvSpPr>
        <p:spPr>
          <a:xfrm>
            <a:off x="3543300" y="2349500"/>
            <a:ext cx="2057400" cy="406500"/>
          </a:xfrm>
          <a:prstGeom prst="rect">
            <a:avLst/>
          </a:prstGeom>
          <a:solidFill>
            <a:srgbClr val="EDEDF7"/>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600">
                <a:solidFill>
                  <a:srgbClr val="06038D"/>
                </a:solidFill>
                <a:latin typeface="Poppins"/>
                <a:ea typeface="Poppins"/>
                <a:cs typeface="Poppins"/>
                <a:sym typeface="Poppins"/>
              </a:rPr>
              <a:t>Retained records</a:t>
            </a:r>
            <a:endParaRPr sz="1600">
              <a:solidFill>
                <a:srgbClr val="06038D"/>
              </a:solidFill>
              <a:latin typeface="Poppins"/>
              <a:ea typeface="Poppins"/>
              <a:cs typeface="Poppins"/>
              <a:sym typeface="Poppins"/>
            </a:endParaRPr>
          </a:p>
        </p:txBody>
      </p:sp>
      <p:sp>
        <p:nvSpPr>
          <p:cNvPr id="415" name="Google Shape;415;p46"/>
          <p:cNvSpPr/>
          <p:nvPr/>
        </p:nvSpPr>
        <p:spPr>
          <a:xfrm>
            <a:off x="3543300" y="3175000"/>
            <a:ext cx="2057400" cy="495300"/>
          </a:xfrm>
          <a:prstGeom prst="rect">
            <a:avLst/>
          </a:prstGeom>
          <a:solidFill>
            <a:srgbClr val="06038D"/>
          </a:solid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2000">
                <a:solidFill>
                  <a:srgbClr val="FFFFFF"/>
                </a:solidFill>
                <a:latin typeface="Poppins"/>
                <a:ea typeface="Poppins"/>
                <a:cs typeface="Poppins"/>
                <a:sym typeface="Poppins"/>
              </a:rPr>
              <a:t>New index</a:t>
            </a:r>
            <a:endParaRPr sz="2000">
              <a:solidFill>
                <a:srgbClr val="FFFFFF"/>
              </a:solidFill>
              <a:latin typeface="Poppins"/>
              <a:ea typeface="Poppins"/>
              <a:cs typeface="Poppins"/>
              <a:sym typeface="Poppins"/>
            </a:endParaRPr>
          </a:p>
        </p:txBody>
      </p:sp>
      <p:cxnSp>
        <p:nvCxnSpPr>
          <p:cNvPr id="416" name="Google Shape;416;p46"/>
          <p:cNvCxnSpPr/>
          <p:nvPr/>
        </p:nvCxnSpPr>
        <p:spPr>
          <a:xfrm>
            <a:off x="4572000" y="2794000"/>
            <a:ext cx="0" cy="317400"/>
          </a:xfrm>
          <a:prstGeom prst="straightConnector1">
            <a:avLst/>
          </a:prstGeom>
          <a:noFill/>
          <a:ln cap="flat" cmpd="sng" w="16500">
            <a:solidFill>
              <a:srgbClr val="06038D"/>
            </a:solidFill>
            <a:prstDash val="solid"/>
            <a:round/>
            <a:headEnd len="med" w="med" type="none"/>
            <a:tailEnd len="med" w="med" type="triangle"/>
          </a:ln>
        </p:spPr>
      </p:cxnSp>
      <p:sp>
        <p:nvSpPr>
          <p:cNvPr id="417" name="Google Shape;417;p46"/>
          <p:cNvSpPr txBox="1"/>
          <p:nvPr/>
        </p:nvSpPr>
        <p:spPr>
          <a:xfrm>
            <a:off x="3479800" y="3695700"/>
            <a:ext cx="2184300" cy="292200"/>
          </a:xfrm>
          <a:prstGeom prst="rect">
            <a:avLst/>
          </a:prstGeom>
          <a:noFill/>
          <a:ln>
            <a:noFill/>
          </a:ln>
        </p:spPr>
        <p:txBody>
          <a:bodyPr anchorCtr="0" anchor="ctr" bIns="91425" lIns="91425" spcFirstLastPara="1" rIns="91425" wrap="square" tIns="91425">
            <a:noAutofit/>
          </a:bodyPr>
          <a:lstStyle/>
          <a:p>
            <a:pPr indent="0" lvl="0" marL="0" rtl="0" algn="ctr">
              <a:lnSpc>
                <a:spcPct val="105000"/>
              </a:lnSpc>
              <a:spcBef>
                <a:spcPts val="0"/>
              </a:spcBef>
              <a:spcAft>
                <a:spcPts val="0"/>
              </a:spcAft>
              <a:buNone/>
            </a:pPr>
            <a:r>
              <a:rPr lang="en" sz="1300">
                <a:solidFill>
                  <a:srgbClr val="212121"/>
                </a:solidFill>
                <a:latin typeface="Poppins"/>
                <a:ea typeface="Poppins"/>
                <a:cs typeface="Poppins"/>
                <a:sym typeface="Poppins"/>
              </a:rPr>
              <a:t>Public indexing recipe</a:t>
            </a:r>
            <a:endParaRPr sz="1300">
              <a:solidFill>
                <a:srgbClr val="212121"/>
              </a:solidFill>
              <a:latin typeface="Poppins"/>
              <a:ea typeface="Poppins"/>
              <a:cs typeface="Poppins"/>
              <a:sym typeface="Poppins"/>
            </a:endParaRPr>
          </a:p>
        </p:txBody>
      </p:sp>
      <p:sp>
        <p:nvSpPr>
          <p:cNvPr id="418" name="Google Shape;418;p46"/>
          <p:cNvSpPr/>
          <p:nvPr/>
        </p:nvSpPr>
        <p:spPr>
          <a:xfrm>
            <a:off x="6337300" y="2336800"/>
            <a:ext cx="2184300" cy="317400"/>
          </a:xfrm>
          <a:prstGeom prst="rect">
            <a:avLst/>
          </a:prstGeom>
          <a:solidFill>
            <a:srgbClr val="EDEDF7"/>
          </a:solid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a:solidFill>
                  <a:srgbClr val="06038D"/>
                </a:solidFill>
                <a:latin typeface="Poppins"/>
                <a:ea typeface="Poppins"/>
                <a:cs typeface="Poppins"/>
                <a:sym typeface="Poppins"/>
              </a:rPr>
              <a:t>Index: community</a:t>
            </a:r>
            <a:endParaRPr>
              <a:solidFill>
                <a:srgbClr val="06038D"/>
              </a:solidFill>
              <a:latin typeface="Poppins"/>
              <a:ea typeface="Poppins"/>
              <a:cs typeface="Poppins"/>
              <a:sym typeface="Poppins"/>
            </a:endParaRPr>
          </a:p>
        </p:txBody>
      </p:sp>
      <p:sp>
        <p:nvSpPr>
          <p:cNvPr id="419" name="Google Shape;419;p46"/>
          <p:cNvSpPr txBox="1"/>
          <p:nvPr/>
        </p:nvSpPr>
        <p:spPr>
          <a:xfrm>
            <a:off x="6337300" y="2743200"/>
            <a:ext cx="2184300" cy="3810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b="1" lang="en" sz="1900">
                <a:solidFill>
                  <a:srgbClr val="212121"/>
                </a:solidFill>
                <a:latin typeface="Poppins"/>
                <a:ea typeface="Poppins"/>
                <a:cs typeface="Poppins"/>
                <a:sym typeface="Poppins"/>
              </a:rPr>
              <a:t>Meeting at 10</a:t>
            </a:r>
            <a:endParaRPr b="1" sz="1900">
              <a:solidFill>
                <a:srgbClr val="212121"/>
              </a:solidFill>
              <a:latin typeface="Poppins"/>
              <a:ea typeface="Poppins"/>
              <a:cs typeface="Poppins"/>
              <a:sym typeface="Poppins"/>
            </a:endParaRPr>
          </a:p>
        </p:txBody>
      </p:sp>
      <p:sp>
        <p:nvSpPr>
          <p:cNvPr id="420" name="Google Shape;420;p46"/>
          <p:cNvSpPr txBox="1"/>
          <p:nvPr/>
        </p:nvSpPr>
        <p:spPr>
          <a:xfrm>
            <a:off x="6337300" y="3213100"/>
            <a:ext cx="2184300" cy="3174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600">
                <a:solidFill>
                  <a:srgbClr val="06038D"/>
                </a:solidFill>
                <a:latin typeface="Poppins"/>
                <a:ea typeface="Poppins"/>
                <a:cs typeface="Poppins"/>
                <a:sym typeface="Poppins"/>
              </a:rPr>
              <a:t>agenda.md</a:t>
            </a:r>
            <a:endParaRPr sz="1600">
              <a:solidFill>
                <a:srgbClr val="06038D"/>
              </a:solidFill>
              <a:latin typeface="Poppins"/>
              <a:ea typeface="Poppins"/>
              <a:cs typeface="Poppins"/>
              <a:sym typeface="Poppins"/>
            </a:endParaRPr>
          </a:p>
        </p:txBody>
      </p:sp>
      <p:sp>
        <p:nvSpPr>
          <p:cNvPr id="421" name="Google Shape;421;p46"/>
          <p:cNvSpPr txBox="1"/>
          <p:nvPr/>
        </p:nvSpPr>
        <p:spPr>
          <a:xfrm>
            <a:off x="6337300" y="3543300"/>
            <a:ext cx="2184300" cy="444600"/>
          </a:xfrm>
          <a:prstGeom prst="rect">
            <a:avLst/>
          </a:prstGeom>
          <a:noFill/>
          <a:ln>
            <a:noFill/>
          </a:ln>
        </p:spPr>
        <p:txBody>
          <a:bodyPr anchorCtr="0" anchor="ctr" bIns="91425" lIns="91425" spcFirstLastPara="1" rIns="91425" wrap="square" tIns="91425">
            <a:noAutofit/>
          </a:bodyPr>
          <a:lstStyle/>
          <a:p>
            <a:pPr indent="0" lvl="0" marL="0" rtl="0" algn="l">
              <a:lnSpc>
                <a:spcPct val="105000"/>
              </a:lnSpc>
              <a:spcBef>
                <a:spcPts val="0"/>
              </a:spcBef>
              <a:spcAft>
                <a:spcPts val="0"/>
              </a:spcAft>
              <a:buNone/>
            </a:pPr>
            <a:r>
              <a:rPr lang="en" sz="1300">
                <a:solidFill>
                  <a:srgbClr val="212121"/>
                </a:solidFill>
                <a:latin typeface="Poppins"/>
                <a:ea typeface="Poppins"/>
                <a:cs typeface="Poppins"/>
                <a:sym typeface="Poppins"/>
              </a:rPr>
              <a:t>Opened attachment:</a:t>
            </a:r>
            <a:endParaRPr sz="1300">
              <a:solidFill>
                <a:srgbClr val="212121"/>
              </a:solidFill>
              <a:latin typeface="Poppins"/>
              <a:ea typeface="Poppins"/>
              <a:cs typeface="Poppins"/>
              <a:sym typeface="Poppins"/>
            </a:endParaRPr>
          </a:p>
          <a:p>
            <a:pPr indent="0" lvl="0" marL="0" rtl="0" algn="l">
              <a:lnSpc>
                <a:spcPct val="105000"/>
              </a:lnSpc>
              <a:spcBef>
                <a:spcPts val="0"/>
              </a:spcBef>
              <a:spcAft>
                <a:spcPts val="0"/>
              </a:spcAft>
              <a:buNone/>
            </a:pPr>
            <a:r>
              <a:rPr lang="en" sz="1300">
                <a:solidFill>
                  <a:srgbClr val="212121"/>
                </a:solidFill>
                <a:latin typeface="Poppins"/>
                <a:ea typeface="Poppins"/>
                <a:cs typeface="Poppins"/>
                <a:sym typeface="Poppins"/>
              </a:rPr>
              <a:t>Review proposals</a:t>
            </a:r>
            <a:endParaRPr sz="1300">
              <a:solidFill>
                <a:srgbClr val="212121"/>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47"/>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 sz="3800">
                <a:solidFill>
                  <a:srgbClr val="06038D"/>
                </a:solidFill>
                <a:latin typeface="Poppins"/>
                <a:ea typeface="Poppins"/>
                <a:cs typeface="Poppins"/>
                <a:sym typeface="Poppins"/>
              </a:rPr>
              <a:t>Our work can outlive us</a:t>
            </a:r>
            <a:endParaRPr b="1" sz="3800">
              <a:solidFill>
                <a:srgbClr val="06038D"/>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8"/>
          <p:cNvSpPr txBox="1"/>
          <p:nvPr>
            <p:ph type="title"/>
          </p:nvPr>
        </p:nvSpPr>
        <p:spPr>
          <a:xfrm>
            <a:off x="457200" y="304800"/>
            <a:ext cx="8229600" cy="1074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432" name="Google Shape;432;p48"/>
          <p:cNvSpPr txBox="1"/>
          <p:nvPr/>
        </p:nvSpPr>
        <p:spPr>
          <a:xfrm>
            <a:off x="1397000" y="3340100"/>
            <a:ext cx="6350100" cy="1498500"/>
          </a:xfrm>
          <a:prstGeom prst="rect">
            <a:avLst/>
          </a:prstGeom>
          <a:noFill/>
          <a:ln>
            <a:noFill/>
          </a:ln>
          <a:effectLst>
            <a:outerShdw blurRad="42863" rotWithShape="0" algn="bl" dir="5400000" dist="19050">
              <a:srgbClr val="36364C"/>
            </a:outerShdw>
          </a:effectLst>
        </p:spPr>
        <p:txBody>
          <a:bodyPr anchorCtr="0" anchor="ctr" bIns="91425" lIns="91425" spcFirstLastPara="1" rIns="91425" wrap="square" tIns="91425">
            <a:noAutofit/>
          </a:bodyPr>
          <a:lstStyle/>
          <a:p>
            <a:pPr indent="0" lvl="0" marL="0" rtl="0" algn="ctr">
              <a:lnSpc>
                <a:spcPct val="110000"/>
              </a:lnSpc>
              <a:spcBef>
                <a:spcPts val="0"/>
              </a:spcBef>
              <a:spcAft>
                <a:spcPts val="0"/>
              </a:spcAft>
              <a:buNone/>
            </a:pPr>
            <a:r>
              <a:rPr b="1" lang="en" sz="2000">
                <a:solidFill>
                  <a:schemeClr val="lt1"/>
                </a:solidFill>
                <a:latin typeface="Roboto Condensed"/>
                <a:ea typeface="Roboto Condensed"/>
                <a:cs typeface="Roboto Condensed"/>
                <a:sym typeface="Roboto Condensed"/>
              </a:rPr>
              <a:t>James Carnley</a:t>
            </a:r>
            <a:endParaRPr b="1" sz="2000">
              <a:solidFill>
                <a:schemeClr val="lt1"/>
              </a:solidFill>
              <a:latin typeface="Roboto Condensed"/>
              <a:ea typeface="Roboto Condensed"/>
              <a:cs typeface="Roboto Condensed"/>
              <a:sym typeface="Roboto Condensed"/>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Ethereum File System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u="sng">
                <a:solidFill>
                  <a:schemeClr val="lt1"/>
                </a:solidFill>
                <a:latin typeface="Roboto"/>
                <a:ea typeface="Roboto"/>
                <a:cs typeface="Roboto"/>
                <a:sym typeface="Roboto"/>
                <a:hlinkClick r:id="rId3">
                  <a:extLst>
                    <a:ext uri="{A12FA001-AC4F-418D-AE19-62706E023703}">
                      <ahyp:hlinkClr val="tx"/>
                    </a:ext>
                  </a:extLst>
                </a:hlinkClick>
              </a:rPr>
              <a:t>efs.eth.limo</a:t>
            </a:r>
            <a:endParaRPr sz="1700" u="sng">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JamesCarnley@gmail.com</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rPr lang="en" sz="1700">
                <a:solidFill>
                  <a:schemeClr val="lt1"/>
                </a:solidFill>
                <a:latin typeface="Roboto"/>
                <a:ea typeface="Roboto"/>
                <a:cs typeface="Roboto"/>
                <a:sym typeface="Roboto"/>
              </a:rPr>
              <a:t>@JamesCarnley</a:t>
            </a:r>
            <a:endParaRPr sz="1700">
              <a:solidFill>
                <a:schemeClr val="lt1"/>
              </a:solidFill>
              <a:latin typeface="Roboto"/>
              <a:ea typeface="Roboto"/>
              <a:cs typeface="Roboto"/>
              <a:sym typeface="Roboto"/>
            </a:endParaRPr>
          </a:p>
          <a:p>
            <a:pPr indent="0" lvl="0" marL="0" rtl="0" algn="ctr">
              <a:lnSpc>
                <a:spcPct val="110000"/>
              </a:lnSpc>
              <a:spcBef>
                <a:spcPts val="0"/>
              </a:spcBef>
              <a:spcAft>
                <a:spcPts val="0"/>
              </a:spcAft>
              <a:buNone/>
            </a:pPr>
            <a:r>
              <a:t/>
            </a:r>
            <a:endParaRPr sz="1300">
              <a:solidFill>
                <a:schemeClr val="lt1"/>
              </a:solidFill>
              <a:latin typeface="Libre Franklin"/>
              <a:ea typeface="Libre Franklin"/>
              <a:cs typeface="Libre Franklin"/>
              <a:sym typeface="Libre Franklin"/>
            </a:endParaRPr>
          </a:p>
        </p:txBody>
      </p:sp>
      <p:sp>
        <p:nvSpPr>
          <p:cNvPr id="433" name="Google Shape;433;p48"/>
          <p:cNvSpPr txBox="1"/>
          <p:nvPr/>
        </p:nvSpPr>
        <p:spPr>
          <a:xfrm>
            <a:off x="1206500" y="1778000"/>
            <a:ext cx="6731100" cy="126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a:solidFill>
                  <a:srgbClr val="05068D"/>
                </a:solidFill>
                <a:latin typeface="Poppins"/>
                <a:ea typeface="Poppins"/>
                <a:cs typeface="Poppins"/>
                <a:sym typeface="Poppins"/>
              </a:rPr>
              <a:t>Let’s build reliable and long-lasting apps together</a:t>
            </a:r>
            <a:endParaRPr b="1" sz="2200">
              <a:solidFill>
                <a:srgbClr val="05068D"/>
              </a:solidFill>
              <a:latin typeface="Poppins"/>
              <a:ea typeface="Poppins"/>
              <a:cs typeface="Poppins"/>
              <a:sym typeface="Poppins"/>
            </a:endParaRPr>
          </a:p>
          <a:p>
            <a:pPr indent="0" lvl="0" marL="0" rtl="0" algn="ctr">
              <a:spcBef>
                <a:spcPts val="0"/>
              </a:spcBef>
              <a:spcAft>
                <a:spcPts val="0"/>
              </a:spcAft>
              <a:buNone/>
            </a:pPr>
            <a:r>
              <a:t/>
            </a:r>
            <a:endParaRPr b="1" sz="2200">
              <a:solidFill>
                <a:srgbClr val="05068D"/>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