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Thin"/>
      <p:regular r:id="rId36"/>
      <p:bold r:id="rId37"/>
      <p:italic r:id="rId38"/>
      <p:boldItalic r:id="rId39"/>
    </p:embeddedFont>
    <p:embeddedFont>
      <p:font typeface="Roboto Condensed ExtraBold"/>
      <p:bold r:id="rId40"/>
      <p:boldItalic r:id="rId41"/>
    </p:embeddedFont>
    <p:embeddedFont>
      <p:font typeface="Libre Franklin"/>
      <p:regular r:id="rId42"/>
      <p:bold r:id="rId43"/>
      <p:italic r:id="rId44"/>
      <p:boldItalic r:id="rId45"/>
    </p:embeddedFont>
    <p:embeddedFont>
      <p:font typeface="Roboto"/>
      <p:regular r:id="rId46"/>
      <p:bold r:id="rId47"/>
      <p:italic r:id="rId48"/>
      <p:boldItalic r:id="rId49"/>
    </p:embeddedFont>
    <p:embeddedFont>
      <p:font typeface="Poppins"/>
      <p:regular r:id="rId50"/>
      <p:bold r:id="rId51"/>
      <p:italic r:id="rId52"/>
      <p:boldItalic r:id="rId53"/>
    </p:embeddedFont>
    <p:embeddedFont>
      <p:font typeface="Roboto Condensed"/>
      <p:regular r:id="rId54"/>
      <p:bold r:id="rId55"/>
      <p:italic r:id="rId56"/>
      <p:boldItalic r:id="rId57"/>
    </p:embeddedFont>
    <p:embeddedFont>
      <p:font typeface="Libre Franklin Medium"/>
      <p:regular r:id="rId58"/>
      <p:bold r:id="rId59"/>
      <p:italic r:id="rId60"/>
      <p:boldItalic r:id="rId61"/>
    </p:embeddedFont>
    <p:embeddedFont>
      <p:font typeface="Poppins ExtraBold"/>
      <p:bold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ExtraBold-bold.fntdata"/><Relationship Id="rId42" Type="http://schemas.openxmlformats.org/officeDocument/2006/relationships/font" Target="fonts/LibreFranklin-regular.fntdata"/><Relationship Id="rId41" Type="http://schemas.openxmlformats.org/officeDocument/2006/relationships/font" Target="fonts/RobotoCondensedExtraBold-boldItalic.fntdata"/><Relationship Id="rId44" Type="http://schemas.openxmlformats.org/officeDocument/2006/relationships/font" Target="fonts/LibreFranklin-italic.fntdata"/><Relationship Id="rId43" Type="http://schemas.openxmlformats.org/officeDocument/2006/relationships/font" Target="fonts/LibreFranklin-bold.fntdata"/><Relationship Id="rId46" Type="http://schemas.openxmlformats.org/officeDocument/2006/relationships/font" Target="fonts/Roboto-regular.fntdata"/><Relationship Id="rId45" Type="http://schemas.openxmlformats.org/officeDocument/2006/relationships/font" Target="fonts/LibreFranklin-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obotoThin-bold.fntdata"/><Relationship Id="rId36" Type="http://schemas.openxmlformats.org/officeDocument/2006/relationships/font" Target="fonts/RobotoThin-regular.fntdata"/><Relationship Id="rId39" Type="http://schemas.openxmlformats.org/officeDocument/2006/relationships/font" Target="fonts/RobotoThin-boldItalic.fntdata"/><Relationship Id="rId38" Type="http://schemas.openxmlformats.org/officeDocument/2006/relationships/font" Target="fonts/RobotoThin-italic.fntdata"/><Relationship Id="rId62" Type="http://schemas.openxmlformats.org/officeDocument/2006/relationships/font" Target="fonts/PoppinsExtraBold-bold.fntdata"/><Relationship Id="rId61" Type="http://schemas.openxmlformats.org/officeDocument/2006/relationships/font" Target="fonts/LibreFranklinMedium-boldItalic.fntdata"/><Relationship Id="rId20" Type="http://schemas.openxmlformats.org/officeDocument/2006/relationships/slide" Target="slides/slide15.xml"/><Relationship Id="rId63" Type="http://schemas.openxmlformats.org/officeDocument/2006/relationships/font" Target="fonts/PoppinsExtraBold-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ibreFranklinMedium-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bold.fntdata"/><Relationship Id="rId50" Type="http://schemas.openxmlformats.org/officeDocument/2006/relationships/font" Target="fonts/Poppins-regular.fntdata"/><Relationship Id="rId53" Type="http://schemas.openxmlformats.org/officeDocument/2006/relationships/font" Target="fonts/Poppins-boldItalic.fntdata"/><Relationship Id="rId52" Type="http://schemas.openxmlformats.org/officeDocument/2006/relationships/font" Target="fonts/Poppins-italic.fntdata"/><Relationship Id="rId11" Type="http://schemas.openxmlformats.org/officeDocument/2006/relationships/slide" Target="slides/slide6.xml"/><Relationship Id="rId55" Type="http://schemas.openxmlformats.org/officeDocument/2006/relationships/font" Target="fonts/RobotoCondensed-bold.fntdata"/><Relationship Id="rId10" Type="http://schemas.openxmlformats.org/officeDocument/2006/relationships/slide" Target="slides/slide5.xml"/><Relationship Id="rId54" Type="http://schemas.openxmlformats.org/officeDocument/2006/relationships/font" Target="fonts/RobotoCondensed-regular.fntdata"/><Relationship Id="rId13" Type="http://schemas.openxmlformats.org/officeDocument/2006/relationships/slide" Target="slides/slide8.xml"/><Relationship Id="rId57" Type="http://schemas.openxmlformats.org/officeDocument/2006/relationships/font" Target="fonts/RobotoCondensed-boldItalic.fntdata"/><Relationship Id="rId12" Type="http://schemas.openxmlformats.org/officeDocument/2006/relationships/slide" Target="slides/slide7.xml"/><Relationship Id="rId56" Type="http://schemas.openxmlformats.org/officeDocument/2006/relationships/font" Target="fonts/RobotoCondensed-italic.fntdata"/><Relationship Id="rId15" Type="http://schemas.openxmlformats.org/officeDocument/2006/relationships/slide" Target="slides/slide10.xml"/><Relationship Id="rId59" Type="http://schemas.openxmlformats.org/officeDocument/2006/relationships/font" Target="fonts/LibreFranklinMedium-bold.fntdata"/><Relationship Id="rId14" Type="http://schemas.openxmlformats.org/officeDocument/2006/relationships/slide" Target="slides/slide9.xml"/><Relationship Id="rId58" Type="http://schemas.openxmlformats.org/officeDocument/2006/relationships/font" Target="fonts/LibreFranklinMedium-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and I build Ethereum File System. I want the things we build to remain useful long after we are gone. Today we'll look at what that asks of the whole application.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put the work into making an app people can keep using without you?</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someone with years of research notes, attachments and shared work inside an app. Then the company closes, or a new owner changes the deal. Their work still matters, but they lose the tools they need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you built another app on that service. Your users inherit the same failure. Fragile foundations limit what we can responsibly build on top.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give people a better future. Let's look at how.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research-notes persona is illustrative, not an EFS customer or a deployed collaborative editor.</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people to keep their work, choose better tools and trust software with important parts of their lives. And I want developers to build on useful capabilities without asking whether the original company will still exist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this work matters to me. Each dependable component gives the next builder somewhere to start. Over time, those components can support bigger shared projects and even the institutions our communities depend 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1:40-2:45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Hyperstructures give a name to an ambition: public protocols that people can keep using and building on without their creators.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an illustrative community, Garden DAO. Maya is a member. Three teams build membership, voting and treasury components. A fourth team combines them into a DAO app. A fifth builds a moderation module. Now another team can build a social app using the DAO and that moderation module.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do not have to rebuild membership, voting or payments. Each dependable component gives the next team somewhere to start.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useful work accumulating into larger systems people can trust. CROPS brings our values to that work: censorship resistance, open source, privacy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architecture, not a deployed DAO or a claim that every module meets the full economic definition of a hyperstructure. Arrows point from a reusable component to its consumer. Membership determines eligibility, voting records decisions and treasury executes approved actions. Moderation selects what this social interface displays; it does not rewrite membership or treasury rules or erase every copy. Stable interfaces, retained inputs and independently operable services make composition dependable. Jacob Horne's definition includes additional economic properties.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2:45-3:15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walk-away test makes that vision practical. Choose an important thing a user does. First, imagine your team and its services disappear. Can someone else help that user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imagine someone hostile gets the powers your team kept. Can users keep their work and the rules they chose?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carry those questions through the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Absence and hostile control are different scenarios. Use test accounts and copied data for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https://vitalik.eth.limo/general/2024/09/28/alignment.html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3:15-3:35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eight jobs to consider, grouped into three chapters: getting into the app, continuing the work, and keeping dependable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we'll look at an improvement you can make and something you can check. People, documentation and funding support the whole picture.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3:35-3:40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give people a dependable way into the app.</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3:40-3:50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need a way to find a release, run the software and recover their access. Those are three useful checks before we even reach the app's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3:50-5:05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real names and lookup values. Ethereum dot org resolves to network addresses for a hosted website. That endpoint serves the page.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EFS dot eth points to an IPFS content identifier for a particular release. Different people can retain that same release and serve identical files. The lower drawing shows the arrangement we want: independent copies that other people can keep 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People can open the name through dot limo or dot link, or use their own IPFS node. Those are ways to reach the release. Keeping the release with several operators gives those entrances something to serve.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Save the identifier and opening instructions. Then try an ordinary task without the usual website.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Lookup snapshot: 2026-10-26. ethereum.org returned A records 104.18.176.152 and 104.19.239.224 through both 1.1.1.1 and 8.8.8.8. These are Cloudflare network endpoints, not proof of one physical server; the slide groups the hosted service, not its internal machines. ENS mainnet at block 26279986 (hash 0xd812e26824d24b4ef54112803d47e0fdb7b6c5ffabe1631d624ab2cb1c349b0e, 22:54:35Z) resolved efs.eth through resolver 0xF29100983E058B709F3D539b0c765937B804AC15 to ipfs://bafybeicrisk74xwozdpx4v5kaqjmimzjqsrp74r5tsrgdyv5kju3dnp5ku. The shortened CID on the slide is explicitly an abbreviation. Three retained copies are an illustrative deployment pattern, not a measured EFS operator count. .link and .limo share the eth.limo operator; do not count them as independent retention. ENS controller, resolver and renewal powers and browser verification remain relevant.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https://docs.ens.domains/ensip/7/</a:t>
            </a:r>
            <a:endParaRPr/>
          </a:p>
          <a:p>
            <a:pPr indent="0" lvl="0" marL="0" rtl="0" algn="l">
              <a:spcBef>
                <a:spcPts val="0"/>
              </a:spcBef>
              <a:spcAft>
                <a:spcPts val="0"/>
              </a:spcAft>
              <a:buNone/>
            </a:pPr>
            <a:r>
              <a:rPr lang="en"/>
              <a:t>https://docs.ipfs.tech/concepts/content-addressing/</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https://developers.cloudflare.com/dns/proxy-status/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5:05-5:55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release is the actual application someone can open. For a web app, that means the HTML, JavaScript, styles, images and configuration, including code it loads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Garden DAO keeps only its homepage, that page might still ask a vanished server for the script it needs. Keep the complete runnable bundle instead.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Beside it, publish the source, locked dependencies and build instructions. The saved bundle lets Maya use the app today. The source and recipe let another developer maintain it tomorrow.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Check both paths on a fresh machine: open the release, then rebuild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release folder is illustrative, not an actual Garden DAO artifact. Running a saved release and reproducing a build are separate accomplishments. Inspect runtime requests, dynamic imports, deep links, configuration and wallet connector dependencies. The Ledger Connect Kit incident can be mentioned if useful as a historical distribution compromise.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https://docs.ipfs.tech/how-to/websites-on-ipfs/single-page-website/</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5:55-6:45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Maya loses her phone. If that device held her only signing key, she might lose her ability to participate.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a Safe-style two-of-three recovery arrangement. The lost phone is one signer. Two remaining signers authorize replacing it. The key changes, while the same account keeps its membership and voting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Private documents need their own recovery plan for decryption keys. Include that in the lost-device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a test account and ask someone to follow the recovery instructions without your team. Their work should remain usable even when their device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Safe is a real Ethereum smart-account example; Maya and this signer arrangement are illustrative. Actual owners, threshold, modules and guards must permit the recovery. Signers should be separately controlled according to the user's threat model. Account recovery does not reconstruct file-decryption keys. Do not expose keys or conduct recovery against production accounts for this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https://docs.safe.global/advanced/smart-account-overview</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6:45-6:50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make the user's work useful beyond a single app.</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6:50-7:00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files, keep their meaning, and give another app or operator the information needed to continue the task.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ositive_standar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positive_standar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7:00-7:50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give another app a record it can understand. Garden DAO has proposal 42, Fund the garden.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 the Ethereum Attestation Service, can provide a structured statement with a proposal identifier, title, document reference and voting reference. Ethereum File System supplies the named document and its file metadata.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example records, showing how the two could fit together. The document reference selects the particular revision. The voting reference identifies the chain, contract and proposal.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Publish the field meanings and reference format. Another developer can then write a different reader without guessing how the user's work fits together.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design, not a deployed EAS/EFS integration. Proposed EAS schema: uint256 proposalId, string title, string documentRef, string voteRef. voteRef uses an agreed encoding of chain ID, voting-contract address and proposal ID. An EAS attestation UID identifies a statement and its attester is a separate field. documentRef must identify the selected EFS revision, including chain and deployment; the displayed path is the human-readable name, not the entire stable reference. EAS refUID is for another EAS attestation, not an arbitrary EFS reference. Apps agree on field meaning, permitted authors and reference conventions.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https://docs.attest.org/docs/tutorials/create-a-schema</a:t>
            </a:r>
            <a:endParaRPr/>
          </a:p>
          <a:p>
            <a:pPr indent="0" lvl="0" marL="0" rtl="0" algn="l">
              <a:spcBef>
                <a:spcPts val="0"/>
              </a:spcBef>
              <a:spcAft>
                <a:spcPts val="0"/>
              </a:spcAft>
              <a:buNone/>
            </a:pPr>
            <a:r>
              <a:rPr lang="en"/>
              <a:t>https://docs.attest.org/docs/tutorials/referenced-attestations</a:t>
            </a:r>
            <a:endParaRPr/>
          </a:p>
          <a:p>
            <a:pPr indent="0" lvl="0" marL="0" rtl="0" algn="l">
              <a:spcBef>
                <a:spcPts val="0"/>
              </a:spcBef>
              <a:spcAft>
                <a:spcPts val="0"/>
              </a:spcAft>
              <a:buNone/>
            </a:pPr>
            <a:r>
              <a:rPr lang="en"/>
              <a:t>https://github.com/ethereum-attestation-service/eas-contracts/blob/master/contracts/IEAS.sol</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7:50-8:40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DAO portal shows proposal 42 as a voting page. A community social app shows the same proposal in its feed. Both read the same statement and document reference and can reach the same voting contract.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Maya can choose a different interface and still participate in the same DAO. The social app's team can improve the experience without making everyone recreate their proposals and documents.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portable data is for. Give a second client one useful task: find this proposal, open its plan and let the user vote. Shared records become valuable when another tool can actually use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applications using a proposed shared-record convention. This is not an observed client migration or a claim of existing EAS/EFS integration. A second reader must preserve proposal identity, author and authorization semantics, the exact document revision and the voting-contract reference. Different clients can offer different features and moderation policies while using the same underlying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https://attest.org/</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8:40-9:30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proposal record can survive while its attachment disappears. That would leave Maya able to see a vote but unable to read what she is voting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Arrange retained copies of the plan with independent operators, and let Maya keep a backup. Preserve the document's format and any attachments or relationships needed to understand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disconnect the original provider and restore the plan from another copy. Open it in a compatible reader. That is a much stronger check than knowing an export button exists.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retention a budget and a named operator, so the copies are still there when someone needs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copies, not a measured EFS retention deployment. Multiple gateways may serve the same retained source. Keep bytes, schemas, relevant history and private-data decryption material. The underlying lesson is a restore check, not an assurance of perpetual storage.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https://www.inkandswitch.com/essay/local-first/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9:30-10:35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job EFS contributes. A readable path leads to an onchain file record. That record describes the file and gives us the reference needed to check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can read the onchain metadata. A client can use the retrieval references to get the document from IPFS or Arweave, then check its bytes against the expected digest.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storage provider can change while the accepted document stays the same. Another app can find the reference, retrieve a copy and check what it received.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your own app, make that handoff explicit: what names the document, what identifies the right version, and where can another person obtain a matching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Garden DAO's path and composition are illustrative. EFS's Sepolia proof package is historical evidence for checking a file retrieved from IPFS and Arweave, not a fresh test in this turn. Onchain metadata reads and offchain byte retrieval are different paths: contracts do not directly fetch IPFS or Arweave in this diagram. Pin the exact file revision with chain/deployment context when a proposal must refer to fixed content. A digest checks byte integrity relative to the accepted reference, not truth, currentness or retention. No public EFS version or new deployment is promised.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10:35-11:35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chain may still hold the proposal even when the app's list is empty. The missing piece can be the index: the service that turns public records into a useful search or 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another operator reads public proposal events and follows the published indexing recipe. Maya selects that replacement index in the app. Proposal 42 appears again, along with how far the view has synced.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chain connection configurable, so the operator can use another RPC or their own node. For supported reads, light clients offer a path to checking responses.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useful test is to rebuild one important view. Can Maya find the proposal, see its current vote state and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displayed block 12345 is illustrative, not a live chain height. RPC means the app's connection to a node. An index organizes records for discovery; direct contract reads supply current state. Helios support varies by network/method, and it does not verify arbitrary index queries or retain files. Graph Node is an Ethereum ecosystem example of a rebuildable indexer; an operator needs manifests, linked files, suitable history, RPC and a database. Publish schema, start block and indexing rules as applicable.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rPr lang="en"/>
              <a:t>https://thegraph.com/docs/en/indexing/tooling/graph-node/</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11:35-12:25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Proposal 42 passes. Its rules allow a payment for the garden. But a contract does not wake up on its own. Someone still has to send the execution transaction.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original team's bot is offline. A volunteer runs the published executor and submits the same approved action. The treasury contract checks the proposal and its conditions before paying the specified recipient.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a replaceable background job. Publish the code, inputs and operating instructions. Make it possible for another operator to do the work, and explain how the transaction costs are covered.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stop your bot in a test environment and try the replacement.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permissionless proposal-execution design. The operator triggers the pre-authorized action and cannot choose a different recipient or amount. Avoid duplicate payments with the contract's execution-state checks. PoolTogether V5's permissionless prize claimers are a real example of incentives for submitting useful transactions; do not imply Garden DAO is deployed. Other jobs, such as oracles or provers, may require different inputs and authority.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https://dev.pooltogether.com/protocol/design/prize-claimer/</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12:25-12:30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let's give people rules they can build on.</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12:30-12:40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contracts give builders a foundation. User-chosen app upgrades let better tools grow around it. Shared systems need a clear agreement about how their rules evolve.</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12:40-14:05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encourage you to build immutable core contracts. When the logic at an address stays fixed, another developer can build against it without depending on the original team's future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example of fixed contract code that other applications can call. The interface can keep improving around that shared capability.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can develop new versions by deploying new contracts and letting users choose when to move. Keep the old contract and its instructions usable for people who stay.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most app software, I want that choice to belong to the user. Networks like Ethereum coordinate changes to shared protocol rules, which is a different kind of decision.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practical step is to identify the smallest core you can keep stable, test it carefully, and remove unnecessary upgrade powers. That is a foundation other people can confidently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code preserves encoded logic, not every input or economic condition. Uniswap v2 Factory retains bounded protocol-fee configuration through feeTo/feeToSetter; there is no arbitrary upgrade mechanism in these core contracts. Immutability removes in-place repair, so scope the core, test/audit it and plan voluntary new deployments. Dependencies, governance, pause and token powers remain relevant. EFS immutability is James's goal, not a newly verified deployment claim. Keeping a client release cannot reverse a shared-contract upgrade.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14:05-15:25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also inherits the network underneath it. On Ethereum, nodes and validators provide access to shared state and agreement about accepted transactions. Make sure the app has a working path to that network and the history it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learn which components order transactions, publish the data and establish the result on the settlement chain. Then find the documented recovery route for your chosen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OP Stack documentation describes a way to submit through L1 when a sequencer is unavailable. Turn that documentation into instructions for the account and task your user actually has.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Choose a network whose normal operation and recovery paths fit the promise your app makes.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L1 inclusion/finality, peer connectivity, required history, L2 sequencer/proving/data availability and bridge powers are distinct dependencies. Forced inclusion and withdrawal are different operations. OP Stack recovery details vary by chain/configuration and account. This talk gives a design check, not a tested universal L2 escape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15:25-16:10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community can carry the work forward when the next person has the materials and the instructions.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Garden DAO, the handoff includes the release, contract addresses, retained documents, index recipe and executor instructions. It explains how to select replacement endpoints, what running those services costs and how the community can fund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volunteers can open the app, rebuild its view and run the executor. Aim for several independent participants at the important layers.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this handoff to someone outside your team. Their questions will show you what to improve before people need it in an emergency.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Garden DAO and volunteers are illustrative. Three independent participants is James's resilience ambition, not a universal safety threshold. Separate operators, credentials, infrastructure and funding where the threat model warrants it. No live handoff has been performed. The operator should need public instructions rather than the departed team's private permissions or undocumented knowledge.</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16:10-16:15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16:15-17:00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Start with one task whose loss would hurt a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they open a saved app, recover access, restore their data and use a compatible client? Can another operator rebuild the views, run the jobs and understand the contract and network recovery paths?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the task without your team's services or personal help. Then ask what a hostile holder of your remaining powers could change.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test accounts and copies. Record where someone gets stuck and choose one improvement.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 practical checklist, not a certification system. Record observed results, time, cost and remaining assumptions. The next slide is a fictional tabletop illustration, not an executed EFS test.</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concrete_walkthroug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concrete_walkthroug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17:00-17:55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use it. Maya's task is to find proposal 42, read the plan and cast a test vote. In this illustrative drill, the original team's services are switched off.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saved release opens, but the proposal list is empty. We have found the dependency: a private index.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volunteer rebuilds the list from public events using the published recipe. Maya selects the replacement index, and proposal 42 appears. The plan loads from another retained copy and matches its expected digest. Maya casts a test vote and sees its chain receipt.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concrete improvement is to include that index recipe in every release handoff. One user task has shown us exactly what to fix.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tabletop result, not an observed deployment test or assurance that the complete stack passes. The task starts with discovery; a supplied direct path would bypass the failed list. Assume published event history, the recipe, suitable chain access, the compatible client, retained bytes and a test account. A real drill records actual failures and must not switch off production services. Hostile-control testing is separate from this absence drill.</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17:55-18:40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a future where people can trust software with the important parts of their lives. Where their work remains theirs, better tools can use it, and developers keep adding to foundations everyone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draws me to Ethereum and what I am trying to contribute with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important task. Make it easier for someone else to keep it working. Every dependable piece gives the next person more to build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work can outlive us.</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part of your app would you most like to make independent of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and public contact slide. No live demo or new protocol deployment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Users lose their work and trust</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Other developers can’t rely on that functionality</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people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years of useful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Choose better tools</a:t>
            </a:r>
            <a:endParaRPr sz="2400">
              <a:solidFill>
                <a:srgbClr val="212121"/>
              </a:solidFill>
            </a:endParaRPr>
          </a:p>
        </p:txBody>
      </p:sp>
      <p:sp>
        <p:nvSpPr>
          <p:cNvPr id="102" name="Google Shape;102;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builders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Reuse dependable capabilities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Build bigger things together</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Software worth building on</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a:solidFill>
                  <a:srgbClr val="06038D"/>
                </a:solidFill>
                <a:latin typeface="Poppins"/>
                <a:ea typeface="Poppins"/>
                <a:cs typeface="Poppins"/>
                <a:sym typeface="Poppins"/>
              </a:rPr>
              <a:t>Hyperstructures: build on each other</a:t>
            </a:r>
            <a:endParaRPr b="1">
              <a:solidFill>
                <a:srgbClr val="06038D"/>
              </a:solidFill>
              <a:latin typeface="Poppins"/>
              <a:ea typeface="Poppins"/>
              <a:cs typeface="Poppins"/>
              <a:sym typeface="Poppins"/>
            </a:endParaRPr>
          </a:p>
        </p:txBody>
      </p:sp>
      <p:cxnSp>
        <p:nvCxnSpPr>
          <p:cNvPr id="109" name="Google Shape;109;p23"/>
          <p:cNvCxnSpPr/>
          <p:nvPr/>
        </p:nvCxnSpPr>
        <p:spPr>
          <a:xfrm rot="10800000">
            <a:off x="1651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0" name="Google Shape;110;p23"/>
          <p:cNvCxnSpPr/>
          <p:nvPr/>
        </p:nvCxnSpPr>
        <p:spPr>
          <a:xfrm rot="10800000">
            <a:off x="3810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1" name="Google Shape;111;p23"/>
          <p:cNvCxnSpPr/>
          <p:nvPr/>
        </p:nvCxnSpPr>
        <p:spPr>
          <a:xfrm rot="10800000">
            <a:off x="5969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2" name="Google Shape;112;p23"/>
          <p:cNvCxnSpPr/>
          <p:nvPr/>
        </p:nvCxnSpPr>
        <p:spPr>
          <a:xfrm>
            <a:off x="1651000" y="3111500"/>
            <a:ext cx="4317900" cy="0"/>
          </a:xfrm>
          <a:prstGeom prst="straightConnector1">
            <a:avLst/>
          </a:prstGeom>
          <a:noFill/>
          <a:ln cap="flat" cmpd="sng" w="17775">
            <a:solidFill>
              <a:srgbClr val="06038D"/>
            </a:solidFill>
            <a:prstDash val="solid"/>
            <a:round/>
            <a:headEnd len="med" w="med" type="none"/>
            <a:tailEnd len="med" w="med" type="none"/>
          </a:ln>
        </p:spPr>
      </p:cxnSp>
      <p:cxnSp>
        <p:nvCxnSpPr>
          <p:cNvPr id="113" name="Google Shape;113;p23"/>
          <p:cNvCxnSpPr/>
          <p:nvPr/>
        </p:nvCxnSpPr>
        <p:spPr>
          <a:xfrm rot="10800000">
            <a:off x="3810000" y="2857400"/>
            <a:ext cx="0" cy="254100"/>
          </a:xfrm>
          <a:prstGeom prst="straightConnector1">
            <a:avLst/>
          </a:prstGeom>
          <a:noFill/>
          <a:ln cap="flat" cmpd="sng" w="17775">
            <a:solidFill>
              <a:srgbClr val="06038D"/>
            </a:solidFill>
            <a:prstDash val="solid"/>
            <a:round/>
            <a:headEnd len="med" w="med" type="none"/>
            <a:tailEnd len="med" w="med" type="triangle"/>
          </a:ln>
        </p:spPr>
      </p:cxnSp>
      <p:cxnSp>
        <p:nvCxnSpPr>
          <p:cNvPr id="114" name="Google Shape;114;p23"/>
          <p:cNvCxnSpPr/>
          <p:nvPr/>
        </p:nvCxnSpPr>
        <p:spPr>
          <a:xfrm rot="10800000">
            <a:off x="381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5" name="Google Shape;115;p23"/>
          <p:cNvCxnSpPr/>
          <p:nvPr/>
        </p:nvCxnSpPr>
        <p:spPr>
          <a:xfrm rot="10800000">
            <a:off x="762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6" name="Google Shape;116;p23"/>
          <p:cNvCxnSpPr/>
          <p:nvPr/>
        </p:nvCxnSpPr>
        <p:spPr>
          <a:xfrm>
            <a:off x="3810000" y="1917700"/>
            <a:ext cx="3810000" cy="0"/>
          </a:xfrm>
          <a:prstGeom prst="straightConnector1">
            <a:avLst/>
          </a:prstGeom>
          <a:noFill/>
          <a:ln cap="flat" cmpd="sng" w="17775">
            <a:solidFill>
              <a:srgbClr val="06038D"/>
            </a:solidFill>
            <a:prstDash val="solid"/>
            <a:round/>
            <a:headEnd len="med" w="med" type="none"/>
            <a:tailEnd len="med" w="med" type="none"/>
          </a:ln>
        </p:spPr>
      </p:cxnSp>
      <p:cxnSp>
        <p:nvCxnSpPr>
          <p:cNvPr id="117" name="Google Shape;117;p23"/>
          <p:cNvCxnSpPr/>
          <p:nvPr/>
        </p:nvCxnSpPr>
        <p:spPr>
          <a:xfrm rot="10800000">
            <a:off x="5016500" y="1777900"/>
            <a:ext cx="0" cy="139800"/>
          </a:xfrm>
          <a:prstGeom prst="straightConnector1">
            <a:avLst/>
          </a:prstGeom>
          <a:noFill/>
          <a:ln cap="flat" cmpd="sng" w="17775">
            <a:solidFill>
              <a:srgbClr val="06038D"/>
            </a:solidFill>
            <a:prstDash val="solid"/>
            <a:round/>
            <a:headEnd len="med" w="med" type="none"/>
            <a:tailEnd len="med" w="med" type="triangle"/>
          </a:ln>
        </p:spPr>
      </p:cxnSp>
      <p:sp>
        <p:nvSpPr>
          <p:cNvPr id="118" name="Google Shape;118;p23"/>
          <p:cNvSpPr/>
          <p:nvPr/>
        </p:nvSpPr>
        <p:spPr>
          <a:xfrm>
            <a:off x="3365500" y="1155700"/>
            <a:ext cx="3302100" cy="622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Community social app</a:t>
            </a:r>
            <a:endParaRPr sz="19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Team F</a:t>
            </a:r>
            <a:endParaRPr sz="1900">
              <a:solidFill>
                <a:srgbClr val="FFFFFF"/>
              </a:solidFill>
              <a:latin typeface="Poppins"/>
              <a:ea typeface="Poppins"/>
              <a:cs typeface="Poppins"/>
              <a:sym typeface="Poppins"/>
            </a:endParaRPr>
          </a:p>
        </p:txBody>
      </p:sp>
      <p:sp>
        <p:nvSpPr>
          <p:cNvPr id="119" name="Google Shape;119;p23"/>
          <p:cNvSpPr/>
          <p:nvPr/>
        </p:nvSpPr>
        <p:spPr>
          <a:xfrm>
            <a:off x="1905000" y="2159000"/>
            <a:ext cx="38100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Garden DAO app</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Team D</a:t>
            </a:r>
            <a:endParaRPr sz="2100">
              <a:solidFill>
                <a:srgbClr val="212121"/>
              </a:solidFill>
              <a:latin typeface="Poppins"/>
              <a:ea typeface="Poppins"/>
              <a:cs typeface="Poppins"/>
              <a:sym typeface="Poppins"/>
            </a:endParaRPr>
          </a:p>
        </p:txBody>
      </p:sp>
      <p:sp>
        <p:nvSpPr>
          <p:cNvPr id="120" name="Google Shape;120;p23"/>
          <p:cNvSpPr/>
          <p:nvPr/>
        </p:nvSpPr>
        <p:spPr>
          <a:xfrm>
            <a:off x="6731000" y="2159000"/>
            <a:ext cx="18414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Moderation</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Team E</a:t>
            </a:r>
            <a:endParaRPr sz="1800">
              <a:solidFill>
                <a:srgbClr val="212121"/>
              </a:solidFill>
              <a:latin typeface="Poppins"/>
              <a:ea typeface="Poppins"/>
              <a:cs typeface="Poppins"/>
              <a:sym typeface="Poppins"/>
            </a:endParaRPr>
          </a:p>
        </p:txBody>
      </p:sp>
      <p:sp>
        <p:nvSpPr>
          <p:cNvPr id="121" name="Google Shape;121;p23"/>
          <p:cNvSpPr/>
          <p:nvPr/>
        </p:nvSpPr>
        <p:spPr>
          <a:xfrm>
            <a:off x="698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Membership</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A</a:t>
            </a:r>
            <a:endParaRPr sz="2000">
              <a:solidFill>
                <a:srgbClr val="212121"/>
              </a:solidFill>
              <a:latin typeface="Poppins"/>
              <a:ea typeface="Poppins"/>
              <a:cs typeface="Poppins"/>
              <a:sym typeface="Poppins"/>
            </a:endParaRPr>
          </a:p>
        </p:txBody>
      </p:sp>
      <p:sp>
        <p:nvSpPr>
          <p:cNvPr id="122" name="Google Shape;122;p23"/>
          <p:cNvSpPr/>
          <p:nvPr/>
        </p:nvSpPr>
        <p:spPr>
          <a:xfrm>
            <a:off x="2857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Voting</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B</a:t>
            </a:r>
            <a:endParaRPr sz="2000">
              <a:solidFill>
                <a:srgbClr val="212121"/>
              </a:solidFill>
              <a:latin typeface="Poppins"/>
              <a:ea typeface="Poppins"/>
              <a:cs typeface="Poppins"/>
              <a:sym typeface="Poppins"/>
            </a:endParaRPr>
          </a:p>
        </p:txBody>
      </p:sp>
      <p:sp>
        <p:nvSpPr>
          <p:cNvPr id="123" name="Google Shape;123;p23"/>
          <p:cNvSpPr/>
          <p:nvPr/>
        </p:nvSpPr>
        <p:spPr>
          <a:xfrm>
            <a:off x="5016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Treasury</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C</a:t>
            </a:r>
            <a:endParaRPr sz="2000">
              <a:solidFill>
                <a:srgbClr val="212121"/>
              </a:solidFill>
              <a:latin typeface="Poppins"/>
              <a:ea typeface="Poppins"/>
              <a:cs typeface="Poppins"/>
              <a:sym typeface="Poppins"/>
            </a:endParaRPr>
          </a:p>
        </p:txBody>
      </p:sp>
      <p:sp>
        <p:nvSpPr>
          <p:cNvPr id="124" name="Google Shape;124;p23"/>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architecture: each team adds a dependable capability</a:t>
            </a:r>
            <a:endParaRPr sz="16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 type="body"/>
          </p:nvPr>
        </p:nvSpPr>
        <p:spPr>
          <a:xfrm>
            <a:off x="67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working?</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others run the services?</a:t>
            </a:r>
            <a:endParaRPr sz="2400">
              <a:solidFill>
                <a:srgbClr val="212121"/>
              </a:solidFill>
            </a:endParaRPr>
          </a:p>
        </p:txBody>
      </p:sp>
      <p:sp>
        <p:nvSpPr>
          <p:cNvPr id="130" name="Google Shape;130;p24"/>
          <p:cNvSpPr txBox="1"/>
          <p:nvPr>
            <p:ph idx="2" type="body"/>
          </p:nvPr>
        </p:nvSpPr>
        <p:spPr>
          <a:xfrm>
            <a:off x="4608575" y="1280150"/>
            <a:ext cx="40569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Control becomes hostile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their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they keep the rules they chose?</a:t>
            </a:r>
            <a:endParaRPr sz="2400">
              <a:solidFill>
                <a:srgbClr val="212121"/>
              </a:solidFill>
            </a:endParaRPr>
          </a:p>
        </p:txBody>
      </p:sp>
      <p:sp>
        <p:nvSpPr>
          <p:cNvPr id="131" name="Google Shape;131;p2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walk-away test</a:t>
            </a:r>
            <a:endParaRPr b="1" sz="3200">
              <a:solidFill>
                <a:srgbClr val="06038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4826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37" name="Google Shape;137;p25"/>
          <p:cNvSpPr txBox="1"/>
          <p:nvPr>
            <p:ph idx="4294967295" type="body"/>
          </p:nvPr>
        </p:nvSpPr>
        <p:spPr>
          <a:xfrm>
            <a:off x="6096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Names and discovery</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Runnable software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Accounts and recovery</a:t>
            </a:r>
            <a:endParaRPr sz="1800">
              <a:solidFill>
                <a:srgbClr val="212121"/>
              </a:solidFill>
            </a:endParaRPr>
          </a:p>
        </p:txBody>
      </p:sp>
      <p:sp>
        <p:nvSpPr>
          <p:cNvPr id="138" name="Google Shape;138;p25"/>
          <p:cNvSpPr/>
          <p:nvPr/>
        </p:nvSpPr>
        <p:spPr>
          <a:xfrm>
            <a:off x="0" y="2303000"/>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5"/>
          <p:cNvSpPr txBox="1"/>
          <p:nvPr>
            <p:ph type="title"/>
          </p:nvPr>
        </p:nvSpPr>
        <p:spPr>
          <a:xfrm>
            <a:off x="33274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40" name="Google Shape;140;p25"/>
          <p:cNvSpPr txBox="1"/>
          <p:nvPr>
            <p:ph idx="4294967295" type="body"/>
          </p:nvPr>
        </p:nvSpPr>
        <p:spPr>
          <a:xfrm>
            <a:off x="34544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Storage and formats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State and indexes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Background work</a:t>
            </a:r>
            <a:endParaRPr sz="1800">
              <a:solidFill>
                <a:srgbClr val="212121"/>
              </a:solidFill>
            </a:endParaRPr>
          </a:p>
        </p:txBody>
      </p:sp>
      <p:sp>
        <p:nvSpPr>
          <p:cNvPr id="141" name="Google Shape;141;p25"/>
          <p:cNvSpPr txBox="1"/>
          <p:nvPr>
            <p:ph type="title"/>
          </p:nvPr>
        </p:nvSpPr>
        <p:spPr>
          <a:xfrm>
            <a:off x="6312900" y="160115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42" name="Google Shape;142;p25"/>
          <p:cNvSpPr txBox="1"/>
          <p:nvPr>
            <p:ph idx="4294967295" type="body"/>
          </p:nvPr>
        </p:nvSpPr>
        <p:spPr>
          <a:xfrm>
            <a:off x="6299200" y="2603500"/>
            <a:ext cx="26091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Contracts and governance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Network and settlement</a:t>
            </a:r>
            <a:endParaRPr sz="1800">
              <a:solidFill>
                <a:srgbClr val="212121"/>
              </a:solidFill>
            </a:endParaRPr>
          </a:p>
        </p:txBody>
      </p:sp>
      <p:sp>
        <p:nvSpPr>
          <p:cNvPr id="143" name="Google Shape;143;p25"/>
          <p:cNvSpPr/>
          <p:nvPr/>
        </p:nvSpPr>
        <p:spPr>
          <a:xfrm>
            <a:off x="7474950" y="2229650"/>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5"/>
          <p:cNvSpPr/>
          <p:nvPr/>
        </p:nvSpPr>
        <p:spPr>
          <a:xfrm>
            <a:off x="1504050" y="22340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5"/>
          <p:cNvSpPr/>
          <p:nvPr/>
        </p:nvSpPr>
        <p:spPr>
          <a:xfrm>
            <a:off x="4489500" y="2234063"/>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52" name="Google Shape;152;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58" name="Google Shape;158;p27"/>
          <p:cNvSpPr txBox="1"/>
          <p:nvPr>
            <p:ph idx="1" type="body"/>
          </p:nvPr>
        </p:nvSpPr>
        <p:spPr>
          <a:xfrm>
            <a:off x="651850" y="617600"/>
            <a:ext cx="3733200" cy="401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Find a saved release</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Run it without your servers</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Recover access without your help</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More than one way into the app</a:t>
            </a:r>
            <a:endParaRPr b="1" sz="3000">
              <a:solidFill>
                <a:srgbClr val="06038D"/>
              </a:solidFill>
              <a:latin typeface="Poppins"/>
              <a:ea typeface="Poppins"/>
              <a:cs typeface="Poppins"/>
              <a:sym typeface="Poppins"/>
            </a:endParaRPr>
          </a:p>
        </p:txBody>
      </p:sp>
      <p:sp>
        <p:nvSpPr>
          <p:cNvPr id="164" name="Google Shape;164;p28"/>
          <p:cNvSpPr txBox="1"/>
          <p:nvPr/>
        </p:nvSpPr>
        <p:spPr>
          <a:xfrm>
            <a:off x="444500" y="11176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DNS + HTTP</a:t>
            </a:r>
            <a:endParaRPr b="1" sz="1700">
              <a:solidFill>
                <a:srgbClr val="06038D"/>
              </a:solidFill>
              <a:latin typeface="Poppins"/>
              <a:ea typeface="Poppins"/>
              <a:cs typeface="Poppins"/>
              <a:sym typeface="Poppins"/>
            </a:endParaRPr>
          </a:p>
        </p:txBody>
      </p:sp>
      <p:sp>
        <p:nvSpPr>
          <p:cNvPr id="165" name="Google Shape;165;p28"/>
          <p:cNvSpPr/>
          <p:nvPr/>
        </p:nvSpPr>
        <p:spPr>
          <a:xfrm>
            <a:off x="444500" y="1511300"/>
            <a:ext cx="21591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ethereum.org</a:t>
            </a:r>
            <a:endParaRPr sz="2000">
              <a:solidFill>
                <a:srgbClr val="212121"/>
              </a:solidFill>
              <a:latin typeface="Poppins"/>
              <a:ea typeface="Poppins"/>
              <a:cs typeface="Poppins"/>
              <a:sym typeface="Poppins"/>
            </a:endParaRPr>
          </a:p>
        </p:txBody>
      </p:sp>
      <p:cxnSp>
        <p:nvCxnSpPr>
          <p:cNvPr id="166" name="Google Shape;166;p28"/>
          <p:cNvCxnSpPr/>
          <p:nvPr/>
        </p:nvCxnSpPr>
        <p:spPr>
          <a:xfrm>
            <a:off x="2628900" y="1905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167" name="Google Shape;167;p28"/>
          <p:cNvSpPr/>
          <p:nvPr/>
        </p:nvSpPr>
        <p:spPr>
          <a:xfrm>
            <a:off x="3136900" y="1511300"/>
            <a:ext cx="31116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Hosted website endpoint</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104.18.176.152</a:t>
            </a:r>
            <a:endParaRPr sz="1800">
              <a:solidFill>
                <a:srgbClr val="212121"/>
              </a:solidFill>
              <a:latin typeface="Poppins"/>
              <a:ea typeface="Poppins"/>
              <a:cs typeface="Poppins"/>
              <a:sym typeface="Poppins"/>
            </a:endParaRPr>
          </a:p>
        </p:txBody>
      </p:sp>
      <p:cxnSp>
        <p:nvCxnSpPr>
          <p:cNvPr id="168" name="Google Shape;168;p28"/>
          <p:cNvCxnSpPr/>
          <p:nvPr/>
        </p:nvCxnSpPr>
        <p:spPr>
          <a:xfrm>
            <a:off x="6273800" y="1905000"/>
            <a:ext cx="457200" cy="0"/>
          </a:xfrm>
          <a:prstGeom prst="straightConnector1">
            <a:avLst/>
          </a:prstGeom>
          <a:noFill/>
          <a:ln cap="flat" cmpd="sng" w="17775">
            <a:solidFill>
              <a:srgbClr val="06038D"/>
            </a:solidFill>
            <a:prstDash val="solid"/>
            <a:round/>
            <a:headEnd len="med" w="med" type="none"/>
            <a:tailEnd len="med" w="med" type="triangle"/>
          </a:ln>
        </p:spPr>
      </p:cxnSp>
      <p:sp>
        <p:nvSpPr>
          <p:cNvPr id="169" name="Google Shape;169;p28"/>
          <p:cNvSpPr/>
          <p:nvPr/>
        </p:nvSpPr>
        <p:spPr>
          <a:xfrm>
            <a:off x="6756400" y="1511300"/>
            <a:ext cx="1917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Page in</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your browser</a:t>
            </a:r>
            <a:endParaRPr sz="1800">
              <a:solidFill>
                <a:srgbClr val="FFFFFF"/>
              </a:solidFill>
              <a:latin typeface="Poppins"/>
              <a:ea typeface="Poppins"/>
              <a:cs typeface="Poppins"/>
              <a:sym typeface="Poppins"/>
            </a:endParaRPr>
          </a:p>
        </p:txBody>
      </p:sp>
      <p:sp>
        <p:nvSpPr>
          <p:cNvPr id="170" name="Google Shape;170;p28"/>
          <p:cNvSpPr txBox="1"/>
          <p:nvPr/>
        </p:nvSpPr>
        <p:spPr>
          <a:xfrm>
            <a:off x="444500" y="24511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ENS + IPFS</a:t>
            </a:r>
            <a:endParaRPr b="1" sz="1700">
              <a:solidFill>
                <a:srgbClr val="06038D"/>
              </a:solidFill>
              <a:latin typeface="Poppins"/>
              <a:ea typeface="Poppins"/>
              <a:cs typeface="Poppins"/>
              <a:sym typeface="Poppins"/>
            </a:endParaRPr>
          </a:p>
        </p:txBody>
      </p:sp>
      <p:sp>
        <p:nvSpPr>
          <p:cNvPr id="171" name="Google Shape;171;p28"/>
          <p:cNvSpPr/>
          <p:nvPr/>
        </p:nvSpPr>
        <p:spPr>
          <a:xfrm>
            <a:off x="444500" y="2870200"/>
            <a:ext cx="18162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efs.eth</a:t>
            </a:r>
            <a:endParaRPr sz="2000">
              <a:solidFill>
                <a:srgbClr val="212121"/>
              </a:solidFill>
              <a:latin typeface="Poppins"/>
              <a:ea typeface="Poppins"/>
              <a:cs typeface="Poppins"/>
              <a:sym typeface="Poppins"/>
            </a:endParaRPr>
          </a:p>
        </p:txBody>
      </p:sp>
      <p:cxnSp>
        <p:nvCxnSpPr>
          <p:cNvPr id="172" name="Google Shape;172;p28"/>
          <p:cNvCxnSpPr/>
          <p:nvPr/>
        </p:nvCxnSpPr>
        <p:spPr>
          <a:xfrm>
            <a:off x="2273300" y="3251200"/>
            <a:ext cx="304800" cy="0"/>
          </a:xfrm>
          <a:prstGeom prst="straightConnector1">
            <a:avLst/>
          </a:prstGeom>
          <a:noFill/>
          <a:ln cap="flat" cmpd="sng" w="17775">
            <a:solidFill>
              <a:srgbClr val="06038D"/>
            </a:solidFill>
            <a:prstDash val="solid"/>
            <a:round/>
            <a:headEnd len="med" w="med" type="none"/>
            <a:tailEnd len="med" w="med" type="triangle"/>
          </a:ln>
        </p:spPr>
      </p:cxnSp>
      <p:sp>
        <p:nvSpPr>
          <p:cNvPr id="173" name="Google Shape;173;p28"/>
          <p:cNvSpPr/>
          <p:nvPr/>
        </p:nvSpPr>
        <p:spPr>
          <a:xfrm>
            <a:off x="2603500" y="2870200"/>
            <a:ext cx="26034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IPFS release</a:t>
            </a:r>
            <a:endParaRPr sz="17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bafybeicrisk…p5ku</a:t>
            </a:r>
            <a:endParaRPr sz="1700">
              <a:solidFill>
                <a:srgbClr val="212121"/>
              </a:solidFill>
              <a:latin typeface="Poppins"/>
              <a:ea typeface="Poppins"/>
              <a:cs typeface="Poppins"/>
              <a:sym typeface="Poppins"/>
            </a:endParaRPr>
          </a:p>
        </p:txBody>
      </p:sp>
      <p:cxnSp>
        <p:nvCxnSpPr>
          <p:cNvPr id="174" name="Google Shape;174;p28"/>
          <p:cNvCxnSpPr/>
          <p:nvPr/>
        </p:nvCxnSpPr>
        <p:spPr>
          <a:xfrm>
            <a:off x="5232400" y="3251200"/>
            <a:ext cx="266700" cy="0"/>
          </a:xfrm>
          <a:prstGeom prst="straightConnector1">
            <a:avLst/>
          </a:prstGeom>
          <a:noFill/>
          <a:ln cap="flat" cmpd="sng" w="17775">
            <a:solidFill>
              <a:srgbClr val="06038D"/>
            </a:solidFill>
            <a:prstDash val="solid"/>
            <a:round/>
            <a:headEnd len="med" w="med" type="none"/>
            <a:tailEnd len="med" w="med" type="none"/>
          </a:ln>
        </p:spPr>
      </p:cxnSp>
      <p:cxnSp>
        <p:nvCxnSpPr>
          <p:cNvPr id="175" name="Google Shape;175;p28"/>
          <p:cNvCxnSpPr/>
          <p:nvPr/>
        </p:nvCxnSpPr>
        <p:spPr>
          <a:xfrm>
            <a:off x="5499100" y="2755900"/>
            <a:ext cx="0" cy="1066800"/>
          </a:xfrm>
          <a:prstGeom prst="straightConnector1">
            <a:avLst/>
          </a:prstGeom>
          <a:noFill/>
          <a:ln cap="flat" cmpd="sng" w="17775">
            <a:solidFill>
              <a:srgbClr val="06038D"/>
            </a:solidFill>
            <a:prstDash val="solid"/>
            <a:round/>
            <a:headEnd len="med" w="med" type="none"/>
            <a:tailEnd len="med" w="med" type="none"/>
          </a:ln>
        </p:spPr>
      </p:cxnSp>
      <p:cxnSp>
        <p:nvCxnSpPr>
          <p:cNvPr id="176" name="Google Shape;176;p28"/>
          <p:cNvCxnSpPr/>
          <p:nvPr/>
        </p:nvCxnSpPr>
        <p:spPr>
          <a:xfrm>
            <a:off x="5499100" y="27559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77" name="Google Shape;177;p28"/>
          <p:cNvSpPr/>
          <p:nvPr/>
        </p:nvSpPr>
        <p:spPr>
          <a:xfrm>
            <a:off x="5803900" y="25400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A copy</a:t>
            </a:r>
            <a:endParaRPr sz="1800">
              <a:solidFill>
                <a:srgbClr val="212121"/>
              </a:solidFill>
              <a:latin typeface="Poppins"/>
              <a:ea typeface="Poppins"/>
              <a:cs typeface="Poppins"/>
              <a:sym typeface="Poppins"/>
            </a:endParaRPr>
          </a:p>
        </p:txBody>
      </p:sp>
      <p:cxnSp>
        <p:nvCxnSpPr>
          <p:cNvPr id="178" name="Google Shape;178;p28"/>
          <p:cNvCxnSpPr/>
          <p:nvPr/>
        </p:nvCxnSpPr>
        <p:spPr>
          <a:xfrm>
            <a:off x="5499100" y="32893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79" name="Google Shape;179;p28"/>
          <p:cNvSpPr/>
          <p:nvPr/>
        </p:nvSpPr>
        <p:spPr>
          <a:xfrm>
            <a:off x="5803900" y="30734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B copy</a:t>
            </a:r>
            <a:endParaRPr sz="1800">
              <a:solidFill>
                <a:srgbClr val="212121"/>
              </a:solidFill>
              <a:latin typeface="Poppins"/>
              <a:ea typeface="Poppins"/>
              <a:cs typeface="Poppins"/>
              <a:sym typeface="Poppins"/>
            </a:endParaRPr>
          </a:p>
        </p:txBody>
      </p:sp>
      <p:cxnSp>
        <p:nvCxnSpPr>
          <p:cNvPr id="180" name="Google Shape;180;p28"/>
          <p:cNvCxnSpPr/>
          <p:nvPr/>
        </p:nvCxnSpPr>
        <p:spPr>
          <a:xfrm>
            <a:off x="5499100" y="38227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1" name="Google Shape;181;p28"/>
          <p:cNvSpPr/>
          <p:nvPr/>
        </p:nvSpPr>
        <p:spPr>
          <a:xfrm>
            <a:off x="5803900" y="36068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C copy</a:t>
            </a:r>
            <a:endParaRPr sz="1800">
              <a:solidFill>
                <a:srgbClr val="212121"/>
              </a:solidFill>
              <a:latin typeface="Poppins"/>
              <a:ea typeface="Poppins"/>
              <a:cs typeface="Poppins"/>
              <a:sym typeface="Poppins"/>
            </a:endParaRPr>
          </a:p>
        </p:txBody>
      </p:sp>
      <p:sp>
        <p:nvSpPr>
          <p:cNvPr id="182" name="Google Shape;182;p28"/>
          <p:cNvSpPr txBox="1"/>
          <p:nvPr/>
        </p:nvSpPr>
        <p:spPr>
          <a:xfrm>
            <a:off x="444500" y="4064000"/>
            <a:ext cx="82551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212121"/>
                </a:solidFill>
                <a:latin typeface="Poppins"/>
                <a:ea typeface="Poppins"/>
                <a:cs typeface="Poppins"/>
                <a:sym typeface="Poppins"/>
              </a:rPr>
              <a:t>Gateways: efs.eth.limo / efs.eth.link • or your own IPFS node</a:t>
            </a:r>
            <a:endParaRPr sz="1600">
              <a:solidFill>
                <a:srgbClr val="212121"/>
              </a:solidFill>
              <a:latin typeface="Poppins"/>
              <a:ea typeface="Poppins"/>
              <a:cs typeface="Poppins"/>
              <a:sym typeface="Poppins"/>
            </a:endParaRPr>
          </a:p>
        </p:txBody>
      </p:sp>
      <p:sp>
        <p:nvSpPr>
          <p:cNvPr id="183" name="Google Shape;183;p28"/>
          <p:cNvSpPr txBox="1"/>
          <p:nvPr/>
        </p:nvSpPr>
        <p:spPr>
          <a:xfrm>
            <a:off x="444500" y="4406900"/>
            <a:ext cx="8255100" cy="304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300">
                <a:solidFill>
                  <a:srgbClr val="666666"/>
                </a:solidFill>
                <a:latin typeface="Poppins"/>
                <a:ea typeface="Poppins"/>
                <a:cs typeface="Poppins"/>
                <a:sym typeface="Poppins"/>
              </a:rPr>
              <a:t>Real lookup values, Oct 26. Shortened CID. Copies are illustrative.</a:t>
            </a:r>
            <a:endParaRPr sz="1300">
              <a:solidFill>
                <a:srgbClr val="666666"/>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release others can run</a:t>
            </a:r>
            <a:endParaRPr b="1" sz="3000">
              <a:solidFill>
                <a:srgbClr val="06038D"/>
              </a:solidFill>
              <a:latin typeface="Poppins"/>
              <a:ea typeface="Poppins"/>
              <a:cs typeface="Poppins"/>
              <a:sym typeface="Poppins"/>
            </a:endParaRPr>
          </a:p>
        </p:txBody>
      </p:sp>
      <p:sp>
        <p:nvSpPr>
          <p:cNvPr id="189" name="Google Shape;189;p29"/>
          <p:cNvSpPr txBox="1"/>
          <p:nvPr/>
        </p:nvSpPr>
        <p:spPr>
          <a:xfrm>
            <a:off x="508000" y="1130300"/>
            <a:ext cx="8127900" cy="4191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What if the page opens but its scripts are gone?</a:t>
            </a:r>
            <a:endParaRPr sz="2000">
              <a:solidFill>
                <a:srgbClr val="212121"/>
              </a:solidFill>
              <a:latin typeface="Poppins"/>
              <a:ea typeface="Poppins"/>
              <a:cs typeface="Poppins"/>
              <a:sym typeface="Poppins"/>
            </a:endParaRPr>
          </a:p>
        </p:txBody>
      </p:sp>
      <p:sp>
        <p:nvSpPr>
          <p:cNvPr id="190" name="Google Shape;190;p29"/>
          <p:cNvSpPr/>
          <p:nvPr/>
        </p:nvSpPr>
        <p:spPr>
          <a:xfrm>
            <a:off x="609600" y="1803400"/>
            <a:ext cx="3683100" cy="1790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Runnable release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HTML + JavaScript</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Styles + images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Config + loaded code</a:t>
            </a:r>
            <a:endParaRPr sz="2100">
              <a:solidFill>
                <a:srgbClr val="212121"/>
              </a:solidFill>
              <a:latin typeface="Poppins"/>
              <a:ea typeface="Poppins"/>
              <a:cs typeface="Poppins"/>
              <a:sym typeface="Poppins"/>
            </a:endParaRPr>
          </a:p>
        </p:txBody>
      </p:sp>
      <p:sp>
        <p:nvSpPr>
          <p:cNvPr id="191" name="Google Shape;191;p29"/>
          <p:cNvSpPr/>
          <p:nvPr/>
        </p:nvSpPr>
        <p:spPr>
          <a:xfrm>
            <a:off x="4851400" y="1803400"/>
            <a:ext cx="3683100" cy="1790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Build materials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Source code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Locked dependencies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Build instructions</a:t>
            </a:r>
            <a:endParaRPr sz="2100">
              <a:solidFill>
                <a:srgbClr val="212121"/>
              </a:solidFill>
              <a:latin typeface="Poppins"/>
              <a:ea typeface="Poppins"/>
              <a:cs typeface="Poppins"/>
              <a:sym typeface="Poppins"/>
            </a:endParaRPr>
          </a:p>
        </p:txBody>
      </p:sp>
      <p:cxnSp>
        <p:nvCxnSpPr>
          <p:cNvPr id="192" name="Google Shape;192;p29"/>
          <p:cNvCxnSpPr/>
          <p:nvPr/>
        </p:nvCxnSpPr>
        <p:spPr>
          <a:xfrm>
            <a:off x="2451100" y="3606800"/>
            <a:ext cx="0" cy="279300"/>
          </a:xfrm>
          <a:prstGeom prst="straightConnector1">
            <a:avLst/>
          </a:prstGeom>
          <a:noFill/>
          <a:ln cap="flat" cmpd="sng" w="17775">
            <a:solidFill>
              <a:srgbClr val="06038D"/>
            </a:solidFill>
            <a:prstDash val="solid"/>
            <a:round/>
            <a:headEnd len="med" w="med" type="none"/>
            <a:tailEnd len="med" w="med" type="triangle"/>
          </a:ln>
        </p:spPr>
      </p:cxnSp>
      <p:cxnSp>
        <p:nvCxnSpPr>
          <p:cNvPr id="193" name="Google Shape;193;p29"/>
          <p:cNvCxnSpPr/>
          <p:nvPr/>
        </p:nvCxnSpPr>
        <p:spPr>
          <a:xfrm>
            <a:off x="6692900" y="3606800"/>
            <a:ext cx="0" cy="279300"/>
          </a:xfrm>
          <a:prstGeom prst="straightConnector1">
            <a:avLst/>
          </a:prstGeom>
          <a:noFill/>
          <a:ln cap="flat" cmpd="sng" w="17775">
            <a:solidFill>
              <a:srgbClr val="06038D"/>
            </a:solidFill>
            <a:prstDash val="solid"/>
            <a:round/>
            <a:headEnd len="med" w="med" type="none"/>
            <a:tailEnd len="med" w="med" type="triangle"/>
          </a:ln>
        </p:spPr>
      </p:cxnSp>
      <p:sp>
        <p:nvSpPr>
          <p:cNvPr id="194" name="Google Shape;194;p29"/>
          <p:cNvSpPr/>
          <p:nvPr/>
        </p:nvSpPr>
        <p:spPr>
          <a:xfrm>
            <a:off x="609600" y="3924300"/>
            <a:ext cx="36831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Maya opens the app</a:t>
            </a:r>
            <a:endParaRPr sz="2100">
              <a:solidFill>
                <a:srgbClr val="FFFFFF"/>
              </a:solidFill>
              <a:latin typeface="Poppins"/>
              <a:ea typeface="Poppins"/>
              <a:cs typeface="Poppins"/>
              <a:sym typeface="Poppins"/>
            </a:endParaRPr>
          </a:p>
        </p:txBody>
      </p:sp>
      <p:sp>
        <p:nvSpPr>
          <p:cNvPr id="195" name="Google Shape;195;p29"/>
          <p:cNvSpPr/>
          <p:nvPr/>
        </p:nvSpPr>
        <p:spPr>
          <a:xfrm>
            <a:off x="4851400" y="3924300"/>
            <a:ext cx="36831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 developer rebuilds it</a:t>
            </a:r>
            <a:endParaRPr sz="2000">
              <a:solidFill>
                <a:srgbClr val="FFFFFF"/>
              </a:solidFill>
              <a:latin typeface="Poppins"/>
              <a:ea typeface="Poppins"/>
              <a:cs typeface="Poppins"/>
              <a:sym typeface="Poppins"/>
            </a:endParaRPr>
          </a:p>
        </p:txBody>
      </p:sp>
      <p:sp>
        <p:nvSpPr>
          <p:cNvPr id="196" name="Google Shape;196;p29"/>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Check both paths on a fresh machine</a:t>
            </a:r>
            <a:endParaRPr sz="1600">
              <a:solidFill>
                <a:srgbClr val="06038D"/>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Access people can recover</a:t>
            </a:r>
            <a:endParaRPr b="1" sz="3000">
              <a:solidFill>
                <a:srgbClr val="06038D"/>
              </a:solidFill>
              <a:latin typeface="Poppins"/>
              <a:ea typeface="Poppins"/>
              <a:cs typeface="Poppins"/>
              <a:sym typeface="Poppins"/>
            </a:endParaRPr>
          </a:p>
        </p:txBody>
      </p:sp>
      <p:sp>
        <p:nvSpPr>
          <p:cNvPr id="202" name="Google Shape;202;p30"/>
          <p:cNvSpPr txBox="1"/>
          <p:nvPr/>
        </p:nvSpPr>
        <p:spPr>
          <a:xfrm>
            <a:off x="635000" y="1155700"/>
            <a:ext cx="7874100" cy="3810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Safe example: two of three signers</a:t>
            </a:r>
            <a:endParaRPr sz="2100">
              <a:solidFill>
                <a:srgbClr val="212121"/>
              </a:solidFill>
              <a:latin typeface="Poppins"/>
              <a:ea typeface="Poppins"/>
              <a:cs typeface="Poppins"/>
              <a:sym typeface="Poppins"/>
            </a:endParaRPr>
          </a:p>
        </p:txBody>
      </p:sp>
      <p:sp>
        <p:nvSpPr>
          <p:cNvPr id="203" name="Google Shape;203;p30"/>
          <p:cNvSpPr/>
          <p:nvPr/>
        </p:nvSpPr>
        <p:spPr>
          <a:xfrm>
            <a:off x="571500" y="1828800"/>
            <a:ext cx="2412900" cy="8127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Lost phone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1 offline</a:t>
            </a:r>
            <a:endParaRPr sz="2000">
              <a:solidFill>
                <a:srgbClr val="212121"/>
              </a:solidFill>
              <a:latin typeface="Poppins"/>
              <a:ea typeface="Poppins"/>
              <a:cs typeface="Poppins"/>
              <a:sym typeface="Poppins"/>
            </a:endParaRPr>
          </a:p>
        </p:txBody>
      </p:sp>
      <p:sp>
        <p:nvSpPr>
          <p:cNvPr id="204" name="Google Shape;204;p30"/>
          <p:cNvSpPr/>
          <p:nvPr/>
        </p:nvSpPr>
        <p:spPr>
          <a:xfrm>
            <a:off x="3365500" y="1828800"/>
            <a:ext cx="2412900" cy="812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Backup signer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2</a:t>
            </a:r>
            <a:endParaRPr sz="2000">
              <a:solidFill>
                <a:srgbClr val="212121"/>
              </a:solidFill>
              <a:latin typeface="Poppins"/>
              <a:ea typeface="Poppins"/>
              <a:cs typeface="Poppins"/>
              <a:sym typeface="Poppins"/>
            </a:endParaRPr>
          </a:p>
        </p:txBody>
      </p:sp>
      <p:sp>
        <p:nvSpPr>
          <p:cNvPr id="205" name="Google Shape;205;p30"/>
          <p:cNvSpPr/>
          <p:nvPr/>
        </p:nvSpPr>
        <p:spPr>
          <a:xfrm>
            <a:off x="6159500" y="1828800"/>
            <a:ext cx="2412900" cy="812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Recovery signer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3</a:t>
            </a:r>
            <a:endParaRPr sz="2000">
              <a:solidFill>
                <a:srgbClr val="212121"/>
              </a:solidFill>
              <a:latin typeface="Poppins"/>
              <a:ea typeface="Poppins"/>
              <a:cs typeface="Poppins"/>
              <a:sym typeface="Poppins"/>
            </a:endParaRPr>
          </a:p>
        </p:txBody>
      </p:sp>
      <p:cxnSp>
        <p:nvCxnSpPr>
          <p:cNvPr id="206" name="Google Shape;206;p30"/>
          <p:cNvCxnSpPr/>
          <p:nvPr/>
        </p:nvCxnSpPr>
        <p:spPr>
          <a:xfrm>
            <a:off x="4572000" y="2654300"/>
            <a:ext cx="0" cy="266700"/>
          </a:xfrm>
          <a:prstGeom prst="straightConnector1">
            <a:avLst/>
          </a:prstGeom>
          <a:noFill/>
          <a:ln cap="flat" cmpd="sng" w="17775">
            <a:solidFill>
              <a:srgbClr val="06038D"/>
            </a:solidFill>
            <a:prstDash val="solid"/>
            <a:round/>
            <a:headEnd len="med" w="med" type="none"/>
            <a:tailEnd len="med" w="med" type="none"/>
          </a:ln>
        </p:spPr>
      </p:cxnSp>
      <p:cxnSp>
        <p:nvCxnSpPr>
          <p:cNvPr id="207" name="Google Shape;207;p30"/>
          <p:cNvCxnSpPr/>
          <p:nvPr/>
        </p:nvCxnSpPr>
        <p:spPr>
          <a:xfrm>
            <a:off x="7366000" y="2654300"/>
            <a:ext cx="0" cy="266700"/>
          </a:xfrm>
          <a:prstGeom prst="straightConnector1">
            <a:avLst/>
          </a:prstGeom>
          <a:noFill/>
          <a:ln cap="flat" cmpd="sng" w="17775">
            <a:solidFill>
              <a:srgbClr val="06038D"/>
            </a:solidFill>
            <a:prstDash val="solid"/>
            <a:round/>
            <a:headEnd len="med" w="med" type="none"/>
            <a:tailEnd len="med" w="med" type="none"/>
          </a:ln>
        </p:spPr>
      </p:cxnSp>
      <p:cxnSp>
        <p:nvCxnSpPr>
          <p:cNvPr id="208" name="Google Shape;208;p30"/>
          <p:cNvCxnSpPr/>
          <p:nvPr/>
        </p:nvCxnSpPr>
        <p:spPr>
          <a:xfrm>
            <a:off x="4572000" y="2921000"/>
            <a:ext cx="2793900" cy="0"/>
          </a:xfrm>
          <a:prstGeom prst="straightConnector1">
            <a:avLst/>
          </a:prstGeom>
          <a:noFill/>
          <a:ln cap="flat" cmpd="sng" w="17775">
            <a:solidFill>
              <a:srgbClr val="06038D"/>
            </a:solidFill>
            <a:prstDash val="solid"/>
            <a:round/>
            <a:headEnd len="med" w="med" type="none"/>
            <a:tailEnd len="med" w="med" type="none"/>
          </a:ln>
        </p:spPr>
      </p:cxnSp>
      <p:cxnSp>
        <p:nvCxnSpPr>
          <p:cNvPr id="209" name="Google Shape;209;p30"/>
          <p:cNvCxnSpPr/>
          <p:nvPr/>
        </p:nvCxnSpPr>
        <p:spPr>
          <a:xfrm>
            <a:off x="5969000" y="29210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10" name="Google Shape;210;p30"/>
          <p:cNvSpPr/>
          <p:nvPr/>
        </p:nvSpPr>
        <p:spPr>
          <a:xfrm>
            <a:off x="3200400" y="3200400"/>
            <a:ext cx="5435700" cy="571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Two signers replace the lost key</a:t>
            </a:r>
            <a:endParaRPr sz="2100">
              <a:solidFill>
                <a:srgbClr val="FFFFFF"/>
              </a:solidFill>
              <a:latin typeface="Poppins"/>
              <a:ea typeface="Poppins"/>
              <a:cs typeface="Poppins"/>
              <a:sym typeface="Poppins"/>
            </a:endParaRPr>
          </a:p>
        </p:txBody>
      </p:sp>
      <p:sp>
        <p:nvSpPr>
          <p:cNvPr id="211" name="Google Shape;211;p30"/>
          <p:cNvSpPr txBox="1"/>
          <p:nvPr/>
        </p:nvSpPr>
        <p:spPr>
          <a:xfrm>
            <a:off x="508000" y="3187700"/>
            <a:ext cx="2412900" cy="77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000">
                <a:solidFill>
                  <a:srgbClr val="06038D"/>
                </a:solidFill>
                <a:latin typeface="Poppins"/>
                <a:ea typeface="Poppins"/>
                <a:cs typeface="Poppins"/>
                <a:sym typeface="Poppins"/>
              </a:rPr>
              <a:t>Same account</a:t>
            </a:r>
            <a:endParaRPr b="1" sz="2000">
              <a:solidFill>
                <a:srgbClr val="06038D"/>
              </a:solidFill>
              <a:latin typeface="Poppins"/>
              <a:ea typeface="Poppins"/>
              <a:cs typeface="Poppins"/>
              <a:sym typeface="Poppins"/>
            </a:endParaRPr>
          </a:p>
          <a:p>
            <a:pPr indent="0" lvl="0" marL="0" marR="0" rtl="0" algn="ctr">
              <a:lnSpc>
                <a:spcPct val="105000"/>
              </a:lnSpc>
              <a:spcBef>
                <a:spcPts val="0"/>
              </a:spcBef>
              <a:spcAft>
                <a:spcPts val="0"/>
              </a:spcAft>
              <a:buNone/>
            </a:pPr>
            <a:r>
              <a:rPr b="1" lang="en" sz="2000">
                <a:solidFill>
                  <a:srgbClr val="06038D"/>
                </a:solidFill>
                <a:latin typeface="Poppins"/>
                <a:ea typeface="Poppins"/>
                <a:cs typeface="Poppins"/>
                <a:sym typeface="Poppins"/>
              </a:rPr>
              <a:t>Same membership</a:t>
            </a:r>
            <a:endParaRPr b="1" sz="2000">
              <a:solidFill>
                <a:srgbClr val="06038D"/>
              </a:solidFill>
              <a:latin typeface="Poppins"/>
              <a:ea typeface="Poppins"/>
              <a:cs typeface="Poppins"/>
              <a:sym typeface="Poppins"/>
            </a:endParaRPr>
          </a:p>
        </p:txBody>
      </p:sp>
      <p:sp>
        <p:nvSpPr>
          <p:cNvPr id="212" name="Google Shape;212;p30"/>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Practice lost-device recovery. Back up private-file keys too.</a:t>
            </a:r>
            <a:endParaRPr sz="1600">
              <a:solidFill>
                <a:srgbClr val="06038D"/>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218" name="Google Shape;218;p31"/>
          <p:cNvSpPr txBox="1"/>
          <p:nvPr/>
        </p:nvSpPr>
        <p:spPr>
          <a:xfrm>
            <a:off x="3232500" y="1821650"/>
            <a:ext cx="2679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Portable Data</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224" name="Google Shape;224;p32"/>
          <p:cNvSpPr txBox="1"/>
          <p:nvPr>
            <p:ph idx="1" type="body"/>
          </p:nvPr>
        </p:nvSpPr>
        <p:spPr>
          <a:xfrm>
            <a:off x="4859150" y="694800"/>
            <a:ext cx="3693000" cy="383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Keep the files and their meaning</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 them through another app</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Let others run the supporting services</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record both apps understand</a:t>
            </a:r>
            <a:endParaRPr b="1" sz="3000">
              <a:solidFill>
                <a:srgbClr val="06038D"/>
              </a:solidFill>
              <a:latin typeface="Poppins"/>
              <a:ea typeface="Poppins"/>
              <a:cs typeface="Poppins"/>
              <a:sym typeface="Poppins"/>
            </a:endParaRPr>
          </a:p>
        </p:txBody>
      </p:sp>
      <p:sp>
        <p:nvSpPr>
          <p:cNvPr id="230" name="Google Shape;230;p33"/>
          <p:cNvSpPr txBox="1"/>
          <p:nvPr/>
        </p:nvSpPr>
        <p:spPr>
          <a:xfrm>
            <a:off x="508000" y="1143000"/>
            <a:ext cx="81279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Garden DAO • Proposal 42: Fund the garden</a:t>
            </a:r>
            <a:endParaRPr sz="2200">
              <a:solidFill>
                <a:srgbClr val="212121"/>
              </a:solidFill>
              <a:latin typeface="Poppins"/>
              <a:ea typeface="Poppins"/>
              <a:cs typeface="Poppins"/>
              <a:sym typeface="Poppins"/>
            </a:endParaRPr>
          </a:p>
        </p:txBody>
      </p:sp>
      <p:sp>
        <p:nvSpPr>
          <p:cNvPr id="231" name="Google Shape;231;p33"/>
          <p:cNvSpPr/>
          <p:nvPr/>
        </p:nvSpPr>
        <p:spPr>
          <a:xfrm>
            <a:off x="508000" y="1866900"/>
            <a:ext cx="3683100" cy="495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FFFFFF"/>
                </a:solidFill>
                <a:latin typeface="Poppins"/>
                <a:ea typeface="Poppins"/>
                <a:cs typeface="Poppins"/>
                <a:sym typeface="Poppins"/>
              </a:rPr>
              <a:t>EAS statement</a:t>
            </a:r>
            <a:endParaRPr sz="2200">
              <a:solidFill>
                <a:srgbClr val="FFFFFF"/>
              </a:solidFill>
              <a:latin typeface="Poppins"/>
              <a:ea typeface="Poppins"/>
              <a:cs typeface="Poppins"/>
              <a:sym typeface="Poppins"/>
            </a:endParaRPr>
          </a:p>
        </p:txBody>
      </p:sp>
      <p:sp>
        <p:nvSpPr>
          <p:cNvPr id="232" name="Google Shape;232;p33"/>
          <p:cNvSpPr/>
          <p:nvPr/>
        </p:nvSpPr>
        <p:spPr>
          <a:xfrm>
            <a:off x="508000" y="2374900"/>
            <a:ext cx="3683100" cy="1778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700">
                <a:solidFill>
                  <a:srgbClr val="212121"/>
                </a:solidFill>
                <a:latin typeface="Poppins"/>
                <a:ea typeface="Poppins"/>
                <a:cs typeface="Poppins"/>
                <a:sym typeface="Poppins"/>
              </a:rPr>
              <a:t>proposalId: 42</a:t>
            </a:r>
            <a:endParaRPr sz="17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700">
                <a:solidFill>
                  <a:srgbClr val="212121"/>
                </a:solidFill>
                <a:latin typeface="Poppins"/>
                <a:ea typeface="Poppins"/>
                <a:cs typeface="Poppins"/>
                <a:sym typeface="Poppins"/>
              </a:rPr>
              <a:t>title: Fund the garden</a:t>
            </a:r>
            <a:endParaRPr sz="17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700">
                <a:solidFill>
                  <a:srgbClr val="212121"/>
                </a:solidFill>
                <a:latin typeface="Poppins"/>
                <a:ea typeface="Poppins"/>
                <a:cs typeface="Poppins"/>
                <a:sym typeface="Poppins"/>
              </a:rPr>
              <a:t>documentRef: EFS revision</a:t>
            </a:r>
            <a:endParaRPr sz="17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700">
                <a:solidFill>
                  <a:srgbClr val="212121"/>
                </a:solidFill>
                <a:latin typeface="Poppins"/>
                <a:ea typeface="Poppins"/>
                <a:cs typeface="Poppins"/>
                <a:sym typeface="Poppins"/>
              </a:rPr>
              <a:t>voteRef: chain + contract + #42</a:t>
            </a:r>
            <a:endParaRPr sz="1700">
              <a:solidFill>
                <a:srgbClr val="212121"/>
              </a:solidFill>
              <a:latin typeface="Poppins"/>
              <a:ea typeface="Poppins"/>
              <a:cs typeface="Poppins"/>
              <a:sym typeface="Poppins"/>
            </a:endParaRPr>
          </a:p>
        </p:txBody>
      </p:sp>
      <p:cxnSp>
        <p:nvCxnSpPr>
          <p:cNvPr id="233" name="Google Shape;233;p33"/>
          <p:cNvCxnSpPr/>
          <p:nvPr/>
        </p:nvCxnSpPr>
        <p:spPr>
          <a:xfrm>
            <a:off x="4216400" y="3086100"/>
            <a:ext cx="597000" cy="0"/>
          </a:xfrm>
          <a:prstGeom prst="straightConnector1">
            <a:avLst/>
          </a:prstGeom>
          <a:noFill/>
          <a:ln cap="flat" cmpd="sng" w="17775">
            <a:solidFill>
              <a:srgbClr val="06038D"/>
            </a:solidFill>
            <a:prstDash val="solid"/>
            <a:round/>
            <a:headEnd len="med" w="med" type="none"/>
            <a:tailEnd len="med" w="med" type="triangle"/>
          </a:ln>
        </p:spPr>
      </p:cxnSp>
      <p:sp>
        <p:nvSpPr>
          <p:cNvPr id="234" name="Google Shape;234;p33"/>
          <p:cNvSpPr/>
          <p:nvPr/>
        </p:nvSpPr>
        <p:spPr>
          <a:xfrm>
            <a:off x="4851400" y="1866900"/>
            <a:ext cx="3784500" cy="495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FFFFFF"/>
                </a:solidFill>
                <a:latin typeface="Poppins"/>
                <a:ea typeface="Poppins"/>
                <a:cs typeface="Poppins"/>
                <a:sym typeface="Poppins"/>
              </a:rPr>
              <a:t>EFS document</a:t>
            </a:r>
            <a:endParaRPr sz="2200">
              <a:solidFill>
                <a:srgbClr val="FFFFFF"/>
              </a:solidFill>
              <a:latin typeface="Poppins"/>
              <a:ea typeface="Poppins"/>
              <a:cs typeface="Poppins"/>
              <a:sym typeface="Poppins"/>
            </a:endParaRPr>
          </a:p>
        </p:txBody>
      </p:sp>
      <p:sp>
        <p:nvSpPr>
          <p:cNvPr id="235" name="Google Shape;235;p33"/>
          <p:cNvSpPr/>
          <p:nvPr/>
        </p:nvSpPr>
        <p:spPr>
          <a:xfrm>
            <a:off x="4851400" y="2374900"/>
            <a:ext cx="3784500" cy="1778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/garden/proposals/42.md</a:t>
            </a:r>
            <a:endParaRPr sz="18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Format: Markdown</a:t>
            </a:r>
            <a:endParaRPr sz="18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Metadata + file references</a:t>
            </a:r>
            <a:endParaRPr sz="1800">
              <a:solidFill>
                <a:srgbClr val="212121"/>
              </a:solidFill>
              <a:latin typeface="Poppins"/>
              <a:ea typeface="Poppins"/>
              <a:cs typeface="Poppins"/>
              <a:sym typeface="Poppins"/>
            </a:endParaRPr>
          </a:p>
        </p:txBody>
      </p:sp>
      <p:sp>
        <p:nvSpPr>
          <p:cNvPr id="236" name="Google Shape;236;p33"/>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records: publish the fields, meanings and reference format</a:t>
            </a:r>
            <a:endParaRPr sz="1600">
              <a:solidFill>
                <a:srgbClr val="06038D"/>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4"/>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Two apps, the same proposal</a:t>
            </a:r>
            <a:endParaRPr b="1" sz="3000">
              <a:solidFill>
                <a:srgbClr val="06038D"/>
              </a:solidFill>
              <a:latin typeface="Poppins"/>
              <a:ea typeface="Poppins"/>
              <a:cs typeface="Poppins"/>
              <a:sym typeface="Poppins"/>
            </a:endParaRPr>
          </a:p>
        </p:txBody>
      </p:sp>
      <p:sp>
        <p:nvSpPr>
          <p:cNvPr id="242" name="Google Shape;242;p34"/>
          <p:cNvSpPr/>
          <p:nvPr/>
        </p:nvSpPr>
        <p:spPr>
          <a:xfrm>
            <a:off x="571500" y="1435100"/>
            <a:ext cx="3746400" cy="9780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DAO portal</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Proposal 42 voting page</a:t>
            </a:r>
            <a:endParaRPr sz="2100">
              <a:solidFill>
                <a:srgbClr val="212121"/>
              </a:solidFill>
              <a:latin typeface="Poppins"/>
              <a:ea typeface="Poppins"/>
              <a:cs typeface="Poppins"/>
              <a:sym typeface="Poppins"/>
            </a:endParaRPr>
          </a:p>
        </p:txBody>
      </p:sp>
      <p:sp>
        <p:nvSpPr>
          <p:cNvPr id="243" name="Google Shape;243;p34"/>
          <p:cNvSpPr/>
          <p:nvPr/>
        </p:nvSpPr>
        <p:spPr>
          <a:xfrm>
            <a:off x="4826000" y="1435100"/>
            <a:ext cx="3746400" cy="9780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Community social app</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Proposal 42 in the feed</a:t>
            </a:r>
            <a:endParaRPr sz="2000">
              <a:solidFill>
                <a:srgbClr val="212121"/>
              </a:solidFill>
              <a:latin typeface="Poppins"/>
              <a:ea typeface="Poppins"/>
              <a:cs typeface="Poppins"/>
              <a:sym typeface="Poppins"/>
            </a:endParaRPr>
          </a:p>
        </p:txBody>
      </p:sp>
      <p:cxnSp>
        <p:nvCxnSpPr>
          <p:cNvPr id="244" name="Google Shape;244;p34"/>
          <p:cNvCxnSpPr/>
          <p:nvPr/>
        </p:nvCxnSpPr>
        <p:spPr>
          <a:xfrm rot="10800000">
            <a:off x="2451100" y="2438400"/>
            <a:ext cx="0" cy="762000"/>
          </a:xfrm>
          <a:prstGeom prst="straightConnector1">
            <a:avLst/>
          </a:prstGeom>
          <a:noFill/>
          <a:ln cap="flat" cmpd="sng" w="17775">
            <a:solidFill>
              <a:srgbClr val="06038D"/>
            </a:solidFill>
            <a:prstDash val="solid"/>
            <a:round/>
            <a:headEnd len="med" w="med" type="none"/>
            <a:tailEnd len="med" w="med" type="triangle"/>
          </a:ln>
        </p:spPr>
      </p:cxnSp>
      <p:cxnSp>
        <p:nvCxnSpPr>
          <p:cNvPr id="245" name="Google Shape;245;p34"/>
          <p:cNvCxnSpPr/>
          <p:nvPr/>
        </p:nvCxnSpPr>
        <p:spPr>
          <a:xfrm rot="10800000">
            <a:off x="6705600" y="2438400"/>
            <a:ext cx="0" cy="762000"/>
          </a:xfrm>
          <a:prstGeom prst="straightConnector1">
            <a:avLst/>
          </a:prstGeom>
          <a:noFill/>
          <a:ln cap="flat" cmpd="sng" w="17775">
            <a:solidFill>
              <a:srgbClr val="06038D"/>
            </a:solidFill>
            <a:prstDash val="solid"/>
            <a:round/>
            <a:headEnd len="med" w="med" type="none"/>
            <a:tailEnd len="med" w="med" type="triangle"/>
          </a:ln>
        </p:spPr>
      </p:cxnSp>
      <p:sp>
        <p:nvSpPr>
          <p:cNvPr id="246" name="Google Shape;246;p34"/>
          <p:cNvSpPr/>
          <p:nvPr/>
        </p:nvSpPr>
        <p:spPr>
          <a:xfrm>
            <a:off x="825500" y="3238500"/>
            <a:ext cx="7493100" cy="9018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FFFFFF"/>
                </a:solidFill>
                <a:latin typeface="Poppins"/>
                <a:ea typeface="Poppins"/>
                <a:cs typeface="Poppins"/>
                <a:sym typeface="Poppins"/>
              </a:rPr>
              <a:t>Same EAS statement + EFS document</a:t>
            </a:r>
            <a:endParaRPr sz="22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200">
                <a:solidFill>
                  <a:srgbClr val="FFFFFF"/>
                </a:solidFill>
                <a:latin typeface="Poppins"/>
                <a:ea typeface="Poppins"/>
                <a:cs typeface="Poppins"/>
                <a:sym typeface="Poppins"/>
              </a:rPr>
              <a:t>Same voting contract</a:t>
            </a:r>
            <a:endParaRPr sz="2200">
              <a:solidFill>
                <a:srgbClr val="FFFFFF"/>
              </a:solidFill>
              <a:latin typeface="Poppins"/>
              <a:ea typeface="Poppins"/>
              <a:cs typeface="Poppins"/>
              <a:sym typeface="Poppins"/>
            </a:endParaRPr>
          </a:p>
        </p:txBody>
      </p:sp>
      <p:sp>
        <p:nvSpPr>
          <p:cNvPr id="247" name="Google Shape;247;p34"/>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design: change the interface and keep participating</a:t>
            </a:r>
            <a:endParaRPr sz="1600">
              <a:solidFill>
                <a:srgbClr val="06038D"/>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5"/>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Data people can keep using</a:t>
            </a:r>
            <a:endParaRPr b="1" sz="3000">
              <a:solidFill>
                <a:srgbClr val="06038D"/>
              </a:solidFill>
              <a:latin typeface="Poppins"/>
              <a:ea typeface="Poppins"/>
              <a:cs typeface="Poppins"/>
              <a:sym typeface="Poppins"/>
            </a:endParaRPr>
          </a:p>
        </p:txBody>
      </p:sp>
      <p:sp>
        <p:nvSpPr>
          <p:cNvPr id="253" name="Google Shape;253;p35"/>
          <p:cNvSpPr txBox="1"/>
          <p:nvPr/>
        </p:nvSpPr>
        <p:spPr>
          <a:xfrm>
            <a:off x="508000" y="1130300"/>
            <a:ext cx="81279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Proposal survives. Its only attachment copy disappears.</a:t>
            </a:r>
            <a:endParaRPr sz="2000">
              <a:solidFill>
                <a:srgbClr val="212121"/>
              </a:solidFill>
              <a:latin typeface="Poppins"/>
              <a:ea typeface="Poppins"/>
              <a:cs typeface="Poppins"/>
              <a:sym typeface="Poppins"/>
            </a:endParaRPr>
          </a:p>
        </p:txBody>
      </p:sp>
      <p:sp>
        <p:nvSpPr>
          <p:cNvPr id="254" name="Google Shape;254;p35"/>
          <p:cNvSpPr/>
          <p:nvPr/>
        </p:nvSpPr>
        <p:spPr>
          <a:xfrm>
            <a:off x="508000" y="2413000"/>
            <a:ext cx="2540100" cy="952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Proposal 42</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Plan + attachments</a:t>
            </a:r>
            <a:endParaRPr sz="2000">
              <a:solidFill>
                <a:srgbClr val="212121"/>
              </a:solidFill>
              <a:latin typeface="Poppins"/>
              <a:ea typeface="Poppins"/>
              <a:cs typeface="Poppins"/>
              <a:sym typeface="Poppins"/>
            </a:endParaRPr>
          </a:p>
        </p:txBody>
      </p:sp>
      <p:cxnSp>
        <p:nvCxnSpPr>
          <p:cNvPr id="255" name="Google Shape;255;p35"/>
          <p:cNvCxnSpPr/>
          <p:nvPr/>
        </p:nvCxnSpPr>
        <p:spPr>
          <a:xfrm>
            <a:off x="3073400" y="2895600"/>
            <a:ext cx="444600" cy="0"/>
          </a:xfrm>
          <a:prstGeom prst="straightConnector1">
            <a:avLst/>
          </a:prstGeom>
          <a:noFill/>
          <a:ln cap="flat" cmpd="sng" w="17775">
            <a:solidFill>
              <a:srgbClr val="06038D"/>
            </a:solidFill>
            <a:prstDash val="solid"/>
            <a:round/>
            <a:headEnd len="med" w="med" type="none"/>
            <a:tailEnd len="med" w="med" type="none"/>
          </a:ln>
        </p:spPr>
      </p:cxnSp>
      <p:cxnSp>
        <p:nvCxnSpPr>
          <p:cNvPr id="256" name="Google Shape;256;p35"/>
          <p:cNvCxnSpPr/>
          <p:nvPr/>
        </p:nvCxnSpPr>
        <p:spPr>
          <a:xfrm>
            <a:off x="3517900" y="2133600"/>
            <a:ext cx="0" cy="1701900"/>
          </a:xfrm>
          <a:prstGeom prst="straightConnector1">
            <a:avLst/>
          </a:prstGeom>
          <a:noFill/>
          <a:ln cap="flat" cmpd="sng" w="17775">
            <a:solidFill>
              <a:srgbClr val="06038D"/>
            </a:solidFill>
            <a:prstDash val="solid"/>
            <a:round/>
            <a:headEnd len="med" w="med" type="none"/>
            <a:tailEnd len="med" w="med" type="none"/>
          </a:ln>
        </p:spPr>
      </p:cxnSp>
      <p:cxnSp>
        <p:nvCxnSpPr>
          <p:cNvPr id="257" name="Google Shape;257;p35"/>
          <p:cNvCxnSpPr/>
          <p:nvPr/>
        </p:nvCxnSpPr>
        <p:spPr>
          <a:xfrm>
            <a:off x="3517900" y="2133600"/>
            <a:ext cx="520800" cy="0"/>
          </a:xfrm>
          <a:prstGeom prst="straightConnector1">
            <a:avLst/>
          </a:prstGeom>
          <a:noFill/>
          <a:ln cap="flat" cmpd="sng" w="17775">
            <a:solidFill>
              <a:srgbClr val="06038D"/>
            </a:solidFill>
            <a:prstDash val="solid"/>
            <a:round/>
            <a:headEnd len="med" w="med" type="none"/>
            <a:tailEnd len="med" w="med" type="triangle"/>
          </a:ln>
        </p:spPr>
      </p:cxnSp>
      <p:sp>
        <p:nvSpPr>
          <p:cNvPr id="258" name="Google Shape;258;p35"/>
          <p:cNvSpPr/>
          <p:nvPr/>
        </p:nvSpPr>
        <p:spPr>
          <a:xfrm>
            <a:off x="4064000" y="1816100"/>
            <a:ext cx="4445100" cy="635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Operator A: retained copy</a:t>
            </a:r>
            <a:endParaRPr sz="2100">
              <a:solidFill>
                <a:srgbClr val="212121"/>
              </a:solidFill>
              <a:latin typeface="Poppins"/>
              <a:ea typeface="Poppins"/>
              <a:cs typeface="Poppins"/>
              <a:sym typeface="Poppins"/>
            </a:endParaRPr>
          </a:p>
        </p:txBody>
      </p:sp>
      <p:cxnSp>
        <p:nvCxnSpPr>
          <p:cNvPr id="259" name="Google Shape;259;p35"/>
          <p:cNvCxnSpPr/>
          <p:nvPr/>
        </p:nvCxnSpPr>
        <p:spPr>
          <a:xfrm>
            <a:off x="3517900" y="2984500"/>
            <a:ext cx="520800" cy="0"/>
          </a:xfrm>
          <a:prstGeom prst="straightConnector1">
            <a:avLst/>
          </a:prstGeom>
          <a:noFill/>
          <a:ln cap="flat" cmpd="sng" w="17775">
            <a:solidFill>
              <a:srgbClr val="06038D"/>
            </a:solidFill>
            <a:prstDash val="solid"/>
            <a:round/>
            <a:headEnd len="med" w="med" type="none"/>
            <a:tailEnd len="med" w="med" type="triangle"/>
          </a:ln>
        </p:spPr>
      </p:cxnSp>
      <p:sp>
        <p:nvSpPr>
          <p:cNvPr id="260" name="Google Shape;260;p35"/>
          <p:cNvSpPr/>
          <p:nvPr/>
        </p:nvSpPr>
        <p:spPr>
          <a:xfrm>
            <a:off x="4064000" y="2667000"/>
            <a:ext cx="4445100" cy="635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Operator B: retained copy</a:t>
            </a:r>
            <a:endParaRPr sz="2100">
              <a:solidFill>
                <a:srgbClr val="212121"/>
              </a:solidFill>
              <a:latin typeface="Poppins"/>
              <a:ea typeface="Poppins"/>
              <a:cs typeface="Poppins"/>
              <a:sym typeface="Poppins"/>
            </a:endParaRPr>
          </a:p>
        </p:txBody>
      </p:sp>
      <p:cxnSp>
        <p:nvCxnSpPr>
          <p:cNvPr id="261" name="Google Shape;261;p35"/>
          <p:cNvCxnSpPr/>
          <p:nvPr/>
        </p:nvCxnSpPr>
        <p:spPr>
          <a:xfrm>
            <a:off x="3517900" y="3835400"/>
            <a:ext cx="520800" cy="0"/>
          </a:xfrm>
          <a:prstGeom prst="straightConnector1">
            <a:avLst/>
          </a:prstGeom>
          <a:noFill/>
          <a:ln cap="flat" cmpd="sng" w="17775">
            <a:solidFill>
              <a:srgbClr val="06038D"/>
            </a:solidFill>
            <a:prstDash val="solid"/>
            <a:round/>
            <a:headEnd len="med" w="med" type="none"/>
            <a:tailEnd len="med" w="med" type="triangle"/>
          </a:ln>
        </p:spPr>
      </p:cxnSp>
      <p:sp>
        <p:nvSpPr>
          <p:cNvPr id="262" name="Google Shape;262;p35"/>
          <p:cNvSpPr/>
          <p:nvPr/>
        </p:nvSpPr>
        <p:spPr>
          <a:xfrm>
            <a:off x="4064000" y="3517900"/>
            <a:ext cx="4445100" cy="635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Maya: personal backup</a:t>
            </a:r>
            <a:endParaRPr sz="2100">
              <a:solidFill>
                <a:srgbClr val="212121"/>
              </a:solidFill>
              <a:latin typeface="Poppins"/>
              <a:ea typeface="Poppins"/>
              <a:cs typeface="Poppins"/>
              <a:sym typeface="Poppins"/>
            </a:endParaRPr>
          </a:p>
        </p:txBody>
      </p:sp>
      <p:sp>
        <p:nvSpPr>
          <p:cNvPr id="263" name="Google Shape;263;p35"/>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Restore the plan from another copy and open it in a compatible reader</a:t>
            </a:r>
            <a:endParaRPr sz="1600">
              <a:solidFill>
                <a:srgbClr val="06038D"/>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EFS: find a file and check a copy</a:t>
            </a:r>
            <a:endParaRPr b="1" sz="3000">
              <a:solidFill>
                <a:srgbClr val="06038D"/>
              </a:solidFill>
              <a:latin typeface="Poppins"/>
              <a:ea typeface="Poppins"/>
              <a:cs typeface="Poppins"/>
              <a:sym typeface="Poppins"/>
            </a:endParaRPr>
          </a:p>
        </p:txBody>
      </p:sp>
      <p:sp>
        <p:nvSpPr>
          <p:cNvPr id="269" name="Google Shape;269;p36"/>
          <p:cNvSpPr txBox="1"/>
          <p:nvPr/>
        </p:nvSpPr>
        <p:spPr>
          <a:xfrm>
            <a:off x="571500" y="1117600"/>
            <a:ext cx="80010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Example path: /garden/proposals/42.md</a:t>
            </a:r>
            <a:endParaRPr sz="2200">
              <a:solidFill>
                <a:srgbClr val="212121"/>
              </a:solidFill>
              <a:latin typeface="Poppins"/>
              <a:ea typeface="Poppins"/>
              <a:cs typeface="Poppins"/>
              <a:sym typeface="Poppins"/>
            </a:endParaRPr>
          </a:p>
        </p:txBody>
      </p:sp>
      <p:cxnSp>
        <p:nvCxnSpPr>
          <p:cNvPr id="270" name="Google Shape;270;p36"/>
          <p:cNvCxnSpPr/>
          <p:nvPr/>
        </p:nvCxnSpPr>
        <p:spPr>
          <a:xfrm>
            <a:off x="2692400" y="16002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71" name="Google Shape;271;p36"/>
          <p:cNvSpPr/>
          <p:nvPr/>
        </p:nvSpPr>
        <p:spPr>
          <a:xfrm>
            <a:off x="571500" y="1879600"/>
            <a:ext cx="4191000" cy="1206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Onchain file record</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Metadata + digest</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Retrieval references</a:t>
            </a:r>
            <a:endParaRPr sz="2100">
              <a:solidFill>
                <a:srgbClr val="212121"/>
              </a:solidFill>
              <a:latin typeface="Poppins"/>
              <a:ea typeface="Poppins"/>
              <a:cs typeface="Poppins"/>
              <a:sym typeface="Poppins"/>
            </a:endParaRPr>
          </a:p>
        </p:txBody>
      </p:sp>
      <p:cxnSp>
        <p:nvCxnSpPr>
          <p:cNvPr id="272" name="Google Shape;272;p36"/>
          <p:cNvCxnSpPr/>
          <p:nvPr/>
        </p:nvCxnSpPr>
        <p:spPr>
          <a:xfrm>
            <a:off x="4787900" y="2476500"/>
            <a:ext cx="635100" cy="0"/>
          </a:xfrm>
          <a:prstGeom prst="straightConnector1">
            <a:avLst/>
          </a:prstGeom>
          <a:noFill/>
          <a:ln cap="flat" cmpd="sng" w="17775">
            <a:solidFill>
              <a:srgbClr val="06038D"/>
            </a:solidFill>
            <a:prstDash val="solid"/>
            <a:round/>
            <a:headEnd len="med" w="med" type="none"/>
            <a:tailEnd len="med" w="med" type="triangle"/>
          </a:ln>
        </p:spPr>
      </p:cxnSp>
      <p:sp>
        <p:nvSpPr>
          <p:cNvPr id="273" name="Google Shape;273;p36"/>
          <p:cNvSpPr/>
          <p:nvPr/>
        </p:nvSpPr>
        <p:spPr>
          <a:xfrm>
            <a:off x="5461000" y="2044700"/>
            <a:ext cx="3111600" cy="863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Contract reads</a:t>
            </a:r>
            <a:endParaRPr sz="21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file metadata</a:t>
            </a:r>
            <a:endParaRPr sz="2100">
              <a:solidFill>
                <a:srgbClr val="FFFFFF"/>
              </a:solidFill>
              <a:latin typeface="Poppins"/>
              <a:ea typeface="Poppins"/>
              <a:cs typeface="Poppins"/>
              <a:sym typeface="Poppins"/>
            </a:endParaRPr>
          </a:p>
        </p:txBody>
      </p:sp>
      <p:cxnSp>
        <p:nvCxnSpPr>
          <p:cNvPr id="274" name="Google Shape;274;p36"/>
          <p:cNvCxnSpPr/>
          <p:nvPr/>
        </p:nvCxnSpPr>
        <p:spPr>
          <a:xfrm>
            <a:off x="2667000" y="3111500"/>
            <a:ext cx="0" cy="368400"/>
          </a:xfrm>
          <a:prstGeom prst="straightConnector1">
            <a:avLst/>
          </a:prstGeom>
          <a:noFill/>
          <a:ln cap="flat" cmpd="sng" w="17775">
            <a:solidFill>
              <a:srgbClr val="06038D"/>
            </a:solidFill>
            <a:prstDash val="solid"/>
            <a:round/>
            <a:headEnd len="med" w="med" type="none"/>
            <a:tailEnd len="med" w="med" type="triangle"/>
          </a:ln>
        </p:spPr>
      </p:cxnSp>
      <p:sp>
        <p:nvSpPr>
          <p:cNvPr id="275" name="Google Shape;275;p36"/>
          <p:cNvSpPr/>
          <p:nvPr/>
        </p:nvSpPr>
        <p:spPr>
          <a:xfrm>
            <a:off x="571500" y="3517900"/>
            <a:ext cx="4191000" cy="812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Client retrieves bytes</a:t>
            </a:r>
            <a:endParaRPr sz="21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and checks the digest</a:t>
            </a:r>
            <a:endParaRPr sz="2100">
              <a:solidFill>
                <a:srgbClr val="FFFFFF"/>
              </a:solidFill>
              <a:latin typeface="Poppins"/>
              <a:ea typeface="Poppins"/>
              <a:cs typeface="Poppins"/>
              <a:sym typeface="Poppins"/>
            </a:endParaRPr>
          </a:p>
        </p:txBody>
      </p:sp>
      <p:cxnSp>
        <p:nvCxnSpPr>
          <p:cNvPr id="276" name="Google Shape;276;p36"/>
          <p:cNvCxnSpPr/>
          <p:nvPr/>
        </p:nvCxnSpPr>
        <p:spPr>
          <a:xfrm rot="10800000">
            <a:off x="5130800" y="35814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77" name="Google Shape;277;p36"/>
          <p:cNvCxnSpPr/>
          <p:nvPr/>
        </p:nvCxnSpPr>
        <p:spPr>
          <a:xfrm rot="10800000">
            <a:off x="5130800" y="42037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78" name="Google Shape;278;p36"/>
          <p:cNvCxnSpPr/>
          <p:nvPr/>
        </p:nvCxnSpPr>
        <p:spPr>
          <a:xfrm>
            <a:off x="5130800" y="3581400"/>
            <a:ext cx="0" cy="622200"/>
          </a:xfrm>
          <a:prstGeom prst="straightConnector1">
            <a:avLst/>
          </a:prstGeom>
          <a:noFill/>
          <a:ln cap="flat" cmpd="sng" w="17775">
            <a:solidFill>
              <a:srgbClr val="06038D"/>
            </a:solidFill>
            <a:prstDash val="solid"/>
            <a:round/>
            <a:headEnd len="med" w="med" type="none"/>
            <a:tailEnd len="med" w="med" type="none"/>
          </a:ln>
        </p:spPr>
      </p:cxnSp>
      <p:cxnSp>
        <p:nvCxnSpPr>
          <p:cNvPr id="279" name="Google Shape;279;p36"/>
          <p:cNvCxnSpPr/>
          <p:nvPr/>
        </p:nvCxnSpPr>
        <p:spPr>
          <a:xfrm rot="10800000">
            <a:off x="4787900" y="39243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280" name="Google Shape;280;p36"/>
          <p:cNvSpPr/>
          <p:nvPr/>
        </p:nvSpPr>
        <p:spPr>
          <a:xfrm>
            <a:off x="5461000" y="33020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IPFS copy</a:t>
            </a:r>
            <a:endParaRPr sz="2100">
              <a:solidFill>
                <a:srgbClr val="212121"/>
              </a:solidFill>
              <a:latin typeface="Poppins"/>
              <a:ea typeface="Poppins"/>
              <a:cs typeface="Poppins"/>
              <a:sym typeface="Poppins"/>
            </a:endParaRPr>
          </a:p>
        </p:txBody>
      </p:sp>
      <p:sp>
        <p:nvSpPr>
          <p:cNvPr id="281" name="Google Shape;281;p36"/>
          <p:cNvSpPr/>
          <p:nvPr/>
        </p:nvSpPr>
        <p:spPr>
          <a:xfrm>
            <a:off x="5461000" y="38862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Arweave copy</a:t>
            </a:r>
            <a:endParaRPr sz="2100">
              <a:solidFill>
                <a:srgbClr val="212121"/>
              </a:solidFill>
              <a:latin typeface="Poppins"/>
              <a:ea typeface="Poppins"/>
              <a:cs typeface="Poppins"/>
              <a:sym typeface="Poppins"/>
            </a:endParaRPr>
          </a:p>
        </p:txBody>
      </p:sp>
      <p:sp>
        <p:nvSpPr>
          <p:cNvPr id="282" name="Google Shape;282;p36"/>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path: a shared reference connects apps to matching data</a:t>
            </a:r>
            <a:endParaRPr sz="1600">
              <a:solidFill>
                <a:srgbClr val="06038D"/>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7"/>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dependable view of the data</a:t>
            </a:r>
            <a:endParaRPr b="1" sz="3000">
              <a:solidFill>
                <a:srgbClr val="06038D"/>
              </a:solidFill>
              <a:latin typeface="Poppins"/>
              <a:ea typeface="Poppins"/>
              <a:cs typeface="Poppins"/>
              <a:sym typeface="Poppins"/>
            </a:endParaRPr>
          </a:p>
        </p:txBody>
      </p:sp>
      <p:sp>
        <p:nvSpPr>
          <p:cNvPr id="288" name="Google Shape;288;p37"/>
          <p:cNvSpPr txBox="1"/>
          <p:nvPr/>
        </p:nvSpPr>
        <p:spPr>
          <a:xfrm>
            <a:off x="571500" y="1130300"/>
            <a:ext cx="8001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The records exist. Can Maya find proposal 42?</a:t>
            </a:r>
            <a:endParaRPr sz="2100">
              <a:solidFill>
                <a:srgbClr val="212121"/>
              </a:solidFill>
              <a:latin typeface="Poppins"/>
              <a:ea typeface="Poppins"/>
              <a:cs typeface="Poppins"/>
              <a:sym typeface="Poppins"/>
            </a:endParaRPr>
          </a:p>
        </p:txBody>
      </p:sp>
      <p:sp>
        <p:nvSpPr>
          <p:cNvPr id="289" name="Google Shape;289;p37"/>
          <p:cNvSpPr/>
          <p:nvPr/>
        </p:nvSpPr>
        <p:spPr>
          <a:xfrm>
            <a:off x="508000" y="1854200"/>
            <a:ext cx="2349600" cy="1397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Ethereum</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Public events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 contract state</a:t>
            </a:r>
            <a:endParaRPr sz="2100">
              <a:solidFill>
                <a:srgbClr val="212121"/>
              </a:solidFill>
              <a:latin typeface="Poppins"/>
              <a:ea typeface="Poppins"/>
              <a:cs typeface="Poppins"/>
              <a:sym typeface="Poppins"/>
            </a:endParaRPr>
          </a:p>
        </p:txBody>
      </p:sp>
      <p:cxnSp>
        <p:nvCxnSpPr>
          <p:cNvPr id="290" name="Google Shape;290;p37"/>
          <p:cNvCxnSpPr/>
          <p:nvPr/>
        </p:nvCxnSpPr>
        <p:spPr>
          <a:xfrm>
            <a:off x="2882900" y="2540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291" name="Google Shape;291;p37"/>
          <p:cNvSpPr/>
          <p:nvPr/>
        </p:nvSpPr>
        <p:spPr>
          <a:xfrm>
            <a:off x="3390900" y="1854200"/>
            <a:ext cx="2603400" cy="13971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Independent index</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Published recipe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Rebuild the list</a:t>
            </a:r>
            <a:endParaRPr sz="2000">
              <a:solidFill>
                <a:srgbClr val="212121"/>
              </a:solidFill>
              <a:latin typeface="Poppins"/>
              <a:ea typeface="Poppins"/>
              <a:cs typeface="Poppins"/>
              <a:sym typeface="Poppins"/>
            </a:endParaRPr>
          </a:p>
        </p:txBody>
      </p:sp>
      <p:cxnSp>
        <p:nvCxnSpPr>
          <p:cNvPr id="292" name="Google Shape;292;p37"/>
          <p:cNvCxnSpPr/>
          <p:nvPr/>
        </p:nvCxnSpPr>
        <p:spPr>
          <a:xfrm>
            <a:off x="6019800" y="2540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293" name="Google Shape;293;p37"/>
          <p:cNvSpPr/>
          <p:nvPr/>
        </p:nvSpPr>
        <p:spPr>
          <a:xfrm>
            <a:off x="6527800" y="1854200"/>
            <a:ext cx="2159100" cy="13971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Proposal #42</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Fund the garden</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Synced: 12345</a:t>
            </a:r>
            <a:endParaRPr sz="1800">
              <a:solidFill>
                <a:srgbClr val="FFFFFF"/>
              </a:solidFill>
              <a:latin typeface="Poppins"/>
              <a:ea typeface="Poppins"/>
              <a:cs typeface="Poppins"/>
              <a:sym typeface="Poppins"/>
            </a:endParaRPr>
          </a:p>
        </p:txBody>
      </p:sp>
      <p:sp>
        <p:nvSpPr>
          <p:cNvPr id="294" name="Google Shape;294;p37"/>
          <p:cNvSpPr txBox="1"/>
          <p:nvPr/>
        </p:nvSpPr>
        <p:spPr>
          <a:xfrm>
            <a:off x="571500" y="3530600"/>
            <a:ext cx="80010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Choose another RPC, node or replacement index</a:t>
            </a:r>
            <a:endParaRPr sz="2100">
              <a:solidFill>
                <a:srgbClr val="212121"/>
              </a:solidFill>
              <a:latin typeface="Poppins"/>
              <a:ea typeface="Poppins"/>
              <a:cs typeface="Poppins"/>
              <a:sym typeface="Poppins"/>
            </a:endParaRPr>
          </a:p>
        </p:txBody>
      </p:sp>
      <p:sp>
        <p:nvSpPr>
          <p:cNvPr id="295" name="Google Shape;295;p37"/>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view: rebuild discovery and show how current it is</a:t>
            </a:r>
            <a:endParaRPr sz="1600">
              <a:solidFill>
                <a:srgbClr val="06038D"/>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sends the next transaction?</a:t>
            </a:r>
            <a:endParaRPr b="1" sz="3000">
              <a:solidFill>
                <a:srgbClr val="06038D"/>
              </a:solidFill>
              <a:latin typeface="Poppins"/>
              <a:ea typeface="Poppins"/>
              <a:cs typeface="Poppins"/>
              <a:sym typeface="Poppins"/>
            </a:endParaRPr>
          </a:p>
        </p:txBody>
      </p:sp>
      <p:sp>
        <p:nvSpPr>
          <p:cNvPr id="301" name="Google Shape;301;p38"/>
          <p:cNvSpPr txBox="1"/>
          <p:nvPr/>
        </p:nvSpPr>
        <p:spPr>
          <a:xfrm>
            <a:off x="508000" y="1130300"/>
            <a:ext cx="81279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 proposal passes. Someone still has to execute it.</a:t>
            </a:r>
            <a:endParaRPr sz="2100">
              <a:solidFill>
                <a:srgbClr val="212121"/>
              </a:solidFill>
              <a:latin typeface="Poppins"/>
              <a:ea typeface="Poppins"/>
              <a:cs typeface="Poppins"/>
              <a:sym typeface="Poppins"/>
            </a:endParaRPr>
          </a:p>
        </p:txBody>
      </p:sp>
      <p:sp>
        <p:nvSpPr>
          <p:cNvPr id="302" name="Google Shape;302;p38"/>
          <p:cNvSpPr/>
          <p:nvPr/>
        </p:nvSpPr>
        <p:spPr>
          <a:xfrm>
            <a:off x="508000" y="1841500"/>
            <a:ext cx="2286000" cy="7620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Team bot</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Offline</a:t>
            </a:r>
            <a:endParaRPr sz="2100">
              <a:solidFill>
                <a:srgbClr val="212121"/>
              </a:solidFill>
              <a:latin typeface="Poppins"/>
              <a:ea typeface="Poppins"/>
              <a:cs typeface="Poppins"/>
              <a:sym typeface="Poppins"/>
            </a:endParaRPr>
          </a:p>
        </p:txBody>
      </p:sp>
      <p:sp>
        <p:nvSpPr>
          <p:cNvPr id="303" name="Google Shape;303;p38"/>
          <p:cNvSpPr/>
          <p:nvPr/>
        </p:nvSpPr>
        <p:spPr>
          <a:xfrm>
            <a:off x="508000" y="3213100"/>
            <a:ext cx="2286000" cy="9018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Volunteer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runs executor</a:t>
            </a:r>
            <a:endParaRPr sz="2000">
              <a:solidFill>
                <a:srgbClr val="212121"/>
              </a:solidFill>
              <a:latin typeface="Poppins"/>
              <a:ea typeface="Poppins"/>
              <a:cs typeface="Poppins"/>
              <a:sym typeface="Poppins"/>
            </a:endParaRPr>
          </a:p>
        </p:txBody>
      </p:sp>
      <p:cxnSp>
        <p:nvCxnSpPr>
          <p:cNvPr id="304" name="Google Shape;304;p38"/>
          <p:cNvCxnSpPr/>
          <p:nvPr/>
        </p:nvCxnSpPr>
        <p:spPr>
          <a:xfrm>
            <a:off x="2819400" y="3657600"/>
            <a:ext cx="609600" cy="0"/>
          </a:xfrm>
          <a:prstGeom prst="straightConnector1">
            <a:avLst/>
          </a:prstGeom>
          <a:noFill/>
          <a:ln cap="flat" cmpd="sng" w="17775">
            <a:solidFill>
              <a:srgbClr val="06038D"/>
            </a:solidFill>
            <a:prstDash val="solid"/>
            <a:round/>
            <a:headEnd len="med" w="med" type="none"/>
            <a:tailEnd len="med" w="med" type="triangle"/>
          </a:ln>
        </p:spPr>
      </p:cxnSp>
      <p:sp>
        <p:nvSpPr>
          <p:cNvPr id="305" name="Google Shape;305;p38"/>
          <p:cNvSpPr/>
          <p:nvPr/>
        </p:nvSpPr>
        <p:spPr>
          <a:xfrm>
            <a:off x="3454400" y="3213100"/>
            <a:ext cx="3048000" cy="9018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Treasury contract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Checks the rules</a:t>
            </a:r>
            <a:endParaRPr sz="2000">
              <a:solidFill>
                <a:srgbClr val="FFFFFF"/>
              </a:solidFill>
              <a:latin typeface="Poppins"/>
              <a:ea typeface="Poppins"/>
              <a:cs typeface="Poppins"/>
              <a:sym typeface="Poppins"/>
            </a:endParaRPr>
          </a:p>
        </p:txBody>
      </p:sp>
      <p:cxnSp>
        <p:nvCxnSpPr>
          <p:cNvPr id="306" name="Google Shape;306;p38"/>
          <p:cNvCxnSpPr/>
          <p:nvPr/>
        </p:nvCxnSpPr>
        <p:spPr>
          <a:xfrm>
            <a:off x="6527800" y="3657600"/>
            <a:ext cx="469800" cy="0"/>
          </a:xfrm>
          <a:prstGeom prst="straightConnector1">
            <a:avLst/>
          </a:prstGeom>
          <a:noFill/>
          <a:ln cap="flat" cmpd="sng" w="17775">
            <a:solidFill>
              <a:srgbClr val="06038D"/>
            </a:solidFill>
            <a:prstDash val="solid"/>
            <a:round/>
            <a:headEnd len="med" w="med" type="none"/>
            <a:tailEnd len="med" w="med" type="triangle"/>
          </a:ln>
        </p:spPr>
      </p:cxnSp>
      <p:sp>
        <p:nvSpPr>
          <p:cNvPr id="307" name="Google Shape;307;p38"/>
          <p:cNvSpPr/>
          <p:nvPr/>
        </p:nvSpPr>
        <p:spPr>
          <a:xfrm>
            <a:off x="7023100" y="3213100"/>
            <a:ext cx="1612800" cy="9018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Approved</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payment</a:t>
            </a:r>
            <a:endParaRPr sz="2000">
              <a:solidFill>
                <a:srgbClr val="212121"/>
              </a:solidFill>
              <a:latin typeface="Poppins"/>
              <a:ea typeface="Poppins"/>
              <a:cs typeface="Poppins"/>
              <a:sym typeface="Poppins"/>
            </a:endParaRPr>
          </a:p>
        </p:txBody>
      </p:sp>
      <p:sp>
        <p:nvSpPr>
          <p:cNvPr id="308" name="Google Shape;308;p38"/>
          <p:cNvSpPr txBox="1"/>
          <p:nvPr/>
        </p:nvSpPr>
        <p:spPr>
          <a:xfrm>
            <a:off x="3302000" y="1981200"/>
            <a:ext cx="5334000" cy="4953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300">
                <a:solidFill>
                  <a:srgbClr val="06038D"/>
                </a:solidFill>
                <a:latin typeface="Poppins"/>
                <a:ea typeface="Poppins"/>
                <a:cs typeface="Poppins"/>
                <a:sym typeface="Poppins"/>
              </a:rPr>
              <a:t>Same rules. Another operator.</a:t>
            </a:r>
            <a:endParaRPr b="1" sz="2300">
              <a:solidFill>
                <a:srgbClr val="06038D"/>
              </a:solidFill>
              <a:latin typeface="Poppins"/>
              <a:ea typeface="Poppins"/>
              <a:cs typeface="Poppins"/>
              <a:sym typeface="Poppins"/>
            </a:endParaRPr>
          </a:p>
        </p:txBody>
      </p:sp>
      <p:sp>
        <p:nvSpPr>
          <p:cNvPr id="309" name="Google Shape;309;p38"/>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drill: stop your bot and have another operator finish the job</a:t>
            </a:r>
            <a:endParaRPr sz="1600">
              <a:solidFill>
                <a:srgbClr val="06038D"/>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9"/>
          <p:cNvSpPr txBox="1"/>
          <p:nvPr>
            <p:ph type="title"/>
          </p:nvPr>
        </p:nvSpPr>
        <p:spPr>
          <a:xfrm>
            <a:off x="457200" y="2150850"/>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Keeping dependable rules</a:t>
            </a:r>
            <a:endParaRPr b="1">
              <a:solidFill>
                <a:srgbClr val="FFFFFF"/>
              </a:solidFill>
              <a:latin typeface="Poppins"/>
              <a:ea typeface="Poppins"/>
              <a:cs typeface="Poppins"/>
              <a:sym typeface="Poppins"/>
            </a:endParaRPr>
          </a:p>
        </p:txBody>
      </p:sp>
      <p:sp>
        <p:nvSpPr>
          <p:cNvPr id="315" name="Google Shape;315;p39"/>
          <p:cNvSpPr txBox="1"/>
          <p:nvPr/>
        </p:nvSpPr>
        <p:spPr>
          <a:xfrm>
            <a:off x="2998200" y="1794850"/>
            <a:ext cx="3147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Rules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0"/>
          <p:cNvSpPr txBox="1"/>
          <p:nvPr>
            <p:ph type="title"/>
          </p:nvPr>
        </p:nvSpPr>
        <p:spPr>
          <a:xfrm>
            <a:off x="4837000" y="768000"/>
            <a:ext cx="3733200" cy="36075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Who chooses the changes?</a:t>
            </a:r>
            <a:endParaRPr b="1">
              <a:solidFill>
                <a:srgbClr val="FFFFFF"/>
              </a:solidFill>
              <a:latin typeface="Poppins"/>
              <a:ea typeface="Poppins"/>
              <a:cs typeface="Poppins"/>
              <a:sym typeface="Poppins"/>
            </a:endParaRPr>
          </a:p>
        </p:txBody>
      </p:sp>
      <p:sp>
        <p:nvSpPr>
          <p:cNvPr id="321" name="Google Shape;321;p40"/>
          <p:cNvSpPr txBox="1"/>
          <p:nvPr>
            <p:ph idx="1" type="body"/>
          </p:nvPr>
        </p:nvSpPr>
        <p:spPr>
          <a:xfrm>
            <a:off x="651850" y="617600"/>
            <a:ext cx="3733200" cy="401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Stable core contracts</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User-chosen app upgrades</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Clear rules for shared governance</a:t>
            </a:r>
            <a:endParaRPr sz="2400">
              <a:solidFill>
                <a:schemeClr val="accent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1"/>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A stable core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the contract code fixed</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other apps build on it</a:t>
            </a:r>
            <a:endParaRPr sz="2400">
              <a:solidFill>
                <a:srgbClr val="212121"/>
              </a:solidFill>
            </a:endParaRPr>
          </a:p>
        </p:txBody>
      </p:sp>
      <p:sp>
        <p:nvSpPr>
          <p:cNvPr id="327" name="Google Shape;327;p41"/>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Room to improve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Deploy a new version</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users choose to migrate</a:t>
            </a:r>
            <a:endParaRPr sz="2400">
              <a:solidFill>
                <a:srgbClr val="212121"/>
              </a:solidFill>
            </a:endParaRPr>
          </a:p>
        </p:txBody>
      </p:sp>
      <p:sp>
        <p:nvSpPr>
          <p:cNvPr id="328" name="Google Shape;328;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Immutable contracts</a:t>
            </a:r>
            <a:endParaRPr b="1" sz="3200">
              <a:solidFill>
                <a:srgbClr val="06038D"/>
              </a:solidFill>
              <a:latin typeface="Poppins"/>
              <a:ea typeface="Poppins"/>
              <a:cs typeface="Poppins"/>
              <a:sym typeface="Poppins"/>
            </a:endParaRPr>
          </a:p>
        </p:txBody>
      </p:sp>
      <p:sp>
        <p:nvSpPr>
          <p:cNvPr id="329" name="Google Shape;329;p41"/>
          <p:cNvSpPr txBox="1"/>
          <p:nvPr/>
        </p:nvSpPr>
        <p:spPr>
          <a:xfrm>
            <a:off x="889000" y="4305300"/>
            <a:ext cx="7365900" cy="431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06038D"/>
                </a:solidFill>
                <a:latin typeface="Poppins"/>
                <a:ea typeface="Poppins"/>
                <a:cs typeface="Poppins"/>
                <a:sym typeface="Poppins"/>
              </a:rPr>
              <a:t>Example: Uniswap v2 core</a:t>
            </a:r>
            <a:endParaRPr sz="2000">
              <a:solidFill>
                <a:srgbClr val="06038D"/>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Ethereum and L1</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Keep a working node route</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Retain the history you need</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Understand inclusion and finality</a:t>
            </a:r>
            <a:endParaRPr sz="2200">
              <a:solidFill>
                <a:srgbClr val="212121"/>
              </a:solidFill>
            </a:endParaRPr>
          </a:p>
        </p:txBody>
      </p:sp>
      <p:sp>
        <p:nvSpPr>
          <p:cNvPr id="335" name="Google Shape;335;p4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L2 and settlement</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Know who orders and proves</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Find the required chain data</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Practice the recovery route</a:t>
            </a:r>
            <a:endParaRPr sz="2200">
              <a:solidFill>
                <a:srgbClr val="212121"/>
              </a:solidFill>
            </a:endParaRPr>
          </a:p>
        </p:txBody>
      </p:sp>
      <p:sp>
        <p:nvSpPr>
          <p:cNvPr id="336" name="Google Shape;336;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community can carry it forward</a:t>
            </a:r>
            <a:endParaRPr b="1" sz="3000">
              <a:solidFill>
                <a:srgbClr val="06038D"/>
              </a:solidFill>
              <a:latin typeface="Poppins"/>
              <a:ea typeface="Poppins"/>
              <a:cs typeface="Poppins"/>
              <a:sym typeface="Poppins"/>
            </a:endParaRPr>
          </a:p>
        </p:txBody>
      </p:sp>
      <p:sp>
        <p:nvSpPr>
          <p:cNvPr id="342" name="Google Shape;342;p43"/>
          <p:cNvSpPr/>
          <p:nvPr/>
        </p:nvSpPr>
        <p:spPr>
          <a:xfrm>
            <a:off x="508000" y="1485900"/>
            <a:ext cx="4508400" cy="23622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Public handoff</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Release + contract addresses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Retained files + index recipe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Executor + running costs</a:t>
            </a:r>
            <a:endParaRPr sz="2100">
              <a:solidFill>
                <a:srgbClr val="212121"/>
              </a:solidFill>
              <a:latin typeface="Poppins"/>
              <a:ea typeface="Poppins"/>
              <a:cs typeface="Poppins"/>
              <a:sym typeface="Poppins"/>
            </a:endParaRPr>
          </a:p>
        </p:txBody>
      </p:sp>
      <p:cxnSp>
        <p:nvCxnSpPr>
          <p:cNvPr id="343" name="Google Shape;343;p43"/>
          <p:cNvCxnSpPr/>
          <p:nvPr/>
        </p:nvCxnSpPr>
        <p:spPr>
          <a:xfrm>
            <a:off x="5041900" y="2641600"/>
            <a:ext cx="393600" cy="0"/>
          </a:xfrm>
          <a:prstGeom prst="straightConnector1">
            <a:avLst/>
          </a:prstGeom>
          <a:noFill/>
          <a:ln cap="flat" cmpd="sng" w="17775">
            <a:solidFill>
              <a:srgbClr val="06038D"/>
            </a:solidFill>
            <a:prstDash val="solid"/>
            <a:round/>
            <a:headEnd len="med" w="med" type="none"/>
            <a:tailEnd len="med" w="med" type="none"/>
          </a:ln>
        </p:spPr>
      </p:cxnSp>
      <p:cxnSp>
        <p:nvCxnSpPr>
          <p:cNvPr id="344" name="Google Shape;344;p43"/>
          <p:cNvCxnSpPr/>
          <p:nvPr/>
        </p:nvCxnSpPr>
        <p:spPr>
          <a:xfrm>
            <a:off x="5435600" y="1803400"/>
            <a:ext cx="0" cy="1676400"/>
          </a:xfrm>
          <a:prstGeom prst="straightConnector1">
            <a:avLst/>
          </a:prstGeom>
          <a:noFill/>
          <a:ln cap="flat" cmpd="sng" w="17775">
            <a:solidFill>
              <a:srgbClr val="06038D"/>
            </a:solidFill>
            <a:prstDash val="solid"/>
            <a:round/>
            <a:headEnd len="med" w="med" type="none"/>
            <a:tailEnd len="med" w="med" type="none"/>
          </a:ln>
        </p:spPr>
      </p:cxnSp>
      <p:cxnSp>
        <p:nvCxnSpPr>
          <p:cNvPr id="345" name="Google Shape;345;p43"/>
          <p:cNvCxnSpPr/>
          <p:nvPr/>
        </p:nvCxnSpPr>
        <p:spPr>
          <a:xfrm>
            <a:off x="5435600" y="18034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46" name="Google Shape;346;p43"/>
          <p:cNvSpPr/>
          <p:nvPr/>
        </p:nvSpPr>
        <p:spPr>
          <a:xfrm>
            <a:off x="5803900" y="14732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Volunteer A opens the app</a:t>
            </a:r>
            <a:endParaRPr sz="1800">
              <a:solidFill>
                <a:srgbClr val="FFFFFF"/>
              </a:solidFill>
              <a:latin typeface="Poppins"/>
              <a:ea typeface="Poppins"/>
              <a:cs typeface="Poppins"/>
              <a:sym typeface="Poppins"/>
            </a:endParaRPr>
          </a:p>
        </p:txBody>
      </p:sp>
      <p:cxnSp>
        <p:nvCxnSpPr>
          <p:cNvPr id="347" name="Google Shape;347;p43"/>
          <p:cNvCxnSpPr/>
          <p:nvPr/>
        </p:nvCxnSpPr>
        <p:spPr>
          <a:xfrm>
            <a:off x="5435600" y="26416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48" name="Google Shape;348;p43"/>
          <p:cNvSpPr/>
          <p:nvPr/>
        </p:nvSpPr>
        <p:spPr>
          <a:xfrm>
            <a:off x="5803900" y="23114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Volunteer B rebuilds the list</a:t>
            </a:r>
            <a:endParaRPr sz="1800">
              <a:solidFill>
                <a:srgbClr val="FFFFFF"/>
              </a:solidFill>
              <a:latin typeface="Poppins"/>
              <a:ea typeface="Poppins"/>
              <a:cs typeface="Poppins"/>
              <a:sym typeface="Poppins"/>
            </a:endParaRPr>
          </a:p>
        </p:txBody>
      </p:sp>
      <p:cxnSp>
        <p:nvCxnSpPr>
          <p:cNvPr id="349" name="Google Shape;349;p43"/>
          <p:cNvCxnSpPr/>
          <p:nvPr/>
        </p:nvCxnSpPr>
        <p:spPr>
          <a:xfrm>
            <a:off x="5435600" y="34798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50" name="Google Shape;350;p43"/>
          <p:cNvSpPr/>
          <p:nvPr/>
        </p:nvSpPr>
        <p:spPr>
          <a:xfrm>
            <a:off x="5803900" y="31496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Volunteer C runs the executor</a:t>
            </a:r>
            <a:endParaRPr sz="1800">
              <a:solidFill>
                <a:srgbClr val="FFFFFF"/>
              </a:solidFill>
              <a:latin typeface="Poppins"/>
              <a:ea typeface="Poppins"/>
              <a:cs typeface="Poppins"/>
              <a:sym typeface="Poppins"/>
            </a:endParaRPr>
          </a:p>
        </p:txBody>
      </p:sp>
      <p:sp>
        <p:nvSpPr>
          <p:cNvPr id="351" name="Google Shape;351;p43"/>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handoff: let people outside your team follow the instructions</a:t>
            </a:r>
            <a:endParaRPr sz="1600">
              <a:solidFill>
                <a:srgbClr val="06038D"/>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4"/>
          <p:cNvSpPr txBox="1"/>
          <p:nvPr>
            <p:ph type="title"/>
          </p:nvPr>
        </p:nvSpPr>
        <p:spPr>
          <a:xfrm>
            <a:off x="457200" y="2415175"/>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A walk-away test for your app</a:t>
            </a:r>
            <a:endParaRPr b="1" sz="2400">
              <a:solidFill>
                <a:srgbClr val="FFFFFF"/>
              </a:solidFill>
              <a:latin typeface="Poppins"/>
              <a:ea typeface="Poppins"/>
              <a:cs typeface="Poppins"/>
              <a:sym typeface="Poppins"/>
            </a:endParaRPr>
          </a:p>
        </p:txBody>
      </p:sp>
      <p:sp>
        <p:nvSpPr>
          <p:cNvPr id="357" name="Google Shape;357;p44"/>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Your walk-away checklist</a:t>
            </a:r>
            <a:endParaRPr b="1" sz="3200">
              <a:solidFill>
                <a:srgbClr val="06038D"/>
              </a:solidFill>
              <a:latin typeface="Poppins"/>
              <a:ea typeface="Poppins"/>
              <a:cs typeface="Poppins"/>
              <a:sym typeface="Poppins"/>
            </a:endParaRPr>
          </a:p>
        </p:txBody>
      </p:sp>
      <p:sp>
        <p:nvSpPr>
          <p:cNvPr id="363" name="Google Shape;363;p45"/>
          <p:cNvSpPr txBox="1"/>
          <p:nvPr>
            <p:ph idx="1" type="body"/>
          </p:nvPr>
        </p:nvSpPr>
        <p:spPr>
          <a:xfrm>
            <a:off x="635000" y="1333500"/>
            <a:ext cx="3810000" cy="28575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rPr>
              <a:t>A user can:</a:t>
            </a:r>
            <a:endParaRPr b="1"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Run a saved app release</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Recover access and keys</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Restore usable data</a:t>
            </a:r>
            <a:endParaRPr sz="2100">
              <a:solidFill>
                <a:srgbClr val="212121"/>
              </a:solidFill>
            </a:endParaRPr>
          </a:p>
          <a:p>
            <a:pPr indent="0" lvl="0" marL="0" marR="0" rtl="0" algn="l">
              <a:lnSpc>
                <a:spcPct val="110000"/>
              </a:lnSpc>
              <a:spcBef>
                <a:spcPts val="1000"/>
              </a:spcBef>
              <a:spcAft>
                <a:spcPts val="1000"/>
              </a:spcAft>
              <a:buNone/>
            </a:pPr>
            <a:r>
              <a:rPr lang="en" sz="2100">
                <a:solidFill>
                  <a:srgbClr val="212121"/>
                </a:solidFill>
              </a:rPr>
              <a:t>Choose another client</a:t>
            </a:r>
            <a:endParaRPr sz="2100">
              <a:solidFill>
                <a:srgbClr val="212121"/>
              </a:solidFill>
            </a:endParaRPr>
          </a:p>
        </p:txBody>
      </p:sp>
      <p:sp>
        <p:nvSpPr>
          <p:cNvPr id="364" name="Google Shape;364;p45"/>
          <p:cNvSpPr txBox="1"/>
          <p:nvPr/>
        </p:nvSpPr>
        <p:spPr>
          <a:xfrm>
            <a:off x="4826000" y="1333500"/>
            <a:ext cx="3746400" cy="2857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latin typeface="Poppins"/>
                <a:ea typeface="Poppins"/>
                <a:cs typeface="Poppins"/>
                <a:sym typeface="Poppins"/>
              </a:rPr>
              <a:t>Another operator can:</a:t>
            </a:r>
            <a:endParaRPr b="1"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Switch RPCs; rebuild views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Run workers; keep copies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Inspect admin powers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1000"/>
              </a:spcAft>
              <a:buNone/>
            </a:pPr>
            <a:r>
              <a:rPr lang="en" sz="2100">
                <a:solidFill>
                  <a:srgbClr val="212121"/>
                </a:solidFill>
                <a:latin typeface="Poppins"/>
                <a:ea typeface="Poppins"/>
                <a:cs typeface="Poppins"/>
                <a:sym typeface="Poppins"/>
              </a:rPr>
              <a:t>Use network recovery</a:t>
            </a:r>
            <a:endParaRPr sz="2100">
              <a:solidFill>
                <a:srgbClr val="212121"/>
              </a:solidFill>
              <a:latin typeface="Poppins"/>
              <a:ea typeface="Poppins"/>
              <a:cs typeface="Poppins"/>
              <a:sym typeface="Poppins"/>
            </a:endParaRPr>
          </a:p>
        </p:txBody>
      </p:sp>
      <p:sp>
        <p:nvSpPr>
          <p:cNvPr id="365" name="Google Shape;365;p45"/>
          <p:cNvSpPr txBox="1"/>
          <p:nvPr/>
        </p:nvSpPr>
        <p:spPr>
          <a:xfrm>
            <a:off x="571500" y="4330700"/>
            <a:ext cx="8001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Try it without your team. Improve one dependency.</a:t>
            </a:r>
            <a:endParaRPr sz="1800">
              <a:solidFill>
                <a:srgbClr val="06038D"/>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Garden DAO's practice run</a:t>
            </a:r>
            <a:endParaRPr b="1" sz="3000">
              <a:solidFill>
                <a:srgbClr val="06038D"/>
              </a:solidFill>
              <a:latin typeface="Poppins"/>
              <a:ea typeface="Poppins"/>
              <a:cs typeface="Poppins"/>
              <a:sym typeface="Poppins"/>
            </a:endParaRPr>
          </a:p>
        </p:txBody>
      </p:sp>
      <p:sp>
        <p:nvSpPr>
          <p:cNvPr id="371" name="Google Shape;371;p46"/>
          <p:cNvSpPr txBox="1"/>
          <p:nvPr/>
        </p:nvSpPr>
        <p:spPr>
          <a:xfrm>
            <a:off x="508000" y="1117600"/>
            <a:ext cx="81279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Find proposal 42, read its plan and cast a test vote</a:t>
            </a:r>
            <a:endParaRPr sz="2100">
              <a:solidFill>
                <a:srgbClr val="212121"/>
              </a:solidFill>
              <a:latin typeface="Poppins"/>
              <a:ea typeface="Poppins"/>
              <a:cs typeface="Poppins"/>
              <a:sym typeface="Poppins"/>
            </a:endParaRPr>
          </a:p>
        </p:txBody>
      </p:sp>
      <p:sp>
        <p:nvSpPr>
          <p:cNvPr id="372" name="Google Shape;372;p46"/>
          <p:cNvSpPr/>
          <p:nvPr/>
        </p:nvSpPr>
        <p:spPr>
          <a:xfrm>
            <a:off x="508000" y="1854200"/>
            <a:ext cx="2412900" cy="457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1. Open</a:t>
            </a:r>
            <a:endParaRPr b="1" sz="2200">
              <a:solidFill>
                <a:srgbClr val="FFFFFF"/>
              </a:solidFill>
              <a:latin typeface="Poppins"/>
              <a:ea typeface="Poppins"/>
              <a:cs typeface="Poppins"/>
              <a:sym typeface="Poppins"/>
            </a:endParaRPr>
          </a:p>
        </p:txBody>
      </p:sp>
      <p:sp>
        <p:nvSpPr>
          <p:cNvPr id="373" name="Google Shape;373;p46"/>
          <p:cNvSpPr/>
          <p:nvPr/>
        </p:nvSpPr>
        <p:spPr>
          <a:xfrm>
            <a:off x="508000" y="23114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Saved release opens</a:t>
            </a:r>
            <a:endParaRPr sz="2000">
              <a:solidFill>
                <a:srgbClr val="212121"/>
              </a:solidFill>
              <a:latin typeface="Poppins"/>
              <a:ea typeface="Poppins"/>
              <a:cs typeface="Poppins"/>
              <a:sym typeface="Poppins"/>
            </a:endParaRPr>
          </a:p>
        </p:txBody>
      </p:sp>
      <p:cxnSp>
        <p:nvCxnSpPr>
          <p:cNvPr id="374" name="Google Shape;374;p46"/>
          <p:cNvCxnSpPr/>
          <p:nvPr/>
        </p:nvCxnSpPr>
        <p:spPr>
          <a:xfrm>
            <a:off x="2946400" y="2692400"/>
            <a:ext cx="381000" cy="0"/>
          </a:xfrm>
          <a:prstGeom prst="straightConnector1">
            <a:avLst/>
          </a:prstGeom>
          <a:noFill/>
          <a:ln cap="flat" cmpd="sng" w="17775">
            <a:solidFill>
              <a:srgbClr val="06038D"/>
            </a:solidFill>
            <a:prstDash val="solid"/>
            <a:round/>
            <a:headEnd len="med" w="med" type="none"/>
            <a:tailEnd len="med" w="med" type="triangle"/>
          </a:ln>
        </p:spPr>
      </p:cxnSp>
      <p:sp>
        <p:nvSpPr>
          <p:cNvPr id="375" name="Google Shape;375;p46"/>
          <p:cNvSpPr/>
          <p:nvPr/>
        </p:nvSpPr>
        <p:spPr>
          <a:xfrm>
            <a:off x="3365500" y="1854200"/>
            <a:ext cx="2412900" cy="457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2. Find</a:t>
            </a:r>
            <a:endParaRPr b="1" sz="2200">
              <a:solidFill>
                <a:srgbClr val="FFFFFF"/>
              </a:solidFill>
              <a:latin typeface="Poppins"/>
              <a:ea typeface="Poppins"/>
              <a:cs typeface="Poppins"/>
              <a:sym typeface="Poppins"/>
            </a:endParaRPr>
          </a:p>
        </p:txBody>
      </p:sp>
      <p:sp>
        <p:nvSpPr>
          <p:cNvPr id="376" name="Google Shape;376;p46"/>
          <p:cNvSpPr/>
          <p:nvPr/>
        </p:nvSpPr>
        <p:spPr>
          <a:xfrm>
            <a:off x="3365500" y="23114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List missing: private index</a:t>
            </a:r>
            <a:endParaRPr sz="2000">
              <a:solidFill>
                <a:srgbClr val="212121"/>
              </a:solidFill>
              <a:latin typeface="Poppins"/>
              <a:ea typeface="Poppins"/>
              <a:cs typeface="Poppins"/>
              <a:sym typeface="Poppins"/>
            </a:endParaRPr>
          </a:p>
        </p:txBody>
      </p:sp>
      <p:cxnSp>
        <p:nvCxnSpPr>
          <p:cNvPr id="377" name="Google Shape;377;p46"/>
          <p:cNvCxnSpPr/>
          <p:nvPr/>
        </p:nvCxnSpPr>
        <p:spPr>
          <a:xfrm>
            <a:off x="5803900" y="2692400"/>
            <a:ext cx="381000" cy="0"/>
          </a:xfrm>
          <a:prstGeom prst="straightConnector1">
            <a:avLst/>
          </a:prstGeom>
          <a:noFill/>
          <a:ln cap="flat" cmpd="sng" w="17775">
            <a:solidFill>
              <a:srgbClr val="06038D"/>
            </a:solidFill>
            <a:prstDash val="solid"/>
            <a:round/>
            <a:headEnd len="med" w="med" type="none"/>
            <a:tailEnd len="med" w="med" type="triangle"/>
          </a:ln>
        </p:spPr>
      </p:cxnSp>
      <p:sp>
        <p:nvSpPr>
          <p:cNvPr id="378" name="Google Shape;378;p46"/>
          <p:cNvSpPr/>
          <p:nvPr/>
        </p:nvSpPr>
        <p:spPr>
          <a:xfrm>
            <a:off x="6223000" y="1854200"/>
            <a:ext cx="2412900" cy="457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3. Repair</a:t>
            </a:r>
            <a:endParaRPr b="1" sz="2200">
              <a:solidFill>
                <a:srgbClr val="FFFFFF"/>
              </a:solidFill>
              <a:latin typeface="Poppins"/>
              <a:ea typeface="Poppins"/>
              <a:cs typeface="Poppins"/>
              <a:sym typeface="Poppins"/>
            </a:endParaRPr>
          </a:p>
        </p:txBody>
      </p:sp>
      <p:sp>
        <p:nvSpPr>
          <p:cNvPr id="379" name="Google Shape;379;p46"/>
          <p:cNvSpPr/>
          <p:nvPr/>
        </p:nvSpPr>
        <p:spPr>
          <a:xfrm>
            <a:off x="6223000" y="23114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Rebuild + select</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replacement index</a:t>
            </a:r>
            <a:endParaRPr sz="1800">
              <a:solidFill>
                <a:srgbClr val="212121"/>
              </a:solidFill>
              <a:latin typeface="Poppins"/>
              <a:ea typeface="Poppins"/>
              <a:cs typeface="Poppins"/>
              <a:sym typeface="Poppins"/>
            </a:endParaRPr>
          </a:p>
        </p:txBody>
      </p:sp>
      <p:sp>
        <p:nvSpPr>
          <p:cNvPr id="380" name="Google Shape;380;p46"/>
          <p:cNvSpPr/>
          <p:nvPr/>
        </p:nvSpPr>
        <p:spPr>
          <a:xfrm>
            <a:off x="508000" y="3416300"/>
            <a:ext cx="8127900" cy="6096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Continue: plan matches its digest → test vote gets a receipt</a:t>
            </a:r>
            <a:endParaRPr sz="2000">
              <a:solidFill>
                <a:srgbClr val="212121"/>
              </a:solidFill>
              <a:latin typeface="Poppins"/>
              <a:ea typeface="Poppins"/>
              <a:cs typeface="Poppins"/>
              <a:sym typeface="Poppins"/>
            </a:endParaRPr>
          </a:p>
        </p:txBody>
      </p:sp>
      <p:sp>
        <p:nvSpPr>
          <p:cNvPr id="381" name="Google Shape;381;p46"/>
          <p:cNvSpPr txBox="1"/>
          <p:nvPr/>
        </p:nvSpPr>
        <p:spPr>
          <a:xfrm>
            <a:off x="508000" y="3949700"/>
            <a:ext cx="8127900" cy="3810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800">
                <a:solidFill>
                  <a:srgbClr val="06038D"/>
                </a:solidFill>
                <a:latin typeface="Poppins"/>
                <a:ea typeface="Poppins"/>
                <a:cs typeface="Poppins"/>
                <a:sym typeface="Poppins"/>
              </a:rPr>
              <a:t>Next improvement: ship the index recipe and switching instructions</a:t>
            </a:r>
            <a:endParaRPr b="1" sz="1800">
              <a:solidFill>
                <a:srgbClr val="06038D"/>
              </a:solidFill>
              <a:latin typeface="Poppins"/>
              <a:ea typeface="Poppins"/>
              <a:cs typeface="Poppins"/>
              <a:sym typeface="Poppins"/>
            </a:endParaRPr>
          </a:p>
        </p:txBody>
      </p:sp>
      <p:sp>
        <p:nvSpPr>
          <p:cNvPr id="382" name="Google Shape;382;p46"/>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drill with the original team services switched off</a:t>
            </a:r>
            <a:endParaRPr sz="1600">
              <a:solidFill>
                <a:srgbClr val="06038D"/>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7"/>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8"/>
          <p:cNvSpPr txBox="1"/>
          <p:nvPr>
            <p:ph type="title"/>
          </p:nvPr>
        </p:nvSpPr>
        <p:spPr>
          <a:xfrm>
            <a:off x="457200" y="304800"/>
            <a:ext cx="8229600" cy="10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393" name="Google Shape;393;p48"/>
          <p:cNvSpPr txBox="1"/>
          <p:nvPr/>
        </p:nvSpPr>
        <p:spPr>
          <a:xfrm>
            <a:off x="1397000" y="3340100"/>
            <a:ext cx="6350100" cy="1498500"/>
          </a:xfrm>
          <a:prstGeom prst="rect">
            <a:avLst/>
          </a:prstGeom>
          <a:no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2000">
                <a:solidFill>
                  <a:schemeClr val="lt1"/>
                </a:solidFill>
                <a:latin typeface="Roboto Condensed"/>
                <a:ea typeface="Roboto Condensed"/>
                <a:cs typeface="Roboto Condensed"/>
                <a:sym typeface="Roboto Condensed"/>
              </a:rPr>
              <a:t>James Carnley</a:t>
            </a:r>
            <a:endParaRPr b="1" sz="2000">
              <a:solidFill>
                <a:schemeClr val="lt1"/>
              </a:solidFill>
              <a:latin typeface="Roboto Condensed"/>
              <a:ea typeface="Roboto Condensed"/>
              <a:cs typeface="Roboto Condensed"/>
              <a:sym typeface="Roboto Condensed"/>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Ethereum File System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u="sng">
                <a:solidFill>
                  <a:schemeClr val="lt1"/>
                </a:solidFill>
                <a:latin typeface="Roboto"/>
                <a:ea typeface="Roboto"/>
                <a:cs typeface="Roboto"/>
                <a:sym typeface="Roboto"/>
                <a:hlinkClick r:id="rId3">
                  <a:extLst>
                    <a:ext uri="{A12FA001-AC4F-418D-AE19-62706E023703}">
                      <ahyp:hlinkClr val="tx"/>
                    </a:ext>
                  </a:extLst>
                </a:hlinkClick>
              </a:rPr>
              <a:t>efs.eth.limo</a:t>
            </a:r>
            <a:endParaRPr sz="1700" u="sng">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JamesCarnley@gmail.com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t/>
            </a:r>
            <a:endParaRPr sz="1300">
              <a:solidFill>
                <a:schemeClr val="lt1"/>
              </a:solidFill>
              <a:latin typeface="Libre Franklin"/>
              <a:ea typeface="Libre Franklin"/>
              <a:cs typeface="Libre Franklin"/>
              <a:sym typeface="Libre Franklin"/>
            </a:endParaRPr>
          </a:p>
        </p:txBody>
      </p:sp>
      <p:sp>
        <p:nvSpPr>
          <p:cNvPr id="394" name="Google Shape;394;p48"/>
          <p:cNvSpPr txBox="1"/>
          <p:nvPr/>
        </p:nvSpPr>
        <p:spPr>
          <a:xfrm>
            <a:off x="1206500" y="1778000"/>
            <a:ext cx="6731100" cy="12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5068D"/>
                </a:solidFill>
                <a:latin typeface="Poppins"/>
                <a:ea typeface="Poppins"/>
                <a:cs typeface="Poppins"/>
                <a:sym typeface="Poppins"/>
              </a:rPr>
              <a:t>Let’s build reliable and long-lasting apps together</a:t>
            </a:r>
            <a:endParaRPr b="1" sz="2200">
              <a:solidFill>
                <a:srgbClr val="05068D"/>
              </a:solidFill>
              <a:latin typeface="Poppins"/>
              <a:ea typeface="Poppins"/>
              <a:cs typeface="Poppins"/>
              <a:sym typeface="Poppins"/>
            </a:endParaRPr>
          </a:p>
          <a:p>
            <a:pPr indent="0" lvl="0" marL="0" rtl="0" algn="ctr">
              <a:spcBef>
                <a:spcPts val="0"/>
              </a:spcBef>
              <a:spcAft>
                <a:spcPts val="0"/>
              </a:spcAft>
              <a:buNone/>
            </a:pPr>
            <a:r>
              <a:t/>
            </a:r>
            <a:endParaRPr b="1" sz="2200">
              <a:solidFill>
                <a:srgbClr val="05068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