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5"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y="5143500" cx="9144000"/>
  <p:notesSz cx="6858000" cy="9144000"/>
  <p:embeddedFontLst>
    <p:embeddedFont>
      <p:font typeface="Roboto Thin"/>
      <p:regular r:id="rId35"/>
      <p:bold r:id="rId36"/>
      <p:italic r:id="rId37"/>
      <p:boldItalic r:id="rId38"/>
    </p:embeddedFont>
    <p:embeddedFont>
      <p:font typeface="Roboto Condensed ExtraBold"/>
      <p:bold r:id="rId39"/>
      <p:boldItalic r:id="rId40"/>
    </p:embeddedFont>
    <p:embeddedFont>
      <p:font typeface="Libre Franklin"/>
      <p:regular r:id="rId41"/>
      <p:bold r:id="rId42"/>
      <p:italic r:id="rId43"/>
      <p:boldItalic r:id="rId44"/>
    </p:embeddedFont>
    <p:embeddedFont>
      <p:font typeface="Roboto"/>
      <p:regular r:id="rId45"/>
      <p:bold r:id="rId46"/>
      <p:italic r:id="rId47"/>
      <p:boldItalic r:id="rId48"/>
    </p:embeddedFont>
    <p:embeddedFont>
      <p:font typeface="Poppins"/>
      <p:regular r:id="rId49"/>
      <p:bold r:id="rId50"/>
      <p:italic r:id="rId51"/>
      <p:boldItalic r:id="rId52"/>
    </p:embeddedFont>
    <p:embeddedFont>
      <p:font typeface="Roboto Condensed"/>
      <p:regular r:id="rId53"/>
      <p:bold r:id="rId54"/>
      <p:italic r:id="rId55"/>
      <p:boldItalic r:id="rId56"/>
    </p:embeddedFont>
    <p:embeddedFont>
      <p:font typeface="Libre Franklin Medium"/>
      <p:regular r:id="rId57"/>
      <p:bold r:id="rId58"/>
      <p:italic r:id="rId59"/>
      <p:boldItalic r:id="rId60"/>
    </p:embeddedFont>
    <p:embeddedFont>
      <p:font typeface="Poppins ExtraBold"/>
      <p:bold r:id="rId61"/>
      <p:boldItalic r:id="rId6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CondensedExtraBold-boldItalic.fntdata"/><Relationship Id="rId42" Type="http://schemas.openxmlformats.org/officeDocument/2006/relationships/font" Target="fonts/LibreFranklin-bold.fntdata"/><Relationship Id="rId41" Type="http://schemas.openxmlformats.org/officeDocument/2006/relationships/font" Target="fonts/LibreFranklin-regular.fntdata"/><Relationship Id="rId44" Type="http://schemas.openxmlformats.org/officeDocument/2006/relationships/font" Target="fonts/LibreFranklin-boldItalic.fntdata"/><Relationship Id="rId43" Type="http://schemas.openxmlformats.org/officeDocument/2006/relationships/font" Target="fonts/LibreFranklin-italic.fntdata"/><Relationship Id="rId46" Type="http://schemas.openxmlformats.org/officeDocument/2006/relationships/font" Target="fonts/Roboto-bold.fntdata"/><Relationship Id="rId45" Type="http://schemas.openxmlformats.org/officeDocument/2006/relationships/font" Target="fonts/Roboto-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oboto-boldItalic.fntdata"/><Relationship Id="rId47" Type="http://schemas.openxmlformats.org/officeDocument/2006/relationships/font" Target="fonts/Roboto-italic.fntdata"/><Relationship Id="rId49" Type="http://schemas.openxmlformats.org/officeDocument/2006/relationships/font" Target="fonts/Poppins-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font" Target="fonts/RobotoThin-regular.fntdata"/><Relationship Id="rId34" Type="http://schemas.openxmlformats.org/officeDocument/2006/relationships/slide" Target="slides/slide29.xml"/><Relationship Id="rId37" Type="http://schemas.openxmlformats.org/officeDocument/2006/relationships/font" Target="fonts/RobotoThin-italic.fntdata"/><Relationship Id="rId36" Type="http://schemas.openxmlformats.org/officeDocument/2006/relationships/font" Target="fonts/RobotoThin-bold.fntdata"/><Relationship Id="rId39" Type="http://schemas.openxmlformats.org/officeDocument/2006/relationships/font" Target="fonts/RobotoCondensedExtraBold-bold.fntdata"/><Relationship Id="rId38" Type="http://schemas.openxmlformats.org/officeDocument/2006/relationships/font" Target="fonts/RobotoThin-boldItalic.fntdata"/><Relationship Id="rId62" Type="http://schemas.openxmlformats.org/officeDocument/2006/relationships/font" Target="fonts/PoppinsExtraBold-boldItalic.fntdata"/><Relationship Id="rId61" Type="http://schemas.openxmlformats.org/officeDocument/2006/relationships/font" Target="fonts/PoppinsExtraBold-bold.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LibreFranklinMedium-boldItalic.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Poppins-italic.fntdata"/><Relationship Id="rId50" Type="http://schemas.openxmlformats.org/officeDocument/2006/relationships/font" Target="fonts/Poppins-bold.fntdata"/><Relationship Id="rId53" Type="http://schemas.openxmlformats.org/officeDocument/2006/relationships/font" Target="fonts/RobotoCondensed-regular.fntdata"/><Relationship Id="rId52" Type="http://schemas.openxmlformats.org/officeDocument/2006/relationships/font" Target="fonts/Poppins-boldItalic.fntdata"/><Relationship Id="rId11" Type="http://schemas.openxmlformats.org/officeDocument/2006/relationships/slide" Target="slides/slide6.xml"/><Relationship Id="rId55" Type="http://schemas.openxmlformats.org/officeDocument/2006/relationships/font" Target="fonts/RobotoCondensed-italic.fntdata"/><Relationship Id="rId10" Type="http://schemas.openxmlformats.org/officeDocument/2006/relationships/slide" Target="slides/slide5.xml"/><Relationship Id="rId54" Type="http://schemas.openxmlformats.org/officeDocument/2006/relationships/font" Target="fonts/RobotoCondensed-bold.fntdata"/><Relationship Id="rId13" Type="http://schemas.openxmlformats.org/officeDocument/2006/relationships/slide" Target="slides/slide8.xml"/><Relationship Id="rId57" Type="http://schemas.openxmlformats.org/officeDocument/2006/relationships/font" Target="fonts/LibreFranklinMedium-regular.fntdata"/><Relationship Id="rId12" Type="http://schemas.openxmlformats.org/officeDocument/2006/relationships/slide" Target="slides/slide7.xml"/><Relationship Id="rId56" Type="http://schemas.openxmlformats.org/officeDocument/2006/relationships/font" Target="fonts/RobotoCondensed-boldItalic.fntdata"/><Relationship Id="rId15" Type="http://schemas.openxmlformats.org/officeDocument/2006/relationships/slide" Target="slides/slide10.xml"/><Relationship Id="rId59" Type="http://schemas.openxmlformats.org/officeDocument/2006/relationships/font" Target="fonts/LibreFranklinMedium-italic.fntdata"/><Relationship Id="rId14" Type="http://schemas.openxmlformats.org/officeDocument/2006/relationships/slide" Target="slides/slide9.xml"/><Relationship Id="rId58" Type="http://schemas.openxmlformats.org/officeDocument/2006/relationships/font" Target="fonts/LibreFranklinMedium-bold.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efs_flow_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efs_flow_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0:00-0:15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I'm James, and I build Ethereum File System. I want the things we build to remain useful long after we are gone. Today we'll look at what that asks of the whole application.</a:t>
            </a:r>
            <a:endParaRPr/>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h17e8cb53479d3c0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h17e8cb53479d3c0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0:15-0:20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Why put the work into making an app people can keep using without you?</a:t>
            </a:r>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h17e8cb53479d3c0f_0_3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h17e8cb53479d3c0f_0_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0:20-1:05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Imagine someone with years of research notes, attachments and shared work inside an app. Then the company closes, or a new owner changes the deal. Their work still matters, but they lose the tools they need to use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imagine you built another app on that service. Your users inherit the same failure. Fragile foundations limit what we can responsibly build on top.</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can give people a better future. Let's look at how.</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research-notes persona is illustrative, not an EFS customer or a deployed collaborative editor.</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h17e8cb53479d3c0f_0_9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h17e8cb53479d3c0f_0_9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1:05-1:40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want people to keep their work, choose better tools and trust software with important parts of their lives. And I want developers to build on useful capabilities without asking whether the original company will still exist next year.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 is why this work matters to me. Each dependable component gives the next builder somewhere to start. Over time, those components can support bigger shared projects and even the institutions our communities depend on.</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efs_flow_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efs_flow_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1:40-2:45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Hyperstructures give a name to part of this ambition: long-lived public protocols that anyone can use and build on. People can keep using them without the creator operating them or choosing who may participate.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Picture a shared exchange protocol. One team builds a wallet around it. Another builds a trading interface. A community uses it in a treasury tool. They can improve their own applications while relying on the same foundation.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useful idea is that each new contribution adds to something others can keep using. I want that dependability to reach all the way from Ethereum to the software and data in a person's hands.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CROPS names the values we bring with us: censorship resistance, open source, privacy and security.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diagram illustrates a composability pattern, not three measured deployments. Jacob Horne's original hyperstructure definition includes additional economic properties, including protocol-wide fee conditions, participant incentives and value. This slide introduces the lasting public-protocol ambition, not a certification that every app in this talk satisfies the full definition. Blockchain operation and user transaction costs remain assumptions.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https://jacob.energy/hyperstructures.html</a:t>
            </a:r>
            <a:endParaRPr/>
          </a:p>
          <a:p>
            <a:pPr indent="0" lvl="0" marL="0" rtl="0" algn="l">
              <a:spcBef>
                <a:spcPts val="0"/>
              </a:spcBef>
              <a:spcAft>
                <a:spcPts val="0"/>
              </a:spcAft>
              <a:buNone/>
            </a:pPr>
            <a:r>
              <a:rPr lang="en"/>
              <a:t>https://ethereum.org/foundation/mandate</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efs_flow_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efs_flow_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2:45-3:15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walk-away test makes that vision practical. Choose an important thing a user does. First, imagine your team and its services disappear. Can someone else help that user continue?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Then imagine someone hostile gets the powers your team kept. Can users keep their work and the rules they chose?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We'll carry those questions through the stack.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Absence and hostile control are different scenarios. Use test accounts and copied data for exercises.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https://vitalik.eth.limo/general/2024/09/28/alignment.html</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h17e8cb53479d3c0f_0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h17e8cb53479d3c0f_0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3:15-3:35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There are eight jobs to consider, grouped into three chapters: getting into the app, continuing the work, and keeping dependable rules.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each, we'll look at an improvement you can make and something you can check. People, documentation and funding support the whole picture.</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h17e8cb53479d3c0f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h17e8cb53479d3c0f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3:35-3:40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First, give people a dependable way into the app.</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h17e8cb53479d3c0f_0_4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h17e8cb53479d3c0f_0_4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3:40-3:50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They need a way to find a release, run the software and recover their access. Those are three useful checks before we even reach the app's data.</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efs_flow_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efs_flow_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3:50-5:05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familiar website sends people through a domain to a web server. That is convenient. We can also give the app a release that people can retain and serve themselves.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Publish the web bundle to IPFS. Its content identifier names that particular release. An ENS name can point to it, and users can reach it through different gateways or their own IPFS node.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somebody else can keep an entrance open using the same release. Save the release identifier and the instructions somewhere people can find them.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check is straightforward: open the saved app without its usual website. Then try an ordinary task inside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diagram simplifies discovery and retrieval. ENS controller/resolver/renewal powers still matter. A retained CID identifies a release but initial release authenticity and browser content verification require an appropriate trust path. An ordinary HTTP gateway may be trusted for the response. EFS uses ENS/IPFS, but this diagram is a general deployment pattern rather than a fresh hosting test.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https://docs.ens.domains/dweb/intro/</a:t>
            </a:r>
            <a:endParaRPr/>
          </a:p>
          <a:p>
            <a:pPr indent="0" lvl="0" marL="0" rtl="0" algn="l">
              <a:spcBef>
                <a:spcPts val="0"/>
              </a:spcBef>
              <a:spcAft>
                <a:spcPts val="0"/>
              </a:spcAft>
              <a:buNone/>
            </a:pPr>
            <a:r>
              <a:rPr lang="en"/>
              <a:t>https://docs.ipfs.tech/how-to/websites-on-ipfs/single-page-website/</a:t>
            </a:r>
            <a:endParaRPr/>
          </a:p>
          <a:p>
            <a:pPr indent="0" lvl="0" marL="0" rtl="0" algn="l">
              <a:spcBef>
                <a:spcPts val="0"/>
              </a:spcBef>
              <a:spcAft>
                <a:spcPts val="0"/>
              </a:spcAft>
              <a:buNone/>
            </a:pPr>
            <a:r>
              <a:rPr lang="en"/>
              <a:t>https://docs.ipfs.tech/concepts/ipfs-gateway/</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efs_flow_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efs_flow_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5:05-5:55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Give the next person a complete runnable release, and the source and build instructions to improve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web app can load more code after its first page opens: a wallet connector, a script or a configuration file. Include those dependencies in your release plan. The Ledger Connect Kit incident is a reminder that delivered code is part of the application's security.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Try the app on a fresh machine. Can you open a deep link, read data and submit a change? Then give another developer the build instructions. A useful handoff lets them run the app and maintain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Runnable releases and reproducible builds are separate checks. The Ledger Connect Kit reference is a historical distribution compromise, not a statement about current Ledger products. Inspect runtime network requests and retain exact dependency versions.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https://www.ledger.com/blog/security-incident-report</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efs_flow_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efs_flow_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5:55-6:45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next job is keeping the user's access in their hands.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Safe gives a familiar example. A two-of-three account can let two remaining signers replace a lost signer. That gives the user a planned recovery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private files, also plan how the person recovers their decryption keys. Walk through a lost-device scenario with a test account. Could they regain access without calling your team?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Publish an alternative way to use the account as well. Safe's command-line tools illustrate how a different interface can reach the same account.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Safe thresholds, modules and guards depend on actual configuration. Two signers only suffice if the account's active rules permit the action. Account ownership, transaction signing and file decryption are distinct. Safe CLI's direct-chain path can avoid the hosted API, but transaction-service commands do not. No wallet operation or recovery test was performed.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https://docs.safe.global/advanced/smart-account-overview</a:t>
            </a:r>
            <a:endParaRPr/>
          </a:p>
          <a:p>
            <a:pPr indent="0" lvl="0" marL="0" rtl="0" algn="l">
              <a:spcBef>
                <a:spcPts val="0"/>
              </a:spcBef>
              <a:spcAft>
                <a:spcPts val="0"/>
              </a:spcAft>
              <a:buNone/>
            </a:pPr>
            <a:r>
              <a:rPr lang="en"/>
              <a:t>https://docs.safe.global/advanced/cli-overview</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h17e8cb53479d3c0f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h17e8cb53479d3c0f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6:45-6:50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let's make the user's work useful beyond a single app.</a:t>
            </a:r>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h17e8cb53479d3c0f_0_5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h17e8cb53479d3c0f_0_5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6:50-7:00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Keep the files, keep their meaning, and give another app or operator the information needed to continue the task.</a:t>
            </a:r>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ositive_standards: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positive_standards: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7:00-7:55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Shared data structures let developers improve the tools while preserving the work underneath them.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EAS, the Ethereum Attestation Service, provides schemas for structured attestations: a common way to record who said what. Ethereum File System provides shared paths, provenance and file references. Nostr defines signed social events such as posts and follows.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These solve different jobs, but share a useful approach: publish the structure so another developer can understand and use the same records.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your app, document the format, identifiers and relationships. Give someone enough information to build another reader. Then test a useful task with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These are separate examples, not an integrated EAS/EFS/Nostr stack. Schema agreement includes semantics and authorization, not just field encoding. EAS signatures establish attester identity, not truth. EFS is the Sepolia working example; do not infer current v2 deployment or a deployed interchangeable editor.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https://attest.org/</a:t>
            </a:r>
            <a:endParaRPr/>
          </a:p>
          <a:p>
            <a:pPr indent="0" lvl="0" marL="0" rtl="0" algn="l">
              <a:spcBef>
                <a:spcPts val="0"/>
              </a:spcBef>
              <a:spcAft>
                <a:spcPts val="0"/>
              </a:spcAft>
              <a:buNone/>
            </a:pPr>
            <a:r>
              <a:rPr lang="en"/>
              <a:t>https://github.com/ethereum-attestation-service/eas-contracts</a:t>
            </a:r>
            <a:endParaRPr/>
          </a:p>
          <a:p>
            <a:pPr indent="0" lvl="0" marL="0" rtl="0" algn="l">
              <a:spcBef>
                <a:spcPts val="0"/>
              </a:spcBef>
              <a:spcAft>
                <a:spcPts val="0"/>
              </a:spcAft>
              <a:buNone/>
            </a:pPr>
            <a:r>
              <a:rPr lang="en"/>
              <a:t>https://efs.eth.limo/</a:t>
            </a:r>
            <a:endParaRPr/>
          </a:p>
          <a:p>
            <a:pPr indent="0" lvl="0" marL="0" rtl="0" algn="l">
              <a:spcBef>
                <a:spcPts val="0"/>
              </a:spcBef>
              <a:spcAft>
                <a:spcPts val="0"/>
              </a:spcAft>
              <a:buNone/>
            </a:pPr>
            <a:r>
              <a:rPr lang="en"/>
              <a:t>https://github.com/nostr-protocol/nips/blob/master/01.md</a:t>
            </a:r>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efs_flow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efs_flow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7:55-9:00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Damus and Amethyst make the benefit easy to picture. They are two applications using Nostr.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Your identity is a key. Public posts and follows use shared event formats. With that key and available copies of your events, you can use another client and keep participating in the same network.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next developer can make a better interface without asking everyone to rebuild their social identity. That is the kind of competition I want: better tools around work the user can keep.</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Ask the same question of your own data. Could a second application open it and carry 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Documentation-backed public-event interoperability, not a fresh Damus-to-Amethyst migration test. Limit the claim to supported identity, public posts and follow-list conventions. Media availability, relay retention, moderation, client features and private messages vary. Preserve keys safely. This is a non-Ethereum comparison and does not depict an EFS integration.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https://damus.io/</a:t>
            </a:r>
            <a:endParaRPr/>
          </a:p>
          <a:p>
            <a:pPr indent="0" lvl="0" marL="0" rtl="0" algn="l">
              <a:spcBef>
                <a:spcPts val="0"/>
              </a:spcBef>
              <a:spcAft>
                <a:spcPts val="0"/>
              </a:spcAft>
              <a:buNone/>
            </a:pPr>
            <a:r>
              <a:rPr lang="en"/>
              <a:t>https://amethyst.social/</a:t>
            </a:r>
            <a:endParaRPr/>
          </a:p>
          <a:p>
            <a:pPr indent="0" lvl="0" marL="0" rtl="0" algn="l">
              <a:spcBef>
                <a:spcPts val="0"/>
              </a:spcBef>
              <a:spcAft>
                <a:spcPts val="0"/>
              </a:spcAft>
              <a:buNone/>
            </a:pPr>
            <a:r>
              <a:rPr lang="en"/>
              <a:t>https://github.com/damus-io/damus#spec-compliance</a:t>
            </a:r>
            <a:endParaRPr/>
          </a:p>
          <a:p>
            <a:pPr indent="0" lvl="0" marL="0" rtl="0" algn="l">
              <a:spcBef>
                <a:spcPts val="0"/>
              </a:spcBef>
              <a:spcAft>
                <a:spcPts val="0"/>
              </a:spcAft>
              <a:buNone/>
            </a:pPr>
            <a:r>
              <a:rPr lang="en"/>
              <a:t>https://github.com/vitorpamplona/amethyst#supported-features</a:t>
            </a:r>
            <a:endParaRPr/>
          </a:p>
          <a:p>
            <a:pPr indent="0" lvl="0" marL="0" rtl="0" algn="l">
              <a:spcBef>
                <a:spcPts val="0"/>
              </a:spcBef>
              <a:spcAft>
                <a:spcPts val="0"/>
              </a:spcAft>
              <a:buNone/>
            </a:pPr>
            <a:r>
              <a:rPr lang="en"/>
              <a:t>https://github.com/nostr-protocol/nips/blob/master/01.md</a:t>
            </a:r>
            <a:endParaRPr/>
          </a:p>
          <a:p>
            <a:pPr indent="0" lvl="0" marL="0" rtl="0" algn="l">
              <a:spcBef>
                <a:spcPts val="0"/>
              </a:spcBef>
              <a:spcAft>
                <a:spcPts val="0"/>
              </a:spcAft>
              <a:buNone/>
            </a:pPr>
            <a:r>
              <a:rPr lang="en"/>
              <a:t>https://github.com/nostr-protocol/nips/blob/master/02.md</a:t>
            </a:r>
            <a:endParaRPr/>
          </a:p>
          <a:p>
            <a:pPr indent="0" lvl="0" marL="0" rtl="0" algn="l">
              <a:spcBef>
                <a:spcPts val="0"/>
              </a:spcBef>
              <a:spcAft>
                <a:spcPts val="0"/>
              </a:spcAft>
              <a:buNone/>
            </a:pPr>
            <a:r>
              <a:rPr lang="en"/>
              <a:t>https://github.com/nostr-protocol/nips/blob/master/10.md</a:t>
            </a:r>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efs_flow_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efs_flow_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9:00-9:50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Useful data needs someone to keep it. Arrange retained copies with independent operators and make it easy for the user to keep their own backup.</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Preserve the format information and the keys needed to read private material. For personal work, local storage and local computation can be part of this design too.</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check is to restore a real piece of work from another copy, then open it in the tool that needs it. Include the attachments and relationships that make it useful.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Make retention an operating plan with a budget, so people know who will keep serving those copies.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Multiple gateways can share one retained source. Content addressing identifies bytes but does not retain them. Preserve application releases, schemas and required history as well as user files. Encryption does not remove metadata exposure or guarantee revocation of copies. Pocket's export preserved links and metadata rather than saved article text; retain as an optional failure example.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https://docs.ipfs.tech/concepts/persistence/</a:t>
            </a:r>
            <a:endParaRPr/>
          </a:p>
          <a:p>
            <a:pPr indent="0" lvl="0" marL="0" rtl="0" algn="l">
              <a:spcBef>
                <a:spcPts val="0"/>
              </a:spcBef>
              <a:spcAft>
                <a:spcPts val="0"/>
              </a:spcAft>
              <a:buNone/>
            </a:pPr>
            <a:r>
              <a:rPr lang="en"/>
              <a:t>https://www.inkandswitch.com/essay/local-first/</a:t>
            </a:r>
            <a:endParaRPr/>
          </a:p>
          <a:p>
            <a:pPr indent="0" lvl="0" marL="0" rtl="0" algn="l">
              <a:spcBef>
                <a:spcPts val="0"/>
              </a:spcBef>
              <a:spcAft>
                <a:spcPts val="0"/>
              </a:spcAft>
              <a:buNone/>
            </a:pPr>
            <a:r>
              <a:rPr lang="en"/>
              <a:t>https://support.mozilla.org/en-US/kb/exporting-your-pocket-list</a:t>
            </a:r>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efs_flow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efs_flow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9:50-11:00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Here is EFS on Sepolia. A public file record gives us a reference to the file we want, including an expected digest.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can retrieve a copy through IPFS and compare the bytes with that digest. We can retrieve a copy through Arweave and do the same check. The carrier can change while the file we accept stays the same.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 gives users and other applications a useful freedom: choose a provider, check the result and keep their own copy.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your app, try retrieving a retained alternative copy against the same accepted reference. This is a small test you can actually run.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Static explanation of the historical EFS proof package, not a fresh retrieval run. If asked: altered bytes fail the digest check; an unavailable response means that route failed, not proof of global loss. A matching digest establishes byte integrity relative to the accepted reference. Authority, freshness, completeness and semantic truth are other questions. IPFS CIDs and an application-level file digest have different roles.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https://github.com/efs-project/contracts/tree/e86e6e77fcb5cda31374e07c5f582b502455ba80/packages/walk-away-proof</a:t>
            </a:r>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efs_flow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efs_flow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11:00-11:55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Apps also need a dependable view of chain state. Make the RPC endpoint configurable, so a user or operator can choose another provider or their own node.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supported chain reads, a light client such as Helios offers a path to checking responses against the chain. Show users how recent the data is.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Indexes turn records into useful lists and searches. Publish the index definition and the history needed to rebuild it. Graph Node is one example of software another operator can run.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practical check is to switch the endpoint and rebuild one important view. Can the user still find the records their task needs?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Multiple RPCs improve availability but their agreement alone is not independent verification. Helios support and trust assumptions vary by network and method; it does not verify arbitrary index queries or retain files. Completeness and freshness are task-specific. Graph Node needs manifests, linked files, suitable history, chain access and a database. No EFS light-client or automatic failover integration is claimed.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https://github.com/a16z/helios</a:t>
            </a:r>
            <a:endParaRPr/>
          </a:p>
          <a:p>
            <a:pPr indent="0" lvl="0" marL="0" rtl="0" algn="l">
              <a:spcBef>
                <a:spcPts val="0"/>
              </a:spcBef>
              <a:spcAft>
                <a:spcPts val="0"/>
              </a:spcAft>
              <a:buNone/>
            </a:pPr>
            <a:r>
              <a:rPr lang="en"/>
              <a:t>https://thegraph.com/docs/en/indexing/tooling/graph-node/</a:t>
            </a:r>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efs_flow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efs_flow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11:55-12:35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Somebody also has to do the work around a contract: submit a transaction, update an input, relay a message or trigger a scheduled action.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PoolTogether V5 gives a concrete example. It rewards permissionless claimers for delivering prizes. That gives another participant a reason to take over the job.</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List your app's background jobs. Publish the code and inputs, make replacement possible, and account for the cost. Then stop your worker in a test environment and see whether another operator can finish the task.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Use the PoolTogether V5 example specifically. Claims have economic and timing conditions and unclaimed prizes can expire. Oracles, bundlers, paymasters, provers and relayers can carry additional authority or secret inputs. Do not imply all computation can be replaced by a generic keeper.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https://dev.pooltogether.com/protocol/design/prize-claimer/</a:t>
            </a:r>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h17e8cb53479d3c0f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h17e8cb53479d3c0f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12:35-12:40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Finally, let's give people rules they can build on.</a:t>
            </a:r>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h17e8cb53479d3c0f_0_6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h17e8cb53479d3c0f_0_6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12:40-12:50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Stable contracts give builders a foundation. User-chosen app upgrades let better tools grow around it. Shared systems need a clear agreement about how their rules evolve.</a:t>
            </a:r>
            <a:endParaRPr/>
          </a:p>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efs_flow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efs_flow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12:50-14:15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want to encourage you to build immutable core contracts. When the logic at an address stays fixed, another developer can build against it without depending on the original team's future decisions.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Uniswap v2 core is a useful example of fixed contract code that other applications can call. The interface can keep improving around that shared capability.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You can develop new versions by deploying new contracts and letting users choose when to move. Keep the old contract and its instructions usable for people who stay.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most app software, I want that choice to belong to the user. Networks like Ethereum coordinate changes to shared protocol rules, which is a different kind of decision.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practical step is to identify the smallest core you can keep stable, test it carefully, and remove unnecessary upgrade powers. That is a foundation other people can confidently build 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Fixed code preserves encoded logic, not every input or economic condition. Uniswap v2 Factory retains bounded protocol-fee configuration through feeTo/feeToSetter; there is no arbitrary upgrade mechanism in these core contracts. Immutability removes in-place repair, so scope the core, test/audit it and plan voluntary new deployments. Dependencies, governance, pause and token powers remain relevant. EFS immutability is James's goal, not a newly verified deployment claim. Keeping a client release cannot reverse a shared-contract upgrade.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https://github.com/Uniswap/v2-core/blob/master/contracts/UniswapV2Factory.sol</a:t>
            </a:r>
            <a:endParaRPr/>
          </a:p>
          <a:p>
            <a:pPr indent="0" lvl="0" marL="0" rtl="0" algn="l">
              <a:spcBef>
                <a:spcPts val="0"/>
              </a:spcBef>
              <a:spcAft>
                <a:spcPts val="0"/>
              </a:spcAft>
              <a:buNone/>
            </a:pPr>
            <a:r>
              <a:rPr lang="en"/>
              <a:t>https://github.com/Uniswap/v2-core/blob/master/contracts/UniswapV2Pair.sol</a:t>
            </a:r>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efs_flow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efs_flow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14:15-15:35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Your app also inherits the network underneath it. On Ethereum, nodes and validators provide access to shared state and agreement about accepted transactions. Make sure the app has a working path to that network and the history it needs.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 an L2, learn which components order transactions, publish the data and establish the result on the settlement chain. Then find the documented recovery route for your chosen network.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example, OP Stack documentation describes a way to submit through L1 when a sequencer is unavailable. Turn that documentation into instructions for the account and task your user actually has.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Choose a network whose normal operation and recovery paths fit the promise your app makes.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L1 inclusion/finality, peer connectivity, required history, L2 sequencer/proving/data availability and bridge powers are distinct dependencies. Forced inclusion and withdrawal are different operations. OP Stack recovery details vary by chain/configuration and account. This talk gives a design check, not a tested universal L2 escape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https://ethereum.org/developers/docs/nodes-and-clients/</a:t>
            </a:r>
            <a:endParaRPr/>
          </a:p>
          <a:p>
            <a:pPr indent="0" lvl="0" marL="0" rtl="0" algn="l">
              <a:spcBef>
                <a:spcPts val="0"/>
              </a:spcBef>
              <a:spcAft>
                <a:spcPts val="0"/>
              </a:spcAft>
              <a:buNone/>
            </a:pPr>
            <a:r>
              <a:rPr lang="en"/>
              <a:t>https://docs.optimism.io/op-stack/protocol/outages</a:t>
            </a:r>
            <a:endParaRPr/>
          </a:p>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efs_flow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efs_flow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15:35-16:20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These improvements become real when other people can operate the system.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When Hic et Nunc's website closed, community mirrors gave people another entrance, and the community went on to build Teia. Available code, retained artwork and people willing to run services made that possible.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Help the next operator succeed. Publish the instructions, retain the inputs and explain the running costs. Aim for several independent participants at important layers.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Give someone outside your team the handoff. Their questions will show you where the next useful improvement is.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is a Tezos example. Teia used a new marketplace contract, so continued access is not a claim that every feature and rule stayed identical. Three operators is James's useful ambition, not a universal threshold. Shared cloud accounts, credentials and funders can correlate failures.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https://docs.teia.art/faqs/general-faqs</a:t>
            </a:r>
            <a:endParaRPr/>
          </a:p>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h17e8cb53479d3c0f_0_8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h17e8cb53479d3c0f_0_8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16:20-16:25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Here is the checklist to take back to your own app.</a:t>
            </a:r>
            <a:endParaRPr/>
          </a:p>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efs_flow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efs_flow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16:25-17:45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Choose one task whose loss would hurt a user. For a notes app, that might be opening existing work and adding another note.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Can someone find and run a saved release, recover their access, restore the data and use a compatible tool? Can another operator switch the RPC, rebuild the important views and run the background jobs? Can they explain the contract powers and use the network's recovery path?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Have someone else try that task without your team's services or personal help. Then examine what a hostile holder of the remaining powers could change.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Use test accounts and copies. Record where they get stuck, and choose one improvement. You can start making the app more dependable without rebuilding the whole stack at once.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Checks summarize the talk, not a maintained certification system. Repeat after meaningful changes. Record the observed result, time, cost, required data and remaining assumptions. No fresh end-to-end application test was performed during deck preparation.</a:t>
            </a:r>
            <a:endParaRPr/>
          </a:p>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efs_flow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efs_flow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17:45-18:30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want a future where people can trust software with the important parts of their lives. Where their work remains theirs, better tools can use it, and developers keep adding to foundations everyone can build 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 is what draws me to Ethereum and what I am trying to contribute with EFS.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Start with one important task. Make it easier for someone else to keep it working. Every dependable piece gives the next person more to build with.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Our work can outlive us.</a:t>
            </a:r>
            <a:endParaRPr/>
          </a:p>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h17e8cb53479d3c0f_0_7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h17e8cb53479d3c0f_0_7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Q&amp;A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Thank you. Which part of your app would you most like to make independent of your team?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Q&amp;A and public contact slide. No live demo or new protocol deployment is claimed.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https://efs.eth.limo/</a:t>
            </a:r>
            <a:endParaRPr/>
          </a:p>
          <a:p>
            <a:pPr indent="0" lvl="0" marL="0" rtl="0" algn="l">
              <a:spcBef>
                <a:spcPts val="0"/>
              </a:spcBef>
              <a:spcAft>
                <a:spcPts val="0"/>
              </a:spcAft>
              <a:buNone/>
            </a:pPr>
            <a:r>
              <a:rPr lang="en"/>
              <a:t>https://app.efs.eth.limo/</a:t>
            </a:r>
            <a:endParaRPr/>
          </a:p>
          <a:p>
            <a:pPr indent="0" lvl="0" marL="0" rtl="0" algn="l">
              <a:spcBef>
                <a:spcPts val="0"/>
              </a:spcBef>
              <a:spcAft>
                <a:spcPts val="0"/>
              </a:spcAft>
              <a:buNone/>
            </a:pPr>
            <a:r>
              <a:rPr lang="en"/>
              <a:t>https://youtu.be/gZl711IriSM</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blipFill>
          <a:blip r:embed="rId2">
            <a:alphaModFix/>
          </a:blip>
          <a:stretch>
            <a:fillRect/>
          </a:stretch>
        </a:blipFill>
      </p:bgPr>
    </p:bg>
    <p:spTree>
      <p:nvGrpSpPr>
        <p:cNvPr id="9" name="Shape 9"/>
        <p:cNvGrpSpPr/>
        <p:nvPr/>
      </p:nvGrpSpPr>
      <p:grpSpPr>
        <a:xfrm>
          <a:off x="0" y="0"/>
          <a:ext cx="0" cy="0"/>
          <a:chOff x="0" y="0"/>
          <a:chExt cx="0" cy="0"/>
        </a:xfrm>
      </p:grpSpPr>
      <p:sp>
        <p:nvSpPr>
          <p:cNvPr id="10" name="Google Shape;10;p2"/>
          <p:cNvSpPr txBox="1"/>
          <p:nvPr>
            <p:ph idx="1" type="subTitle"/>
          </p:nvPr>
        </p:nvSpPr>
        <p:spPr>
          <a:xfrm>
            <a:off x="457200" y="2413125"/>
            <a:ext cx="8229600" cy="792600"/>
          </a:xfrm>
          <a:prstGeom prst="rect">
            <a:avLst/>
          </a:prstGeom>
          <a:effectLst>
            <a:outerShdw blurRad="257175" rotWithShape="0" algn="bl">
              <a:schemeClr val="lt1"/>
            </a:outerShdw>
          </a:effectLst>
        </p:spPr>
        <p:txBody>
          <a:bodyPr anchorCtr="0" anchor="t" bIns="91425" lIns="91425" spcFirstLastPara="1" rIns="91425" wrap="square" tIns="91425">
            <a:normAutofit/>
          </a:bodyPr>
          <a:lstStyle>
            <a:lvl1pPr lvl="0" algn="ctr">
              <a:lnSpc>
                <a:spcPct val="100000"/>
              </a:lnSpc>
              <a:spcBef>
                <a:spcPts val="0"/>
              </a:spcBef>
              <a:spcAft>
                <a:spcPts val="0"/>
              </a:spcAft>
              <a:buClr>
                <a:srgbClr val="06038D"/>
              </a:buClr>
              <a:buSzPts val="1800"/>
              <a:buFont typeface="Poppins ExtraBold"/>
              <a:buNone/>
              <a:defRPr sz="1800">
                <a:solidFill>
                  <a:srgbClr val="06038D"/>
                </a:solidFill>
                <a:latin typeface="Poppins ExtraBold"/>
                <a:ea typeface="Poppins ExtraBold"/>
                <a:cs typeface="Poppins ExtraBold"/>
                <a:sym typeface="Poppins ExtraBold"/>
              </a:defRPr>
            </a:lvl1pPr>
            <a:lvl2pPr lvl="1" algn="ctr">
              <a:lnSpc>
                <a:spcPct val="100000"/>
              </a:lnSpc>
              <a:spcBef>
                <a:spcPts val="0"/>
              </a:spcBef>
              <a:spcAft>
                <a:spcPts val="0"/>
              </a:spcAft>
              <a:buClr>
                <a:schemeClr val="lt1"/>
              </a:buClr>
              <a:buSzPts val="2600"/>
              <a:buNone/>
              <a:defRPr sz="2600">
                <a:solidFill>
                  <a:schemeClr val="lt1"/>
                </a:solidFill>
              </a:defRPr>
            </a:lvl2pPr>
            <a:lvl3pPr lvl="2" algn="ctr">
              <a:lnSpc>
                <a:spcPct val="100000"/>
              </a:lnSpc>
              <a:spcBef>
                <a:spcPts val="0"/>
              </a:spcBef>
              <a:spcAft>
                <a:spcPts val="0"/>
              </a:spcAft>
              <a:buClr>
                <a:schemeClr val="lt1"/>
              </a:buClr>
              <a:buSzPts val="2600"/>
              <a:buNone/>
              <a:defRPr sz="2600">
                <a:solidFill>
                  <a:schemeClr val="lt1"/>
                </a:solidFill>
              </a:defRPr>
            </a:lvl3pPr>
            <a:lvl4pPr lvl="3" algn="ctr">
              <a:lnSpc>
                <a:spcPct val="100000"/>
              </a:lnSpc>
              <a:spcBef>
                <a:spcPts val="0"/>
              </a:spcBef>
              <a:spcAft>
                <a:spcPts val="0"/>
              </a:spcAft>
              <a:buClr>
                <a:schemeClr val="lt1"/>
              </a:buClr>
              <a:buSzPts val="2600"/>
              <a:buNone/>
              <a:defRPr sz="2600">
                <a:solidFill>
                  <a:schemeClr val="lt1"/>
                </a:solidFill>
              </a:defRPr>
            </a:lvl4pPr>
            <a:lvl5pPr lvl="4" algn="ctr">
              <a:lnSpc>
                <a:spcPct val="100000"/>
              </a:lnSpc>
              <a:spcBef>
                <a:spcPts val="0"/>
              </a:spcBef>
              <a:spcAft>
                <a:spcPts val="0"/>
              </a:spcAft>
              <a:buClr>
                <a:schemeClr val="lt1"/>
              </a:buClr>
              <a:buSzPts val="2600"/>
              <a:buNone/>
              <a:defRPr sz="2600">
                <a:solidFill>
                  <a:schemeClr val="lt1"/>
                </a:solidFill>
              </a:defRPr>
            </a:lvl5pPr>
            <a:lvl6pPr lvl="5" algn="ctr">
              <a:lnSpc>
                <a:spcPct val="100000"/>
              </a:lnSpc>
              <a:spcBef>
                <a:spcPts val="0"/>
              </a:spcBef>
              <a:spcAft>
                <a:spcPts val="0"/>
              </a:spcAft>
              <a:buClr>
                <a:schemeClr val="lt1"/>
              </a:buClr>
              <a:buSzPts val="2600"/>
              <a:buNone/>
              <a:defRPr sz="2600">
                <a:solidFill>
                  <a:schemeClr val="lt1"/>
                </a:solidFill>
              </a:defRPr>
            </a:lvl6pPr>
            <a:lvl7pPr lvl="6" algn="ctr">
              <a:lnSpc>
                <a:spcPct val="100000"/>
              </a:lnSpc>
              <a:spcBef>
                <a:spcPts val="0"/>
              </a:spcBef>
              <a:spcAft>
                <a:spcPts val="0"/>
              </a:spcAft>
              <a:buClr>
                <a:schemeClr val="lt1"/>
              </a:buClr>
              <a:buSzPts val="2600"/>
              <a:buNone/>
              <a:defRPr sz="2600">
                <a:solidFill>
                  <a:schemeClr val="lt1"/>
                </a:solidFill>
              </a:defRPr>
            </a:lvl7pPr>
            <a:lvl8pPr lvl="7" algn="ctr">
              <a:lnSpc>
                <a:spcPct val="100000"/>
              </a:lnSpc>
              <a:spcBef>
                <a:spcPts val="0"/>
              </a:spcBef>
              <a:spcAft>
                <a:spcPts val="0"/>
              </a:spcAft>
              <a:buClr>
                <a:schemeClr val="lt1"/>
              </a:buClr>
              <a:buSzPts val="2600"/>
              <a:buNone/>
              <a:defRPr sz="2600">
                <a:solidFill>
                  <a:schemeClr val="lt1"/>
                </a:solidFill>
              </a:defRPr>
            </a:lvl8pPr>
            <a:lvl9pPr lvl="8" algn="ctr">
              <a:lnSpc>
                <a:spcPct val="100000"/>
              </a:lnSpc>
              <a:spcBef>
                <a:spcPts val="0"/>
              </a:spcBef>
              <a:spcAft>
                <a:spcPts val="0"/>
              </a:spcAft>
              <a:buClr>
                <a:schemeClr val="lt1"/>
              </a:buClr>
              <a:buSzPts val="2600"/>
              <a:buNone/>
              <a:defRPr sz="2600">
                <a:solidFill>
                  <a:schemeClr val="lt1"/>
                </a:solidFill>
              </a:defRPr>
            </a:lvl9pPr>
          </a:lstStyle>
          <a:p/>
        </p:txBody>
      </p:sp>
      <p:sp>
        <p:nvSpPr>
          <p:cNvPr id="11" name="Google Shape;11;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2" name="Google Shape;12;p2"/>
          <p:cNvSpPr txBox="1"/>
          <p:nvPr>
            <p:ph type="title"/>
          </p:nvPr>
        </p:nvSpPr>
        <p:spPr>
          <a:xfrm>
            <a:off x="457200" y="304800"/>
            <a:ext cx="8229600" cy="2076900"/>
          </a:xfrm>
          <a:prstGeom prst="rect">
            <a:avLst/>
          </a:prstGeom>
          <a:effectLst>
            <a:outerShdw blurRad="257175" rotWithShape="0" algn="bl">
              <a:schemeClr val="lt1"/>
            </a:outerShdw>
          </a:effectLst>
        </p:spPr>
        <p:txBody>
          <a:bodyPr anchorCtr="0" anchor="b" bIns="91425" lIns="91425" spcFirstLastPara="1" rIns="91425" wrap="square" tIns="91425">
            <a:normAutofit/>
          </a:bodyPr>
          <a:lstStyle>
            <a:lvl1pPr lvl="0" algn="ctr">
              <a:spcBef>
                <a:spcPts val="0"/>
              </a:spcBef>
              <a:spcAft>
                <a:spcPts val="0"/>
              </a:spcAft>
              <a:buClr>
                <a:srgbClr val="06038D"/>
              </a:buClr>
              <a:buSzPts val="3400"/>
              <a:buNone/>
              <a:defRPr sz="3400">
                <a:solidFill>
                  <a:srgbClr val="06038D"/>
                </a:solidFill>
              </a:defRPr>
            </a:lvl1pPr>
            <a:lvl2pPr lvl="1"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2pPr>
            <a:lvl3pPr lvl="2"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3pPr>
            <a:lvl4pPr lvl="3"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4pPr>
            <a:lvl5pPr lvl="4"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5pPr>
            <a:lvl6pPr lvl="5"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6pPr>
            <a:lvl7pPr lvl="6"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7pPr>
            <a:lvl8pPr lvl="7"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8pPr>
            <a:lvl9pPr lvl="8"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9pPr>
          </a:lstStyle>
          <a:p/>
        </p:txBody>
      </p:sp>
      <p:pic>
        <p:nvPicPr>
          <p:cNvPr id="13" name="Google Shape;13;p2"/>
          <p:cNvPicPr preferRelativeResize="0"/>
          <p:nvPr/>
        </p:nvPicPr>
        <p:blipFill>
          <a:blip r:embed="rId3">
            <a:alphaModFix/>
          </a:blip>
          <a:stretch>
            <a:fillRect/>
          </a:stretch>
        </p:blipFill>
        <p:spPr>
          <a:xfrm>
            <a:off x="0" y="2771763"/>
            <a:ext cx="9144000" cy="23717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type="secHead">
  <p:cSld name="SECTION_HEADER">
    <p:bg>
      <p:bgPr>
        <a:blipFill>
          <a:blip r:embed="rId2">
            <a:alphaModFix/>
          </a:blip>
          <a:stretch>
            <a:fillRect/>
          </a:stretch>
        </a:blip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3000"/>
              <a:buNone/>
              <a:defRPr sz="3000">
                <a:solidFill>
                  <a:schemeClr val="lt1"/>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SECTION_HEADER_1">
    <p:bg>
      <p:bgPr>
        <a:blipFill>
          <a:blip r:embed="rId2">
            <a:alphaModFix/>
          </a:blip>
          <a:stretch>
            <a:fillRect/>
          </a:stretch>
        </a:blipFill>
      </p:bgPr>
    </p:bg>
    <p:spTree>
      <p:nvGrpSpPr>
        <p:cNvPr id="17" name="Shape 17"/>
        <p:cNvGrpSpPr/>
        <p:nvPr/>
      </p:nvGrpSpPr>
      <p:grpSpPr>
        <a:xfrm>
          <a:off x="0" y="0"/>
          <a:ext cx="0" cy="0"/>
          <a:chOff x="0" y="0"/>
          <a:chExt cx="0" cy="0"/>
        </a:xfrm>
      </p:grpSpPr>
      <p:sp>
        <p:nvSpPr>
          <p:cNvPr id="18" name="Google Shape;18;p4"/>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1"/>
              </a:buClr>
              <a:buSzPts val="3000"/>
              <a:buNone/>
              <a:defRPr sz="3000">
                <a:solidFill>
                  <a:schemeClr val="lt1"/>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SECTION_HEADER_1_1">
    <p:bg>
      <p:bgPr>
        <a:blipFill>
          <a:blip r:embed="rId2">
            <a:alphaModFix/>
          </a:blip>
          <a:stretch>
            <a:fillRect/>
          </a:stretch>
        </a:blipFill>
      </p:bgPr>
    </p:bg>
    <p:spTree>
      <p:nvGrpSpPr>
        <p:cNvPr id="20" name="Shape 20"/>
        <p:cNvGrpSpPr/>
        <p:nvPr/>
      </p:nvGrpSpPr>
      <p:grpSpPr>
        <a:xfrm>
          <a:off x="0" y="0"/>
          <a:ext cx="0" cy="0"/>
          <a:chOff x="0" y="0"/>
          <a:chExt cx="0" cy="0"/>
        </a:xfrm>
      </p:grpSpPr>
      <p:sp>
        <p:nvSpPr>
          <p:cNvPr id="21" name="Google Shape;21;p5"/>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1"/>
              </a:buClr>
              <a:buSzPts val="3000"/>
              <a:buNone/>
              <a:defRPr sz="3000">
                <a:solidFill>
                  <a:schemeClr val="lt1"/>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22" name="Google Shape;22;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4">
  <p:cSld name="SECTION_HEADER_1_1_1">
    <p:bg>
      <p:bgPr>
        <a:blipFill>
          <a:blip r:embed="rId2">
            <a:alphaModFix/>
          </a:blip>
          <a:stretch>
            <a:fillRect/>
          </a:stretch>
        </a:blipFill>
      </p:bgPr>
    </p:bg>
    <p:spTree>
      <p:nvGrpSpPr>
        <p:cNvPr id="23" name="Shape 23"/>
        <p:cNvGrpSpPr/>
        <p:nvPr/>
      </p:nvGrpSpPr>
      <p:grpSpPr>
        <a:xfrm>
          <a:off x="0" y="0"/>
          <a:ext cx="0" cy="0"/>
          <a:chOff x="0" y="0"/>
          <a:chExt cx="0" cy="0"/>
        </a:xfrm>
      </p:grpSpPr>
      <p:sp>
        <p:nvSpPr>
          <p:cNvPr id="24" name="Google Shape;24;p6"/>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1"/>
              </a:buClr>
              <a:buSzPts val="3000"/>
              <a:buNone/>
              <a:defRPr sz="3000">
                <a:solidFill>
                  <a:schemeClr val="lt1"/>
                </a:solidFill>
              </a:defRPr>
            </a:lvl1pPr>
            <a:lvl2pPr lvl="1" rtl="0" algn="ctr">
              <a:spcBef>
                <a:spcPts val="0"/>
              </a:spcBef>
              <a:spcAft>
                <a:spcPts val="0"/>
              </a:spcAft>
              <a:buClr>
                <a:srgbClr val="36364C"/>
              </a:buClr>
              <a:buSzPts val="3600"/>
              <a:buNone/>
              <a:defRPr sz="3600">
                <a:solidFill>
                  <a:srgbClr val="36364C"/>
                </a:solidFill>
              </a:defRPr>
            </a:lvl2pPr>
            <a:lvl3pPr lvl="2" rtl="0" algn="ctr">
              <a:spcBef>
                <a:spcPts val="0"/>
              </a:spcBef>
              <a:spcAft>
                <a:spcPts val="0"/>
              </a:spcAft>
              <a:buClr>
                <a:srgbClr val="36364C"/>
              </a:buClr>
              <a:buSzPts val="3600"/>
              <a:buNone/>
              <a:defRPr sz="3600">
                <a:solidFill>
                  <a:srgbClr val="36364C"/>
                </a:solidFill>
              </a:defRPr>
            </a:lvl3pPr>
            <a:lvl4pPr lvl="3" rtl="0" algn="ctr">
              <a:spcBef>
                <a:spcPts val="0"/>
              </a:spcBef>
              <a:spcAft>
                <a:spcPts val="0"/>
              </a:spcAft>
              <a:buClr>
                <a:srgbClr val="36364C"/>
              </a:buClr>
              <a:buSzPts val="3600"/>
              <a:buNone/>
              <a:defRPr sz="3600">
                <a:solidFill>
                  <a:srgbClr val="36364C"/>
                </a:solidFill>
              </a:defRPr>
            </a:lvl4pPr>
            <a:lvl5pPr lvl="4" rtl="0" algn="ctr">
              <a:spcBef>
                <a:spcPts val="0"/>
              </a:spcBef>
              <a:spcAft>
                <a:spcPts val="0"/>
              </a:spcAft>
              <a:buClr>
                <a:srgbClr val="36364C"/>
              </a:buClr>
              <a:buSzPts val="3600"/>
              <a:buNone/>
              <a:defRPr sz="3600">
                <a:solidFill>
                  <a:srgbClr val="36364C"/>
                </a:solidFill>
              </a:defRPr>
            </a:lvl5pPr>
            <a:lvl6pPr lvl="5" rtl="0" algn="ctr">
              <a:spcBef>
                <a:spcPts val="0"/>
              </a:spcBef>
              <a:spcAft>
                <a:spcPts val="0"/>
              </a:spcAft>
              <a:buClr>
                <a:srgbClr val="36364C"/>
              </a:buClr>
              <a:buSzPts val="3600"/>
              <a:buNone/>
              <a:defRPr sz="3600">
                <a:solidFill>
                  <a:srgbClr val="36364C"/>
                </a:solidFill>
              </a:defRPr>
            </a:lvl6pPr>
            <a:lvl7pPr lvl="6" rtl="0" algn="ctr">
              <a:spcBef>
                <a:spcPts val="0"/>
              </a:spcBef>
              <a:spcAft>
                <a:spcPts val="0"/>
              </a:spcAft>
              <a:buClr>
                <a:srgbClr val="36364C"/>
              </a:buClr>
              <a:buSzPts val="3600"/>
              <a:buNone/>
              <a:defRPr sz="3600">
                <a:solidFill>
                  <a:srgbClr val="36364C"/>
                </a:solidFill>
              </a:defRPr>
            </a:lvl7pPr>
            <a:lvl8pPr lvl="7" rtl="0" algn="ctr">
              <a:spcBef>
                <a:spcPts val="0"/>
              </a:spcBef>
              <a:spcAft>
                <a:spcPts val="0"/>
              </a:spcAft>
              <a:buClr>
                <a:srgbClr val="36364C"/>
              </a:buClr>
              <a:buSzPts val="3600"/>
              <a:buNone/>
              <a:defRPr sz="3600">
                <a:solidFill>
                  <a:srgbClr val="36364C"/>
                </a:solidFill>
              </a:defRPr>
            </a:lvl8pPr>
            <a:lvl9pPr lvl="8" rtl="0" algn="ctr">
              <a:spcBef>
                <a:spcPts val="0"/>
              </a:spcBef>
              <a:spcAft>
                <a:spcPts val="0"/>
              </a:spcAft>
              <a:buClr>
                <a:srgbClr val="36364C"/>
              </a:buClr>
              <a:buSzPts val="3600"/>
              <a:buNone/>
              <a:defRPr sz="3600">
                <a:solidFill>
                  <a:srgbClr val="36364C"/>
                </a:solidFill>
              </a:defRPr>
            </a:lvl9pPr>
          </a:lstStyle>
          <a:p/>
        </p:txBody>
      </p:sp>
      <p:sp>
        <p:nvSpPr>
          <p:cNvPr id="25" name="Google Shape;2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6" name="Shape 26"/>
        <p:cNvGrpSpPr/>
        <p:nvPr/>
      </p:nvGrpSpPr>
      <p:grpSpPr>
        <a:xfrm>
          <a:off x="0" y="0"/>
          <a:ext cx="0" cy="0"/>
          <a:chOff x="0" y="0"/>
          <a:chExt cx="0" cy="0"/>
        </a:xfrm>
      </p:grpSpPr>
      <p:sp>
        <p:nvSpPr>
          <p:cNvPr id="27" name="Google Shape;27;p7"/>
          <p:cNvSpPr txBox="1"/>
          <p:nvPr>
            <p:ph type="title"/>
          </p:nvPr>
        </p:nvSpPr>
        <p:spPr>
          <a:xfrm>
            <a:off x="874950" y="533400"/>
            <a:ext cx="7394100" cy="598800"/>
          </a:xfrm>
          <a:prstGeom prst="rect">
            <a:avLst/>
          </a:prstGeom>
        </p:spPr>
        <p:txBody>
          <a:bodyPr anchorCtr="0" anchor="t" bIns="91425" lIns="91425" spcFirstLastPara="1" rIns="91425" wrap="square" tIns="91425">
            <a:normAutofit/>
          </a:bodyPr>
          <a:lstStyle>
            <a:lvl1pPr lvl="0">
              <a:spcBef>
                <a:spcPts val="0"/>
              </a:spcBef>
              <a:spcAft>
                <a:spcPts val="0"/>
              </a:spcAft>
              <a:buClr>
                <a:srgbClr val="36364C"/>
              </a:buClr>
              <a:buSzPts val="2800"/>
              <a:buNone/>
              <a:defRPr sz="2800">
                <a:solidFill>
                  <a:srgbClr val="36364C"/>
                </a:solidFill>
              </a:defRPr>
            </a:lvl1pPr>
            <a:lvl2pPr lvl="1">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2pPr>
            <a:lvl3pPr lvl="2">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3pPr>
            <a:lvl4pPr lvl="3">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4pPr>
            <a:lvl5pPr lvl="4">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5pPr>
            <a:lvl6pPr lvl="5">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6pPr>
            <a:lvl7pPr lvl="6">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7pPr>
            <a:lvl8pPr lvl="7">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8pPr>
            <a:lvl9pPr lvl="8">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9pPr>
          </a:lstStyle>
          <a:p/>
        </p:txBody>
      </p:sp>
      <p:sp>
        <p:nvSpPr>
          <p:cNvPr id="28" name="Google Shape;28;p7"/>
          <p:cNvSpPr txBox="1"/>
          <p:nvPr>
            <p:ph idx="1" type="body"/>
          </p:nvPr>
        </p:nvSpPr>
        <p:spPr>
          <a:xfrm>
            <a:off x="651925" y="1304875"/>
            <a:ext cx="7840200" cy="3416400"/>
          </a:xfrm>
          <a:prstGeom prst="rect">
            <a:avLst/>
          </a:prstGeom>
        </p:spPr>
        <p:txBody>
          <a:bodyPr anchorCtr="0" anchor="t" bIns="91425" lIns="91425" spcFirstLastPara="1" rIns="91425" wrap="square" tIns="91425">
            <a:normAutofit/>
          </a:bodyPr>
          <a:lstStyle>
            <a:lvl1pPr indent="-317500" lvl="0" marL="457200">
              <a:lnSpc>
                <a:spcPct val="130000"/>
              </a:lnSpc>
              <a:spcBef>
                <a:spcPts val="0"/>
              </a:spcBef>
              <a:spcAft>
                <a:spcPts val="0"/>
              </a:spcAft>
              <a:buClr>
                <a:srgbClr val="36364C"/>
              </a:buClr>
              <a:buSzPts val="1400"/>
              <a:buChar char="●"/>
              <a:defRPr>
                <a:solidFill>
                  <a:srgbClr val="36364C"/>
                </a:solidFill>
              </a:defRPr>
            </a:lvl1pPr>
            <a:lvl2pPr indent="-311150" lvl="1" marL="914400">
              <a:lnSpc>
                <a:spcPct val="130000"/>
              </a:lnSpc>
              <a:spcBef>
                <a:spcPts val="0"/>
              </a:spcBef>
              <a:spcAft>
                <a:spcPts val="0"/>
              </a:spcAft>
              <a:buClr>
                <a:srgbClr val="36364C"/>
              </a:buClr>
              <a:buSzPts val="1300"/>
              <a:buChar char="○"/>
              <a:defRPr sz="1300">
                <a:solidFill>
                  <a:srgbClr val="36364C"/>
                </a:solidFill>
              </a:defRPr>
            </a:lvl2pPr>
            <a:lvl3pPr indent="-311150" lvl="2" marL="1371600">
              <a:lnSpc>
                <a:spcPct val="130000"/>
              </a:lnSpc>
              <a:spcBef>
                <a:spcPts val="0"/>
              </a:spcBef>
              <a:spcAft>
                <a:spcPts val="0"/>
              </a:spcAft>
              <a:buClr>
                <a:srgbClr val="36364C"/>
              </a:buClr>
              <a:buSzPts val="1300"/>
              <a:buChar char="■"/>
              <a:defRPr sz="1300">
                <a:solidFill>
                  <a:srgbClr val="36364C"/>
                </a:solidFill>
              </a:defRPr>
            </a:lvl3pPr>
            <a:lvl4pPr indent="-304800" lvl="3" marL="1828800">
              <a:lnSpc>
                <a:spcPct val="130000"/>
              </a:lnSpc>
              <a:spcBef>
                <a:spcPts val="0"/>
              </a:spcBef>
              <a:spcAft>
                <a:spcPts val="0"/>
              </a:spcAft>
              <a:buClr>
                <a:srgbClr val="36364C"/>
              </a:buClr>
              <a:buSzPts val="1200"/>
              <a:buChar char="●"/>
              <a:defRPr sz="1200">
                <a:solidFill>
                  <a:srgbClr val="36364C"/>
                </a:solidFill>
              </a:defRPr>
            </a:lvl4pPr>
            <a:lvl5pPr indent="-304800" lvl="4" marL="2286000">
              <a:lnSpc>
                <a:spcPct val="130000"/>
              </a:lnSpc>
              <a:spcBef>
                <a:spcPts val="0"/>
              </a:spcBef>
              <a:spcAft>
                <a:spcPts val="0"/>
              </a:spcAft>
              <a:buClr>
                <a:srgbClr val="36364C"/>
              </a:buClr>
              <a:buSzPts val="1200"/>
              <a:buChar char="○"/>
              <a:defRPr sz="1200">
                <a:solidFill>
                  <a:srgbClr val="36364C"/>
                </a:solidFill>
              </a:defRPr>
            </a:lvl5pPr>
            <a:lvl6pPr indent="-304800" lvl="5" marL="2743200">
              <a:lnSpc>
                <a:spcPct val="130000"/>
              </a:lnSpc>
              <a:spcBef>
                <a:spcPts val="0"/>
              </a:spcBef>
              <a:spcAft>
                <a:spcPts val="0"/>
              </a:spcAft>
              <a:buClr>
                <a:srgbClr val="36364C"/>
              </a:buClr>
              <a:buSzPts val="1200"/>
              <a:buChar char="■"/>
              <a:defRPr sz="1200">
                <a:solidFill>
                  <a:srgbClr val="36364C"/>
                </a:solidFill>
              </a:defRPr>
            </a:lvl6pPr>
            <a:lvl7pPr indent="-304800" lvl="6" marL="3200400">
              <a:lnSpc>
                <a:spcPct val="130000"/>
              </a:lnSpc>
              <a:spcBef>
                <a:spcPts val="0"/>
              </a:spcBef>
              <a:spcAft>
                <a:spcPts val="0"/>
              </a:spcAft>
              <a:buClr>
                <a:srgbClr val="36364C"/>
              </a:buClr>
              <a:buSzPts val="1200"/>
              <a:buChar char="●"/>
              <a:defRPr sz="1200">
                <a:solidFill>
                  <a:srgbClr val="36364C"/>
                </a:solidFill>
              </a:defRPr>
            </a:lvl7pPr>
            <a:lvl8pPr indent="-304800" lvl="7" marL="3657600">
              <a:lnSpc>
                <a:spcPct val="130000"/>
              </a:lnSpc>
              <a:spcBef>
                <a:spcPts val="0"/>
              </a:spcBef>
              <a:spcAft>
                <a:spcPts val="0"/>
              </a:spcAft>
              <a:buClr>
                <a:srgbClr val="36364C"/>
              </a:buClr>
              <a:buSzPts val="1200"/>
              <a:buChar char="○"/>
              <a:defRPr sz="1200">
                <a:solidFill>
                  <a:srgbClr val="36364C"/>
                </a:solidFill>
              </a:defRPr>
            </a:lvl8pPr>
            <a:lvl9pPr indent="-304800" lvl="8" marL="4114800">
              <a:lnSpc>
                <a:spcPct val="130000"/>
              </a:lnSpc>
              <a:spcBef>
                <a:spcPts val="0"/>
              </a:spcBef>
              <a:spcAft>
                <a:spcPts val="0"/>
              </a:spcAft>
              <a:buClr>
                <a:srgbClr val="36364C"/>
              </a:buClr>
              <a:buSzPts val="1200"/>
              <a:buChar char="■"/>
              <a:defRPr sz="1200">
                <a:solidFill>
                  <a:srgbClr val="36364C"/>
                </a:solidFill>
              </a:defRPr>
            </a:lvl9pPr>
          </a:lstStyle>
          <a:p/>
        </p:txBody>
      </p:sp>
      <p:sp>
        <p:nvSpPr>
          <p:cNvPr id="29" name="Google Shape;29;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lgn="r">
              <a:buNone/>
              <a:defRPr sz="1000">
                <a:solidFill>
                  <a:schemeClr val="lt1"/>
                </a:solidFill>
              </a:defRPr>
            </a:lvl1pPr>
            <a:lvl2pPr lvl="1" algn="r">
              <a:buNone/>
              <a:defRPr sz="1000">
                <a:solidFill>
                  <a:schemeClr val="lt1"/>
                </a:solidFill>
              </a:defRPr>
            </a:lvl2pPr>
            <a:lvl3pPr lvl="2" algn="r">
              <a:buNone/>
              <a:defRPr sz="1000">
                <a:solidFill>
                  <a:schemeClr val="lt1"/>
                </a:solidFill>
              </a:defRPr>
            </a:lvl3pPr>
            <a:lvl4pPr lvl="3" algn="r">
              <a:buNone/>
              <a:defRPr sz="1000">
                <a:solidFill>
                  <a:schemeClr val="lt1"/>
                </a:solidFill>
              </a:defRPr>
            </a:lvl4pPr>
            <a:lvl5pPr lvl="4" algn="r">
              <a:buNone/>
              <a:defRPr sz="1000">
                <a:solidFill>
                  <a:schemeClr val="lt1"/>
                </a:solidFill>
              </a:defRPr>
            </a:lvl5pPr>
            <a:lvl6pPr lvl="5" algn="r">
              <a:buNone/>
              <a:defRPr sz="1000">
                <a:solidFill>
                  <a:schemeClr val="lt1"/>
                </a:solidFill>
              </a:defRPr>
            </a:lvl6pPr>
            <a:lvl7pPr lvl="6" algn="r">
              <a:buNone/>
              <a:defRPr sz="1000">
                <a:solidFill>
                  <a:schemeClr val="lt1"/>
                </a:solidFill>
              </a:defRPr>
            </a:lvl7pPr>
            <a:lvl8pPr lvl="7" algn="r">
              <a:buNone/>
              <a:defRPr sz="1000">
                <a:solidFill>
                  <a:schemeClr val="lt1"/>
                </a:solidFill>
              </a:defRPr>
            </a:lvl8pPr>
            <a:lvl9pPr lvl="8" algn="r">
              <a:buNone/>
              <a:defRPr sz="10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8"/>
          <p:cNvSpPr txBox="1"/>
          <p:nvPr>
            <p:ph idx="1" type="body"/>
          </p:nvPr>
        </p:nvSpPr>
        <p:spPr>
          <a:xfrm>
            <a:off x="720549" y="1280150"/>
            <a:ext cx="3752700" cy="3416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8"/>
          <p:cNvSpPr txBox="1"/>
          <p:nvPr>
            <p:ph idx="2" type="body"/>
          </p:nvPr>
        </p:nvSpPr>
        <p:spPr>
          <a:xfrm>
            <a:off x="4680000" y="1280150"/>
            <a:ext cx="3792300" cy="3416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4" name="Google Shape;34;p8"/>
          <p:cNvSpPr txBox="1"/>
          <p:nvPr>
            <p:ph type="title"/>
          </p:nvPr>
        </p:nvSpPr>
        <p:spPr>
          <a:xfrm>
            <a:off x="874950" y="533400"/>
            <a:ext cx="7394100" cy="598800"/>
          </a:xfrm>
          <a:prstGeom prst="rect">
            <a:avLst/>
          </a:prstGeom>
        </p:spPr>
        <p:txBody>
          <a:bodyPr anchorCtr="0" anchor="t" bIns="91425" lIns="91425" spcFirstLastPara="1" rIns="91425" wrap="square" tIns="91425">
            <a:normAutofit/>
          </a:bodyPr>
          <a:lstStyle>
            <a:lvl1pPr lvl="0">
              <a:spcBef>
                <a:spcPts val="0"/>
              </a:spcBef>
              <a:spcAft>
                <a:spcPts val="0"/>
              </a:spcAft>
              <a:buClr>
                <a:srgbClr val="36364C"/>
              </a:buClr>
              <a:buSzPts val="2800"/>
              <a:buNone/>
              <a:defRPr sz="2800">
                <a:solidFill>
                  <a:srgbClr val="36364C"/>
                </a:solidFill>
              </a:defRPr>
            </a:lvl1pPr>
            <a:lvl2pPr lvl="1">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2pPr>
            <a:lvl3pPr lvl="2">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3pPr>
            <a:lvl4pPr lvl="3">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4pPr>
            <a:lvl5pPr lvl="4">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5pPr>
            <a:lvl6pPr lvl="5">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6pPr>
            <a:lvl7pPr lvl="6">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7pPr>
            <a:lvl8pPr lvl="7">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8pPr>
            <a:lvl9pPr lvl="8">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7" name="Google Shape;37;p9"/>
          <p:cNvSpPr txBox="1"/>
          <p:nvPr>
            <p:ph type="title"/>
          </p:nvPr>
        </p:nvSpPr>
        <p:spPr>
          <a:xfrm>
            <a:off x="874950" y="533400"/>
            <a:ext cx="7394100" cy="598800"/>
          </a:xfrm>
          <a:prstGeom prst="rect">
            <a:avLst/>
          </a:prstGeom>
        </p:spPr>
        <p:txBody>
          <a:bodyPr anchorCtr="0" anchor="t" bIns="91425" lIns="91425" spcFirstLastPara="1" rIns="91425" wrap="square" tIns="91425">
            <a:normAutofit/>
          </a:bodyPr>
          <a:lstStyle>
            <a:lvl1pPr lvl="0">
              <a:spcBef>
                <a:spcPts val="0"/>
              </a:spcBef>
              <a:spcAft>
                <a:spcPts val="0"/>
              </a:spcAft>
              <a:buClr>
                <a:srgbClr val="36364C"/>
              </a:buClr>
              <a:buSzPts val="2800"/>
              <a:buNone/>
              <a:defRPr sz="2800">
                <a:solidFill>
                  <a:srgbClr val="36364C"/>
                </a:solidFill>
              </a:defRPr>
            </a:lvl1pPr>
            <a:lvl2pPr lvl="1">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2pPr>
            <a:lvl3pPr lvl="2">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3pPr>
            <a:lvl4pPr lvl="3">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4pPr>
            <a:lvl5pPr lvl="4">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5pPr>
            <a:lvl6pPr lvl="5">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6pPr>
            <a:lvl7pPr lvl="6">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7pPr>
            <a:lvl8pPr lvl="7">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8pPr>
            <a:lvl9pPr lvl="8">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n image left">
  <p:cSld name="ONE_COLUMN_TEXT">
    <p:spTree>
      <p:nvGrpSpPr>
        <p:cNvPr id="38" name="Shape 38"/>
        <p:cNvGrpSpPr/>
        <p:nvPr/>
      </p:nvGrpSpPr>
      <p:grpSpPr>
        <a:xfrm>
          <a:off x="0" y="0"/>
          <a:ext cx="0" cy="0"/>
          <a:chOff x="0" y="0"/>
          <a:chExt cx="0" cy="0"/>
        </a:xfrm>
      </p:grpSpPr>
      <p:sp>
        <p:nvSpPr>
          <p:cNvPr id="39" name="Google Shape;39;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0" name="Google Shape;40;p10"/>
          <p:cNvSpPr/>
          <p:nvPr>
            <p:ph idx="2" type="pic"/>
          </p:nvPr>
        </p:nvSpPr>
        <p:spPr>
          <a:xfrm>
            <a:off x="0" y="0"/>
            <a:ext cx="4562100" cy="5143500"/>
          </a:xfrm>
          <a:prstGeom prst="rect">
            <a:avLst/>
          </a:prstGeom>
          <a:noFill/>
          <a:ln>
            <a:noFill/>
          </a:ln>
        </p:spPr>
      </p:sp>
      <p:sp>
        <p:nvSpPr>
          <p:cNvPr id="41" name="Google Shape;41;p10"/>
          <p:cNvSpPr txBox="1"/>
          <p:nvPr>
            <p:ph type="title"/>
          </p:nvPr>
        </p:nvSpPr>
        <p:spPr>
          <a:xfrm>
            <a:off x="4859150" y="631325"/>
            <a:ext cx="3718800" cy="1212600"/>
          </a:xfrm>
          <a:prstGeom prst="rect">
            <a:avLst/>
          </a:prstGeom>
        </p:spPr>
        <p:txBody>
          <a:bodyPr anchorCtr="0" anchor="b" bIns="91425" lIns="91425" spcFirstLastPara="1" rIns="91425" wrap="square" tIns="91425">
            <a:normAutofit/>
          </a:bodyPr>
          <a:lstStyle>
            <a:lvl1pPr lvl="0" algn="l">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2" name="Google Shape;42;p10"/>
          <p:cNvSpPr txBox="1"/>
          <p:nvPr>
            <p:ph idx="1" type="body"/>
          </p:nvPr>
        </p:nvSpPr>
        <p:spPr>
          <a:xfrm>
            <a:off x="4859150" y="1888700"/>
            <a:ext cx="3718800" cy="2743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n image right">
  <p:cSld name="ONE_COLUMN_TEXT_1">
    <p:spTree>
      <p:nvGrpSpPr>
        <p:cNvPr id="43" name="Shape 43"/>
        <p:cNvGrpSpPr/>
        <p:nvPr/>
      </p:nvGrpSpPr>
      <p:grpSpPr>
        <a:xfrm>
          <a:off x="0" y="0"/>
          <a:ext cx="0" cy="0"/>
          <a:chOff x="0" y="0"/>
          <a:chExt cx="0" cy="0"/>
        </a:xfrm>
      </p:grpSpPr>
      <p:sp>
        <p:nvSpPr>
          <p:cNvPr id="44" name="Google Shape;44;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5" name="Google Shape;45;p11"/>
          <p:cNvSpPr/>
          <p:nvPr>
            <p:ph idx="2" type="pic"/>
          </p:nvPr>
        </p:nvSpPr>
        <p:spPr>
          <a:xfrm>
            <a:off x="4582100" y="0"/>
            <a:ext cx="4562100" cy="5143500"/>
          </a:xfrm>
          <a:prstGeom prst="rect">
            <a:avLst/>
          </a:prstGeom>
          <a:noFill/>
          <a:ln>
            <a:noFill/>
          </a:ln>
        </p:spPr>
      </p:sp>
      <p:sp>
        <p:nvSpPr>
          <p:cNvPr id="46" name="Google Shape;46;p11"/>
          <p:cNvSpPr txBox="1"/>
          <p:nvPr>
            <p:ph type="title"/>
          </p:nvPr>
        </p:nvSpPr>
        <p:spPr>
          <a:xfrm>
            <a:off x="660500" y="631325"/>
            <a:ext cx="3724500" cy="1212600"/>
          </a:xfrm>
          <a:prstGeom prst="rect">
            <a:avLst/>
          </a:prstGeom>
        </p:spPr>
        <p:txBody>
          <a:bodyPr anchorCtr="0" anchor="b" bIns="91425" lIns="91425" spcFirstLastPara="1" rIns="91425" wrap="square" tIns="91425">
            <a:normAutofit/>
          </a:bodyPr>
          <a:lstStyle>
            <a:lvl1pPr lvl="0" algn="l">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7" name="Google Shape;47;p11"/>
          <p:cNvSpPr txBox="1"/>
          <p:nvPr>
            <p:ph idx="1" type="body"/>
          </p:nvPr>
        </p:nvSpPr>
        <p:spPr>
          <a:xfrm>
            <a:off x="660549" y="1888700"/>
            <a:ext cx="3724500" cy="2743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left">
  <p:cSld name="ONE_COLUMN_TEXT_2">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0" name="Google Shape;50;p12"/>
          <p:cNvSpPr txBox="1"/>
          <p:nvPr>
            <p:ph idx="1" type="body"/>
          </p:nvPr>
        </p:nvSpPr>
        <p:spPr>
          <a:xfrm>
            <a:off x="4859150" y="694800"/>
            <a:ext cx="3693000" cy="383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51" name="Google Shape;51;p12" title="Devcon-8-India-slides-template-1-7.jpg"/>
          <p:cNvPicPr preferRelativeResize="0"/>
          <p:nvPr/>
        </p:nvPicPr>
        <p:blipFill rotWithShape="1">
          <a:blip r:embed="rId2">
            <a:alphaModFix/>
          </a:blip>
          <a:srcRect b="0" l="0" r="0" t="0"/>
          <a:stretch/>
        </p:blipFill>
        <p:spPr>
          <a:xfrm>
            <a:off x="0" y="0"/>
            <a:ext cx="4572000" cy="5143500"/>
          </a:xfrm>
          <a:prstGeom prst="rect">
            <a:avLst/>
          </a:prstGeom>
          <a:noFill/>
          <a:ln>
            <a:noFill/>
          </a:ln>
        </p:spPr>
      </p:pic>
      <p:sp>
        <p:nvSpPr>
          <p:cNvPr id="52" name="Google Shape;52;p12"/>
          <p:cNvSpPr txBox="1"/>
          <p:nvPr>
            <p:ph type="title"/>
          </p:nvPr>
        </p:nvSpPr>
        <p:spPr>
          <a:xfrm>
            <a:off x="587375" y="694800"/>
            <a:ext cx="3693000" cy="3753900"/>
          </a:xfrm>
          <a:prstGeom prst="rect">
            <a:avLst/>
          </a:prstGeom>
        </p:spPr>
        <p:txBody>
          <a:bodyPr anchorCtr="0" anchor="ctr" bIns="91425" lIns="91425" spcFirstLastPara="1" rIns="91425" wrap="square" tIns="91425">
            <a:normAutofit/>
          </a:bodyPr>
          <a:lstStyle>
            <a:lvl1pPr lvl="0" algn="r">
              <a:spcBef>
                <a:spcPts val="0"/>
              </a:spcBef>
              <a:spcAft>
                <a:spcPts val="0"/>
              </a:spcAft>
              <a:buClr>
                <a:schemeClr val="lt1"/>
              </a:buClr>
              <a:buSzPts val="2400"/>
              <a:buNone/>
              <a:defRPr sz="2400">
                <a:solidFill>
                  <a:schemeClr val="lt1"/>
                </a:solidFill>
              </a:defRPr>
            </a:lvl1pPr>
            <a:lvl2pPr lvl="1" algn="r">
              <a:spcBef>
                <a:spcPts val="0"/>
              </a:spcBef>
              <a:spcAft>
                <a:spcPts val="0"/>
              </a:spcAft>
              <a:buSzPts val="2400"/>
              <a:buNone/>
              <a:defRPr sz="2400"/>
            </a:lvl2pPr>
            <a:lvl3pPr lvl="2" algn="r">
              <a:spcBef>
                <a:spcPts val="0"/>
              </a:spcBef>
              <a:spcAft>
                <a:spcPts val="0"/>
              </a:spcAft>
              <a:buSzPts val="2400"/>
              <a:buNone/>
              <a:defRPr sz="2400"/>
            </a:lvl3pPr>
            <a:lvl4pPr lvl="3" algn="r">
              <a:spcBef>
                <a:spcPts val="0"/>
              </a:spcBef>
              <a:spcAft>
                <a:spcPts val="0"/>
              </a:spcAft>
              <a:buSzPts val="2400"/>
              <a:buNone/>
              <a:defRPr sz="2400"/>
            </a:lvl4pPr>
            <a:lvl5pPr lvl="4" algn="r">
              <a:spcBef>
                <a:spcPts val="0"/>
              </a:spcBef>
              <a:spcAft>
                <a:spcPts val="0"/>
              </a:spcAft>
              <a:buSzPts val="2400"/>
              <a:buNone/>
              <a:defRPr sz="2400"/>
            </a:lvl5pPr>
            <a:lvl6pPr lvl="5" algn="r">
              <a:spcBef>
                <a:spcPts val="0"/>
              </a:spcBef>
              <a:spcAft>
                <a:spcPts val="0"/>
              </a:spcAft>
              <a:buSzPts val="2400"/>
              <a:buNone/>
              <a:defRPr sz="2400"/>
            </a:lvl6pPr>
            <a:lvl7pPr lvl="6" algn="r">
              <a:spcBef>
                <a:spcPts val="0"/>
              </a:spcBef>
              <a:spcAft>
                <a:spcPts val="0"/>
              </a:spcAft>
              <a:buSzPts val="2400"/>
              <a:buNone/>
              <a:defRPr sz="2400"/>
            </a:lvl7pPr>
            <a:lvl8pPr lvl="7" algn="r">
              <a:spcBef>
                <a:spcPts val="0"/>
              </a:spcBef>
              <a:spcAft>
                <a:spcPts val="0"/>
              </a:spcAft>
              <a:buSzPts val="2400"/>
              <a:buNone/>
              <a:defRPr sz="2400"/>
            </a:lvl8pPr>
            <a:lvl9pPr lvl="8" algn="r">
              <a:spcBef>
                <a:spcPts val="0"/>
              </a:spcBef>
              <a:spcAft>
                <a:spcPts val="0"/>
              </a:spcAft>
              <a:buSzPts val="2400"/>
              <a:buNone/>
              <a:defRPr sz="24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right">
  <p:cSld name="ONE_COLUMN_TEXT_1_1">
    <p:spTree>
      <p:nvGrpSpPr>
        <p:cNvPr id="53" name="Shape 53"/>
        <p:cNvGrpSpPr/>
        <p:nvPr/>
      </p:nvGrpSpPr>
      <p:grpSpPr>
        <a:xfrm>
          <a:off x="0" y="0"/>
          <a:ext cx="0" cy="0"/>
          <a:chOff x="0" y="0"/>
          <a:chExt cx="0" cy="0"/>
        </a:xfrm>
      </p:grpSpPr>
      <p:sp>
        <p:nvSpPr>
          <p:cNvPr id="54" name="Google Shape;54;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5" name="Google Shape;55;p13"/>
          <p:cNvSpPr txBox="1"/>
          <p:nvPr>
            <p:ph idx="1" type="body"/>
          </p:nvPr>
        </p:nvSpPr>
        <p:spPr>
          <a:xfrm>
            <a:off x="651850" y="617600"/>
            <a:ext cx="3733200" cy="401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56" name="Google Shape;56;p13" title="Devcon-8-India-slides-template-1-8.jpg"/>
          <p:cNvPicPr preferRelativeResize="0"/>
          <p:nvPr/>
        </p:nvPicPr>
        <p:blipFill rotWithShape="1">
          <a:blip r:embed="rId2">
            <a:alphaModFix/>
          </a:blip>
          <a:srcRect b="0" l="0" r="0" t="0"/>
          <a:stretch/>
        </p:blipFill>
        <p:spPr>
          <a:xfrm>
            <a:off x="4572000" y="0"/>
            <a:ext cx="4572000" cy="5143500"/>
          </a:xfrm>
          <a:prstGeom prst="rect">
            <a:avLst/>
          </a:prstGeom>
          <a:noFill/>
          <a:ln>
            <a:noFill/>
          </a:ln>
        </p:spPr>
      </p:pic>
      <p:sp>
        <p:nvSpPr>
          <p:cNvPr id="57" name="Google Shape;57;p13"/>
          <p:cNvSpPr txBox="1"/>
          <p:nvPr>
            <p:ph type="title"/>
          </p:nvPr>
        </p:nvSpPr>
        <p:spPr>
          <a:xfrm>
            <a:off x="4837000" y="768000"/>
            <a:ext cx="3733200" cy="3607500"/>
          </a:xfrm>
          <a:prstGeom prst="rect">
            <a:avLst/>
          </a:prstGeom>
        </p:spPr>
        <p:txBody>
          <a:bodyPr anchorCtr="0" anchor="ctr" bIns="91425" lIns="91425" spcFirstLastPara="1" rIns="91425" wrap="square" tIns="91425">
            <a:normAutofit/>
          </a:bodyPr>
          <a:lstStyle>
            <a:lvl1pPr lvl="0" algn="l">
              <a:spcBef>
                <a:spcPts val="0"/>
              </a:spcBef>
              <a:spcAft>
                <a:spcPts val="0"/>
              </a:spcAft>
              <a:buClr>
                <a:schemeClr val="lt1"/>
              </a:buClr>
              <a:buSzPts val="2400"/>
              <a:buNone/>
              <a:defRPr sz="2400">
                <a:solidFill>
                  <a:schemeClr val="lt1"/>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left 1">
  <p:cSld name="ONE_COLUMN_TEXT_2_1">
    <p:spTree>
      <p:nvGrpSpPr>
        <p:cNvPr id="58" name="Shape 58"/>
        <p:cNvGrpSpPr/>
        <p:nvPr/>
      </p:nvGrpSpPr>
      <p:grpSpPr>
        <a:xfrm>
          <a:off x="0" y="0"/>
          <a:ext cx="0" cy="0"/>
          <a:chOff x="0" y="0"/>
          <a:chExt cx="0" cy="0"/>
        </a:xfrm>
      </p:grpSpPr>
      <p:sp>
        <p:nvSpPr>
          <p:cNvPr id="59" name="Google Shape;59;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0" name="Google Shape;60;p14"/>
          <p:cNvSpPr txBox="1"/>
          <p:nvPr>
            <p:ph idx="1" type="body"/>
          </p:nvPr>
        </p:nvSpPr>
        <p:spPr>
          <a:xfrm>
            <a:off x="4859150" y="694800"/>
            <a:ext cx="3693000" cy="383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61" name="Google Shape;61;p14" title="Devcon-8-India-slides-template-1-9.jpg"/>
          <p:cNvPicPr preferRelativeResize="0"/>
          <p:nvPr/>
        </p:nvPicPr>
        <p:blipFill rotWithShape="1">
          <a:blip r:embed="rId2">
            <a:alphaModFix/>
          </a:blip>
          <a:srcRect b="0" l="0" r="0" t="0"/>
          <a:stretch/>
        </p:blipFill>
        <p:spPr>
          <a:xfrm>
            <a:off x="0" y="0"/>
            <a:ext cx="4572000" cy="5143500"/>
          </a:xfrm>
          <a:prstGeom prst="rect">
            <a:avLst/>
          </a:prstGeom>
          <a:noFill/>
          <a:ln>
            <a:noFill/>
          </a:ln>
        </p:spPr>
      </p:pic>
      <p:sp>
        <p:nvSpPr>
          <p:cNvPr id="62" name="Google Shape;62;p14"/>
          <p:cNvSpPr txBox="1"/>
          <p:nvPr>
            <p:ph type="title"/>
          </p:nvPr>
        </p:nvSpPr>
        <p:spPr>
          <a:xfrm>
            <a:off x="587375" y="694800"/>
            <a:ext cx="3693000" cy="3753900"/>
          </a:xfrm>
          <a:prstGeom prst="rect">
            <a:avLst/>
          </a:prstGeom>
        </p:spPr>
        <p:txBody>
          <a:bodyPr anchorCtr="0" anchor="ctr" bIns="91425" lIns="91425" spcFirstLastPara="1" rIns="91425" wrap="square" tIns="91425">
            <a:normAutofit/>
          </a:bodyPr>
          <a:lstStyle>
            <a:lvl1pPr lvl="0" algn="r">
              <a:spcBef>
                <a:spcPts val="0"/>
              </a:spcBef>
              <a:spcAft>
                <a:spcPts val="0"/>
              </a:spcAft>
              <a:buClr>
                <a:schemeClr val="lt1"/>
              </a:buClr>
              <a:buSzPts val="2400"/>
              <a:buNone/>
              <a:defRPr sz="2400">
                <a:solidFill>
                  <a:schemeClr val="lt1"/>
                </a:solidFill>
              </a:defRPr>
            </a:lvl1pPr>
            <a:lvl2pPr lvl="1" algn="r">
              <a:spcBef>
                <a:spcPts val="0"/>
              </a:spcBef>
              <a:spcAft>
                <a:spcPts val="0"/>
              </a:spcAft>
              <a:buSzPts val="2400"/>
              <a:buNone/>
              <a:defRPr sz="2400"/>
            </a:lvl2pPr>
            <a:lvl3pPr lvl="2" algn="r">
              <a:spcBef>
                <a:spcPts val="0"/>
              </a:spcBef>
              <a:spcAft>
                <a:spcPts val="0"/>
              </a:spcAft>
              <a:buSzPts val="2400"/>
              <a:buNone/>
              <a:defRPr sz="2400"/>
            </a:lvl3pPr>
            <a:lvl4pPr lvl="3" algn="r">
              <a:spcBef>
                <a:spcPts val="0"/>
              </a:spcBef>
              <a:spcAft>
                <a:spcPts val="0"/>
              </a:spcAft>
              <a:buSzPts val="2400"/>
              <a:buNone/>
              <a:defRPr sz="2400"/>
            </a:lvl4pPr>
            <a:lvl5pPr lvl="4" algn="r">
              <a:spcBef>
                <a:spcPts val="0"/>
              </a:spcBef>
              <a:spcAft>
                <a:spcPts val="0"/>
              </a:spcAft>
              <a:buSzPts val="2400"/>
              <a:buNone/>
              <a:defRPr sz="2400"/>
            </a:lvl5pPr>
            <a:lvl6pPr lvl="5" algn="r">
              <a:spcBef>
                <a:spcPts val="0"/>
              </a:spcBef>
              <a:spcAft>
                <a:spcPts val="0"/>
              </a:spcAft>
              <a:buSzPts val="2400"/>
              <a:buNone/>
              <a:defRPr sz="2400"/>
            </a:lvl6pPr>
            <a:lvl7pPr lvl="6" algn="r">
              <a:spcBef>
                <a:spcPts val="0"/>
              </a:spcBef>
              <a:spcAft>
                <a:spcPts val="0"/>
              </a:spcAft>
              <a:buSzPts val="2400"/>
              <a:buNone/>
              <a:defRPr sz="2400"/>
            </a:lvl7pPr>
            <a:lvl8pPr lvl="7" algn="r">
              <a:spcBef>
                <a:spcPts val="0"/>
              </a:spcBef>
              <a:spcAft>
                <a:spcPts val="0"/>
              </a:spcAft>
              <a:buSzPts val="2400"/>
              <a:buNone/>
              <a:defRPr sz="2400"/>
            </a:lvl8pPr>
            <a:lvl9pPr lvl="8" algn="r">
              <a:spcBef>
                <a:spcPts val="0"/>
              </a:spcBef>
              <a:spcAft>
                <a:spcPts val="0"/>
              </a:spcAft>
              <a:buSzPts val="2400"/>
              <a:buNone/>
              <a:defRPr sz="24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right 1">
  <p:cSld name="ONE_COLUMN_TEXT_1_1_1">
    <p:spTree>
      <p:nvGrpSpPr>
        <p:cNvPr id="63" name="Shape 63"/>
        <p:cNvGrpSpPr/>
        <p:nvPr/>
      </p:nvGrpSpPr>
      <p:grpSpPr>
        <a:xfrm>
          <a:off x="0" y="0"/>
          <a:ext cx="0" cy="0"/>
          <a:chOff x="0" y="0"/>
          <a:chExt cx="0" cy="0"/>
        </a:xfrm>
      </p:grpSpPr>
      <p:sp>
        <p:nvSpPr>
          <p:cNvPr id="64" name="Google Shape;64;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5" name="Google Shape;65;p15"/>
          <p:cNvSpPr txBox="1"/>
          <p:nvPr>
            <p:ph idx="1" type="body"/>
          </p:nvPr>
        </p:nvSpPr>
        <p:spPr>
          <a:xfrm>
            <a:off x="651850" y="617600"/>
            <a:ext cx="3733200" cy="401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66" name="Google Shape;66;p15" title="Devcon-8-India-slides-template-1-10.jpg"/>
          <p:cNvPicPr preferRelativeResize="0"/>
          <p:nvPr/>
        </p:nvPicPr>
        <p:blipFill rotWithShape="1">
          <a:blip r:embed="rId2">
            <a:alphaModFix/>
          </a:blip>
          <a:srcRect b="0" l="0" r="0" t="0"/>
          <a:stretch/>
        </p:blipFill>
        <p:spPr>
          <a:xfrm>
            <a:off x="4572000" y="0"/>
            <a:ext cx="4572000" cy="5143500"/>
          </a:xfrm>
          <a:prstGeom prst="rect">
            <a:avLst/>
          </a:prstGeom>
          <a:noFill/>
          <a:ln>
            <a:noFill/>
          </a:ln>
        </p:spPr>
      </p:pic>
      <p:sp>
        <p:nvSpPr>
          <p:cNvPr id="67" name="Google Shape;67;p15"/>
          <p:cNvSpPr txBox="1"/>
          <p:nvPr>
            <p:ph type="title"/>
          </p:nvPr>
        </p:nvSpPr>
        <p:spPr>
          <a:xfrm>
            <a:off x="4837000" y="768000"/>
            <a:ext cx="3733200" cy="3607500"/>
          </a:xfrm>
          <a:prstGeom prst="rect">
            <a:avLst/>
          </a:prstGeom>
        </p:spPr>
        <p:txBody>
          <a:bodyPr anchorCtr="0" anchor="ctr" bIns="91425" lIns="91425" spcFirstLastPara="1" rIns="91425" wrap="square" tIns="91425">
            <a:normAutofit/>
          </a:bodyPr>
          <a:lstStyle>
            <a:lvl1pPr lvl="0" algn="l">
              <a:spcBef>
                <a:spcPts val="0"/>
              </a:spcBef>
              <a:spcAft>
                <a:spcPts val="0"/>
              </a:spcAft>
              <a:buClr>
                <a:schemeClr val="lt1"/>
              </a:buClr>
              <a:buSzPts val="2400"/>
              <a:buNone/>
              <a:defRPr sz="2400">
                <a:solidFill>
                  <a:schemeClr val="lt1"/>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8" name="Shape 68"/>
        <p:cNvGrpSpPr/>
        <p:nvPr/>
      </p:nvGrpSpPr>
      <p:grpSpPr>
        <a:xfrm>
          <a:off x="0" y="0"/>
          <a:ext cx="0" cy="0"/>
          <a:chOff x="0" y="0"/>
          <a:chExt cx="0" cy="0"/>
        </a:xfrm>
      </p:grpSpPr>
      <p:sp>
        <p:nvSpPr>
          <p:cNvPr id="69" name="Google Shape;69;p16"/>
          <p:cNvSpPr txBox="1"/>
          <p:nvPr>
            <p:ph type="title"/>
          </p:nvPr>
        </p:nvSpPr>
        <p:spPr>
          <a:xfrm>
            <a:off x="703375" y="935400"/>
            <a:ext cx="7737300" cy="32727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000"/>
              <a:buNone/>
              <a:defRPr sz="3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0" name="Google Shape;70;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1" name="Shape 71"/>
        <p:cNvGrpSpPr/>
        <p:nvPr/>
      </p:nvGrpSpPr>
      <p:grpSpPr>
        <a:xfrm>
          <a:off x="0" y="0"/>
          <a:ext cx="0" cy="0"/>
          <a:chOff x="0" y="0"/>
          <a:chExt cx="0" cy="0"/>
        </a:xfrm>
      </p:grpSpPr>
      <p:sp>
        <p:nvSpPr>
          <p:cNvPr id="72" name="Google Shape;72;p17"/>
          <p:cNvSpPr txBox="1"/>
          <p:nvPr>
            <p:ph hasCustomPrompt="1" type="title"/>
          </p:nvPr>
        </p:nvSpPr>
        <p:spPr>
          <a:xfrm>
            <a:off x="1371615" y="1106125"/>
            <a:ext cx="64008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9000"/>
              <a:buNone/>
              <a:defRPr sz="9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73" name="Google Shape;73;p17"/>
          <p:cNvSpPr txBox="1"/>
          <p:nvPr>
            <p:ph idx="1" type="body"/>
          </p:nvPr>
        </p:nvSpPr>
        <p:spPr>
          <a:xfrm>
            <a:off x="1371587" y="3152225"/>
            <a:ext cx="6400800" cy="1300800"/>
          </a:xfrm>
          <a:prstGeom prst="rect">
            <a:avLst/>
          </a:prstGeom>
        </p:spPr>
        <p:txBody>
          <a:bodyPr anchorCtr="0" anchor="t" bIns="91425" lIns="91425" spcFirstLastPara="1" rIns="91425" wrap="square" tIns="91425">
            <a:normAutofit/>
          </a:bodyPr>
          <a:lstStyle>
            <a:lvl1pPr indent="-317500" lvl="0" marL="457200" algn="ctr">
              <a:spcBef>
                <a:spcPts val="0"/>
              </a:spcBef>
              <a:spcAft>
                <a:spcPts val="0"/>
              </a:spcAft>
              <a:buSzPts val="1400"/>
              <a:buChar char="●"/>
              <a:defRPr/>
            </a:lvl1pPr>
            <a:lvl2pPr indent="-311150" lvl="1" marL="914400" algn="ctr">
              <a:spcBef>
                <a:spcPts val="0"/>
              </a:spcBef>
              <a:spcAft>
                <a:spcPts val="0"/>
              </a:spcAft>
              <a:buSzPts val="1300"/>
              <a:buChar char="○"/>
              <a:defRPr/>
            </a:lvl2pPr>
            <a:lvl3pPr indent="-311150" lvl="2" marL="1371600" algn="ctr">
              <a:spcBef>
                <a:spcPts val="0"/>
              </a:spcBef>
              <a:spcAft>
                <a:spcPts val="0"/>
              </a:spcAft>
              <a:buSzPts val="13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
        <p:nvSpPr>
          <p:cNvPr id="74" name="Google Shape;74;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5" name="Shape 75"/>
        <p:cNvGrpSpPr/>
        <p:nvPr/>
      </p:nvGrpSpPr>
      <p:grpSpPr>
        <a:xfrm>
          <a:off x="0" y="0"/>
          <a:ext cx="0" cy="0"/>
          <a:chOff x="0" y="0"/>
          <a:chExt cx="0" cy="0"/>
        </a:xfrm>
      </p:grpSpPr>
      <p:sp>
        <p:nvSpPr>
          <p:cNvPr id="76" name="Google Shape;76;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0.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1.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74950" y="533400"/>
            <a:ext cx="7394100" cy="598800"/>
          </a:xfrm>
          <a:prstGeom prst="rect">
            <a:avLst/>
          </a:prstGeom>
          <a:noFill/>
          <a:ln>
            <a:noFill/>
          </a:ln>
        </p:spPr>
        <p:txBody>
          <a:bodyPr anchorCtr="0" anchor="t" bIns="91425" lIns="91425" spcFirstLastPara="1" rIns="91425" wrap="square" tIns="91425">
            <a:normAutofit/>
          </a:bodyPr>
          <a:lstStyle>
            <a:lvl1pPr lvl="0" algn="ctr">
              <a:spcBef>
                <a:spcPts val="0"/>
              </a:spcBef>
              <a:spcAft>
                <a:spcPts val="0"/>
              </a:spcAft>
              <a:buClr>
                <a:srgbClr val="36364C"/>
              </a:buClr>
              <a:buSzPts val="2800"/>
              <a:buFont typeface="Poppins ExtraBold"/>
              <a:buNone/>
              <a:defRPr sz="2800">
                <a:solidFill>
                  <a:srgbClr val="36364C"/>
                </a:solidFill>
                <a:latin typeface="Poppins ExtraBold"/>
                <a:ea typeface="Poppins ExtraBold"/>
                <a:cs typeface="Poppins ExtraBold"/>
                <a:sym typeface="Poppins ExtraBold"/>
              </a:defRPr>
            </a:lvl1pPr>
            <a:lvl2pPr lvl="1">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2pPr>
            <a:lvl3pPr lvl="2">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3pPr>
            <a:lvl4pPr lvl="3">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4pPr>
            <a:lvl5pPr lvl="4">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5pPr>
            <a:lvl6pPr lvl="5">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6pPr>
            <a:lvl7pPr lvl="6">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7pPr>
            <a:lvl8pPr lvl="7">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8pPr>
            <a:lvl9pPr lvl="8">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9pPr>
          </a:lstStyle>
          <a:p/>
        </p:txBody>
      </p:sp>
      <p:sp>
        <p:nvSpPr>
          <p:cNvPr id="7" name="Google Shape;7;p1"/>
          <p:cNvSpPr txBox="1"/>
          <p:nvPr>
            <p:ph idx="1" type="body"/>
          </p:nvPr>
        </p:nvSpPr>
        <p:spPr>
          <a:xfrm>
            <a:off x="651925" y="1304875"/>
            <a:ext cx="7840200" cy="3416400"/>
          </a:xfrm>
          <a:prstGeom prst="rect">
            <a:avLst/>
          </a:prstGeom>
          <a:noFill/>
          <a:ln>
            <a:noFill/>
          </a:ln>
        </p:spPr>
        <p:txBody>
          <a:bodyPr anchorCtr="0" anchor="t" bIns="91425" lIns="91425" spcFirstLastPara="1" rIns="91425" wrap="square" tIns="91425">
            <a:normAutofit/>
          </a:bodyPr>
          <a:lstStyle>
            <a:lvl1pPr indent="-317500" lvl="0" marL="457200">
              <a:lnSpc>
                <a:spcPct val="130000"/>
              </a:lnSpc>
              <a:spcBef>
                <a:spcPts val="0"/>
              </a:spcBef>
              <a:spcAft>
                <a:spcPts val="0"/>
              </a:spcAft>
              <a:buClr>
                <a:srgbClr val="36364C"/>
              </a:buClr>
              <a:buSzPts val="1400"/>
              <a:buFont typeface="Poppins"/>
              <a:buChar char="●"/>
              <a:defRPr>
                <a:solidFill>
                  <a:srgbClr val="36364C"/>
                </a:solidFill>
                <a:latin typeface="Poppins"/>
                <a:ea typeface="Poppins"/>
                <a:cs typeface="Poppins"/>
                <a:sym typeface="Poppins"/>
              </a:defRPr>
            </a:lvl1pPr>
            <a:lvl2pPr indent="-311150" lvl="1" marL="914400">
              <a:lnSpc>
                <a:spcPct val="130000"/>
              </a:lnSpc>
              <a:spcBef>
                <a:spcPts val="0"/>
              </a:spcBef>
              <a:spcAft>
                <a:spcPts val="0"/>
              </a:spcAft>
              <a:buClr>
                <a:srgbClr val="36364C"/>
              </a:buClr>
              <a:buSzPts val="1300"/>
              <a:buFont typeface="Poppins"/>
              <a:buChar char="○"/>
              <a:defRPr sz="1300">
                <a:solidFill>
                  <a:srgbClr val="36364C"/>
                </a:solidFill>
                <a:latin typeface="Poppins"/>
                <a:ea typeface="Poppins"/>
                <a:cs typeface="Poppins"/>
                <a:sym typeface="Poppins"/>
              </a:defRPr>
            </a:lvl2pPr>
            <a:lvl3pPr indent="-311150" lvl="2" marL="1371600">
              <a:lnSpc>
                <a:spcPct val="130000"/>
              </a:lnSpc>
              <a:spcBef>
                <a:spcPts val="0"/>
              </a:spcBef>
              <a:spcAft>
                <a:spcPts val="0"/>
              </a:spcAft>
              <a:buClr>
                <a:srgbClr val="36364C"/>
              </a:buClr>
              <a:buSzPts val="1300"/>
              <a:buFont typeface="Poppins"/>
              <a:buChar char="■"/>
              <a:defRPr sz="1300">
                <a:solidFill>
                  <a:srgbClr val="36364C"/>
                </a:solidFill>
                <a:latin typeface="Poppins"/>
                <a:ea typeface="Poppins"/>
                <a:cs typeface="Poppins"/>
                <a:sym typeface="Poppins"/>
              </a:defRPr>
            </a:lvl3pPr>
            <a:lvl4pPr indent="-304800" lvl="3" marL="18288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4pPr>
            <a:lvl5pPr indent="-304800" lvl="4" marL="22860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5pPr>
            <a:lvl6pPr indent="-304800" lvl="5" marL="27432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6pPr>
            <a:lvl7pPr indent="-304800" lvl="6" marL="32004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7pPr>
            <a:lvl8pPr indent="-304800" lvl="7" marL="36576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8pPr>
            <a:lvl9pPr indent="-304800" lvl="8" marL="41148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defRPr>
            </a:lvl1pPr>
            <a:lvl2pPr lvl="1" algn="r">
              <a:buNone/>
              <a:defRPr sz="1000">
                <a:solidFill>
                  <a:schemeClr val="lt1"/>
                </a:solidFill>
              </a:defRPr>
            </a:lvl2pPr>
            <a:lvl3pPr lvl="2" algn="r">
              <a:buNone/>
              <a:defRPr sz="1000">
                <a:solidFill>
                  <a:schemeClr val="lt1"/>
                </a:solidFill>
              </a:defRPr>
            </a:lvl3pPr>
            <a:lvl4pPr lvl="3" algn="r">
              <a:buNone/>
              <a:defRPr sz="1000">
                <a:solidFill>
                  <a:schemeClr val="lt1"/>
                </a:solidFill>
              </a:defRPr>
            </a:lvl4pPr>
            <a:lvl5pPr lvl="4" algn="r">
              <a:buNone/>
              <a:defRPr sz="1000">
                <a:solidFill>
                  <a:schemeClr val="lt1"/>
                </a:solidFill>
              </a:defRPr>
            </a:lvl5pPr>
            <a:lvl6pPr lvl="5" algn="r">
              <a:buNone/>
              <a:defRPr sz="1000">
                <a:solidFill>
                  <a:schemeClr val="lt1"/>
                </a:solidFill>
              </a:defRPr>
            </a:lvl6pPr>
            <a:lvl7pPr lvl="6" algn="r">
              <a:buNone/>
              <a:defRPr sz="1000">
                <a:solidFill>
                  <a:schemeClr val="lt1"/>
                </a:solidFill>
              </a:defRPr>
            </a:lvl7pPr>
            <a:lvl8pPr lvl="7" algn="r">
              <a:buNone/>
              <a:defRPr sz="1000">
                <a:solidFill>
                  <a:schemeClr val="lt1"/>
                </a:solidFill>
              </a:defRPr>
            </a:lvl8pPr>
            <a:lvl9pPr lvl="8" algn="r">
              <a:buNone/>
              <a:defRPr sz="10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Lst>
  <mc:AlternateContent>
    <mc:Choice Requires="p14">
      <p:transition p14:dur="200">
        <p:fade/>
      </p:transition>
    </mc:Choice>
    <mc:Fallback>
      <p:transition>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hyperlink" Target="https://efs.eth.limo/"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pic>
        <p:nvPicPr>
          <p:cNvPr id="81" name="Google Shape;81;p19" title="logo.png"/>
          <p:cNvPicPr preferRelativeResize="0"/>
          <p:nvPr/>
        </p:nvPicPr>
        <p:blipFill>
          <a:blip r:embed="rId3">
            <a:alphaModFix/>
          </a:blip>
          <a:stretch>
            <a:fillRect/>
          </a:stretch>
        </p:blipFill>
        <p:spPr>
          <a:xfrm>
            <a:off x="2594904" y="32075"/>
            <a:ext cx="3954193" cy="2076900"/>
          </a:xfrm>
          <a:prstGeom prst="rect">
            <a:avLst/>
          </a:prstGeom>
          <a:noFill/>
          <a:ln>
            <a:noFill/>
          </a:ln>
        </p:spPr>
      </p:pic>
      <p:sp>
        <p:nvSpPr>
          <p:cNvPr id="82" name="Google Shape;82;p19"/>
          <p:cNvSpPr txBox="1"/>
          <p:nvPr>
            <p:ph type="title"/>
          </p:nvPr>
        </p:nvSpPr>
        <p:spPr>
          <a:xfrm>
            <a:off x="457200" y="1536700"/>
            <a:ext cx="8229600" cy="1740000"/>
          </a:xfrm>
          <a:prstGeom prst="rect">
            <a:avLst/>
          </a:prstGeom>
          <a:solidFill>
            <a:srgbClr val="06038D"/>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000">
                <a:solidFill>
                  <a:srgbClr val="FFFFFF"/>
                </a:solidFill>
                <a:latin typeface="Poppins"/>
                <a:ea typeface="Poppins"/>
                <a:cs typeface="Poppins"/>
                <a:sym typeface="Poppins"/>
              </a:rPr>
              <a:t>Who Can Turn Off</a:t>
            </a:r>
            <a:endParaRPr b="1" sz="4000">
              <a:solidFill>
                <a:srgbClr val="FFFFFF"/>
              </a:solidFill>
              <a:latin typeface="Poppins"/>
              <a:ea typeface="Poppins"/>
              <a:cs typeface="Poppins"/>
              <a:sym typeface="Poppins"/>
            </a:endParaRPr>
          </a:p>
          <a:p>
            <a:pPr indent="0" lvl="0" marL="0" rtl="0" algn="ctr">
              <a:spcBef>
                <a:spcPts val="0"/>
              </a:spcBef>
              <a:spcAft>
                <a:spcPts val="0"/>
              </a:spcAft>
              <a:buNone/>
            </a:pPr>
            <a:r>
              <a:rPr b="1" lang="en" sz="4000">
                <a:solidFill>
                  <a:srgbClr val="FFFFFF"/>
                </a:solidFill>
                <a:latin typeface="Poppins"/>
                <a:ea typeface="Poppins"/>
                <a:cs typeface="Poppins"/>
                <a:sym typeface="Poppins"/>
              </a:rPr>
              <a:t>Your Ethereum App?</a:t>
            </a:r>
            <a:endParaRPr b="1" sz="4000">
              <a:solidFill>
                <a:srgbClr val="FFFFFF"/>
              </a:solidFill>
              <a:latin typeface="Poppins"/>
              <a:ea typeface="Poppins"/>
              <a:cs typeface="Poppins"/>
              <a:sym typeface="Poppins"/>
            </a:endParaRPr>
          </a:p>
        </p:txBody>
      </p:sp>
      <p:sp>
        <p:nvSpPr>
          <p:cNvPr id="83" name="Google Shape;83;p19"/>
          <p:cNvSpPr txBox="1"/>
          <p:nvPr/>
        </p:nvSpPr>
        <p:spPr>
          <a:xfrm>
            <a:off x="2398500" y="4026092"/>
            <a:ext cx="4347000" cy="9777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2400">
                <a:solidFill>
                  <a:srgbClr val="FFFFFF"/>
                </a:solidFill>
                <a:latin typeface="Roboto Condensed"/>
                <a:ea typeface="Roboto Condensed"/>
                <a:cs typeface="Roboto Condensed"/>
                <a:sym typeface="Roboto Condensed"/>
              </a:rPr>
              <a:t>James Carnley</a:t>
            </a:r>
            <a:endParaRPr b="1" sz="2400">
              <a:solidFill>
                <a:srgbClr val="FFFFFF"/>
              </a:solidFill>
              <a:latin typeface="Roboto Condensed"/>
              <a:ea typeface="Roboto Condensed"/>
              <a:cs typeface="Roboto Condensed"/>
              <a:sym typeface="Roboto Condensed"/>
            </a:endParaRPr>
          </a:p>
          <a:p>
            <a:pPr indent="0" lvl="0" marL="0" rtl="0" algn="ctr">
              <a:lnSpc>
                <a:spcPct val="115000"/>
              </a:lnSpc>
              <a:spcBef>
                <a:spcPts val="0"/>
              </a:spcBef>
              <a:spcAft>
                <a:spcPts val="0"/>
              </a:spcAft>
              <a:buNone/>
            </a:pPr>
            <a:r>
              <a:rPr lang="en" sz="2400">
                <a:solidFill>
                  <a:srgbClr val="FFFFFF"/>
                </a:solidFill>
                <a:latin typeface="Libre Franklin"/>
                <a:ea typeface="Libre Franklin"/>
                <a:cs typeface="Libre Franklin"/>
                <a:sym typeface="Libre Franklin"/>
              </a:rPr>
              <a:t>Ethereum File System</a:t>
            </a:r>
            <a:endParaRPr sz="2400">
              <a:solidFill>
                <a:srgbClr val="FFFFFF"/>
              </a:solidFill>
              <a:latin typeface="Libre Franklin"/>
              <a:ea typeface="Libre Franklin"/>
              <a:cs typeface="Libre Franklin"/>
              <a:sym typeface="Libre Franklin"/>
            </a:endParaRPr>
          </a:p>
        </p:txBody>
      </p:sp>
      <p:sp>
        <p:nvSpPr>
          <p:cNvPr id="84" name="Google Shape;84;p19"/>
          <p:cNvSpPr txBox="1"/>
          <p:nvPr>
            <p:ph idx="1" type="subTitle"/>
          </p:nvPr>
        </p:nvSpPr>
        <p:spPr>
          <a:xfrm>
            <a:off x="457200" y="2736700"/>
            <a:ext cx="8229600" cy="540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Poppins"/>
                <a:ea typeface="Poppins"/>
                <a:cs typeface="Poppins"/>
                <a:sym typeface="Poppins"/>
              </a:rPr>
              <a:t>A Full-Stack Walk-Away Test</a:t>
            </a:r>
            <a:endParaRPr b="1" sz="2400">
              <a:solidFill>
                <a:srgbClr val="FFFFFF"/>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20"/>
          <p:cNvSpPr txBox="1"/>
          <p:nvPr>
            <p:ph type="title"/>
          </p:nvPr>
        </p:nvSpPr>
        <p:spPr>
          <a:xfrm>
            <a:off x="457200" y="2150850"/>
            <a:ext cx="8229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Why make an app you can walk away from?</a:t>
            </a:r>
            <a:endParaRPr/>
          </a:p>
        </p:txBody>
      </p:sp>
      <p:sp>
        <p:nvSpPr>
          <p:cNvPr id="90" name="Google Shape;90;p20"/>
          <p:cNvSpPr txBox="1"/>
          <p:nvPr/>
        </p:nvSpPr>
        <p:spPr>
          <a:xfrm>
            <a:off x="1789350" y="1821650"/>
            <a:ext cx="5565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Building Cypherpunk Apps</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1"/>
          <p:cNvSpPr txBox="1"/>
          <p:nvPr>
            <p:ph type="title"/>
          </p:nvPr>
        </p:nvSpPr>
        <p:spPr>
          <a:xfrm>
            <a:off x="587375" y="694800"/>
            <a:ext cx="3693000" cy="37539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What happens when an app disappears?</a:t>
            </a:r>
            <a:endParaRPr/>
          </a:p>
          <a:p>
            <a:pPr indent="0" lvl="0" marL="0" rtl="0" algn="r">
              <a:spcBef>
                <a:spcPts val="0"/>
              </a:spcBef>
              <a:spcAft>
                <a:spcPts val="0"/>
              </a:spcAft>
              <a:buNone/>
            </a:pPr>
            <a:r>
              <a:t/>
            </a:r>
            <a:endParaRPr/>
          </a:p>
        </p:txBody>
      </p:sp>
      <p:sp>
        <p:nvSpPr>
          <p:cNvPr id="96" name="Google Shape;96;p21"/>
          <p:cNvSpPr txBox="1"/>
          <p:nvPr>
            <p:ph idx="1" type="body"/>
          </p:nvPr>
        </p:nvSpPr>
        <p:spPr>
          <a:xfrm>
            <a:off x="4859150" y="694800"/>
            <a:ext cx="3693000" cy="3834300"/>
          </a:xfrm>
          <a:prstGeom prst="rect">
            <a:avLst/>
          </a:prstGeom>
        </p:spPr>
        <p:txBody>
          <a:bodyPr anchorCtr="0" anchor="ctr" bIns="91425" lIns="91425" spcFirstLastPara="1" rIns="91425" wrap="square" tIns="91425">
            <a:noAutofit/>
          </a:bodyPr>
          <a:lstStyle/>
          <a:p>
            <a:pPr indent="-457200" lvl="0" marL="304800" rtl="0" algn="l">
              <a:lnSpc>
                <a:spcPct val="110000"/>
              </a:lnSpc>
              <a:spcBef>
                <a:spcPts val="0"/>
              </a:spcBef>
              <a:spcAft>
                <a:spcPts val="0"/>
              </a:spcAft>
              <a:buClr>
                <a:schemeClr val="accent2"/>
              </a:buClr>
              <a:buSzPts val="2400"/>
              <a:buChar char="●"/>
            </a:pPr>
            <a:r>
              <a:rPr lang="en" sz="2400">
                <a:solidFill>
                  <a:schemeClr val="accent2"/>
                </a:solidFill>
              </a:rPr>
              <a:t>Users lose their work and trust</a:t>
            </a:r>
            <a:endParaRPr sz="2400">
              <a:solidFill>
                <a:schemeClr val="accent2"/>
              </a:solidFill>
            </a:endParaRPr>
          </a:p>
          <a:p>
            <a:pPr indent="-457200" lvl="0" marL="304800" rtl="0" algn="l">
              <a:lnSpc>
                <a:spcPct val="110000"/>
              </a:lnSpc>
              <a:spcBef>
                <a:spcPts val="0"/>
              </a:spcBef>
              <a:spcAft>
                <a:spcPts val="0"/>
              </a:spcAft>
              <a:buClr>
                <a:schemeClr val="accent2"/>
              </a:buClr>
              <a:buSzPts val="2400"/>
              <a:buChar char="●"/>
            </a:pPr>
            <a:r>
              <a:rPr lang="en" sz="2400">
                <a:solidFill>
                  <a:schemeClr val="accent2"/>
                </a:solidFill>
              </a:rPr>
              <a:t>Other developers can’t rely on that functionality</a:t>
            </a:r>
            <a:endParaRPr sz="2400">
              <a:solidFill>
                <a:schemeClr val="accent2"/>
              </a:solidFill>
            </a:endParaRPr>
          </a:p>
          <a:p>
            <a:pPr indent="-457200" lvl="0" marL="304800" rtl="0" algn="l">
              <a:lnSpc>
                <a:spcPct val="110000"/>
              </a:lnSpc>
              <a:spcBef>
                <a:spcPts val="0"/>
              </a:spcBef>
              <a:spcAft>
                <a:spcPts val="0"/>
              </a:spcAft>
              <a:buClr>
                <a:schemeClr val="accent2"/>
              </a:buClr>
              <a:buSzPts val="2400"/>
              <a:buChar char="●"/>
            </a:pPr>
            <a:r>
              <a:rPr lang="en" sz="2400">
                <a:solidFill>
                  <a:schemeClr val="accent2"/>
                </a:solidFill>
              </a:rPr>
              <a:t>Communities splinter</a:t>
            </a:r>
            <a:endParaRPr sz="2400">
              <a:solidFill>
                <a:schemeClr val="accent2"/>
              </a:solidFill>
            </a:endParaRPr>
          </a:p>
        </p:txBody>
      </p:sp>
    </p:spTree>
  </p:cSld>
  <p:clrMapOvr>
    <a:masterClrMapping/>
  </p:clrMapOvr>
  <mc:AlternateContent>
    <mc:Choice Requires="p14">
      <p:transition p14:dur="20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2"/>
          <p:cNvSpPr txBox="1"/>
          <p:nvPr>
            <p:ph idx="1" type="body"/>
          </p:nvPr>
        </p:nvSpPr>
        <p:spPr>
          <a:xfrm>
            <a:off x="720549" y="1280150"/>
            <a:ext cx="37527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For people</a:t>
            </a:r>
            <a:endParaRPr b="1"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Keep years of useful work</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Choose better tools</a:t>
            </a:r>
            <a:endParaRPr sz="2400">
              <a:solidFill>
                <a:srgbClr val="212121"/>
              </a:solidFill>
            </a:endParaRPr>
          </a:p>
        </p:txBody>
      </p:sp>
      <p:sp>
        <p:nvSpPr>
          <p:cNvPr id="102" name="Google Shape;102;p22"/>
          <p:cNvSpPr txBox="1"/>
          <p:nvPr>
            <p:ph idx="2" type="body"/>
          </p:nvPr>
        </p:nvSpPr>
        <p:spPr>
          <a:xfrm>
            <a:off x="4680000" y="1280150"/>
            <a:ext cx="37923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For builders</a:t>
            </a:r>
            <a:endParaRPr b="1"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Reuse dependable capabilities</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Build bigger things together</a:t>
            </a:r>
            <a:endParaRPr sz="2400">
              <a:solidFill>
                <a:srgbClr val="212121"/>
              </a:solidFill>
            </a:endParaRPr>
          </a:p>
        </p:txBody>
      </p:sp>
      <p:sp>
        <p:nvSpPr>
          <p:cNvPr id="103" name="Google Shape;103;p22"/>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200">
                <a:solidFill>
                  <a:srgbClr val="06038D"/>
                </a:solidFill>
                <a:latin typeface="Poppins"/>
                <a:ea typeface="Poppins"/>
                <a:cs typeface="Poppins"/>
                <a:sym typeface="Poppins"/>
              </a:rPr>
              <a:t>Software worth building on</a:t>
            </a:r>
            <a:endParaRPr b="1" sz="3200">
              <a:solidFill>
                <a:srgbClr val="06038D"/>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3"/>
          <p:cNvSpPr txBox="1"/>
          <p:nvPr>
            <p:ph type="title"/>
          </p:nvPr>
        </p:nvSpPr>
        <p:spPr>
          <a:xfrm>
            <a:off x="508000" y="508000"/>
            <a:ext cx="8127900" cy="6603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06038D"/>
                </a:solidFill>
                <a:latin typeface="Poppins"/>
                <a:ea typeface="Poppins"/>
                <a:cs typeface="Poppins"/>
                <a:sym typeface="Poppins"/>
              </a:rPr>
              <a:t>Hyperstructures: shared foundations</a:t>
            </a:r>
            <a:endParaRPr b="1">
              <a:solidFill>
                <a:srgbClr val="06038D"/>
              </a:solidFill>
              <a:latin typeface="Poppins"/>
              <a:ea typeface="Poppins"/>
              <a:cs typeface="Poppins"/>
              <a:sym typeface="Poppins"/>
            </a:endParaRPr>
          </a:p>
        </p:txBody>
      </p:sp>
      <p:sp>
        <p:nvSpPr>
          <p:cNvPr id="109" name="Google Shape;109;p23"/>
          <p:cNvSpPr txBox="1"/>
          <p:nvPr/>
        </p:nvSpPr>
        <p:spPr>
          <a:xfrm>
            <a:off x="698500" y="1257300"/>
            <a:ext cx="7746900" cy="457200"/>
          </a:xfrm>
          <a:prstGeom prst="rect">
            <a:avLst/>
          </a:prstGeom>
          <a:no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2000">
                <a:solidFill>
                  <a:srgbClr val="212121"/>
                </a:solidFill>
                <a:latin typeface="Poppins"/>
                <a:ea typeface="Poppins"/>
                <a:cs typeface="Poppins"/>
                <a:sym typeface="Poppins"/>
              </a:rPr>
              <a:t>Public protocols that work without their creators</a:t>
            </a:r>
            <a:endParaRPr sz="2000">
              <a:solidFill>
                <a:srgbClr val="212121"/>
              </a:solidFill>
              <a:latin typeface="Poppins"/>
              <a:ea typeface="Poppins"/>
              <a:cs typeface="Poppins"/>
              <a:sym typeface="Poppins"/>
            </a:endParaRPr>
          </a:p>
        </p:txBody>
      </p:sp>
      <p:sp>
        <p:nvSpPr>
          <p:cNvPr id="110" name="Google Shape;110;p23"/>
          <p:cNvSpPr/>
          <p:nvPr/>
        </p:nvSpPr>
        <p:spPr>
          <a:xfrm>
            <a:off x="825500" y="2057400"/>
            <a:ext cx="2286000" cy="736500"/>
          </a:xfrm>
          <a:prstGeom prst="rect">
            <a:avLst/>
          </a:prstGeom>
          <a:noFill/>
          <a:ln cap="flat" cmpd="sng" w="1650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2200">
                <a:solidFill>
                  <a:srgbClr val="212121"/>
                </a:solidFill>
                <a:latin typeface="Poppins"/>
                <a:ea typeface="Poppins"/>
                <a:cs typeface="Poppins"/>
                <a:sym typeface="Poppins"/>
              </a:rPr>
              <a:t>Wallet</a:t>
            </a:r>
            <a:endParaRPr sz="2200">
              <a:solidFill>
                <a:srgbClr val="212121"/>
              </a:solidFill>
              <a:latin typeface="Poppins"/>
              <a:ea typeface="Poppins"/>
              <a:cs typeface="Poppins"/>
              <a:sym typeface="Poppins"/>
            </a:endParaRPr>
          </a:p>
        </p:txBody>
      </p:sp>
      <p:cxnSp>
        <p:nvCxnSpPr>
          <p:cNvPr id="111" name="Google Shape;111;p23"/>
          <p:cNvCxnSpPr/>
          <p:nvPr/>
        </p:nvCxnSpPr>
        <p:spPr>
          <a:xfrm rot="10800000">
            <a:off x="1968500" y="2819400"/>
            <a:ext cx="0" cy="533400"/>
          </a:xfrm>
          <a:prstGeom prst="straightConnector1">
            <a:avLst/>
          </a:prstGeom>
          <a:noFill/>
          <a:ln cap="flat" cmpd="sng" w="19050">
            <a:solidFill>
              <a:srgbClr val="06038D"/>
            </a:solidFill>
            <a:prstDash val="solid"/>
            <a:round/>
            <a:headEnd len="med" w="med" type="none"/>
            <a:tailEnd len="med" w="med" type="triangle"/>
          </a:ln>
        </p:spPr>
      </p:cxnSp>
      <p:sp>
        <p:nvSpPr>
          <p:cNvPr id="112" name="Google Shape;112;p23"/>
          <p:cNvSpPr/>
          <p:nvPr/>
        </p:nvSpPr>
        <p:spPr>
          <a:xfrm>
            <a:off x="3429000" y="2057400"/>
            <a:ext cx="2286000" cy="736500"/>
          </a:xfrm>
          <a:prstGeom prst="rect">
            <a:avLst/>
          </a:prstGeom>
          <a:noFill/>
          <a:ln cap="flat" cmpd="sng" w="1650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2200">
                <a:solidFill>
                  <a:srgbClr val="212121"/>
                </a:solidFill>
                <a:latin typeface="Poppins"/>
                <a:ea typeface="Poppins"/>
                <a:cs typeface="Poppins"/>
                <a:sym typeface="Poppins"/>
              </a:rPr>
              <a:t>Trading app</a:t>
            </a:r>
            <a:endParaRPr sz="2200">
              <a:solidFill>
                <a:srgbClr val="212121"/>
              </a:solidFill>
              <a:latin typeface="Poppins"/>
              <a:ea typeface="Poppins"/>
              <a:cs typeface="Poppins"/>
              <a:sym typeface="Poppins"/>
            </a:endParaRPr>
          </a:p>
        </p:txBody>
      </p:sp>
      <p:cxnSp>
        <p:nvCxnSpPr>
          <p:cNvPr id="113" name="Google Shape;113;p23"/>
          <p:cNvCxnSpPr/>
          <p:nvPr/>
        </p:nvCxnSpPr>
        <p:spPr>
          <a:xfrm rot="10800000">
            <a:off x="4572000" y="2819400"/>
            <a:ext cx="0" cy="533400"/>
          </a:xfrm>
          <a:prstGeom prst="straightConnector1">
            <a:avLst/>
          </a:prstGeom>
          <a:noFill/>
          <a:ln cap="flat" cmpd="sng" w="19050">
            <a:solidFill>
              <a:srgbClr val="06038D"/>
            </a:solidFill>
            <a:prstDash val="solid"/>
            <a:round/>
            <a:headEnd len="med" w="med" type="none"/>
            <a:tailEnd len="med" w="med" type="triangle"/>
          </a:ln>
        </p:spPr>
      </p:cxnSp>
      <p:sp>
        <p:nvSpPr>
          <p:cNvPr id="114" name="Google Shape;114;p23"/>
          <p:cNvSpPr/>
          <p:nvPr/>
        </p:nvSpPr>
        <p:spPr>
          <a:xfrm>
            <a:off x="6032500" y="2057400"/>
            <a:ext cx="2286000" cy="736500"/>
          </a:xfrm>
          <a:prstGeom prst="rect">
            <a:avLst/>
          </a:prstGeom>
          <a:noFill/>
          <a:ln cap="flat" cmpd="sng" w="1650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2200">
                <a:solidFill>
                  <a:srgbClr val="212121"/>
                </a:solidFill>
                <a:latin typeface="Poppins"/>
                <a:ea typeface="Poppins"/>
                <a:cs typeface="Poppins"/>
                <a:sym typeface="Poppins"/>
              </a:rPr>
              <a:t>Community app</a:t>
            </a:r>
            <a:endParaRPr sz="2200">
              <a:solidFill>
                <a:srgbClr val="212121"/>
              </a:solidFill>
              <a:latin typeface="Poppins"/>
              <a:ea typeface="Poppins"/>
              <a:cs typeface="Poppins"/>
              <a:sym typeface="Poppins"/>
            </a:endParaRPr>
          </a:p>
        </p:txBody>
      </p:sp>
      <p:cxnSp>
        <p:nvCxnSpPr>
          <p:cNvPr id="115" name="Google Shape;115;p23"/>
          <p:cNvCxnSpPr/>
          <p:nvPr/>
        </p:nvCxnSpPr>
        <p:spPr>
          <a:xfrm rot="10800000">
            <a:off x="7175500" y="2819400"/>
            <a:ext cx="0" cy="533400"/>
          </a:xfrm>
          <a:prstGeom prst="straightConnector1">
            <a:avLst/>
          </a:prstGeom>
          <a:noFill/>
          <a:ln cap="flat" cmpd="sng" w="19050">
            <a:solidFill>
              <a:srgbClr val="06038D"/>
            </a:solidFill>
            <a:prstDash val="solid"/>
            <a:round/>
            <a:headEnd len="med" w="med" type="none"/>
            <a:tailEnd len="med" w="med" type="triangle"/>
          </a:ln>
        </p:spPr>
      </p:cxnSp>
      <p:sp>
        <p:nvSpPr>
          <p:cNvPr id="116" name="Google Shape;116;p23"/>
          <p:cNvSpPr/>
          <p:nvPr/>
        </p:nvSpPr>
        <p:spPr>
          <a:xfrm>
            <a:off x="825500" y="3390900"/>
            <a:ext cx="7493100" cy="7365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sz="2400">
                <a:solidFill>
                  <a:srgbClr val="FFFFFF"/>
                </a:solidFill>
                <a:latin typeface="Poppins"/>
                <a:ea typeface="Poppins"/>
                <a:cs typeface="Poppins"/>
                <a:sym typeface="Poppins"/>
              </a:rPr>
              <a:t>Open protocol with stable rules</a:t>
            </a:r>
            <a:endParaRPr b="1" sz="2400">
              <a:solidFill>
                <a:srgbClr val="FFFFFF"/>
              </a:solidFill>
              <a:latin typeface="Poppins"/>
              <a:ea typeface="Poppins"/>
              <a:cs typeface="Poppins"/>
              <a:sym typeface="Poppins"/>
            </a:endParaRPr>
          </a:p>
        </p:txBody>
      </p:sp>
      <p:sp>
        <p:nvSpPr>
          <p:cNvPr id="117" name="Google Shape;117;p23"/>
          <p:cNvSpPr txBox="1"/>
          <p:nvPr/>
        </p:nvSpPr>
        <p:spPr>
          <a:xfrm>
            <a:off x="762000" y="4279900"/>
            <a:ext cx="7620000" cy="444600"/>
          </a:xfrm>
          <a:prstGeom prst="rect">
            <a:avLst/>
          </a:prstGeom>
          <a:no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2000">
                <a:solidFill>
                  <a:srgbClr val="212121"/>
                </a:solidFill>
                <a:latin typeface="Poppins"/>
                <a:ea typeface="Poppins"/>
                <a:cs typeface="Poppins"/>
                <a:sym typeface="Poppins"/>
              </a:rPr>
              <a:t>Each new app adds value to the shared foundation</a:t>
            </a:r>
            <a:endParaRPr sz="2000">
              <a:solidFill>
                <a:srgbClr val="212121"/>
              </a:solidFill>
              <a:latin typeface="Poppins"/>
              <a:ea typeface="Poppins"/>
              <a:cs typeface="Poppins"/>
              <a:sym typeface="Poppi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4"/>
          <p:cNvSpPr txBox="1"/>
          <p:nvPr>
            <p:ph idx="1" type="body"/>
          </p:nvPr>
        </p:nvSpPr>
        <p:spPr>
          <a:xfrm>
            <a:off x="670549" y="1280150"/>
            <a:ext cx="37527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The team disappears</a:t>
            </a:r>
            <a:endParaRPr b="1"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Can users keep working?</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Can others run the services?</a:t>
            </a:r>
            <a:endParaRPr sz="2400">
              <a:solidFill>
                <a:srgbClr val="212121"/>
              </a:solidFill>
            </a:endParaRPr>
          </a:p>
        </p:txBody>
      </p:sp>
      <p:sp>
        <p:nvSpPr>
          <p:cNvPr id="123" name="Google Shape;123;p24"/>
          <p:cNvSpPr txBox="1"/>
          <p:nvPr>
            <p:ph idx="2" type="body"/>
          </p:nvPr>
        </p:nvSpPr>
        <p:spPr>
          <a:xfrm>
            <a:off x="4608575" y="1280150"/>
            <a:ext cx="40569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Control becomes hostile</a:t>
            </a:r>
            <a:endParaRPr b="1"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Can users keep their work?</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Can they keep the rules they chose?</a:t>
            </a:r>
            <a:endParaRPr sz="2400">
              <a:solidFill>
                <a:srgbClr val="212121"/>
              </a:solidFill>
            </a:endParaRPr>
          </a:p>
        </p:txBody>
      </p:sp>
      <p:sp>
        <p:nvSpPr>
          <p:cNvPr id="124" name="Google Shape;124;p24"/>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200">
                <a:solidFill>
                  <a:srgbClr val="06038D"/>
                </a:solidFill>
                <a:latin typeface="Poppins"/>
                <a:ea typeface="Poppins"/>
                <a:cs typeface="Poppins"/>
                <a:sym typeface="Poppins"/>
              </a:rPr>
              <a:t>A walk-away test</a:t>
            </a:r>
            <a:endParaRPr b="1" sz="3200">
              <a:solidFill>
                <a:srgbClr val="06038D"/>
              </a:solidFill>
              <a:latin typeface="Poppins"/>
              <a:ea typeface="Poppins"/>
              <a:cs typeface="Poppins"/>
              <a:sym typeface="Poppi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5"/>
          <p:cNvSpPr txBox="1"/>
          <p:nvPr>
            <p:ph type="title"/>
          </p:nvPr>
        </p:nvSpPr>
        <p:spPr>
          <a:xfrm>
            <a:off x="482600" y="1587500"/>
            <a:ext cx="2489100" cy="533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1800"/>
              <a:t>Interface</a:t>
            </a:r>
            <a:endParaRPr sz="1800"/>
          </a:p>
        </p:txBody>
      </p:sp>
      <p:sp>
        <p:nvSpPr>
          <p:cNvPr id="130" name="Google Shape;130;p25"/>
          <p:cNvSpPr txBox="1"/>
          <p:nvPr>
            <p:ph idx="4294967295" type="body"/>
          </p:nvPr>
        </p:nvSpPr>
        <p:spPr>
          <a:xfrm>
            <a:off x="609600" y="2603500"/>
            <a:ext cx="2349600" cy="1650900"/>
          </a:xfrm>
          <a:prstGeom prst="rect">
            <a:avLst/>
          </a:prstGeom>
        </p:spPr>
        <p:txBody>
          <a:bodyPr anchorCtr="0" anchor="t" bIns="91425" lIns="91425" spcFirstLastPara="1" rIns="91425" wrap="square" tIns="91425">
            <a:noAutofit/>
          </a:bodyPr>
          <a:lstStyle/>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Names and discovery</a:t>
            </a:r>
            <a:endParaRPr sz="1800">
              <a:solidFill>
                <a:srgbClr val="212121"/>
              </a:solidFill>
            </a:endParaRPr>
          </a:p>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Runnable software</a:t>
            </a:r>
            <a:endParaRPr sz="1800">
              <a:solidFill>
                <a:srgbClr val="212121"/>
              </a:solidFill>
            </a:endParaRPr>
          </a:p>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Accounts and recovery</a:t>
            </a:r>
            <a:endParaRPr sz="1800">
              <a:solidFill>
                <a:srgbClr val="212121"/>
              </a:solidFill>
            </a:endParaRPr>
          </a:p>
        </p:txBody>
      </p:sp>
      <p:sp>
        <p:nvSpPr>
          <p:cNvPr id="131" name="Google Shape;131;p25"/>
          <p:cNvSpPr/>
          <p:nvPr/>
        </p:nvSpPr>
        <p:spPr>
          <a:xfrm>
            <a:off x="0" y="2303000"/>
            <a:ext cx="9144000" cy="18300"/>
          </a:xfrm>
          <a:prstGeom prst="rect">
            <a:avLst/>
          </a:prstGeom>
          <a:solidFill>
            <a:srgbClr val="AAA7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25"/>
          <p:cNvSpPr txBox="1"/>
          <p:nvPr>
            <p:ph type="title"/>
          </p:nvPr>
        </p:nvSpPr>
        <p:spPr>
          <a:xfrm>
            <a:off x="3327400" y="1587500"/>
            <a:ext cx="2489100" cy="533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1800"/>
              <a:t>Data</a:t>
            </a:r>
            <a:endParaRPr sz="1800"/>
          </a:p>
        </p:txBody>
      </p:sp>
      <p:sp>
        <p:nvSpPr>
          <p:cNvPr id="133" name="Google Shape;133;p25"/>
          <p:cNvSpPr txBox="1"/>
          <p:nvPr>
            <p:ph idx="4294967295" type="body"/>
          </p:nvPr>
        </p:nvSpPr>
        <p:spPr>
          <a:xfrm>
            <a:off x="3454400" y="2603500"/>
            <a:ext cx="2349600" cy="1650900"/>
          </a:xfrm>
          <a:prstGeom prst="rect">
            <a:avLst/>
          </a:prstGeom>
        </p:spPr>
        <p:txBody>
          <a:bodyPr anchorCtr="0" anchor="t" bIns="91425" lIns="91425" spcFirstLastPara="1" rIns="91425" wrap="square" tIns="91425">
            <a:noAutofit/>
          </a:bodyPr>
          <a:lstStyle/>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Storage and formats</a:t>
            </a:r>
            <a:endParaRPr sz="1800">
              <a:solidFill>
                <a:srgbClr val="212121"/>
              </a:solidFill>
            </a:endParaRPr>
          </a:p>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State and indexes</a:t>
            </a:r>
            <a:endParaRPr sz="1800">
              <a:solidFill>
                <a:srgbClr val="212121"/>
              </a:solidFill>
            </a:endParaRPr>
          </a:p>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Background work</a:t>
            </a:r>
            <a:endParaRPr sz="1800">
              <a:solidFill>
                <a:srgbClr val="212121"/>
              </a:solidFill>
            </a:endParaRPr>
          </a:p>
        </p:txBody>
      </p:sp>
      <p:sp>
        <p:nvSpPr>
          <p:cNvPr id="134" name="Google Shape;134;p25"/>
          <p:cNvSpPr txBox="1"/>
          <p:nvPr>
            <p:ph type="title"/>
          </p:nvPr>
        </p:nvSpPr>
        <p:spPr>
          <a:xfrm>
            <a:off x="6312900" y="1601150"/>
            <a:ext cx="2489100" cy="533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1800"/>
              <a:t>Rules</a:t>
            </a:r>
            <a:endParaRPr sz="1800"/>
          </a:p>
        </p:txBody>
      </p:sp>
      <p:sp>
        <p:nvSpPr>
          <p:cNvPr id="135" name="Google Shape;135;p25"/>
          <p:cNvSpPr txBox="1"/>
          <p:nvPr>
            <p:ph idx="4294967295" type="body"/>
          </p:nvPr>
        </p:nvSpPr>
        <p:spPr>
          <a:xfrm>
            <a:off x="6299200" y="2603500"/>
            <a:ext cx="2609100" cy="1650900"/>
          </a:xfrm>
          <a:prstGeom prst="rect">
            <a:avLst/>
          </a:prstGeom>
        </p:spPr>
        <p:txBody>
          <a:bodyPr anchorCtr="0" anchor="t" bIns="91425" lIns="91425" spcFirstLastPara="1" rIns="91425" wrap="square" tIns="91425">
            <a:noAutofit/>
          </a:bodyPr>
          <a:lstStyle/>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Contracts and governance</a:t>
            </a:r>
            <a:endParaRPr sz="1800">
              <a:solidFill>
                <a:srgbClr val="212121"/>
              </a:solidFill>
            </a:endParaRPr>
          </a:p>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Network and settlement</a:t>
            </a:r>
            <a:endParaRPr sz="1800">
              <a:solidFill>
                <a:srgbClr val="212121"/>
              </a:solidFill>
            </a:endParaRPr>
          </a:p>
        </p:txBody>
      </p:sp>
      <p:sp>
        <p:nvSpPr>
          <p:cNvPr id="136" name="Google Shape;136;p25"/>
          <p:cNvSpPr/>
          <p:nvPr/>
        </p:nvSpPr>
        <p:spPr>
          <a:xfrm>
            <a:off x="7474950" y="2229650"/>
            <a:ext cx="165000" cy="165000"/>
          </a:xfrm>
          <a:prstGeom prst="ellipse">
            <a:avLst/>
          </a:prstGeom>
          <a:solidFill>
            <a:srgbClr val="FD4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25"/>
          <p:cNvSpPr/>
          <p:nvPr/>
        </p:nvSpPr>
        <p:spPr>
          <a:xfrm>
            <a:off x="1504050" y="2234050"/>
            <a:ext cx="165000" cy="165000"/>
          </a:xfrm>
          <a:prstGeom prst="ellipse">
            <a:avLst/>
          </a:prstGeom>
          <a:solidFill>
            <a:srgbClr val="FF6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25"/>
          <p:cNvSpPr/>
          <p:nvPr/>
        </p:nvSpPr>
        <p:spPr>
          <a:xfrm>
            <a:off x="4489500" y="2234063"/>
            <a:ext cx="165000" cy="165000"/>
          </a:xfrm>
          <a:prstGeom prst="ellipse">
            <a:avLst/>
          </a:prstGeom>
          <a:solidFill>
            <a:srgbClr val="0603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25"/>
          <p:cNvSpPr txBox="1"/>
          <p:nvPr>
            <p:ph type="title"/>
          </p:nvPr>
        </p:nvSpPr>
        <p:spPr>
          <a:xfrm>
            <a:off x="874950" y="604825"/>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The application stack</a:t>
            </a:r>
            <a:endParaRPr b="1" sz="3200">
              <a:solidFill>
                <a:srgbClr val="06038D"/>
              </a:solidFill>
              <a:latin typeface="Poppins"/>
              <a:ea typeface="Poppins"/>
              <a:cs typeface="Poppins"/>
              <a:sym typeface="Poppins"/>
            </a:endParaRPr>
          </a:p>
          <a:p>
            <a:pPr indent="0" lvl="0" marL="0" rtl="0" algn="ctr">
              <a:spcBef>
                <a:spcPts val="0"/>
              </a:spcBef>
              <a:spcAft>
                <a:spcPts val="0"/>
              </a:spcAft>
              <a:buNone/>
            </a:pPr>
            <a:r>
              <a:t/>
            </a:r>
            <a:endParaRPr b="1" sz="3200">
              <a:solidFill>
                <a:srgbClr val="06038D"/>
              </a:solidFill>
              <a:latin typeface="Poppins"/>
              <a:ea typeface="Poppins"/>
              <a:cs typeface="Poppins"/>
              <a:sym typeface="Poppi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6"/>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Finding and using the app</a:t>
            </a:r>
            <a:endParaRPr/>
          </a:p>
        </p:txBody>
      </p:sp>
      <p:sp>
        <p:nvSpPr>
          <p:cNvPr id="145" name="Google Shape;145;p26"/>
          <p:cNvSpPr txBox="1"/>
          <p:nvPr/>
        </p:nvSpPr>
        <p:spPr>
          <a:xfrm>
            <a:off x="3252600" y="1801550"/>
            <a:ext cx="2638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Interface</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7"/>
          <p:cNvSpPr txBox="1"/>
          <p:nvPr>
            <p:ph type="title"/>
          </p:nvPr>
        </p:nvSpPr>
        <p:spPr>
          <a:xfrm>
            <a:off x="4837000" y="768000"/>
            <a:ext cx="3733200" cy="3607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Can people find and use your app?</a:t>
            </a:r>
            <a:endParaRPr/>
          </a:p>
        </p:txBody>
      </p:sp>
      <p:sp>
        <p:nvSpPr>
          <p:cNvPr id="151" name="Google Shape;151;p27"/>
          <p:cNvSpPr txBox="1"/>
          <p:nvPr>
            <p:ph idx="1" type="body"/>
          </p:nvPr>
        </p:nvSpPr>
        <p:spPr>
          <a:xfrm>
            <a:off x="651850" y="617600"/>
            <a:ext cx="3733200" cy="40143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en" sz="2400">
                <a:solidFill>
                  <a:schemeClr val="accent2"/>
                </a:solidFill>
              </a:rPr>
              <a:t>Find a saved release</a:t>
            </a:r>
            <a:endParaRPr sz="2400">
              <a:solidFill>
                <a:schemeClr val="accent2"/>
              </a:solidFill>
            </a:endParaRPr>
          </a:p>
          <a:p>
            <a:pPr indent="0" lvl="0" marL="0" marR="0" rtl="0" algn="l">
              <a:lnSpc>
                <a:spcPct val="110000"/>
              </a:lnSpc>
              <a:spcBef>
                <a:spcPts val="1000"/>
              </a:spcBef>
              <a:spcAft>
                <a:spcPts val="0"/>
              </a:spcAft>
              <a:buNone/>
            </a:pPr>
            <a:r>
              <a:rPr lang="en" sz="2400">
                <a:solidFill>
                  <a:schemeClr val="accent2"/>
                </a:solidFill>
              </a:rPr>
              <a:t>Run it without your servers</a:t>
            </a:r>
            <a:endParaRPr sz="2400">
              <a:solidFill>
                <a:schemeClr val="accent2"/>
              </a:solidFill>
            </a:endParaRPr>
          </a:p>
          <a:p>
            <a:pPr indent="0" lvl="0" marL="0" marR="0" rtl="0" algn="l">
              <a:lnSpc>
                <a:spcPct val="110000"/>
              </a:lnSpc>
              <a:spcBef>
                <a:spcPts val="1000"/>
              </a:spcBef>
              <a:spcAft>
                <a:spcPts val="1000"/>
              </a:spcAft>
              <a:buNone/>
            </a:pPr>
            <a:r>
              <a:rPr lang="en" sz="2400">
                <a:solidFill>
                  <a:schemeClr val="accent2"/>
                </a:solidFill>
              </a:rPr>
              <a:t>Recover access without your help</a:t>
            </a:r>
            <a:endParaRPr sz="2400">
              <a:solidFill>
                <a:schemeClr val="accent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8"/>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200">
                <a:solidFill>
                  <a:srgbClr val="06038D"/>
                </a:solidFill>
                <a:latin typeface="Poppins"/>
                <a:ea typeface="Poppins"/>
                <a:cs typeface="Poppins"/>
                <a:sym typeface="Poppins"/>
              </a:rPr>
              <a:t>More than one way into the app</a:t>
            </a:r>
            <a:endParaRPr b="1" sz="3200">
              <a:solidFill>
                <a:srgbClr val="06038D"/>
              </a:solidFill>
              <a:latin typeface="Poppins"/>
              <a:ea typeface="Poppins"/>
              <a:cs typeface="Poppins"/>
              <a:sym typeface="Poppins"/>
            </a:endParaRPr>
          </a:p>
        </p:txBody>
      </p:sp>
      <p:sp>
        <p:nvSpPr>
          <p:cNvPr id="157" name="Google Shape;157;p28"/>
          <p:cNvSpPr txBox="1"/>
          <p:nvPr>
            <p:ph idx="1" type="body"/>
          </p:nvPr>
        </p:nvSpPr>
        <p:spPr>
          <a:xfrm>
            <a:off x="635000" y="4191000"/>
            <a:ext cx="7874100" cy="5715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1000"/>
              </a:spcAft>
              <a:buNone/>
            </a:pPr>
            <a:r>
              <a:rPr lang="en" sz="2100">
                <a:solidFill>
                  <a:srgbClr val="212121"/>
                </a:solidFill>
              </a:rPr>
              <a:t>Save the release and the instructions to open it</a:t>
            </a:r>
            <a:endParaRPr sz="2100">
              <a:solidFill>
                <a:srgbClr val="212121"/>
              </a:solidFill>
            </a:endParaRPr>
          </a:p>
        </p:txBody>
      </p:sp>
      <p:sp>
        <p:nvSpPr>
          <p:cNvPr id="158" name="Google Shape;158;p28"/>
          <p:cNvSpPr txBox="1"/>
          <p:nvPr/>
        </p:nvSpPr>
        <p:spPr>
          <a:xfrm>
            <a:off x="635000" y="1206500"/>
            <a:ext cx="3048000" cy="3810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1000"/>
              </a:spcAft>
              <a:buNone/>
            </a:pPr>
            <a:r>
              <a:rPr lang="en" sz="1800">
                <a:solidFill>
                  <a:srgbClr val="06038D"/>
                </a:solidFill>
                <a:latin typeface="Poppins"/>
                <a:ea typeface="Poppins"/>
                <a:cs typeface="Poppins"/>
                <a:sym typeface="Poppins"/>
              </a:rPr>
              <a:t>DNS + HTTP</a:t>
            </a:r>
            <a:endParaRPr sz="1800">
              <a:solidFill>
                <a:srgbClr val="06038D"/>
              </a:solidFill>
              <a:latin typeface="Poppins"/>
              <a:ea typeface="Poppins"/>
              <a:cs typeface="Poppins"/>
              <a:sym typeface="Poppins"/>
            </a:endParaRPr>
          </a:p>
        </p:txBody>
      </p:sp>
      <p:sp>
        <p:nvSpPr>
          <p:cNvPr id="159" name="Google Shape;159;p28"/>
          <p:cNvSpPr txBox="1"/>
          <p:nvPr/>
        </p:nvSpPr>
        <p:spPr>
          <a:xfrm>
            <a:off x="635000" y="2603500"/>
            <a:ext cx="3048000" cy="3810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lang="en" sz="1800">
                <a:solidFill>
                  <a:srgbClr val="06038D"/>
                </a:solidFill>
                <a:latin typeface="Poppins"/>
                <a:ea typeface="Poppins"/>
                <a:cs typeface="Poppins"/>
                <a:sym typeface="Poppins"/>
              </a:rPr>
              <a:t>ENS + IPFS</a:t>
            </a:r>
            <a:endParaRPr sz="1800">
              <a:solidFill>
                <a:srgbClr val="06038D"/>
              </a:solidFill>
              <a:latin typeface="Poppins"/>
              <a:ea typeface="Poppins"/>
              <a:cs typeface="Poppins"/>
              <a:sym typeface="Poppins"/>
            </a:endParaRPr>
          </a:p>
        </p:txBody>
      </p:sp>
      <p:sp>
        <p:nvSpPr>
          <p:cNvPr id="160" name="Google Shape;160;p28"/>
          <p:cNvSpPr/>
          <p:nvPr/>
        </p:nvSpPr>
        <p:spPr>
          <a:xfrm>
            <a:off x="635000" y="1663700"/>
            <a:ext cx="2286000" cy="825600"/>
          </a:xfrm>
          <a:prstGeom prst="rect">
            <a:avLst/>
          </a:prstGeom>
          <a:noFill/>
          <a:ln cap="flat" cmpd="sng" w="1650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2000">
                <a:solidFill>
                  <a:srgbClr val="212121"/>
                </a:solidFill>
                <a:latin typeface="Poppins"/>
                <a:ea typeface="Poppins"/>
                <a:cs typeface="Poppins"/>
                <a:sym typeface="Poppins"/>
              </a:rPr>
              <a:t>DNS name</a:t>
            </a:r>
            <a:endParaRPr sz="2000">
              <a:solidFill>
                <a:srgbClr val="212121"/>
              </a:solidFill>
              <a:latin typeface="Poppins"/>
              <a:ea typeface="Poppins"/>
              <a:cs typeface="Poppins"/>
              <a:sym typeface="Poppins"/>
            </a:endParaRPr>
          </a:p>
        </p:txBody>
      </p:sp>
      <p:cxnSp>
        <p:nvCxnSpPr>
          <p:cNvPr id="161" name="Google Shape;161;p28"/>
          <p:cNvCxnSpPr/>
          <p:nvPr/>
        </p:nvCxnSpPr>
        <p:spPr>
          <a:xfrm>
            <a:off x="2933700" y="2070100"/>
            <a:ext cx="482700" cy="0"/>
          </a:xfrm>
          <a:prstGeom prst="straightConnector1">
            <a:avLst/>
          </a:prstGeom>
          <a:noFill/>
          <a:ln cap="flat" cmpd="sng" w="19050">
            <a:solidFill>
              <a:srgbClr val="06038D"/>
            </a:solidFill>
            <a:prstDash val="solid"/>
            <a:round/>
            <a:headEnd len="med" w="med" type="none"/>
            <a:tailEnd len="med" w="med" type="triangle"/>
          </a:ln>
        </p:spPr>
      </p:cxnSp>
      <p:sp>
        <p:nvSpPr>
          <p:cNvPr id="162" name="Google Shape;162;p28"/>
          <p:cNvSpPr/>
          <p:nvPr/>
        </p:nvSpPr>
        <p:spPr>
          <a:xfrm>
            <a:off x="3429000" y="1663700"/>
            <a:ext cx="2286000" cy="825600"/>
          </a:xfrm>
          <a:prstGeom prst="rect">
            <a:avLst/>
          </a:prstGeom>
          <a:noFill/>
          <a:ln cap="flat" cmpd="sng" w="1650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2000">
                <a:solidFill>
                  <a:srgbClr val="212121"/>
                </a:solidFill>
                <a:latin typeface="Poppins"/>
                <a:ea typeface="Poppins"/>
                <a:cs typeface="Poppins"/>
                <a:sym typeface="Poppins"/>
              </a:rPr>
              <a:t>Team's server</a:t>
            </a:r>
            <a:endParaRPr sz="2000">
              <a:solidFill>
                <a:srgbClr val="212121"/>
              </a:solidFill>
              <a:latin typeface="Poppins"/>
              <a:ea typeface="Poppins"/>
              <a:cs typeface="Poppins"/>
              <a:sym typeface="Poppins"/>
            </a:endParaRPr>
          </a:p>
        </p:txBody>
      </p:sp>
      <p:cxnSp>
        <p:nvCxnSpPr>
          <p:cNvPr id="163" name="Google Shape;163;p28"/>
          <p:cNvCxnSpPr/>
          <p:nvPr/>
        </p:nvCxnSpPr>
        <p:spPr>
          <a:xfrm>
            <a:off x="5727700" y="2070100"/>
            <a:ext cx="482700" cy="0"/>
          </a:xfrm>
          <a:prstGeom prst="straightConnector1">
            <a:avLst/>
          </a:prstGeom>
          <a:noFill/>
          <a:ln cap="flat" cmpd="sng" w="19050">
            <a:solidFill>
              <a:srgbClr val="06038D"/>
            </a:solidFill>
            <a:prstDash val="solid"/>
            <a:round/>
            <a:headEnd len="med" w="med" type="none"/>
            <a:tailEnd len="med" w="med" type="triangle"/>
          </a:ln>
        </p:spPr>
      </p:cxnSp>
      <p:sp>
        <p:nvSpPr>
          <p:cNvPr id="164" name="Google Shape;164;p28"/>
          <p:cNvSpPr/>
          <p:nvPr/>
        </p:nvSpPr>
        <p:spPr>
          <a:xfrm>
            <a:off x="6223000" y="1663700"/>
            <a:ext cx="2286000" cy="825600"/>
          </a:xfrm>
          <a:prstGeom prst="rect">
            <a:avLst/>
          </a:prstGeom>
          <a:noFill/>
          <a:ln cap="flat" cmpd="sng" w="1650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2000">
                <a:solidFill>
                  <a:srgbClr val="212121"/>
                </a:solidFill>
                <a:latin typeface="Poppins"/>
                <a:ea typeface="Poppins"/>
                <a:cs typeface="Poppins"/>
                <a:sym typeface="Poppins"/>
              </a:rPr>
              <a:t>Browser</a:t>
            </a:r>
            <a:endParaRPr sz="2000">
              <a:solidFill>
                <a:srgbClr val="212121"/>
              </a:solidFill>
              <a:latin typeface="Poppins"/>
              <a:ea typeface="Poppins"/>
              <a:cs typeface="Poppins"/>
              <a:sym typeface="Poppins"/>
            </a:endParaRPr>
          </a:p>
        </p:txBody>
      </p:sp>
      <p:sp>
        <p:nvSpPr>
          <p:cNvPr id="165" name="Google Shape;165;p28"/>
          <p:cNvSpPr/>
          <p:nvPr/>
        </p:nvSpPr>
        <p:spPr>
          <a:xfrm>
            <a:off x="635000" y="3048000"/>
            <a:ext cx="2286000" cy="825600"/>
          </a:xfrm>
          <a:prstGeom prst="rect">
            <a:avLst/>
          </a:prstGeom>
          <a:noFill/>
          <a:ln cap="flat" cmpd="sng" w="1650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2000">
                <a:solidFill>
                  <a:srgbClr val="212121"/>
                </a:solidFill>
                <a:latin typeface="Poppins"/>
                <a:ea typeface="Poppins"/>
                <a:cs typeface="Poppins"/>
                <a:sym typeface="Poppins"/>
              </a:rPr>
              <a:t>ENS name</a:t>
            </a:r>
            <a:endParaRPr sz="2000">
              <a:solidFill>
                <a:srgbClr val="212121"/>
              </a:solidFill>
              <a:latin typeface="Poppins"/>
              <a:ea typeface="Poppins"/>
              <a:cs typeface="Poppins"/>
              <a:sym typeface="Poppins"/>
            </a:endParaRPr>
          </a:p>
        </p:txBody>
      </p:sp>
      <p:cxnSp>
        <p:nvCxnSpPr>
          <p:cNvPr id="166" name="Google Shape;166;p28"/>
          <p:cNvCxnSpPr/>
          <p:nvPr/>
        </p:nvCxnSpPr>
        <p:spPr>
          <a:xfrm>
            <a:off x="2933700" y="3454400"/>
            <a:ext cx="482700" cy="0"/>
          </a:xfrm>
          <a:prstGeom prst="straightConnector1">
            <a:avLst/>
          </a:prstGeom>
          <a:noFill/>
          <a:ln cap="flat" cmpd="sng" w="19050">
            <a:solidFill>
              <a:srgbClr val="06038D"/>
            </a:solidFill>
            <a:prstDash val="solid"/>
            <a:round/>
            <a:headEnd len="med" w="med" type="none"/>
            <a:tailEnd len="med" w="med" type="triangle"/>
          </a:ln>
        </p:spPr>
      </p:cxnSp>
      <p:sp>
        <p:nvSpPr>
          <p:cNvPr id="167" name="Google Shape;167;p28"/>
          <p:cNvSpPr/>
          <p:nvPr/>
        </p:nvSpPr>
        <p:spPr>
          <a:xfrm>
            <a:off x="3429000" y="3048000"/>
            <a:ext cx="2286000" cy="825600"/>
          </a:xfrm>
          <a:prstGeom prst="rect">
            <a:avLst/>
          </a:prstGeom>
          <a:noFill/>
          <a:ln cap="flat" cmpd="sng" w="1650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2000">
                <a:solidFill>
                  <a:srgbClr val="212121"/>
                </a:solidFill>
                <a:latin typeface="Poppins"/>
                <a:ea typeface="Poppins"/>
                <a:cs typeface="Poppins"/>
                <a:sym typeface="Poppins"/>
              </a:rPr>
              <a:t>IPFS app release</a:t>
            </a:r>
            <a:endParaRPr sz="2000">
              <a:solidFill>
                <a:srgbClr val="212121"/>
              </a:solidFill>
              <a:latin typeface="Poppins"/>
              <a:ea typeface="Poppins"/>
              <a:cs typeface="Poppins"/>
              <a:sym typeface="Poppins"/>
            </a:endParaRPr>
          </a:p>
        </p:txBody>
      </p:sp>
      <p:cxnSp>
        <p:nvCxnSpPr>
          <p:cNvPr id="168" name="Google Shape;168;p28"/>
          <p:cNvCxnSpPr/>
          <p:nvPr/>
        </p:nvCxnSpPr>
        <p:spPr>
          <a:xfrm>
            <a:off x="5727700" y="3454400"/>
            <a:ext cx="482700" cy="0"/>
          </a:xfrm>
          <a:prstGeom prst="straightConnector1">
            <a:avLst/>
          </a:prstGeom>
          <a:noFill/>
          <a:ln cap="flat" cmpd="sng" w="19050">
            <a:solidFill>
              <a:srgbClr val="06038D"/>
            </a:solidFill>
            <a:prstDash val="solid"/>
            <a:round/>
            <a:headEnd len="med" w="med" type="none"/>
            <a:tailEnd len="med" w="med" type="triangle"/>
          </a:ln>
        </p:spPr>
      </p:cxnSp>
      <p:sp>
        <p:nvSpPr>
          <p:cNvPr id="169" name="Google Shape;169;p28"/>
          <p:cNvSpPr/>
          <p:nvPr/>
        </p:nvSpPr>
        <p:spPr>
          <a:xfrm>
            <a:off x="6223000" y="3048000"/>
            <a:ext cx="2286000" cy="825600"/>
          </a:xfrm>
          <a:prstGeom prst="rect">
            <a:avLst/>
          </a:prstGeom>
          <a:noFill/>
          <a:ln cap="flat" cmpd="sng" w="1650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2000">
                <a:solidFill>
                  <a:srgbClr val="212121"/>
                </a:solidFill>
                <a:latin typeface="Poppins"/>
                <a:ea typeface="Poppins"/>
                <a:cs typeface="Poppins"/>
                <a:sym typeface="Poppins"/>
              </a:rPr>
              <a:t>Gateway or own node</a:t>
            </a:r>
            <a:endParaRPr sz="2000">
              <a:solidFill>
                <a:srgbClr val="212121"/>
              </a:solidFill>
              <a:latin typeface="Poppins"/>
              <a:ea typeface="Poppins"/>
              <a:cs typeface="Poppins"/>
              <a:sym typeface="Poppi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9"/>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200">
                <a:solidFill>
                  <a:srgbClr val="06038D"/>
                </a:solidFill>
                <a:latin typeface="Poppins"/>
                <a:ea typeface="Poppins"/>
                <a:cs typeface="Poppins"/>
                <a:sym typeface="Poppins"/>
              </a:rPr>
              <a:t>A release others can run</a:t>
            </a:r>
            <a:endParaRPr b="1" sz="3200">
              <a:solidFill>
                <a:srgbClr val="06038D"/>
              </a:solidFill>
              <a:latin typeface="Poppins"/>
              <a:ea typeface="Poppins"/>
              <a:cs typeface="Poppins"/>
              <a:sym typeface="Poppins"/>
            </a:endParaRPr>
          </a:p>
        </p:txBody>
      </p:sp>
      <p:sp>
        <p:nvSpPr>
          <p:cNvPr id="175" name="Google Shape;175;p29"/>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381000" lvl="0" marL="457200" marR="0" rtl="0" algn="l">
              <a:lnSpc>
                <a:spcPct val="110000"/>
              </a:lnSpc>
              <a:spcBef>
                <a:spcPts val="0"/>
              </a:spcBef>
              <a:spcAft>
                <a:spcPts val="0"/>
              </a:spcAft>
              <a:buClr>
                <a:srgbClr val="212121"/>
              </a:buClr>
              <a:buSzPts val="2400"/>
              <a:buChar char="●"/>
            </a:pPr>
            <a:r>
              <a:rPr lang="en" sz="2400">
                <a:solidFill>
                  <a:srgbClr val="212121"/>
                </a:solidFill>
              </a:rPr>
              <a:t>Keep a complete runnable release</a:t>
            </a:r>
            <a:endParaRPr sz="2400">
              <a:solidFill>
                <a:srgbClr val="212121"/>
              </a:solidFill>
            </a:endParaRPr>
          </a:p>
          <a:p>
            <a:pPr indent="-381000" lvl="0" marL="457200" marR="0" rtl="0" algn="l">
              <a:lnSpc>
                <a:spcPct val="110000"/>
              </a:lnSpc>
              <a:spcBef>
                <a:spcPts val="0"/>
              </a:spcBef>
              <a:spcAft>
                <a:spcPts val="0"/>
              </a:spcAft>
              <a:buClr>
                <a:srgbClr val="212121"/>
              </a:buClr>
              <a:buSzPts val="2400"/>
              <a:buChar char="●"/>
            </a:pPr>
            <a:r>
              <a:rPr lang="en" sz="2400">
                <a:solidFill>
                  <a:srgbClr val="212121"/>
                </a:solidFill>
              </a:rPr>
              <a:t>Include the code it loads later</a:t>
            </a:r>
            <a:endParaRPr sz="2400">
              <a:solidFill>
                <a:srgbClr val="212121"/>
              </a:solidFill>
            </a:endParaRPr>
          </a:p>
          <a:p>
            <a:pPr indent="-381000" lvl="0" marL="457200" marR="0" rtl="0" algn="l">
              <a:lnSpc>
                <a:spcPct val="110000"/>
              </a:lnSpc>
              <a:spcBef>
                <a:spcPts val="0"/>
              </a:spcBef>
              <a:spcAft>
                <a:spcPts val="0"/>
              </a:spcAft>
              <a:buClr>
                <a:srgbClr val="212121"/>
              </a:buClr>
              <a:buSzPts val="2400"/>
              <a:buChar char="●"/>
            </a:pPr>
            <a:r>
              <a:rPr lang="en" sz="2400">
                <a:solidFill>
                  <a:srgbClr val="212121"/>
                </a:solidFill>
              </a:rPr>
              <a:t>Publish source and build instructions</a:t>
            </a:r>
            <a:endParaRPr sz="2400">
              <a:solidFill>
                <a:srgbClr val="212121"/>
              </a:solidFill>
            </a:endParaRPr>
          </a:p>
          <a:p>
            <a:pPr indent="-381000" lvl="0" marL="457200" marR="0" rtl="0" algn="l">
              <a:lnSpc>
                <a:spcPct val="110000"/>
              </a:lnSpc>
              <a:spcBef>
                <a:spcPts val="0"/>
              </a:spcBef>
              <a:spcAft>
                <a:spcPts val="0"/>
              </a:spcAft>
              <a:buClr>
                <a:srgbClr val="212121"/>
              </a:buClr>
              <a:buSzPts val="2400"/>
              <a:buChar char="●"/>
            </a:pPr>
            <a:r>
              <a:rPr lang="en" sz="2400">
                <a:solidFill>
                  <a:srgbClr val="212121"/>
                </a:solidFill>
              </a:rPr>
              <a:t>Try a fresh-machine rebuild</a:t>
            </a:r>
            <a:endParaRPr sz="2400">
              <a:solidFill>
                <a:srgbClr val="21212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0"/>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200">
                <a:solidFill>
                  <a:srgbClr val="06038D"/>
                </a:solidFill>
                <a:latin typeface="Poppins"/>
                <a:ea typeface="Poppins"/>
                <a:cs typeface="Poppins"/>
                <a:sym typeface="Poppins"/>
              </a:rPr>
              <a:t>Access people can recover</a:t>
            </a:r>
            <a:endParaRPr b="1" sz="3200">
              <a:solidFill>
                <a:srgbClr val="06038D"/>
              </a:solidFill>
              <a:latin typeface="Poppins"/>
              <a:ea typeface="Poppins"/>
              <a:cs typeface="Poppins"/>
              <a:sym typeface="Poppins"/>
            </a:endParaRPr>
          </a:p>
        </p:txBody>
      </p:sp>
      <p:sp>
        <p:nvSpPr>
          <p:cNvPr id="181" name="Google Shape;181;p30"/>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381000" lvl="0" marL="457200" marR="0" rtl="0" algn="l">
              <a:lnSpc>
                <a:spcPct val="110000"/>
              </a:lnSpc>
              <a:spcBef>
                <a:spcPts val="0"/>
              </a:spcBef>
              <a:spcAft>
                <a:spcPts val="0"/>
              </a:spcAft>
              <a:buClr>
                <a:srgbClr val="212121"/>
              </a:buClr>
              <a:buSzPts val="2400"/>
              <a:buChar char="●"/>
            </a:pPr>
            <a:r>
              <a:rPr lang="en" sz="2400">
                <a:solidFill>
                  <a:srgbClr val="212121"/>
                </a:solidFill>
              </a:rPr>
              <a:t>Give users a recovery route</a:t>
            </a:r>
            <a:endParaRPr sz="2400">
              <a:solidFill>
                <a:srgbClr val="212121"/>
              </a:solidFill>
            </a:endParaRPr>
          </a:p>
          <a:p>
            <a:pPr indent="-381000" lvl="0" marL="457200" marR="0" rtl="0" algn="l">
              <a:lnSpc>
                <a:spcPct val="110000"/>
              </a:lnSpc>
              <a:spcBef>
                <a:spcPts val="0"/>
              </a:spcBef>
              <a:spcAft>
                <a:spcPts val="0"/>
              </a:spcAft>
              <a:buClr>
                <a:srgbClr val="212121"/>
              </a:buClr>
              <a:buSzPts val="2400"/>
              <a:buChar char="●"/>
            </a:pPr>
            <a:r>
              <a:rPr lang="en" sz="2400">
                <a:solidFill>
                  <a:srgbClr val="212121"/>
                </a:solidFill>
              </a:rPr>
              <a:t>Safe example: two of three signers</a:t>
            </a:r>
            <a:endParaRPr sz="2400">
              <a:solidFill>
                <a:srgbClr val="212121"/>
              </a:solidFill>
            </a:endParaRPr>
          </a:p>
          <a:p>
            <a:pPr indent="-381000" lvl="0" marL="457200" marR="0" rtl="0" algn="l">
              <a:lnSpc>
                <a:spcPct val="110000"/>
              </a:lnSpc>
              <a:spcBef>
                <a:spcPts val="0"/>
              </a:spcBef>
              <a:spcAft>
                <a:spcPts val="0"/>
              </a:spcAft>
              <a:buClr>
                <a:srgbClr val="212121"/>
              </a:buClr>
              <a:buSzPts val="2400"/>
              <a:buChar char="●"/>
            </a:pPr>
            <a:r>
              <a:rPr lang="en" sz="2400">
                <a:solidFill>
                  <a:srgbClr val="212121"/>
                </a:solidFill>
              </a:rPr>
              <a:t>Back up decryption keys for private files</a:t>
            </a:r>
            <a:endParaRPr sz="2400">
              <a:solidFill>
                <a:srgbClr val="212121"/>
              </a:solidFill>
            </a:endParaRPr>
          </a:p>
          <a:p>
            <a:pPr indent="-381000" lvl="0" marL="457200" marR="0" rtl="0" algn="l">
              <a:lnSpc>
                <a:spcPct val="110000"/>
              </a:lnSpc>
              <a:spcBef>
                <a:spcPts val="0"/>
              </a:spcBef>
              <a:spcAft>
                <a:spcPts val="0"/>
              </a:spcAft>
              <a:buClr>
                <a:srgbClr val="212121"/>
              </a:buClr>
              <a:buSzPts val="2400"/>
              <a:buChar char="●"/>
            </a:pPr>
            <a:r>
              <a:rPr lang="en" sz="2400">
                <a:solidFill>
                  <a:srgbClr val="212121"/>
                </a:solidFill>
              </a:rPr>
              <a:t>Practice a lost-device recovery</a:t>
            </a:r>
            <a:endParaRPr sz="2400">
              <a:solidFill>
                <a:srgbClr val="21212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1"/>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Continuing the work</a:t>
            </a:r>
            <a:endParaRPr/>
          </a:p>
        </p:txBody>
      </p:sp>
      <p:sp>
        <p:nvSpPr>
          <p:cNvPr id="187" name="Google Shape;187;p31"/>
          <p:cNvSpPr txBox="1"/>
          <p:nvPr/>
        </p:nvSpPr>
        <p:spPr>
          <a:xfrm>
            <a:off x="3232500" y="1821650"/>
            <a:ext cx="26790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Portable Data</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2"/>
          <p:cNvSpPr txBox="1"/>
          <p:nvPr>
            <p:ph type="title"/>
          </p:nvPr>
        </p:nvSpPr>
        <p:spPr>
          <a:xfrm>
            <a:off x="587375" y="694800"/>
            <a:ext cx="3693000" cy="37539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
              <a:t>Is the data portable?</a:t>
            </a:r>
            <a:endParaRPr/>
          </a:p>
        </p:txBody>
      </p:sp>
      <p:sp>
        <p:nvSpPr>
          <p:cNvPr id="193" name="Google Shape;193;p32"/>
          <p:cNvSpPr txBox="1"/>
          <p:nvPr>
            <p:ph idx="1" type="body"/>
          </p:nvPr>
        </p:nvSpPr>
        <p:spPr>
          <a:xfrm>
            <a:off x="4859150" y="694800"/>
            <a:ext cx="3693000" cy="38343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en" sz="2400">
                <a:solidFill>
                  <a:schemeClr val="accent2"/>
                </a:solidFill>
              </a:rPr>
              <a:t>Keep the files and their meaning</a:t>
            </a:r>
            <a:endParaRPr sz="2400">
              <a:solidFill>
                <a:schemeClr val="accent2"/>
              </a:solidFill>
            </a:endParaRPr>
          </a:p>
          <a:p>
            <a:pPr indent="0" lvl="0" marL="0" marR="0" rtl="0" algn="l">
              <a:lnSpc>
                <a:spcPct val="110000"/>
              </a:lnSpc>
              <a:spcBef>
                <a:spcPts val="1000"/>
              </a:spcBef>
              <a:spcAft>
                <a:spcPts val="0"/>
              </a:spcAft>
              <a:buNone/>
            </a:pPr>
            <a:r>
              <a:rPr lang="en" sz="2400">
                <a:solidFill>
                  <a:schemeClr val="accent2"/>
                </a:solidFill>
              </a:rPr>
              <a:t>Use them through another app</a:t>
            </a:r>
            <a:endParaRPr sz="2400">
              <a:solidFill>
                <a:schemeClr val="accent2"/>
              </a:solidFill>
            </a:endParaRPr>
          </a:p>
          <a:p>
            <a:pPr indent="0" lvl="0" marL="0" marR="0" rtl="0" algn="l">
              <a:lnSpc>
                <a:spcPct val="110000"/>
              </a:lnSpc>
              <a:spcBef>
                <a:spcPts val="1000"/>
              </a:spcBef>
              <a:spcAft>
                <a:spcPts val="1000"/>
              </a:spcAft>
              <a:buNone/>
            </a:pPr>
            <a:r>
              <a:rPr lang="en" sz="2400">
                <a:solidFill>
                  <a:schemeClr val="accent2"/>
                </a:solidFill>
              </a:rPr>
              <a:t>Let others run the supporting services</a:t>
            </a:r>
            <a:endParaRPr sz="2400">
              <a:solidFill>
                <a:schemeClr val="accent2"/>
              </a:solidFill>
            </a:endParaRPr>
          </a:p>
        </p:txBody>
      </p:sp>
    </p:spTree>
  </p:cSld>
  <p:clrMapOvr>
    <a:masterClrMapping/>
  </p:clrMapOvr>
  <mc:AlternateContent>
    <mc:Choice Requires="p14">
      <p:transition p14:dur="200">
        <p:fad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3"/>
          <p:cNvSpPr txBox="1"/>
          <p:nvPr>
            <p:ph type="title"/>
          </p:nvPr>
        </p:nvSpPr>
        <p:spPr>
          <a:xfrm>
            <a:off x="482600" y="1587500"/>
            <a:ext cx="2489100" cy="5334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2200">
                <a:solidFill>
                  <a:srgbClr val="212121"/>
                </a:solidFill>
                <a:latin typeface="Poppins"/>
                <a:ea typeface="Poppins"/>
                <a:cs typeface="Poppins"/>
                <a:sym typeface="Poppins"/>
              </a:rPr>
              <a:t>EAS</a:t>
            </a:r>
            <a:endParaRPr b="1" sz="2200">
              <a:solidFill>
                <a:srgbClr val="212121"/>
              </a:solidFill>
              <a:latin typeface="Poppins"/>
              <a:ea typeface="Poppins"/>
              <a:cs typeface="Poppins"/>
              <a:sym typeface="Poppins"/>
            </a:endParaRPr>
          </a:p>
        </p:txBody>
      </p:sp>
      <p:sp>
        <p:nvSpPr>
          <p:cNvPr id="199" name="Google Shape;199;p33"/>
          <p:cNvSpPr txBox="1"/>
          <p:nvPr>
            <p:ph idx="4294967295" type="body"/>
          </p:nvPr>
        </p:nvSpPr>
        <p:spPr>
          <a:xfrm>
            <a:off x="609600" y="2603500"/>
            <a:ext cx="2349600" cy="16509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en" sz="2000">
                <a:solidFill>
                  <a:srgbClr val="212121"/>
                </a:solidFill>
              </a:rPr>
              <a:t>Attestation schemas</a:t>
            </a:r>
            <a:endParaRPr sz="2000">
              <a:solidFill>
                <a:srgbClr val="212121"/>
              </a:solidFill>
            </a:endParaRPr>
          </a:p>
          <a:p>
            <a:pPr indent="0" lvl="0" marL="0" marR="0" rtl="0" algn="l">
              <a:lnSpc>
                <a:spcPct val="110000"/>
              </a:lnSpc>
              <a:spcBef>
                <a:spcPts val="1000"/>
              </a:spcBef>
              <a:spcAft>
                <a:spcPts val="1000"/>
              </a:spcAft>
              <a:buNone/>
            </a:pPr>
            <a:r>
              <a:rPr lang="en" sz="2000">
                <a:solidFill>
                  <a:srgbClr val="212121"/>
                </a:solidFill>
              </a:rPr>
              <a:t>Who said what</a:t>
            </a:r>
            <a:endParaRPr sz="2000">
              <a:solidFill>
                <a:srgbClr val="212121"/>
              </a:solidFill>
            </a:endParaRPr>
          </a:p>
        </p:txBody>
      </p:sp>
      <p:sp>
        <p:nvSpPr>
          <p:cNvPr id="200" name="Google Shape;200;p33"/>
          <p:cNvSpPr/>
          <p:nvPr/>
        </p:nvSpPr>
        <p:spPr>
          <a:xfrm>
            <a:off x="0" y="2303000"/>
            <a:ext cx="9144000" cy="18300"/>
          </a:xfrm>
          <a:prstGeom prst="rect">
            <a:avLst/>
          </a:prstGeom>
          <a:solidFill>
            <a:srgbClr val="AAA7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33"/>
          <p:cNvSpPr txBox="1"/>
          <p:nvPr>
            <p:ph type="title"/>
          </p:nvPr>
        </p:nvSpPr>
        <p:spPr>
          <a:xfrm>
            <a:off x="3327400" y="1587500"/>
            <a:ext cx="2489100" cy="5334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2200">
                <a:solidFill>
                  <a:srgbClr val="212121"/>
                </a:solidFill>
                <a:latin typeface="Poppins"/>
                <a:ea typeface="Poppins"/>
                <a:cs typeface="Poppins"/>
                <a:sym typeface="Poppins"/>
              </a:rPr>
              <a:t>EFS</a:t>
            </a:r>
            <a:endParaRPr b="1" sz="2200">
              <a:solidFill>
                <a:srgbClr val="212121"/>
              </a:solidFill>
              <a:latin typeface="Poppins"/>
              <a:ea typeface="Poppins"/>
              <a:cs typeface="Poppins"/>
              <a:sym typeface="Poppins"/>
            </a:endParaRPr>
          </a:p>
        </p:txBody>
      </p:sp>
      <p:sp>
        <p:nvSpPr>
          <p:cNvPr id="202" name="Google Shape;202;p33"/>
          <p:cNvSpPr txBox="1"/>
          <p:nvPr>
            <p:ph idx="4294967295" type="body"/>
          </p:nvPr>
        </p:nvSpPr>
        <p:spPr>
          <a:xfrm>
            <a:off x="3454400" y="2603500"/>
            <a:ext cx="2349600" cy="16509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en" sz="2000">
                <a:solidFill>
                  <a:srgbClr val="212121"/>
                </a:solidFill>
              </a:rPr>
              <a:t>Shared file paths</a:t>
            </a:r>
            <a:endParaRPr sz="2000">
              <a:solidFill>
                <a:srgbClr val="212121"/>
              </a:solidFill>
            </a:endParaRPr>
          </a:p>
          <a:p>
            <a:pPr indent="0" lvl="0" marL="0" marR="0" rtl="0" algn="l">
              <a:lnSpc>
                <a:spcPct val="110000"/>
              </a:lnSpc>
              <a:spcBef>
                <a:spcPts val="1000"/>
              </a:spcBef>
              <a:spcAft>
                <a:spcPts val="1000"/>
              </a:spcAft>
              <a:buNone/>
            </a:pPr>
            <a:r>
              <a:rPr lang="en" sz="2000">
                <a:solidFill>
                  <a:srgbClr val="212121"/>
                </a:solidFill>
              </a:rPr>
              <a:t>Provenance and references</a:t>
            </a:r>
            <a:endParaRPr sz="2000">
              <a:solidFill>
                <a:srgbClr val="212121"/>
              </a:solidFill>
            </a:endParaRPr>
          </a:p>
        </p:txBody>
      </p:sp>
      <p:sp>
        <p:nvSpPr>
          <p:cNvPr id="203" name="Google Shape;203;p33"/>
          <p:cNvSpPr txBox="1"/>
          <p:nvPr>
            <p:ph type="title"/>
          </p:nvPr>
        </p:nvSpPr>
        <p:spPr>
          <a:xfrm>
            <a:off x="6312900" y="1601150"/>
            <a:ext cx="2489100" cy="5334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2200">
                <a:solidFill>
                  <a:srgbClr val="212121"/>
                </a:solidFill>
                <a:latin typeface="Poppins"/>
                <a:ea typeface="Poppins"/>
                <a:cs typeface="Poppins"/>
                <a:sym typeface="Poppins"/>
              </a:rPr>
              <a:t>Nostr</a:t>
            </a:r>
            <a:endParaRPr b="1" sz="2200">
              <a:solidFill>
                <a:srgbClr val="212121"/>
              </a:solidFill>
              <a:latin typeface="Poppins"/>
              <a:ea typeface="Poppins"/>
              <a:cs typeface="Poppins"/>
              <a:sym typeface="Poppins"/>
            </a:endParaRPr>
          </a:p>
        </p:txBody>
      </p:sp>
      <p:sp>
        <p:nvSpPr>
          <p:cNvPr id="204" name="Google Shape;204;p33"/>
          <p:cNvSpPr txBox="1"/>
          <p:nvPr>
            <p:ph idx="4294967295" type="body"/>
          </p:nvPr>
        </p:nvSpPr>
        <p:spPr>
          <a:xfrm>
            <a:off x="6299200" y="2603500"/>
            <a:ext cx="2609100" cy="16509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en" sz="2000">
                <a:solidFill>
                  <a:srgbClr val="212121"/>
                </a:solidFill>
              </a:rPr>
              <a:t>Signed social events</a:t>
            </a:r>
            <a:endParaRPr sz="2000">
              <a:solidFill>
                <a:srgbClr val="212121"/>
              </a:solidFill>
            </a:endParaRPr>
          </a:p>
          <a:p>
            <a:pPr indent="0" lvl="0" marL="0" marR="0" rtl="0" algn="l">
              <a:lnSpc>
                <a:spcPct val="110000"/>
              </a:lnSpc>
              <a:spcBef>
                <a:spcPts val="1000"/>
              </a:spcBef>
              <a:spcAft>
                <a:spcPts val="1000"/>
              </a:spcAft>
              <a:buNone/>
            </a:pPr>
            <a:r>
              <a:rPr lang="en" sz="2000">
                <a:solidFill>
                  <a:srgbClr val="212121"/>
                </a:solidFill>
              </a:rPr>
              <a:t>Public posts and follows</a:t>
            </a:r>
            <a:endParaRPr sz="2000">
              <a:solidFill>
                <a:srgbClr val="212121"/>
              </a:solidFill>
            </a:endParaRPr>
          </a:p>
        </p:txBody>
      </p:sp>
      <p:sp>
        <p:nvSpPr>
          <p:cNvPr id="205" name="Google Shape;205;p33"/>
          <p:cNvSpPr/>
          <p:nvPr/>
        </p:nvSpPr>
        <p:spPr>
          <a:xfrm>
            <a:off x="7474950" y="2229650"/>
            <a:ext cx="165000" cy="165000"/>
          </a:xfrm>
          <a:prstGeom prst="ellipse">
            <a:avLst/>
          </a:prstGeom>
          <a:solidFill>
            <a:srgbClr val="FD4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33"/>
          <p:cNvSpPr/>
          <p:nvPr/>
        </p:nvSpPr>
        <p:spPr>
          <a:xfrm>
            <a:off x="1504050" y="2234050"/>
            <a:ext cx="165000" cy="165000"/>
          </a:xfrm>
          <a:prstGeom prst="ellipse">
            <a:avLst/>
          </a:prstGeom>
          <a:solidFill>
            <a:srgbClr val="FF6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33"/>
          <p:cNvSpPr/>
          <p:nvPr/>
        </p:nvSpPr>
        <p:spPr>
          <a:xfrm>
            <a:off x="4489500" y="2234063"/>
            <a:ext cx="165000" cy="165000"/>
          </a:xfrm>
          <a:prstGeom prst="ellipse">
            <a:avLst/>
          </a:prstGeom>
          <a:solidFill>
            <a:srgbClr val="0603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33"/>
          <p:cNvSpPr txBox="1"/>
          <p:nvPr>
            <p:ph type="title"/>
          </p:nvPr>
        </p:nvSpPr>
        <p:spPr>
          <a:xfrm>
            <a:off x="874950" y="604825"/>
            <a:ext cx="7394100" cy="598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200">
                <a:solidFill>
                  <a:srgbClr val="06038D"/>
                </a:solidFill>
                <a:latin typeface="Poppins"/>
                <a:ea typeface="Poppins"/>
                <a:cs typeface="Poppins"/>
                <a:sym typeface="Poppins"/>
              </a:rPr>
              <a:t>Data other apps can understand</a:t>
            </a:r>
            <a:endParaRPr b="1" sz="3200">
              <a:solidFill>
                <a:srgbClr val="06038D"/>
              </a:solidFill>
              <a:latin typeface="Poppins"/>
              <a:ea typeface="Poppins"/>
              <a:cs typeface="Poppins"/>
              <a:sym typeface="Poppins"/>
            </a:endParaRPr>
          </a:p>
        </p:txBody>
      </p:sp>
      <p:sp>
        <p:nvSpPr>
          <p:cNvPr id="209" name="Google Shape;209;p33"/>
          <p:cNvSpPr txBox="1"/>
          <p:nvPr/>
        </p:nvSpPr>
        <p:spPr>
          <a:xfrm>
            <a:off x="571500" y="4216400"/>
            <a:ext cx="8001000" cy="558900"/>
          </a:xfrm>
          <a:prstGeom prst="rect">
            <a:avLst/>
          </a:prstGeom>
          <a:no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900">
                <a:solidFill>
                  <a:srgbClr val="212121"/>
                </a:solidFill>
                <a:latin typeface="Poppins"/>
                <a:ea typeface="Poppins"/>
                <a:cs typeface="Poppins"/>
                <a:sym typeface="Poppins"/>
              </a:rPr>
              <a:t>Publish the structure so another app can use the same records</a:t>
            </a:r>
            <a:endParaRPr sz="1900">
              <a:solidFill>
                <a:srgbClr val="212121"/>
              </a:solidFill>
              <a:latin typeface="Poppins"/>
              <a:ea typeface="Poppins"/>
              <a:cs typeface="Poppins"/>
              <a:sym typeface="Poppi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4"/>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200">
                <a:solidFill>
                  <a:srgbClr val="06038D"/>
                </a:solidFill>
                <a:latin typeface="Poppins"/>
                <a:ea typeface="Poppins"/>
                <a:cs typeface="Poppins"/>
                <a:sym typeface="Poppins"/>
              </a:rPr>
              <a:t>Two apps, one social identity</a:t>
            </a:r>
            <a:endParaRPr b="1" sz="3200">
              <a:solidFill>
                <a:srgbClr val="06038D"/>
              </a:solidFill>
              <a:latin typeface="Poppins"/>
              <a:ea typeface="Poppins"/>
              <a:cs typeface="Poppins"/>
              <a:sym typeface="Poppins"/>
            </a:endParaRPr>
          </a:p>
        </p:txBody>
      </p:sp>
      <p:sp>
        <p:nvSpPr>
          <p:cNvPr id="215" name="Google Shape;215;p34"/>
          <p:cNvSpPr txBox="1"/>
          <p:nvPr>
            <p:ph idx="1" type="body"/>
          </p:nvPr>
        </p:nvSpPr>
        <p:spPr>
          <a:xfrm>
            <a:off x="698500" y="1244600"/>
            <a:ext cx="7746900" cy="5079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1000"/>
              </a:spcAft>
              <a:buNone/>
            </a:pPr>
            <a:r>
              <a:rPr lang="en" sz="2100">
                <a:solidFill>
                  <a:srgbClr val="212121"/>
                </a:solidFill>
              </a:rPr>
              <a:t>Your key lets you participate through either app</a:t>
            </a:r>
            <a:endParaRPr sz="2100">
              <a:solidFill>
                <a:srgbClr val="212121"/>
              </a:solidFill>
            </a:endParaRPr>
          </a:p>
        </p:txBody>
      </p:sp>
      <p:sp>
        <p:nvSpPr>
          <p:cNvPr id="216" name="Google Shape;216;p34"/>
          <p:cNvSpPr/>
          <p:nvPr/>
        </p:nvSpPr>
        <p:spPr>
          <a:xfrm>
            <a:off x="1016000" y="1968500"/>
            <a:ext cx="2730600" cy="762000"/>
          </a:xfrm>
          <a:prstGeom prst="rect">
            <a:avLst/>
          </a:prstGeom>
          <a:noFill/>
          <a:ln cap="flat" cmpd="sng" w="1650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sz="2600">
                <a:solidFill>
                  <a:srgbClr val="212121"/>
                </a:solidFill>
                <a:latin typeface="Poppins"/>
                <a:ea typeface="Poppins"/>
                <a:cs typeface="Poppins"/>
                <a:sym typeface="Poppins"/>
              </a:rPr>
              <a:t>Damus</a:t>
            </a:r>
            <a:endParaRPr b="1" sz="2600">
              <a:solidFill>
                <a:srgbClr val="212121"/>
              </a:solidFill>
              <a:latin typeface="Poppins"/>
              <a:ea typeface="Poppins"/>
              <a:cs typeface="Poppins"/>
              <a:sym typeface="Poppins"/>
            </a:endParaRPr>
          </a:p>
        </p:txBody>
      </p:sp>
      <p:sp>
        <p:nvSpPr>
          <p:cNvPr id="217" name="Google Shape;217;p34"/>
          <p:cNvSpPr/>
          <p:nvPr/>
        </p:nvSpPr>
        <p:spPr>
          <a:xfrm>
            <a:off x="5397500" y="1968500"/>
            <a:ext cx="2730600" cy="762000"/>
          </a:xfrm>
          <a:prstGeom prst="rect">
            <a:avLst/>
          </a:prstGeom>
          <a:noFill/>
          <a:ln cap="flat" cmpd="sng" w="1650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sz="2600">
                <a:solidFill>
                  <a:srgbClr val="212121"/>
                </a:solidFill>
                <a:latin typeface="Poppins"/>
                <a:ea typeface="Poppins"/>
                <a:cs typeface="Poppins"/>
                <a:sym typeface="Poppins"/>
              </a:rPr>
              <a:t>Amethyst</a:t>
            </a:r>
            <a:endParaRPr b="1" sz="2600">
              <a:solidFill>
                <a:srgbClr val="212121"/>
              </a:solidFill>
              <a:latin typeface="Poppins"/>
              <a:ea typeface="Poppins"/>
              <a:cs typeface="Poppins"/>
              <a:sym typeface="Poppins"/>
            </a:endParaRPr>
          </a:p>
        </p:txBody>
      </p:sp>
      <p:cxnSp>
        <p:nvCxnSpPr>
          <p:cNvPr id="218" name="Google Shape;218;p34"/>
          <p:cNvCxnSpPr/>
          <p:nvPr/>
        </p:nvCxnSpPr>
        <p:spPr>
          <a:xfrm rot="10800000">
            <a:off x="2374900" y="2768500"/>
            <a:ext cx="0" cy="597000"/>
          </a:xfrm>
          <a:prstGeom prst="straightConnector1">
            <a:avLst/>
          </a:prstGeom>
          <a:noFill/>
          <a:ln cap="flat" cmpd="sng" w="19050">
            <a:solidFill>
              <a:srgbClr val="06038D"/>
            </a:solidFill>
            <a:prstDash val="solid"/>
            <a:round/>
            <a:headEnd len="med" w="med" type="none"/>
            <a:tailEnd len="med" w="med" type="triangle"/>
          </a:ln>
        </p:spPr>
      </p:cxnSp>
      <p:cxnSp>
        <p:nvCxnSpPr>
          <p:cNvPr id="219" name="Google Shape;219;p34"/>
          <p:cNvCxnSpPr/>
          <p:nvPr/>
        </p:nvCxnSpPr>
        <p:spPr>
          <a:xfrm rot="10800000">
            <a:off x="6756400" y="2768500"/>
            <a:ext cx="0" cy="597000"/>
          </a:xfrm>
          <a:prstGeom prst="straightConnector1">
            <a:avLst/>
          </a:prstGeom>
          <a:noFill/>
          <a:ln cap="flat" cmpd="sng" w="19050">
            <a:solidFill>
              <a:srgbClr val="06038D"/>
            </a:solidFill>
            <a:prstDash val="solid"/>
            <a:round/>
            <a:headEnd len="med" w="med" type="none"/>
            <a:tailEnd len="med" w="med" type="triangle"/>
          </a:ln>
        </p:spPr>
      </p:cxnSp>
      <p:sp>
        <p:nvSpPr>
          <p:cNvPr id="220" name="Google Shape;220;p34"/>
          <p:cNvSpPr/>
          <p:nvPr/>
        </p:nvSpPr>
        <p:spPr>
          <a:xfrm>
            <a:off x="1016000" y="3403600"/>
            <a:ext cx="7112100" cy="8637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2300">
                <a:solidFill>
                  <a:srgbClr val="FFFFFF"/>
                </a:solidFill>
                <a:latin typeface="Poppins"/>
                <a:ea typeface="Poppins"/>
                <a:cs typeface="Poppins"/>
                <a:sym typeface="Poppins"/>
              </a:rPr>
              <a:t>Shared Nostr events</a:t>
            </a:r>
            <a:endParaRPr sz="2300">
              <a:solidFill>
                <a:srgbClr val="FFFFFF"/>
              </a:solidFill>
              <a:latin typeface="Poppins"/>
              <a:ea typeface="Poppins"/>
              <a:cs typeface="Poppins"/>
              <a:sym typeface="Poppins"/>
            </a:endParaRPr>
          </a:p>
          <a:p>
            <a:pPr indent="0" lvl="0" marL="0" marR="0" rtl="0" algn="ctr">
              <a:lnSpc>
                <a:spcPct val="110000"/>
              </a:lnSpc>
              <a:spcBef>
                <a:spcPts val="0"/>
              </a:spcBef>
              <a:spcAft>
                <a:spcPts val="0"/>
              </a:spcAft>
              <a:buNone/>
            </a:pPr>
            <a:r>
              <a:rPr lang="en" sz="2300">
                <a:solidFill>
                  <a:srgbClr val="FFFFFF"/>
                </a:solidFill>
                <a:latin typeface="Poppins"/>
                <a:ea typeface="Poppins"/>
                <a:cs typeface="Poppins"/>
                <a:sym typeface="Poppins"/>
              </a:rPr>
              <a:t>Public posts and follows</a:t>
            </a:r>
            <a:endParaRPr sz="2300">
              <a:solidFill>
                <a:srgbClr val="FFFFFF"/>
              </a:solidFill>
              <a:latin typeface="Poppins"/>
              <a:ea typeface="Poppins"/>
              <a:cs typeface="Poppins"/>
              <a:sym typeface="Poppins"/>
            </a:endParaRPr>
          </a:p>
        </p:txBody>
      </p:sp>
      <p:sp>
        <p:nvSpPr>
          <p:cNvPr id="221" name="Google Shape;221;p34"/>
          <p:cNvSpPr txBox="1"/>
          <p:nvPr/>
        </p:nvSpPr>
        <p:spPr>
          <a:xfrm>
            <a:off x="762000" y="4343400"/>
            <a:ext cx="7620000" cy="406500"/>
          </a:xfrm>
          <a:prstGeom prst="rect">
            <a:avLst/>
          </a:prstGeom>
          <a:no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2000">
                <a:solidFill>
                  <a:srgbClr val="212121"/>
                </a:solidFill>
                <a:latin typeface="Poppins"/>
                <a:ea typeface="Poppins"/>
                <a:cs typeface="Poppins"/>
                <a:sym typeface="Poppins"/>
              </a:rPr>
              <a:t>Choose a different interface. Keep participating.</a:t>
            </a:r>
            <a:endParaRPr sz="2000">
              <a:solidFill>
                <a:srgbClr val="212121"/>
              </a:solidFill>
              <a:latin typeface="Poppins"/>
              <a:ea typeface="Poppins"/>
              <a:cs typeface="Poppins"/>
              <a:sym typeface="Poppi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5"/>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200">
                <a:solidFill>
                  <a:srgbClr val="06038D"/>
                </a:solidFill>
                <a:latin typeface="Poppins"/>
                <a:ea typeface="Poppins"/>
                <a:cs typeface="Poppins"/>
                <a:sym typeface="Poppins"/>
              </a:rPr>
              <a:t>Data people can keep using</a:t>
            </a:r>
            <a:endParaRPr b="1" sz="3200">
              <a:solidFill>
                <a:srgbClr val="06038D"/>
              </a:solidFill>
              <a:latin typeface="Poppins"/>
              <a:ea typeface="Poppins"/>
              <a:cs typeface="Poppins"/>
              <a:sym typeface="Poppins"/>
            </a:endParaRPr>
          </a:p>
        </p:txBody>
      </p:sp>
      <p:sp>
        <p:nvSpPr>
          <p:cNvPr id="227" name="Google Shape;227;p35"/>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381000" lvl="0" marL="457200" marR="0" rtl="0" algn="l">
              <a:lnSpc>
                <a:spcPct val="110000"/>
              </a:lnSpc>
              <a:spcBef>
                <a:spcPts val="0"/>
              </a:spcBef>
              <a:spcAft>
                <a:spcPts val="0"/>
              </a:spcAft>
              <a:buClr>
                <a:srgbClr val="212121"/>
              </a:buClr>
              <a:buSzPts val="2400"/>
              <a:buChar char="●"/>
            </a:pPr>
            <a:r>
              <a:rPr lang="en" sz="2400">
                <a:solidFill>
                  <a:srgbClr val="212121"/>
                </a:solidFill>
              </a:rPr>
              <a:t>Retain copies with independent operators</a:t>
            </a:r>
            <a:endParaRPr sz="2400">
              <a:solidFill>
                <a:srgbClr val="212121"/>
              </a:solidFill>
            </a:endParaRPr>
          </a:p>
          <a:p>
            <a:pPr indent="-381000" lvl="0" marL="457200" marR="0" rtl="0" algn="l">
              <a:lnSpc>
                <a:spcPct val="110000"/>
              </a:lnSpc>
              <a:spcBef>
                <a:spcPts val="0"/>
              </a:spcBef>
              <a:spcAft>
                <a:spcPts val="0"/>
              </a:spcAft>
              <a:buClr>
                <a:srgbClr val="212121"/>
              </a:buClr>
              <a:buSzPts val="2400"/>
              <a:buChar char="●"/>
            </a:pPr>
            <a:r>
              <a:rPr lang="en" sz="2400">
                <a:solidFill>
                  <a:srgbClr val="212121"/>
                </a:solidFill>
              </a:rPr>
              <a:t>Use documented formats and identifiers</a:t>
            </a:r>
            <a:endParaRPr sz="2400">
              <a:solidFill>
                <a:srgbClr val="212121"/>
              </a:solidFill>
            </a:endParaRPr>
          </a:p>
          <a:p>
            <a:pPr indent="-381000" lvl="0" marL="457200" marR="0" rtl="0" algn="l">
              <a:lnSpc>
                <a:spcPct val="110000"/>
              </a:lnSpc>
              <a:spcBef>
                <a:spcPts val="0"/>
              </a:spcBef>
              <a:spcAft>
                <a:spcPts val="0"/>
              </a:spcAft>
              <a:buClr>
                <a:srgbClr val="212121"/>
              </a:buClr>
              <a:buSzPts val="2400"/>
              <a:buChar char="●"/>
            </a:pPr>
            <a:r>
              <a:rPr lang="en" sz="2400">
                <a:solidFill>
                  <a:srgbClr val="212121"/>
                </a:solidFill>
              </a:rPr>
              <a:t>Protect private data and recover its keys</a:t>
            </a:r>
            <a:endParaRPr sz="2400">
              <a:solidFill>
                <a:srgbClr val="212121"/>
              </a:solidFill>
            </a:endParaRPr>
          </a:p>
          <a:p>
            <a:pPr indent="-381000" lvl="0" marL="457200" marR="0" rtl="0" algn="l">
              <a:lnSpc>
                <a:spcPct val="110000"/>
              </a:lnSpc>
              <a:spcBef>
                <a:spcPts val="0"/>
              </a:spcBef>
              <a:spcAft>
                <a:spcPts val="0"/>
              </a:spcAft>
              <a:buClr>
                <a:srgbClr val="212121"/>
              </a:buClr>
              <a:buSzPts val="2400"/>
              <a:buChar char="●"/>
            </a:pPr>
            <a:r>
              <a:rPr lang="en" sz="2400">
                <a:solidFill>
                  <a:srgbClr val="212121"/>
                </a:solidFill>
              </a:rPr>
              <a:t>Restore a real piece of work from a backup</a:t>
            </a:r>
            <a:endParaRPr sz="2400">
              <a:solidFill>
                <a:srgbClr val="21212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6"/>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200">
                <a:solidFill>
                  <a:srgbClr val="06038D"/>
                </a:solidFill>
                <a:latin typeface="Poppins"/>
                <a:ea typeface="Poppins"/>
                <a:cs typeface="Poppins"/>
                <a:sym typeface="Poppins"/>
              </a:rPr>
              <a:t>EFS: a file you can verify</a:t>
            </a:r>
            <a:endParaRPr b="1" sz="3200">
              <a:solidFill>
                <a:srgbClr val="06038D"/>
              </a:solidFill>
              <a:latin typeface="Poppins"/>
              <a:ea typeface="Poppins"/>
              <a:cs typeface="Poppins"/>
              <a:sym typeface="Poppins"/>
            </a:endParaRPr>
          </a:p>
        </p:txBody>
      </p:sp>
      <p:sp>
        <p:nvSpPr>
          <p:cNvPr id="233" name="Google Shape;233;p36"/>
          <p:cNvSpPr txBox="1"/>
          <p:nvPr>
            <p:ph idx="1" type="body"/>
          </p:nvPr>
        </p:nvSpPr>
        <p:spPr>
          <a:xfrm>
            <a:off x="635000" y="4229100"/>
            <a:ext cx="7874100" cy="5334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1000"/>
              </a:spcAft>
              <a:buNone/>
            </a:pPr>
            <a:r>
              <a:rPr lang="en" sz="2100">
                <a:solidFill>
                  <a:srgbClr val="212121"/>
                </a:solidFill>
              </a:rPr>
              <a:t>Keep the reference and choose where to retrieve the file</a:t>
            </a:r>
            <a:endParaRPr sz="2100">
              <a:solidFill>
                <a:srgbClr val="212121"/>
              </a:solidFill>
            </a:endParaRPr>
          </a:p>
        </p:txBody>
      </p:sp>
      <p:sp>
        <p:nvSpPr>
          <p:cNvPr id="234" name="Google Shape;234;p36"/>
          <p:cNvSpPr/>
          <p:nvPr/>
        </p:nvSpPr>
        <p:spPr>
          <a:xfrm>
            <a:off x="635000" y="2286000"/>
            <a:ext cx="2412900" cy="952500"/>
          </a:xfrm>
          <a:prstGeom prst="rect">
            <a:avLst/>
          </a:prstGeom>
          <a:noFill/>
          <a:ln cap="flat" cmpd="sng" w="1650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2100">
                <a:solidFill>
                  <a:srgbClr val="212121"/>
                </a:solidFill>
                <a:latin typeface="Poppins"/>
                <a:ea typeface="Poppins"/>
                <a:cs typeface="Poppins"/>
                <a:sym typeface="Poppins"/>
              </a:rPr>
              <a:t>EFS file reference</a:t>
            </a:r>
            <a:endParaRPr sz="2100">
              <a:solidFill>
                <a:srgbClr val="212121"/>
              </a:solidFill>
              <a:latin typeface="Poppins"/>
              <a:ea typeface="Poppins"/>
              <a:cs typeface="Poppins"/>
              <a:sym typeface="Poppins"/>
            </a:endParaRPr>
          </a:p>
          <a:p>
            <a:pPr indent="0" lvl="0" marL="0" marR="0" rtl="0" algn="ctr">
              <a:lnSpc>
                <a:spcPct val="110000"/>
              </a:lnSpc>
              <a:spcBef>
                <a:spcPts val="0"/>
              </a:spcBef>
              <a:spcAft>
                <a:spcPts val="0"/>
              </a:spcAft>
              <a:buNone/>
            </a:pPr>
            <a:r>
              <a:rPr lang="en" sz="2100">
                <a:solidFill>
                  <a:srgbClr val="212121"/>
                </a:solidFill>
                <a:latin typeface="Poppins"/>
                <a:ea typeface="Poppins"/>
                <a:cs typeface="Poppins"/>
                <a:sym typeface="Poppins"/>
              </a:rPr>
              <a:t>Expected digest</a:t>
            </a:r>
            <a:endParaRPr sz="2100">
              <a:solidFill>
                <a:srgbClr val="212121"/>
              </a:solidFill>
              <a:latin typeface="Poppins"/>
              <a:ea typeface="Poppins"/>
              <a:cs typeface="Poppins"/>
              <a:sym typeface="Poppins"/>
            </a:endParaRPr>
          </a:p>
        </p:txBody>
      </p:sp>
      <p:sp>
        <p:nvSpPr>
          <p:cNvPr id="235" name="Google Shape;235;p36"/>
          <p:cNvSpPr/>
          <p:nvPr/>
        </p:nvSpPr>
        <p:spPr>
          <a:xfrm>
            <a:off x="3683000" y="1587500"/>
            <a:ext cx="1841400" cy="698400"/>
          </a:xfrm>
          <a:prstGeom prst="rect">
            <a:avLst/>
          </a:prstGeom>
          <a:noFill/>
          <a:ln cap="flat" cmpd="sng" w="1650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2200">
                <a:solidFill>
                  <a:srgbClr val="212121"/>
                </a:solidFill>
                <a:latin typeface="Poppins"/>
                <a:ea typeface="Poppins"/>
                <a:cs typeface="Poppins"/>
                <a:sym typeface="Poppins"/>
              </a:rPr>
              <a:t>IPFS copy</a:t>
            </a:r>
            <a:endParaRPr sz="2200">
              <a:solidFill>
                <a:srgbClr val="212121"/>
              </a:solidFill>
              <a:latin typeface="Poppins"/>
              <a:ea typeface="Poppins"/>
              <a:cs typeface="Poppins"/>
              <a:sym typeface="Poppins"/>
            </a:endParaRPr>
          </a:p>
        </p:txBody>
      </p:sp>
      <p:sp>
        <p:nvSpPr>
          <p:cNvPr id="236" name="Google Shape;236;p36"/>
          <p:cNvSpPr/>
          <p:nvPr/>
        </p:nvSpPr>
        <p:spPr>
          <a:xfrm>
            <a:off x="3683000" y="3238500"/>
            <a:ext cx="1841400" cy="698400"/>
          </a:xfrm>
          <a:prstGeom prst="rect">
            <a:avLst/>
          </a:prstGeom>
          <a:noFill/>
          <a:ln cap="flat" cmpd="sng" w="1650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2200">
                <a:solidFill>
                  <a:srgbClr val="212121"/>
                </a:solidFill>
                <a:latin typeface="Poppins"/>
                <a:ea typeface="Poppins"/>
                <a:cs typeface="Poppins"/>
                <a:sym typeface="Poppins"/>
              </a:rPr>
              <a:t>Arweave copy</a:t>
            </a:r>
            <a:endParaRPr sz="2200">
              <a:solidFill>
                <a:srgbClr val="212121"/>
              </a:solidFill>
              <a:latin typeface="Poppins"/>
              <a:ea typeface="Poppins"/>
              <a:cs typeface="Poppins"/>
              <a:sym typeface="Poppins"/>
            </a:endParaRPr>
          </a:p>
        </p:txBody>
      </p:sp>
      <p:sp>
        <p:nvSpPr>
          <p:cNvPr id="237" name="Google Shape;237;p36"/>
          <p:cNvSpPr/>
          <p:nvPr/>
        </p:nvSpPr>
        <p:spPr>
          <a:xfrm>
            <a:off x="6159500" y="2286000"/>
            <a:ext cx="2349600" cy="9525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sz="2100">
                <a:solidFill>
                  <a:srgbClr val="FFFFFF"/>
                </a:solidFill>
                <a:latin typeface="Poppins"/>
                <a:ea typeface="Poppins"/>
                <a:cs typeface="Poppins"/>
                <a:sym typeface="Poppins"/>
              </a:rPr>
              <a:t>Check digest</a:t>
            </a:r>
            <a:endParaRPr b="1" sz="2100">
              <a:solidFill>
                <a:srgbClr val="FFFFFF"/>
              </a:solidFill>
              <a:latin typeface="Poppins"/>
              <a:ea typeface="Poppins"/>
              <a:cs typeface="Poppins"/>
              <a:sym typeface="Poppins"/>
            </a:endParaRPr>
          </a:p>
          <a:p>
            <a:pPr indent="0" lvl="0" marL="0" marR="0" rtl="0" algn="ctr">
              <a:lnSpc>
                <a:spcPct val="110000"/>
              </a:lnSpc>
              <a:spcBef>
                <a:spcPts val="0"/>
              </a:spcBef>
              <a:spcAft>
                <a:spcPts val="0"/>
              </a:spcAft>
              <a:buNone/>
            </a:pPr>
            <a:r>
              <a:rPr b="1" lang="en" sz="2100">
                <a:solidFill>
                  <a:srgbClr val="FFFFFF"/>
                </a:solidFill>
                <a:latin typeface="Poppins"/>
                <a:ea typeface="Poppins"/>
                <a:cs typeface="Poppins"/>
                <a:sym typeface="Poppins"/>
              </a:rPr>
              <a:t>Matching file</a:t>
            </a:r>
            <a:endParaRPr b="1" sz="2100">
              <a:solidFill>
                <a:srgbClr val="FFFFFF"/>
              </a:solidFill>
              <a:latin typeface="Poppins"/>
              <a:ea typeface="Poppins"/>
              <a:cs typeface="Poppins"/>
              <a:sym typeface="Poppins"/>
            </a:endParaRPr>
          </a:p>
        </p:txBody>
      </p:sp>
      <p:cxnSp>
        <p:nvCxnSpPr>
          <p:cNvPr id="238" name="Google Shape;238;p36"/>
          <p:cNvCxnSpPr/>
          <p:nvPr/>
        </p:nvCxnSpPr>
        <p:spPr>
          <a:xfrm>
            <a:off x="3048000" y="2755900"/>
            <a:ext cx="317400" cy="0"/>
          </a:xfrm>
          <a:prstGeom prst="straightConnector1">
            <a:avLst/>
          </a:prstGeom>
          <a:noFill/>
          <a:ln cap="flat" cmpd="sng" w="19050">
            <a:solidFill>
              <a:srgbClr val="06038D"/>
            </a:solidFill>
            <a:prstDash val="solid"/>
            <a:round/>
            <a:headEnd len="med" w="med" type="none"/>
            <a:tailEnd len="med" w="med" type="none"/>
          </a:ln>
        </p:spPr>
      </p:cxnSp>
      <p:cxnSp>
        <p:nvCxnSpPr>
          <p:cNvPr id="239" name="Google Shape;239;p36"/>
          <p:cNvCxnSpPr/>
          <p:nvPr/>
        </p:nvCxnSpPr>
        <p:spPr>
          <a:xfrm>
            <a:off x="3365500" y="1930400"/>
            <a:ext cx="0" cy="1650900"/>
          </a:xfrm>
          <a:prstGeom prst="straightConnector1">
            <a:avLst/>
          </a:prstGeom>
          <a:noFill/>
          <a:ln cap="flat" cmpd="sng" w="19050">
            <a:solidFill>
              <a:srgbClr val="06038D"/>
            </a:solidFill>
            <a:prstDash val="solid"/>
            <a:round/>
            <a:headEnd len="med" w="med" type="none"/>
            <a:tailEnd len="med" w="med" type="none"/>
          </a:ln>
        </p:spPr>
      </p:cxnSp>
      <p:cxnSp>
        <p:nvCxnSpPr>
          <p:cNvPr id="240" name="Google Shape;240;p36"/>
          <p:cNvCxnSpPr/>
          <p:nvPr/>
        </p:nvCxnSpPr>
        <p:spPr>
          <a:xfrm>
            <a:off x="3365500" y="1930400"/>
            <a:ext cx="292200" cy="0"/>
          </a:xfrm>
          <a:prstGeom prst="straightConnector1">
            <a:avLst/>
          </a:prstGeom>
          <a:noFill/>
          <a:ln cap="flat" cmpd="sng" w="19050">
            <a:solidFill>
              <a:srgbClr val="06038D"/>
            </a:solidFill>
            <a:prstDash val="solid"/>
            <a:round/>
            <a:headEnd len="med" w="med" type="none"/>
            <a:tailEnd len="med" w="med" type="triangle"/>
          </a:ln>
        </p:spPr>
      </p:cxnSp>
      <p:cxnSp>
        <p:nvCxnSpPr>
          <p:cNvPr id="241" name="Google Shape;241;p36"/>
          <p:cNvCxnSpPr/>
          <p:nvPr/>
        </p:nvCxnSpPr>
        <p:spPr>
          <a:xfrm>
            <a:off x="3365500" y="3581400"/>
            <a:ext cx="292200" cy="0"/>
          </a:xfrm>
          <a:prstGeom prst="straightConnector1">
            <a:avLst/>
          </a:prstGeom>
          <a:noFill/>
          <a:ln cap="flat" cmpd="sng" w="19050">
            <a:solidFill>
              <a:srgbClr val="06038D"/>
            </a:solidFill>
            <a:prstDash val="solid"/>
            <a:round/>
            <a:headEnd len="med" w="med" type="none"/>
            <a:tailEnd len="med" w="med" type="triangle"/>
          </a:ln>
        </p:spPr>
      </p:cxnSp>
      <p:cxnSp>
        <p:nvCxnSpPr>
          <p:cNvPr id="242" name="Google Shape;242;p36"/>
          <p:cNvCxnSpPr/>
          <p:nvPr/>
        </p:nvCxnSpPr>
        <p:spPr>
          <a:xfrm>
            <a:off x="5537200" y="1930400"/>
            <a:ext cx="304800" cy="0"/>
          </a:xfrm>
          <a:prstGeom prst="straightConnector1">
            <a:avLst/>
          </a:prstGeom>
          <a:noFill/>
          <a:ln cap="flat" cmpd="sng" w="19050">
            <a:solidFill>
              <a:srgbClr val="06038D"/>
            </a:solidFill>
            <a:prstDash val="solid"/>
            <a:round/>
            <a:headEnd len="med" w="med" type="none"/>
            <a:tailEnd len="med" w="med" type="none"/>
          </a:ln>
        </p:spPr>
      </p:cxnSp>
      <p:cxnSp>
        <p:nvCxnSpPr>
          <p:cNvPr id="243" name="Google Shape;243;p36"/>
          <p:cNvCxnSpPr/>
          <p:nvPr/>
        </p:nvCxnSpPr>
        <p:spPr>
          <a:xfrm>
            <a:off x="5537200" y="3581400"/>
            <a:ext cx="304800" cy="0"/>
          </a:xfrm>
          <a:prstGeom prst="straightConnector1">
            <a:avLst/>
          </a:prstGeom>
          <a:noFill/>
          <a:ln cap="flat" cmpd="sng" w="19050">
            <a:solidFill>
              <a:srgbClr val="06038D"/>
            </a:solidFill>
            <a:prstDash val="solid"/>
            <a:round/>
            <a:headEnd len="med" w="med" type="none"/>
            <a:tailEnd len="med" w="med" type="none"/>
          </a:ln>
        </p:spPr>
      </p:cxnSp>
      <p:cxnSp>
        <p:nvCxnSpPr>
          <p:cNvPr id="244" name="Google Shape;244;p36"/>
          <p:cNvCxnSpPr/>
          <p:nvPr/>
        </p:nvCxnSpPr>
        <p:spPr>
          <a:xfrm>
            <a:off x="5842000" y="1930400"/>
            <a:ext cx="0" cy="1650900"/>
          </a:xfrm>
          <a:prstGeom prst="straightConnector1">
            <a:avLst/>
          </a:prstGeom>
          <a:noFill/>
          <a:ln cap="flat" cmpd="sng" w="19050">
            <a:solidFill>
              <a:srgbClr val="06038D"/>
            </a:solidFill>
            <a:prstDash val="solid"/>
            <a:round/>
            <a:headEnd len="med" w="med" type="none"/>
            <a:tailEnd len="med" w="med" type="none"/>
          </a:ln>
        </p:spPr>
      </p:cxnSp>
      <p:cxnSp>
        <p:nvCxnSpPr>
          <p:cNvPr id="245" name="Google Shape;245;p36"/>
          <p:cNvCxnSpPr/>
          <p:nvPr/>
        </p:nvCxnSpPr>
        <p:spPr>
          <a:xfrm>
            <a:off x="5842000" y="2755900"/>
            <a:ext cx="292200" cy="0"/>
          </a:xfrm>
          <a:prstGeom prst="straightConnector1">
            <a:avLst/>
          </a:prstGeom>
          <a:noFill/>
          <a:ln cap="flat" cmpd="sng" w="19050">
            <a:solidFill>
              <a:srgbClr val="06038D"/>
            </a:solidFill>
            <a:prstDash val="solid"/>
            <a:round/>
            <a:headEnd len="med" w="med" type="none"/>
            <a:tailEnd len="med" w="med" type="triangl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7"/>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200">
                <a:solidFill>
                  <a:srgbClr val="06038D"/>
                </a:solidFill>
                <a:latin typeface="Poppins"/>
                <a:ea typeface="Poppins"/>
                <a:cs typeface="Poppins"/>
                <a:sym typeface="Poppins"/>
              </a:rPr>
              <a:t>A dependable view of the data</a:t>
            </a:r>
            <a:endParaRPr b="1" sz="3200">
              <a:solidFill>
                <a:srgbClr val="06038D"/>
              </a:solidFill>
              <a:latin typeface="Poppins"/>
              <a:ea typeface="Poppins"/>
              <a:cs typeface="Poppins"/>
              <a:sym typeface="Poppins"/>
            </a:endParaRPr>
          </a:p>
        </p:txBody>
      </p:sp>
      <p:sp>
        <p:nvSpPr>
          <p:cNvPr id="251" name="Google Shape;251;p37"/>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381000" lvl="0" marL="457200" marR="0" rtl="0" algn="l">
              <a:lnSpc>
                <a:spcPct val="110000"/>
              </a:lnSpc>
              <a:spcBef>
                <a:spcPts val="0"/>
              </a:spcBef>
              <a:spcAft>
                <a:spcPts val="0"/>
              </a:spcAft>
              <a:buClr>
                <a:srgbClr val="212121"/>
              </a:buClr>
              <a:buSzPts val="2400"/>
              <a:buChar char="●"/>
            </a:pPr>
            <a:r>
              <a:rPr lang="en" sz="2400">
                <a:solidFill>
                  <a:srgbClr val="212121"/>
                </a:solidFill>
              </a:rPr>
              <a:t>Let users choose an RPC or their own node</a:t>
            </a:r>
            <a:endParaRPr sz="2400">
              <a:solidFill>
                <a:srgbClr val="212121"/>
              </a:solidFill>
            </a:endParaRPr>
          </a:p>
          <a:p>
            <a:pPr indent="-381000" lvl="0" marL="457200" marR="0" rtl="0" algn="l">
              <a:lnSpc>
                <a:spcPct val="110000"/>
              </a:lnSpc>
              <a:spcBef>
                <a:spcPts val="0"/>
              </a:spcBef>
              <a:spcAft>
                <a:spcPts val="0"/>
              </a:spcAft>
              <a:buClr>
                <a:srgbClr val="212121"/>
              </a:buClr>
              <a:buSzPts val="2400"/>
              <a:buChar char="●"/>
            </a:pPr>
            <a:r>
              <a:rPr lang="en" sz="2400">
                <a:solidFill>
                  <a:srgbClr val="212121"/>
                </a:solidFill>
              </a:rPr>
              <a:t>Use verified reads where supported</a:t>
            </a:r>
            <a:endParaRPr sz="2400">
              <a:solidFill>
                <a:srgbClr val="212121"/>
              </a:solidFill>
            </a:endParaRPr>
          </a:p>
          <a:p>
            <a:pPr indent="-381000" lvl="0" marL="457200" marR="0" rtl="0" algn="l">
              <a:lnSpc>
                <a:spcPct val="110000"/>
              </a:lnSpc>
              <a:spcBef>
                <a:spcPts val="0"/>
              </a:spcBef>
              <a:spcAft>
                <a:spcPts val="0"/>
              </a:spcAft>
              <a:buClr>
                <a:srgbClr val="212121"/>
              </a:buClr>
              <a:buSzPts val="2400"/>
              <a:buChar char="●"/>
            </a:pPr>
            <a:r>
              <a:rPr lang="en" sz="2400">
                <a:solidFill>
                  <a:srgbClr val="212121"/>
                </a:solidFill>
              </a:rPr>
              <a:t>Show how recent the data is</a:t>
            </a:r>
            <a:endParaRPr sz="2400">
              <a:solidFill>
                <a:srgbClr val="212121"/>
              </a:solidFill>
            </a:endParaRPr>
          </a:p>
          <a:p>
            <a:pPr indent="-381000" lvl="0" marL="457200" marR="0" rtl="0" algn="l">
              <a:lnSpc>
                <a:spcPct val="110000"/>
              </a:lnSpc>
              <a:spcBef>
                <a:spcPts val="0"/>
              </a:spcBef>
              <a:spcAft>
                <a:spcPts val="0"/>
              </a:spcAft>
              <a:buClr>
                <a:srgbClr val="212121"/>
              </a:buClr>
              <a:buSzPts val="2400"/>
              <a:buChar char="●"/>
            </a:pPr>
            <a:r>
              <a:rPr lang="en" sz="2400">
                <a:solidFill>
                  <a:srgbClr val="212121"/>
                </a:solidFill>
              </a:rPr>
              <a:t>Publish what another indexer needs to rebuild</a:t>
            </a:r>
            <a:endParaRPr sz="2400">
              <a:solidFill>
                <a:srgbClr val="21212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8"/>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200">
                <a:solidFill>
                  <a:srgbClr val="06038D"/>
                </a:solidFill>
                <a:latin typeface="Poppins"/>
                <a:ea typeface="Poppins"/>
                <a:cs typeface="Poppins"/>
                <a:sym typeface="Poppins"/>
              </a:rPr>
              <a:t>Work another operator can do</a:t>
            </a:r>
            <a:endParaRPr b="1" sz="3200">
              <a:solidFill>
                <a:srgbClr val="06038D"/>
              </a:solidFill>
              <a:latin typeface="Poppins"/>
              <a:ea typeface="Poppins"/>
              <a:cs typeface="Poppins"/>
              <a:sym typeface="Poppins"/>
            </a:endParaRPr>
          </a:p>
        </p:txBody>
      </p:sp>
      <p:sp>
        <p:nvSpPr>
          <p:cNvPr id="257" name="Google Shape;257;p38"/>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381000" lvl="0" marL="457200" marR="0" rtl="0" algn="l">
              <a:lnSpc>
                <a:spcPct val="110000"/>
              </a:lnSpc>
              <a:spcBef>
                <a:spcPts val="0"/>
              </a:spcBef>
              <a:spcAft>
                <a:spcPts val="0"/>
              </a:spcAft>
              <a:buClr>
                <a:srgbClr val="212121"/>
              </a:buClr>
              <a:buSzPts val="2400"/>
              <a:buChar char="●"/>
            </a:pPr>
            <a:r>
              <a:rPr lang="en" sz="2400">
                <a:solidFill>
                  <a:srgbClr val="212121"/>
                </a:solidFill>
              </a:rPr>
              <a:t>Publish the worker code and required inputs</a:t>
            </a:r>
            <a:endParaRPr sz="2400">
              <a:solidFill>
                <a:srgbClr val="212121"/>
              </a:solidFill>
            </a:endParaRPr>
          </a:p>
          <a:p>
            <a:pPr indent="-381000" lvl="0" marL="457200" marR="0" rtl="0" algn="l">
              <a:lnSpc>
                <a:spcPct val="110000"/>
              </a:lnSpc>
              <a:spcBef>
                <a:spcPts val="0"/>
              </a:spcBef>
              <a:spcAft>
                <a:spcPts val="0"/>
              </a:spcAft>
              <a:buClr>
                <a:srgbClr val="212121"/>
              </a:buClr>
              <a:buSzPts val="2400"/>
              <a:buChar char="●"/>
            </a:pPr>
            <a:r>
              <a:rPr lang="en" sz="2400">
                <a:solidFill>
                  <a:srgbClr val="212121"/>
                </a:solidFill>
              </a:rPr>
              <a:t>Make the job open to another operator</a:t>
            </a:r>
            <a:endParaRPr sz="2400">
              <a:solidFill>
                <a:srgbClr val="212121"/>
              </a:solidFill>
            </a:endParaRPr>
          </a:p>
          <a:p>
            <a:pPr indent="-381000" lvl="0" marL="457200" marR="0" rtl="0" algn="l">
              <a:lnSpc>
                <a:spcPct val="110000"/>
              </a:lnSpc>
              <a:spcBef>
                <a:spcPts val="0"/>
              </a:spcBef>
              <a:spcAft>
                <a:spcPts val="0"/>
              </a:spcAft>
              <a:buClr>
                <a:srgbClr val="212121"/>
              </a:buClr>
              <a:buSzPts val="2400"/>
              <a:buChar char="●"/>
            </a:pPr>
            <a:r>
              <a:rPr lang="en" sz="2400">
                <a:solidFill>
                  <a:srgbClr val="212121"/>
                </a:solidFill>
              </a:rPr>
              <a:t>Give someone a reason to run it</a:t>
            </a:r>
            <a:endParaRPr sz="2400">
              <a:solidFill>
                <a:srgbClr val="212121"/>
              </a:solidFill>
            </a:endParaRPr>
          </a:p>
          <a:p>
            <a:pPr indent="-381000" lvl="0" marL="457200" marR="0" rtl="0" algn="l">
              <a:lnSpc>
                <a:spcPct val="110000"/>
              </a:lnSpc>
              <a:spcBef>
                <a:spcPts val="0"/>
              </a:spcBef>
              <a:spcAft>
                <a:spcPts val="0"/>
              </a:spcAft>
              <a:buClr>
                <a:srgbClr val="212121"/>
              </a:buClr>
              <a:buSzPts val="2400"/>
              <a:buChar char="●"/>
            </a:pPr>
            <a:r>
              <a:rPr lang="en" sz="2400">
                <a:solidFill>
                  <a:srgbClr val="212121"/>
                </a:solidFill>
              </a:rPr>
              <a:t>Example: PoolTogether prize claimers</a:t>
            </a:r>
            <a:endParaRPr sz="2400">
              <a:solidFill>
                <a:srgbClr val="21212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9"/>
          <p:cNvSpPr txBox="1"/>
          <p:nvPr>
            <p:ph type="title"/>
          </p:nvPr>
        </p:nvSpPr>
        <p:spPr>
          <a:xfrm>
            <a:off x="457200" y="2150850"/>
            <a:ext cx="8229600" cy="841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FFFFFF"/>
                </a:solidFill>
                <a:latin typeface="Poppins"/>
                <a:ea typeface="Poppins"/>
                <a:cs typeface="Poppins"/>
                <a:sym typeface="Poppins"/>
              </a:rPr>
              <a:t>Keeping dependable rules</a:t>
            </a:r>
            <a:endParaRPr b="1">
              <a:solidFill>
                <a:srgbClr val="FFFFFF"/>
              </a:solidFill>
              <a:latin typeface="Poppins"/>
              <a:ea typeface="Poppins"/>
              <a:cs typeface="Poppins"/>
              <a:sym typeface="Poppins"/>
            </a:endParaRPr>
          </a:p>
        </p:txBody>
      </p:sp>
      <p:sp>
        <p:nvSpPr>
          <p:cNvPr id="263" name="Google Shape;263;p39"/>
          <p:cNvSpPr txBox="1"/>
          <p:nvPr/>
        </p:nvSpPr>
        <p:spPr>
          <a:xfrm>
            <a:off x="2998200" y="1794850"/>
            <a:ext cx="31476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Rules</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0"/>
          <p:cNvSpPr txBox="1"/>
          <p:nvPr>
            <p:ph type="title"/>
          </p:nvPr>
        </p:nvSpPr>
        <p:spPr>
          <a:xfrm>
            <a:off x="4837000" y="768000"/>
            <a:ext cx="3733200" cy="36075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FFFFFF"/>
                </a:solidFill>
                <a:latin typeface="Poppins"/>
                <a:ea typeface="Poppins"/>
                <a:cs typeface="Poppins"/>
                <a:sym typeface="Poppins"/>
              </a:rPr>
              <a:t>Who chooses the changes?</a:t>
            </a:r>
            <a:endParaRPr b="1">
              <a:solidFill>
                <a:srgbClr val="FFFFFF"/>
              </a:solidFill>
              <a:latin typeface="Poppins"/>
              <a:ea typeface="Poppins"/>
              <a:cs typeface="Poppins"/>
              <a:sym typeface="Poppins"/>
            </a:endParaRPr>
          </a:p>
        </p:txBody>
      </p:sp>
      <p:sp>
        <p:nvSpPr>
          <p:cNvPr id="269" name="Google Shape;269;p40"/>
          <p:cNvSpPr txBox="1"/>
          <p:nvPr>
            <p:ph idx="1" type="body"/>
          </p:nvPr>
        </p:nvSpPr>
        <p:spPr>
          <a:xfrm>
            <a:off x="651850" y="617600"/>
            <a:ext cx="3733200" cy="40143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en" sz="2400">
                <a:solidFill>
                  <a:schemeClr val="accent2"/>
                </a:solidFill>
              </a:rPr>
              <a:t>Stable core contracts</a:t>
            </a:r>
            <a:endParaRPr sz="2400">
              <a:solidFill>
                <a:schemeClr val="accent2"/>
              </a:solidFill>
            </a:endParaRPr>
          </a:p>
          <a:p>
            <a:pPr indent="0" lvl="0" marL="0" marR="0" rtl="0" algn="l">
              <a:lnSpc>
                <a:spcPct val="110000"/>
              </a:lnSpc>
              <a:spcBef>
                <a:spcPts val="1000"/>
              </a:spcBef>
              <a:spcAft>
                <a:spcPts val="0"/>
              </a:spcAft>
              <a:buNone/>
            </a:pPr>
            <a:r>
              <a:rPr lang="en" sz="2400">
                <a:solidFill>
                  <a:schemeClr val="accent2"/>
                </a:solidFill>
              </a:rPr>
              <a:t>User-chosen app upgrades</a:t>
            </a:r>
            <a:endParaRPr sz="2400">
              <a:solidFill>
                <a:schemeClr val="accent2"/>
              </a:solidFill>
            </a:endParaRPr>
          </a:p>
          <a:p>
            <a:pPr indent="0" lvl="0" marL="0" marR="0" rtl="0" algn="l">
              <a:lnSpc>
                <a:spcPct val="110000"/>
              </a:lnSpc>
              <a:spcBef>
                <a:spcPts val="1000"/>
              </a:spcBef>
              <a:spcAft>
                <a:spcPts val="1000"/>
              </a:spcAft>
              <a:buNone/>
            </a:pPr>
            <a:r>
              <a:rPr lang="en" sz="2400">
                <a:solidFill>
                  <a:schemeClr val="accent2"/>
                </a:solidFill>
              </a:rPr>
              <a:t>Clear rules for shared governance</a:t>
            </a:r>
            <a:endParaRPr sz="2400">
              <a:solidFill>
                <a:schemeClr val="accent2"/>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1"/>
          <p:cNvSpPr txBox="1"/>
          <p:nvPr>
            <p:ph idx="1" type="body"/>
          </p:nvPr>
        </p:nvSpPr>
        <p:spPr>
          <a:xfrm>
            <a:off x="720549" y="1280150"/>
            <a:ext cx="37527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A stable core</a:t>
            </a:r>
            <a:endParaRPr b="1"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Keep the contract code fixed</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Let other apps build on it</a:t>
            </a:r>
            <a:endParaRPr sz="2400">
              <a:solidFill>
                <a:srgbClr val="212121"/>
              </a:solidFill>
            </a:endParaRPr>
          </a:p>
        </p:txBody>
      </p:sp>
      <p:sp>
        <p:nvSpPr>
          <p:cNvPr id="275" name="Google Shape;275;p41"/>
          <p:cNvSpPr txBox="1"/>
          <p:nvPr>
            <p:ph idx="2" type="body"/>
          </p:nvPr>
        </p:nvSpPr>
        <p:spPr>
          <a:xfrm>
            <a:off x="4680000" y="1280150"/>
            <a:ext cx="37923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Room to improve</a:t>
            </a:r>
            <a:endParaRPr b="1"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Deploy a new version</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Let users choose to migrate</a:t>
            </a:r>
            <a:endParaRPr sz="2400">
              <a:solidFill>
                <a:srgbClr val="212121"/>
              </a:solidFill>
            </a:endParaRPr>
          </a:p>
        </p:txBody>
      </p:sp>
      <p:sp>
        <p:nvSpPr>
          <p:cNvPr id="276" name="Google Shape;276;p41"/>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200">
                <a:solidFill>
                  <a:srgbClr val="06038D"/>
                </a:solidFill>
                <a:latin typeface="Poppins"/>
                <a:ea typeface="Poppins"/>
                <a:cs typeface="Poppins"/>
                <a:sym typeface="Poppins"/>
              </a:rPr>
              <a:t>Immutable contracts</a:t>
            </a:r>
            <a:endParaRPr b="1" sz="3200">
              <a:solidFill>
                <a:srgbClr val="06038D"/>
              </a:solidFill>
              <a:latin typeface="Poppins"/>
              <a:ea typeface="Poppins"/>
              <a:cs typeface="Poppins"/>
              <a:sym typeface="Poppins"/>
            </a:endParaRPr>
          </a:p>
        </p:txBody>
      </p:sp>
      <p:sp>
        <p:nvSpPr>
          <p:cNvPr id="277" name="Google Shape;277;p41"/>
          <p:cNvSpPr txBox="1"/>
          <p:nvPr/>
        </p:nvSpPr>
        <p:spPr>
          <a:xfrm>
            <a:off x="889000" y="4305300"/>
            <a:ext cx="7365900" cy="431700"/>
          </a:xfrm>
          <a:prstGeom prst="rect">
            <a:avLst/>
          </a:prstGeom>
          <a:no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2000">
                <a:solidFill>
                  <a:srgbClr val="06038D"/>
                </a:solidFill>
                <a:latin typeface="Poppins"/>
                <a:ea typeface="Poppins"/>
                <a:cs typeface="Poppins"/>
                <a:sym typeface="Poppins"/>
              </a:rPr>
              <a:t>Example: Uniswap v2 core</a:t>
            </a:r>
            <a:endParaRPr sz="2000">
              <a:solidFill>
                <a:srgbClr val="06038D"/>
              </a:solidFill>
              <a:latin typeface="Poppins"/>
              <a:ea typeface="Poppins"/>
              <a:cs typeface="Poppins"/>
              <a:sym typeface="Poppi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2"/>
          <p:cNvSpPr txBox="1"/>
          <p:nvPr>
            <p:ph idx="1" type="body"/>
          </p:nvPr>
        </p:nvSpPr>
        <p:spPr>
          <a:xfrm>
            <a:off x="720549" y="1280150"/>
            <a:ext cx="37527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200">
                <a:solidFill>
                  <a:srgbClr val="212121"/>
                </a:solidFill>
              </a:rPr>
              <a:t>Ethereum and L1</a:t>
            </a:r>
            <a:endParaRPr b="1" sz="2200">
              <a:solidFill>
                <a:srgbClr val="212121"/>
              </a:solidFill>
            </a:endParaRPr>
          </a:p>
          <a:p>
            <a:pPr indent="0" lvl="0" marL="0" marR="0" rtl="0" algn="l">
              <a:lnSpc>
                <a:spcPct val="110000"/>
              </a:lnSpc>
              <a:spcBef>
                <a:spcPts val="1000"/>
              </a:spcBef>
              <a:spcAft>
                <a:spcPts val="0"/>
              </a:spcAft>
              <a:buNone/>
            </a:pPr>
            <a:r>
              <a:rPr lang="en" sz="2200">
                <a:solidFill>
                  <a:srgbClr val="212121"/>
                </a:solidFill>
              </a:rPr>
              <a:t>Keep a working node route</a:t>
            </a:r>
            <a:endParaRPr sz="2200">
              <a:solidFill>
                <a:srgbClr val="212121"/>
              </a:solidFill>
            </a:endParaRPr>
          </a:p>
          <a:p>
            <a:pPr indent="0" lvl="0" marL="0" marR="0" rtl="0" algn="l">
              <a:lnSpc>
                <a:spcPct val="110000"/>
              </a:lnSpc>
              <a:spcBef>
                <a:spcPts val="1000"/>
              </a:spcBef>
              <a:spcAft>
                <a:spcPts val="0"/>
              </a:spcAft>
              <a:buNone/>
            </a:pPr>
            <a:r>
              <a:rPr lang="en" sz="2200">
                <a:solidFill>
                  <a:srgbClr val="212121"/>
                </a:solidFill>
              </a:rPr>
              <a:t>Retain the history you need</a:t>
            </a:r>
            <a:endParaRPr sz="2200">
              <a:solidFill>
                <a:srgbClr val="212121"/>
              </a:solidFill>
            </a:endParaRPr>
          </a:p>
          <a:p>
            <a:pPr indent="0" lvl="0" marL="0" marR="0" rtl="0" algn="l">
              <a:lnSpc>
                <a:spcPct val="110000"/>
              </a:lnSpc>
              <a:spcBef>
                <a:spcPts val="1000"/>
              </a:spcBef>
              <a:spcAft>
                <a:spcPts val="1000"/>
              </a:spcAft>
              <a:buNone/>
            </a:pPr>
            <a:r>
              <a:rPr lang="en" sz="2200">
                <a:solidFill>
                  <a:srgbClr val="212121"/>
                </a:solidFill>
              </a:rPr>
              <a:t>Understand inclusion and finality</a:t>
            </a:r>
            <a:endParaRPr sz="2200">
              <a:solidFill>
                <a:srgbClr val="212121"/>
              </a:solidFill>
            </a:endParaRPr>
          </a:p>
        </p:txBody>
      </p:sp>
      <p:sp>
        <p:nvSpPr>
          <p:cNvPr id="283" name="Google Shape;283;p42"/>
          <p:cNvSpPr txBox="1"/>
          <p:nvPr>
            <p:ph idx="2" type="body"/>
          </p:nvPr>
        </p:nvSpPr>
        <p:spPr>
          <a:xfrm>
            <a:off x="4680000" y="1280150"/>
            <a:ext cx="37923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200">
                <a:solidFill>
                  <a:srgbClr val="212121"/>
                </a:solidFill>
              </a:rPr>
              <a:t>L2 and settlement</a:t>
            </a:r>
            <a:endParaRPr b="1" sz="2200">
              <a:solidFill>
                <a:srgbClr val="212121"/>
              </a:solidFill>
            </a:endParaRPr>
          </a:p>
          <a:p>
            <a:pPr indent="0" lvl="0" marL="0" marR="0" rtl="0" algn="l">
              <a:lnSpc>
                <a:spcPct val="110000"/>
              </a:lnSpc>
              <a:spcBef>
                <a:spcPts val="1000"/>
              </a:spcBef>
              <a:spcAft>
                <a:spcPts val="0"/>
              </a:spcAft>
              <a:buNone/>
            </a:pPr>
            <a:r>
              <a:rPr lang="en" sz="2200">
                <a:solidFill>
                  <a:srgbClr val="212121"/>
                </a:solidFill>
              </a:rPr>
              <a:t>Know who orders and proves</a:t>
            </a:r>
            <a:endParaRPr sz="2200">
              <a:solidFill>
                <a:srgbClr val="212121"/>
              </a:solidFill>
            </a:endParaRPr>
          </a:p>
          <a:p>
            <a:pPr indent="0" lvl="0" marL="0" marR="0" rtl="0" algn="l">
              <a:lnSpc>
                <a:spcPct val="110000"/>
              </a:lnSpc>
              <a:spcBef>
                <a:spcPts val="1000"/>
              </a:spcBef>
              <a:spcAft>
                <a:spcPts val="0"/>
              </a:spcAft>
              <a:buNone/>
            </a:pPr>
            <a:r>
              <a:rPr lang="en" sz="2200">
                <a:solidFill>
                  <a:srgbClr val="212121"/>
                </a:solidFill>
              </a:rPr>
              <a:t>Find the required chain data</a:t>
            </a:r>
            <a:endParaRPr sz="2200">
              <a:solidFill>
                <a:srgbClr val="212121"/>
              </a:solidFill>
            </a:endParaRPr>
          </a:p>
          <a:p>
            <a:pPr indent="0" lvl="0" marL="0" marR="0" rtl="0" algn="l">
              <a:lnSpc>
                <a:spcPct val="110000"/>
              </a:lnSpc>
              <a:spcBef>
                <a:spcPts val="1000"/>
              </a:spcBef>
              <a:spcAft>
                <a:spcPts val="1000"/>
              </a:spcAft>
              <a:buNone/>
            </a:pPr>
            <a:r>
              <a:rPr lang="en" sz="2200">
                <a:solidFill>
                  <a:srgbClr val="212121"/>
                </a:solidFill>
              </a:rPr>
              <a:t>Practice the recovery route</a:t>
            </a:r>
            <a:endParaRPr sz="2200">
              <a:solidFill>
                <a:srgbClr val="212121"/>
              </a:solidFill>
            </a:endParaRPr>
          </a:p>
        </p:txBody>
      </p:sp>
      <p:sp>
        <p:nvSpPr>
          <p:cNvPr id="284" name="Google Shape;284;p42"/>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The network beneath the app</a:t>
            </a:r>
            <a:endParaRPr b="1" sz="3200">
              <a:solidFill>
                <a:srgbClr val="06038D"/>
              </a:solidFill>
              <a:latin typeface="Poppins"/>
              <a:ea typeface="Poppins"/>
              <a:cs typeface="Poppins"/>
              <a:sym typeface="Poppi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3"/>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000">
                <a:solidFill>
                  <a:srgbClr val="06038D"/>
                </a:solidFill>
                <a:latin typeface="Poppins"/>
                <a:ea typeface="Poppins"/>
                <a:cs typeface="Poppins"/>
                <a:sym typeface="Poppins"/>
              </a:rPr>
              <a:t>A community can carry it forward</a:t>
            </a:r>
            <a:endParaRPr b="1" sz="3000">
              <a:solidFill>
                <a:srgbClr val="06038D"/>
              </a:solidFill>
              <a:latin typeface="Poppins"/>
              <a:ea typeface="Poppins"/>
              <a:cs typeface="Poppins"/>
              <a:sym typeface="Poppins"/>
            </a:endParaRPr>
          </a:p>
        </p:txBody>
      </p:sp>
      <p:sp>
        <p:nvSpPr>
          <p:cNvPr id="290" name="Google Shape;290;p43"/>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374650" lvl="0" marL="457200" marR="0" rtl="0" algn="l">
              <a:lnSpc>
                <a:spcPct val="110000"/>
              </a:lnSpc>
              <a:spcBef>
                <a:spcPts val="0"/>
              </a:spcBef>
              <a:spcAft>
                <a:spcPts val="0"/>
              </a:spcAft>
              <a:buClr>
                <a:srgbClr val="212121"/>
              </a:buClr>
              <a:buSzPts val="2300"/>
              <a:buChar char="●"/>
            </a:pPr>
            <a:r>
              <a:rPr lang="en" sz="2300">
                <a:solidFill>
                  <a:srgbClr val="212121"/>
                </a:solidFill>
              </a:rPr>
              <a:t>Hic et Nunc community mirrors kept an entrance open</a:t>
            </a:r>
            <a:endParaRPr sz="2300">
              <a:solidFill>
                <a:srgbClr val="212121"/>
              </a:solidFill>
            </a:endParaRPr>
          </a:p>
          <a:p>
            <a:pPr indent="-374650" lvl="0" marL="457200" marR="0" rtl="0" algn="l">
              <a:lnSpc>
                <a:spcPct val="110000"/>
              </a:lnSpc>
              <a:spcBef>
                <a:spcPts val="0"/>
              </a:spcBef>
              <a:spcAft>
                <a:spcPts val="0"/>
              </a:spcAft>
              <a:buClr>
                <a:srgbClr val="212121"/>
              </a:buClr>
              <a:buSzPts val="2300"/>
              <a:buChar char="●"/>
            </a:pPr>
            <a:r>
              <a:rPr lang="en" sz="2300">
                <a:solidFill>
                  <a:srgbClr val="212121"/>
                </a:solidFill>
              </a:rPr>
              <a:t>Teia continued the community’s work</a:t>
            </a:r>
            <a:endParaRPr sz="2300">
              <a:solidFill>
                <a:srgbClr val="212121"/>
              </a:solidFill>
            </a:endParaRPr>
          </a:p>
          <a:p>
            <a:pPr indent="-374650" lvl="0" marL="457200" marR="0" rtl="0" algn="l">
              <a:lnSpc>
                <a:spcPct val="110000"/>
              </a:lnSpc>
              <a:spcBef>
                <a:spcPts val="0"/>
              </a:spcBef>
              <a:spcAft>
                <a:spcPts val="0"/>
              </a:spcAft>
              <a:buClr>
                <a:srgbClr val="212121"/>
              </a:buClr>
              <a:buSzPts val="2300"/>
              <a:buChar char="●"/>
            </a:pPr>
            <a:r>
              <a:rPr lang="en" sz="2300">
                <a:solidFill>
                  <a:srgbClr val="212121"/>
                </a:solidFill>
              </a:rPr>
              <a:t>Share code, retained data and operating instructions</a:t>
            </a:r>
            <a:endParaRPr sz="2300">
              <a:solidFill>
                <a:srgbClr val="212121"/>
              </a:solidFill>
            </a:endParaRPr>
          </a:p>
          <a:p>
            <a:pPr indent="-374650" lvl="0" marL="457200" marR="0" rtl="0" algn="l">
              <a:lnSpc>
                <a:spcPct val="110000"/>
              </a:lnSpc>
              <a:spcBef>
                <a:spcPts val="0"/>
              </a:spcBef>
              <a:spcAft>
                <a:spcPts val="0"/>
              </a:spcAft>
              <a:buClr>
                <a:srgbClr val="212121"/>
              </a:buClr>
              <a:buSzPts val="2300"/>
              <a:buChar char="●"/>
            </a:pPr>
            <a:r>
              <a:rPr lang="en" sz="2300">
                <a:solidFill>
                  <a:srgbClr val="212121"/>
                </a:solidFill>
              </a:rPr>
              <a:t>Plan who can run it and pay for it</a:t>
            </a:r>
            <a:endParaRPr sz="2300">
              <a:solidFill>
                <a:srgbClr val="21212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4"/>
          <p:cNvSpPr txBox="1"/>
          <p:nvPr>
            <p:ph type="title"/>
          </p:nvPr>
        </p:nvSpPr>
        <p:spPr>
          <a:xfrm>
            <a:off x="457200" y="2415175"/>
            <a:ext cx="8229600" cy="841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2400">
                <a:solidFill>
                  <a:srgbClr val="FFFFFF"/>
                </a:solidFill>
                <a:latin typeface="Poppins"/>
                <a:ea typeface="Poppins"/>
                <a:cs typeface="Poppins"/>
                <a:sym typeface="Poppins"/>
              </a:rPr>
              <a:t>A walk-away test for your app</a:t>
            </a:r>
            <a:endParaRPr b="1" sz="2400">
              <a:solidFill>
                <a:srgbClr val="FFFFFF"/>
              </a:solidFill>
              <a:latin typeface="Poppins"/>
              <a:ea typeface="Poppins"/>
              <a:cs typeface="Poppins"/>
              <a:sym typeface="Poppins"/>
            </a:endParaRPr>
          </a:p>
        </p:txBody>
      </p:sp>
      <p:sp>
        <p:nvSpPr>
          <p:cNvPr id="296" name="Google Shape;296;p44"/>
          <p:cNvSpPr txBox="1"/>
          <p:nvPr/>
        </p:nvSpPr>
        <p:spPr>
          <a:xfrm>
            <a:off x="2271450" y="1808250"/>
            <a:ext cx="4601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Putting this into practice</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45"/>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200">
                <a:solidFill>
                  <a:srgbClr val="06038D"/>
                </a:solidFill>
                <a:latin typeface="Poppins"/>
                <a:ea typeface="Poppins"/>
                <a:cs typeface="Poppins"/>
                <a:sym typeface="Poppins"/>
              </a:rPr>
              <a:t>Your walk-away checklist</a:t>
            </a:r>
            <a:endParaRPr b="1" sz="3200">
              <a:solidFill>
                <a:srgbClr val="06038D"/>
              </a:solidFill>
              <a:latin typeface="Poppins"/>
              <a:ea typeface="Poppins"/>
              <a:cs typeface="Poppins"/>
              <a:sym typeface="Poppins"/>
            </a:endParaRPr>
          </a:p>
        </p:txBody>
      </p:sp>
      <p:sp>
        <p:nvSpPr>
          <p:cNvPr id="302" name="Google Shape;302;p45"/>
          <p:cNvSpPr txBox="1"/>
          <p:nvPr>
            <p:ph idx="1" type="body"/>
          </p:nvPr>
        </p:nvSpPr>
        <p:spPr>
          <a:xfrm>
            <a:off x="635000" y="1333500"/>
            <a:ext cx="3810000" cy="28575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100">
                <a:solidFill>
                  <a:srgbClr val="212121"/>
                </a:solidFill>
              </a:rPr>
              <a:t>A user can:</a:t>
            </a:r>
            <a:endParaRPr b="1" sz="2100">
              <a:solidFill>
                <a:srgbClr val="212121"/>
              </a:solidFill>
            </a:endParaRPr>
          </a:p>
          <a:p>
            <a:pPr indent="0" lvl="0" marL="0" marR="0" rtl="0" algn="l">
              <a:lnSpc>
                <a:spcPct val="110000"/>
              </a:lnSpc>
              <a:spcBef>
                <a:spcPts val="1000"/>
              </a:spcBef>
              <a:spcAft>
                <a:spcPts val="0"/>
              </a:spcAft>
              <a:buNone/>
            </a:pPr>
            <a:r>
              <a:rPr lang="en" sz="2100">
                <a:solidFill>
                  <a:srgbClr val="212121"/>
                </a:solidFill>
              </a:rPr>
              <a:t>Run a saved app release</a:t>
            </a:r>
            <a:endParaRPr sz="2100">
              <a:solidFill>
                <a:srgbClr val="212121"/>
              </a:solidFill>
            </a:endParaRPr>
          </a:p>
          <a:p>
            <a:pPr indent="0" lvl="0" marL="0" marR="0" rtl="0" algn="l">
              <a:lnSpc>
                <a:spcPct val="110000"/>
              </a:lnSpc>
              <a:spcBef>
                <a:spcPts val="1000"/>
              </a:spcBef>
              <a:spcAft>
                <a:spcPts val="0"/>
              </a:spcAft>
              <a:buNone/>
            </a:pPr>
            <a:r>
              <a:rPr lang="en" sz="2100">
                <a:solidFill>
                  <a:srgbClr val="212121"/>
                </a:solidFill>
              </a:rPr>
              <a:t>Recover access and keys</a:t>
            </a:r>
            <a:endParaRPr sz="2100">
              <a:solidFill>
                <a:srgbClr val="212121"/>
              </a:solidFill>
            </a:endParaRPr>
          </a:p>
          <a:p>
            <a:pPr indent="0" lvl="0" marL="0" marR="0" rtl="0" algn="l">
              <a:lnSpc>
                <a:spcPct val="110000"/>
              </a:lnSpc>
              <a:spcBef>
                <a:spcPts val="1000"/>
              </a:spcBef>
              <a:spcAft>
                <a:spcPts val="0"/>
              </a:spcAft>
              <a:buNone/>
            </a:pPr>
            <a:r>
              <a:rPr lang="en" sz="2100">
                <a:solidFill>
                  <a:srgbClr val="212121"/>
                </a:solidFill>
              </a:rPr>
              <a:t>Restore usable data</a:t>
            </a:r>
            <a:endParaRPr sz="2100">
              <a:solidFill>
                <a:srgbClr val="212121"/>
              </a:solidFill>
            </a:endParaRPr>
          </a:p>
          <a:p>
            <a:pPr indent="0" lvl="0" marL="0" marR="0" rtl="0" algn="l">
              <a:lnSpc>
                <a:spcPct val="110000"/>
              </a:lnSpc>
              <a:spcBef>
                <a:spcPts val="1000"/>
              </a:spcBef>
              <a:spcAft>
                <a:spcPts val="1000"/>
              </a:spcAft>
              <a:buNone/>
            </a:pPr>
            <a:r>
              <a:rPr lang="en" sz="2100">
                <a:solidFill>
                  <a:srgbClr val="212121"/>
                </a:solidFill>
              </a:rPr>
              <a:t>Choose another client</a:t>
            </a:r>
            <a:endParaRPr sz="2100">
              <a:solidFill>
                <a:srgbClr val="212121"/>
              </a:solidFill>
            </a:endParaRPr>
          </a:p>
        </p:txBody>
      </p:sp>
      <p:sp>
        <p:nvSpPr>
          <p:cNvPr id="303" name="Google Shape;303;p45"/>
          <p:cNvSpPr txBox="1"/>
          <p:nvPr/>
        </p:nvSpPr>
        <p:spPr>
          <a:xfrm>
            <a:off x="4826000" y="1333500"/>
            <a:ext cx="3746400" cy="2857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100">
                <a:solidFill>
                  <a:srgbClr val="212121"/>
                </a:solidFill>
                <a:latin typeface="Poppins"/>
                <a:ea typeface="Poppins"/>
                <a:cs typeface="Poppins"/>
                <a:sym typeface="Poppins"/>
              </a:rPr>
              <a:t>Another operator can:</a:t>
            </a:r>
            <a:endParaRPr b="1" sz="2100">
              <a:solidFill>
                <a:srgbClr val="212121"/>
              </a:solidFill>
              <a:latin typeface="Poppins"/>
              <a:ea typeface="Poppins"/>
              <a:cs typeface="Poppins"/>
              <a:sym typeface="Poppins"/>
            </a:endParaRPr>
          </a:p>
          <a:p>
            <a:pPr indent="0" lvl="0" marL="0" marR="0" rtl="0" algn="l">
              <a:lnSpc>
                <a:spcPct val="110000"/>
              </a:lnSpc>
              <a:spcBef>
                <a:spcPts val="1000"/>
              </a:spcBef>
              <a:spcAft>
                <a:spcPts val="0"/>
              </a:spcAft>
              <a:buNone/>
            </a:pPr>
            <a:r>
              <a:rPr lang="en" sz="2100">
                <a:solidFill>
                  <a:srgbClr val="212121"/>
                </a:solidFill>
                <a:latin typeface="Poppins"/>
                <a:ea typeface="Poppins"/>
                <a:cs typeface="Poppins"/>
                <a:sym typeface="Poppins"/>
              </a:rPr>
              <a:t>Switch RPCs; rebuild views</a:t>
            </a:r>
            <a:endParaRPr sz="2100">
              <a:solidFill>
                <a:srgbClr val="212121"/>
              </a:solidFill>
              <a:latin typeface="Poppins"/>
              <a:ea typeface="Poppins"/>
              <a:cs typeface="Poppins"/>
              <a:sym typeface="Poppins"/>
            </a:endParaRPr>
          </a:p>
          <a:p>
            <a:pPr indent="0" lvl="0" marL="0" marR="0" rtl="0" algn="l">
              <a:lnSpc>
                <a:spcPct val="110000"/>
              </a:lnSpc>
              <a:spcBef>
                <a:spcPts val="1000"/>
              </a:spcBef>
              <a:spcAft>
                <a:spcPts val="0"/>
              </a:spcAft>
              <a:buNone/>
            </a:pPr>
            <a:r>
              <a:rPr lang="en" sz="2100">
                <a:solidFill>
                  <a:srgbClr val="212121"/>
                </a:solidFill>
                <a:latin typeface="Poppins"/>
                <a:ea typeface="Poppins"/>
                <a:cs typeface="Poppins"/>
                <a:sym typeface="Poppins"/>
              </a:rPr>
              <a:t>Run workers; keep copies</a:t>
            </a:r>
            <a:endParaRPr sz="2100">
              <a:solidFill>
                <a:srgbClr val="212121"/>
              </a:solidFill>
              <a:latin typeface="Poppins"/>
              <a:ea typeface="Poppins"/>
              <a:cs typeface="Poppins"/>
              <a:sym typeface="Poppins"/>
            </a:endParaRPr>
          </a:p>
          <a:p>
            <a:pPr indent="0" lvl="0" marL="0" marR="0" rtl="0" algn="l">
              <a:lnSpc>
                <a:spcPct val="110000"/>
              </a:lnSpc>
              <a:spcBef>
                <a:spcPts val="1000"/>
              </a:spcBef>
              <a:spcAft>
                <a:spcPts val="0"/>
              </a:spcAft>
              <a:buNone/>
            </a:pPr>
            <a:r>
              <a:rPr lang="en" sz="2100">
                <a:solidFill>
                  <a:srgbClr val="212121"/>
                </a:solidFill>
                <a:latin typeface="Poppins"/>
                <a:ea typeface="Poppins"/>
                <a:cs typeface="Poppins"/>
                <a:sym typeface="Poppins"/>
              </a:rPr>
              <a:t>Inspect admin powers</a:t>
            </a:r>
            <a:endParaRPr sz="2100">
              <a:solidFill>
                <a:srgbClr val="212121"/>
              </a:solidFill>
              <a:latin typeface="Poppins"/>
              <a:ea typeface="Poppins"/>
              <a:cs typeface="Poppins"/>
              <a:sym typeface="Poppins"/>
            </a:endParaRPr>
          </a:p>
          <a:p>
            <a:pPr indent="0" lvl="0" marL="0" marR="0" rtl="0" algn="l">
              <a:lnSpc>
                <a:spcPct val="110000"/>
              </a:lnSpc>
              <a:spcBef>
                <a:spcPts val="1000"/>
              </a:spcBef>
              <a:spcAft>
                <a:spcPts val="1000"/>
              </a:spcAft>
              <a:buNone/>
            </a:pPr>
            <a:r>
              <a:rPr lang="en" sz="2100">
                <a:solidFill>
                  <a:srgbClr val="212121"/>
                </a:solidFill>
                <a:latin typeface="Poppins"/>
                <a:ea typeface="Poppins"/>
                <a:cs typeface="Poppins"/>
                <a:sym typeface="Poppins"/>
              </a:rPr>
              <a:t>Use network recovery</a:t>
            </a:r>
            <a:endParaRPr sz="2100">
              <a:solidFill>
                <a:srgbClr val="212121"/>
              </a:solidFill>
              <a:latin typeface="Poppins"/>
              <a:ea typeface="Poppins"/>
              <a:cs typeface="Poppins"/>
              <a:sym typeface="Poppins"/>
            </a:endParaRPr>
          </a:p>
        </p:txBody>
      </p:sp>
      <p:sp>
        <p:nvSpPr>
          <p:cNvPr id="304" name="Google Shape;304;p45"/>
          <p:cNvSpPr txBox="1"/>
          <p:nvPr/>
        </p:nvSpPr>
        <p:spPr>
          <a:xfrm>
            <a:off x="571500" y="4330700"/>
            <a:ext cx="8001000" cy="444600"/>
          </a:xfrm>
          <a:prstGeom prst="rect">
            <a:avLst/>
          </a:prstGeom>
          <a:no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800">
                <a:solidFill>
                  <a:srgbClr val="06038D"/>
                </a:solidFill>
                <a:latin typeface="Poppins"/>
                <a:ea typeface="Poppins"/>
                <a:cs typeface="Poppins"/>
                <a:sym typeface="Poppins"/>
              </a:rPr>
              <a:t>Try it without your team. Improve one dependency.</a:t>
            </a:r>
            <a:endParaRPr sz="1800">
              <a:solidFill>
                <a:srgbClr val="06038D"/>
              </a:solidFill>
              <a:latin typeface="Poppins"/>
              <a:ea typeface="Poppins"/>
              <a:cs typeface="Poppins"/>
              <a:sym typeface="Poppin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46"/>
          <p:cNvSpPr txBox="1"/>
          <p:nvPr>
            <p:ph type="title"/>
          </p:nvPr>
        </p:nvSpPr>
        <p:spPr>
          <a:xfrm>
            <a:off x="703375" y="935400"/>
            <a:ext cx="7737300" cy="32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3800">
                <a:solidFill>
                  <a:srgbClr val="06038D"/>
                </a:solidFill>
                <a:latin typeface="Poppins"/>
                <a:ea typeface="Poppins"/>
                <a:cs typeface="Poppins"/>
                <a:sym typeface="Poppins"/>
              </a:rPr>
              <a:t>Our work can outlive us</a:t>
            </a:r>
            <a:endParaRPr b="1" sz="3800">
              <a:solidFill>
                <a:srgbClr val="06038D"/>
              </a:solidFill>
              <a:latin typeface="Poppins"/>
              <a:ea typeface="Poppins"/>
              <a:cs typeface="Poppins"/>
              <a:sym typeface="Poppin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47"/>
          <p:cNvSpPr txBox="1"/>
          <p:nvPr>
            <p:ph type="title"/>
          </p:nvPr>
        </p:nvSpPr>
        <p:spPr>
          <a:xfrm>
            <a:off x="457200" y="304800"/>
            <a:ext cx="8229600" cy="10740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Thank you!</a:t>
            </a:r>
            <a:endParaRPr/>
          </a:p>
        </p:txBody>
      </p:sp>
      <p:sp>
        <p:nvSpPr>
          <p:cNvPr id="315" name="Google Shape;315;p47"/>
          <p:cNvSpPr txBox="1"/>
          <p:nvPr/>
        </p:nvSpPr>
        <p:spPr>
          <a:xfrm>
            <a:off x="1397000" y="3340100"/>
            <a:ext cx="6350100" cy="1498500"/>
          </a:xfrm>
          <a:prstGeom prst="rect">
            <a:avLst/>
          </a:prstGeom>
          <a:noFill/>
          <a:ln>
            <a:noFill/>
          </a:ln>
          <a:effectLst>
            <a:outerShdw blurRad="42863" rotWithShape="0" algn="bl" dir="5400000" dist="19050">
              <a:srgbClr val="36364C"/>
            </a:outerShdw>
          </a:effectLst>
        </p:spPr>
        <p:txBody>
          <a:bodyPr anchorCtr="0" anchor="ctr" bIns="91425" lIns="91425" spcFirstLastPara="1" rIns="91425" wrap="square" tIns="91425">
            <a:noAutofit/>
          </a:bodyPr>
          <a:lstStyle/>
          <a:p>
            <a:pPr indent="0" lvl="0" marL="0" rtl="0" algn="ctr">
              <a:lnSpc>
                <a:spcPct val="110000"/>
              </a:lnSpc>
              <a:spcBef>
                <a:spcPts val="0"/>
              </a:spcBef>
              <a:spcAft>
                <a:spcPts val="0"/>
              </a:spcAft>
              <a:buNone/>
            </a:pPr>
            <a:r>
              <a:rPr b="1" lang="en" sz="2000">
                <a:solidFill>
                  <a:schemeClr val="lt1"/>
                </a:solidFill>
                <a:latin typeface="Roboto Condensed"/>
                <a:ea typeface="Roboto Condensed"/>
                <a:cs typeface="Roboto Condensed"/>
                <a:sym typeface="Roboto Condensed"/>
              </a:rPr>
              <a:t>James Carnley</a:t>
            </a:r>
            <a:endParaRPr b="1" sz="2000">
              <a:solidFill>
                <a:schemeClr val="lt1"/>
              </a:solidFill>
              <a:latin typeface="Roboto Condensed"/>
              <a:ea typeface="Roboto Condensed"/>
              <a:cs typeface="Roboto Condensed"/>
              <a:sym typeface="Roboto Condensed"/>
            </a:endParaRPr>
          </a:p>
          <a:p>
            <a:pPr indent="0" lvl="0" marL="0" rtl="0" algn="ctr">
              <a:lnSpc>
                <a:spcPct val="110000"/>
              </a:lnSpc>
              <a:spcBef>
                <a:spcPts val="0"/>
              </a:spcBef>
              <a:spcAft>
                <a:spcPts val="0"/>
              </a:spcAft>
              <a:buNone/>
            </a:pPr>
            <a:r>
              <a:rPr lang="en" sz="1700">
                <a:solidFill>
                  <a:schemeClr val="lt1"/>
                </a:solidFill>
                <a:latin typeface="Roboto"/>
                <a:ea typeface="Roboto"/>
                <a:cs typeface="Roboto"/>
                <a:sym typeface="Roboto"/>
              </a:rPr>
              <a:t>Ethereum File System</a:t>
            </a:r>
            <a:endParaRPr sz="1700">
              <a:solidFill>
                <a:schemeClr val="lt1"/>
              </a:solidFill>
              <a:latin typeface="Roboto"/>
              <a:ea typeface="Roboto"/>
              <a:cs typeface="Roboto"/>
              <a:sym typeface="Roboto"/>
            </a:endParaRPr>
          </a:p>
          <a:p>
            <a:pPr indent="0" lvl="0" marL="0" rtl="0" algn="ctr">
              <a:lnSpc>
                <a:spcPct val="110000"/>
              </a:lnSpc>
              <a:spcBef>
                <a:spcPts val="0"/>
              </a:spcBef>
              <a:spcAft>
                <a:spcPts val="0"/>
              </a:spcAft>
              <a:buNone/>
            </a:pPr>
            <a:r>
              <a:rPr lang="en" sz="1700" u="sng">
                <a:solidFill>
                  <a:schemeClr val="lt1"/>
                </a:solidFill>
                <a:latin typeface="Roboto"/>
                <a:ea typeface="Roboto"/>
                <a:cs typeface="Roboto"/>
                <a:sym typeface="Roboto"/>
                <a:hlinkClick r:id="rId3">
                  <a:extLst>
                    <a:ext uri="{A12FA001-AC4F-418D-AE19-62706E023703}">
                      <ahyp:hlinkClr val="tx"/>
                    </a:ext>
                  </a:extLst>
                </a:hlinkClick>
              </a:rPr>
              <a:t>efs.eth.limo</a:t>
            </a:r>
            <a:endParaRPr sz="1700" u="sng">
              <a:solidFill>
                <a:schemeClr val="lt1"/>
              </a:solidFill>
              <a:latin typeface="Roboto"/>
              <a:ea typeface="Roboto"/>
              <a:cs typeface="Roboto"/>
              <a:sym typeface="Roboto"/>
            </a:endParaRPr>
          </a:p>
          <a:p>
            <a:pPr indent="0" lvl="0" marL="0" rtl="0" algn="ctr">
              <a:lnSpc>
                <a:spcPct val="110000"/>
              </a:lnSpc>
              <a:spcBef>
                <a:spcPts val="0"/>
              </a:spcBef>
              <a:spcAft>
                <a:spcPts val="0"/>
              </a:spcAft>
              <a:buNone/>
            </a:pPr>
            <a:r>
              <a:rPr lang="en" sz="1700">
                <a:solidFill>
                  <a:schemeClr val="lt1"/>
                </a:solidFill>
                <a:latin typeface="Roboto"/>
                <a:ea typeface="Roboto"/>
                <a:cs typeface="Roboto"/>
                <a:sym typeface="Roboto"/>
              </a:rPr>
              <a:t>JamesCarnley@gmail.com</a:t>
            </a:r>
            <a:endParaRPr sz="1700">
              <a:solidFill>
                <a:schemeClr val="lt1"/>
              </a:solidFill>
              <a:latin typeface="Roboto"/>
              <a:ea typeface="Roboto"/>
              <a:cs typeface="Roboto"/>
              <a:sym typeface="Roboto"/>
            </a:endParaRPr>
          </a:p>
          <a:p>
            <a:pPr indent="0" lvl="0" marL="0" rtl="0" algn="ctr">
              <a:lnSpc>
                <a:spcPct val="110000"/>
              </a:lnSpc>
              <a:spcBef>
                <a:spcPts val="0"/>
              </a:spcBef>
              <a:spcAft>
                <a:spcPts val="0"/>
              </a:spcAft>
              <a:buNone/>
            </a:pPr>
            <a:r>
              <a:rPr lang="en" sz="1700">
                <a:solidFill>
                  <a:schemeClr val="lt1"/>
                </a:solidFill>
                <a:latin typeface="Roboto"/>
                <a:ea typeface="Roboto"/>
                <a:cs typeface="Roboto"/>
                <a:sym typeface="Roboto"/>
              </a:rPr>
              <a:t>@JamesCarnley</a:t>
            </a:r>
            <a:endParaRPr sz="1700">
              <a:solidFill>
                <a:schemeClr val="lt1"/>
              </a:solidFill>
              <a:latin typeface="Roboto"/>
              <a:ea typeface="Roboto"/>
              <a:cs typeface="Roboto"/>
              <a:sym typeface="Roboto"/>
            </a:endParaRPr>
          </a:p>
          <a:p>
            <a:pPr indent="0" lvl="0" marL="0" rtl="0" algn="ctr">
              <a:lnSpc>
                <a:spcPct val="110000"/>
              </a:lnSpc>
              <a:spcBef>
                <a:spcPts val="0"/>
              </a:spcBef>
              <a:spcAft>
                <a:spcPts val="0"/>
              </a:spcAft>
              <a:buNone/>
            </a:pPr>
            <a:r>
              <a:t/>
            </a:r>
            <a:endParaRPr sz="1300">
              <a:solidFill>
                <a:schemeClr val="lt1"/>
              </a:solidFill>
              <a:latin typeface="Libre Franklin"/>
              <a:ea typeface="Libre Franklin"/>
              <a:cs typeface="Libre Franklin"/>
              <a:sym typeface="Libre Franklin"/>
            </a:endParaRPr>
          </a:p>
        </p:txBody>
      </p:sp>
      <p:sp>
        <p:nvSpPr>
          <p:cNvPr id="316" name="Google Shape;316;p47"/>
          <p:cNvSpPr txBox="1"/>
          <p:nvPr/>
        </p:nvSpPr>
        <p:spPr>
          <a:xfrm>
            <a:off x="1206500" y="1778000"/>
            <a:ext cx="6731100" cy="126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200">
                <a:solidFill>
                  <a:srgbClr val="05068D"/>
                </a:solidFill>
                <a:latin typeface="Poppins"/>
                <a:ea typeface="Poppins"/>
                <a:cs typeface="Poppins"/>
                <a:sym typeface="Poppins"/>
              </a:rPr>
              <a:t>Let’s build reliable and long-lasting apps together</a:t>
            </a:r>
            <a:endParaRPr b="1" sz="2200">
              <a:solidFill>
                <a:srgbClr val="05068D"/>
              </a:solidFill>
              <a:latin typeface="Poppins"/>
              <a:ea typeface="Poppins"/>
              <a:cs typeface="Poppins"/>
              <a:sym typeface="Poppins"/>
            </a:endParaRPr>
          </a:p>
          <a:p>
            <a:pPr indent="0" lvl="0" marL="0" rtl="0" algn="ctr">
              <a:spcBef>
                <a:spcPts val="0"/>
              </a:spcBef>
              <a:spcAft>
                <a:spcPts val="0"/>
              </a:spcAft>
              <a:buNone/>
            </a:pPr>
            <a:r>
              <a:t/>
            </a:r>
            <a:endParaRPr b="1" sz="2200">
              <a:solidFill>
                <a:srgbClr val="05068D"/>
              </a:solidFill>
              <a:latin typeface="Poppins"/>
              <a:ea typeface="Poppins"/>
              <a:cs typeface="Poppins"/>
              <a:sym typeface="Poppins"/>
            </a:endParaRPr>
          </a:p>
        </p:txBody>
      </p:sp>
    </p:spTree>
  </p:cSld>
  <p:clrMapOvr>
    <a:masterClrMapping/>
  </p:clrMapOvr>
</p:sld>
</file>

<file path=ppt/theme/theme1.xml><?xml version="1.0" encoding="utf-8"?>
<a:theme xmlns:a="http://schemas.openxmlformats.org/drawingml/2006/main" xmlns:r="http://schemas.openxmlformats.org/officeDocument/2006/relationships" name="Devcon 8 India Slides Key Visual">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